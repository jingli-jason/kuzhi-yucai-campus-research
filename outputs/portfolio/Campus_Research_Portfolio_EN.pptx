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c37a9ab6e24f6f" /><Relationship Type="http://schemas.openxmlformats.org/officeDocument/2006/relationships/extended-properties" Target="/docProps/app.xml" Id="R37f439a9c8e448b2" /><Relationship Type="http://schemas.openxmlformats.org/officeDocument/2006/relationships/officeDocument" Target="/ppt/presentation.xml" Id="R5c83a4e2399043bb" /></Relationships>
</file>

<file path=ppt/presentation.xml><?xml version="1.0" encoding="utf-8"?>
<p:presentation xmlns:p="http://schemas.openxmlformats.org/presentationml/2006/main">
  <p:sldMasterIdLst>
    <p:sldMasterId xmlns:r="http://schemas.openxmlformats.org/officeDocument/2006/relationships" id="2147483648" r:id="R2dec83261b5842ee"/>
  </p:sldMasterIdLst>
  <p:notesMasterIdLst>
    <p:notesMasterId xmlns:r="http://schemas.openxmlformats.org/officeDocument/2006/relationships" r:id="R1091edfb80fd40a3"/>
  </p:notesMasterIdLst>
  <p:sldIdLst>
    <p:sldId xmlns:r="http://schemas.openxmlformats.org/officeDocument/2006/relationships" id="256" r:id="Rfb53f7be862d4d60"/>
    <p:sldId xmlns:r="http://schemas.openxmlformats.org/officeDocument/2006/relationships" id="257" r:id="R508904564e7f41fa"/>
    <p:sldId xmlns:r="http://schemas.openxmlformats.org/officeDocument/2006/relationships" id="258" r:id="R48dbf5b6b2704219"/>
    <p:sldId xmlns:r="http://schemas.openxmlformats.org/officeDocument/2006/relationships" id="259" r:id="Radf72861a8d84089"/>
    <p:sldId xmlns:r="http://schemas.openxmlformats.org/officeDocument/2006/relationships" id="260" r:id="R9d5a5c6ca92c4f44"/>
    <p:sldId xmlns:r="http://schemas.openxmlformats.org/officeDocument/2006/relationships" id="261" r:id="R7288cfdb98f54ba8"/>
    <p:sldId xmlns:r="http://schemas.openxmlformats.org/officeDocument/2006/relationships" id="262" r:id="Ra1a6a0751a4441bd"/>
    <p:sldId xmlns:r="http://schemas.openxmlformats.org/officeDocument/2006/relationships" id="263" r:id="R53fe167718604d5f"/>
    <p:sldId xmlns:r="http://schemas.openxmlformats.org/officeDocument/2006/relationships" id="264" r:id="R647a8da8be024dc8"/>
    <p:sldId xmlns:r="http://schemas.openxmlformats.org/officeDocument/2006/relationships" id="265" r:id="Rcff760e3c6694836"/>
    <p:sldId xmlns:r="http://schemas.openxmlformats.org/officeDocument/2006/relationships" id="266" r:id="R869bcfcaa6e44edc"/>
    <p:sldId xmlns:r="http://schemas.openxmlformats.org/officeDocument/2006/relationships" id="267" r:id="R3a802a082c9c4625"/>
    <p:sldId xmlns:r="http://schemas.openxmlformats.org/officeDocument/2006/relationships" id="268" r:id="Rc51f94270fc9443a"/>
    <p:sldId xmlns:r="http://schemas.openxmlformats.org/officeDocument/2006/relationships" id="269" r:id="R5369313e43914066"/>
    <p:sldId xmlns:r="http://schemas.openxmlformats.org/officeDocument/2006/relationships" id="270" r:id="R6402b61deccd4f4a"/>
  </p:sldIdLst>
  <p:sldSz cx="10692000" cy="756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6273593d3440f6" /><Relationship Type="http://schemas.openxmlformats.org/officeDocument/2006/relationships/slideMaster" Target="/ppt/slideMasters/slideMaster1.xml" Id="R2dec83261b5842ee" /><Relationship Type="http://schemas.openxmlformats.org/officeDocument/2006/relationships/notesMaster" Target="/ppt/notesMasters/notesMaster1.xml" Id="R1091edfb80fd40a3" /><Relationship Type="http://schemas.openxmlformats.org/officeDocument/2006/relationships/presProps" Target="/ppt/presProps.xml" Id="Rad0afedecf7347e4" /><Relationship Type="http://schemas.openxmlformats.org/officeDocument/2006/relationships/tableStyles" Target="/ppt/tableStyles.xml" Id="Radc0c27b0c024ea6" /><Relationship Type="http://schemas.openxmlformats.org/officeDocument/2006/relationships/slide" Target="/ppt/slides/slide1.xml" Id="Rfb53f7be862d4d60" /><Relationship Type="http://schemas.openxmlformats.org/officeDocument/2006/relationships/slide" Target="/ppt/slides/slide2.xml" Id="R508904564e7f41fa" /><Relationship Type="http://schemas.openxmlformats.org/officeDocument/2006/relationships/slide" Target="/ppt/slides/slide3.xml" Id="R48dbf5b6b2704219" /><Relationship Type="http://schemas.openxmlformats.org/officeDocument/2006/relationships/slide" Target="/ppt/slides/slide4.xml" Id="Radf72861a8d84089" /><Relationship Type="http://schemas.openxmlformats.org/officeDocument/2006/relationships/slide" Target="/ppt/slides/slide5.xml" Id="R9d5a5c6ca92c4f44" /><Relationship Type="http://schemas.openxmlformats.org/officeDocument/2006/relationships/slide" Target="/ppt/slides/slide6.xml" Id="R7288cfdb98f54ba8" /><Relationship Type="http://schemas.openxmlformats.org/officeDocument/2006/relationships/slide" Target="/ppt/slides/slide7.xml" Id="Ra1a6a0751a4441bd" /><Relationship Type="http://schemas.openxmlformats.org/officeDocument/2006/relationships/slide" Target="/ppt/slides/slide8.xml" Id="R53fe167718604d5f" /><Relationship Type="http://schemas.openxmlformats.org/officeDocument/2006/relationships/slide" Target="/ppt/slides/slide9.xml" Id="R647a8da8be024dc8" /><Relationship Type="http://schemas.openxmlformats.org/officeDocument/2006/relationships/slide" Target="/ppt/slides/slide10.xml" Id="Rcff760e3c6694836" /><Relationship Type="http://schemas.openxmlformats.org/officeDocument/2006/relationships/slide" Target="/ppt/slides/slide11.xml" Id="R869bcfcaa6e44edc" /><Relationship Type="http://schemas.openxmlformats.org/officeDocument/2006/relationships/slide" Target="/ppt/slides/slide12.xml" Id="R3a802a082c9c4625" /><Relationship Type="http://schemas.openxmlformats.org/officeDocument/2006/relationships/slide" Target="/ppt/slides/slide13.xml" Id="Rc51f94270fc9443a" /><Relationship Type="http://schemas.openxmlformats.org/officeDocument/2006/relationships/slide" Target="/ppt/slides/slide14.xml" Id="R5369313e43914066" /><Relationship Type="http://schemas.openxmlformats.org/officeDocument/2006/relationships/slide" Target="/ppt/slides/slide15.xml" Id="R6402b61deccd4f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375ac3f85f42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32bc92646d4ade" /><Relationship Type="http://schemas.openxmlformats.org/officeDocument/2006/relationships/notesMaster" Target="/ppt/notesMasters/notesMaster1.xml" Id="Re8fc9aaa1f1446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b00daab4c54737" /><Relationship Type="http://schemas.openxmlformats.org/officeDocument/2006/relationships/notesMaster" Target="/ppt/notesMasters/notesMaster1.xml" Id="R70875e683ec045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40e1c04a224a85" /><Relationship Type="http://schemas.openxmlformats.org/officeDocument/2006/relationships/notesMaster" Target="/ppt/notesMasters/notesMaster1.xml" Id="Rb82db31b54654a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bb9e601ca54daf" /><Relationship Type="http://schemas.openxmlformats.org/officeDocument/2006/relationships/notesMaster" Target="/ppt/notesMasters/notesMaster1.xml" Id="R3b779595f17343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7de6b1d6594f66" /><Relationship Type="http://schemas.openxmlformats.org/officeDocument/2006/relationships/notesMaster" Target="/ppt/notesMasters/notesMaster1.xml" Id="R9dbbadb6f3584a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99d4eefe52431d" /><Relationship Type="http://schemas.openxmlformats.org/officeDocument/2006/relationships/notesMaster" Target="/ppt/notesMasters/notesMaster1.xml" Id="Rb842c67e587a4c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9c2ddcbb724a88" /><Relationship Type="http://schemas.openxmlformats.org/officeDocument/2006/relationships/notesMaster" Target="/ppt/notesMasters/notesMaster1.xml" Id="R76f395304b8a42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58d392125c4050" /><Relationship Type="http://schemas.openxmlformats.org/officeDocument/2006/relationships/notesMaster" Target="/ppt/notesMasters/notesMaster1.xml" Id="R4069be15244a42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334968a20d4890" /><Relationship Type="http://schemas.openxmlformats.org/officeDocument/2006/relationships/notesMaster" Target="/ppt/notesMasters/notesMaster1.xml" Id="R872b40a512724c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99b2a341a34718" /><Relationship Type="http://schemas.openxmlformats.org/officeDocument/2006/relationships/notesMaster" Target="/ppt/notesMasters/notesMaster1.xml" Id="R6ed819d49a0f49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031e08677c4af9" /><Relationship Type="http://schemas.openxmlformats.org/officeDocument/2006/relationships/notesMaster" Target="/ppt/notesMasters/notesMaster1.xml" Id="Rf8bccd7f895f46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0775d30be045ee" /><Relationship Type="http://schemas.openxmlformats.org/officeDocument/2006/relationships/notesMaster" Target="/ppt/notesMasters/notesMaster1.xml" Id="Rc6cc8bdb219144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8baa0a69a84475" /><Relationship Type="http://schemas.openxmlformats.org/officeDocument/2006/relationships/notesMaster" Target="/ppt/notesMasters/notesMaster1.xml" Id="R9b63737250cc4b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5ab5b5a1bb48ff" /><Relationship Type="http://schemas.openxmlformats.org/officeDocument/2006/relationships/notesMaster" Target="/ppt/notesMasters/notesMaster1.xml" Id="Rec2f59f7c29f40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77f8ff2ddd4690" /><Relationship Type="http://schemas.openxmlformats.org/officeDocument/2006/relationships/notesMaster" Target="/ppt/notesMasters/notesMaster1.xml" Id="R32c3b8fff30b4a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 Regional boundaries: Alibaba Cloud DataV GeoAtlas, https://geo.datav.aliyun.com/areas_v3/bound/430000_full.json and https://geo.datav.aliyun.com/areas_v3/bound/431000_full.json.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 Word-frequency figures count literal occurrences of selected Chinese terms in written questionnaire responses. English labels are translations. The three panels show selected recurring terms, campus spaces, and care/resources; their vocabularies overlap. See Word_Frequency_Data.csv for exact term mappings. Word clouds: font size is proportional to the square root of the literal frequency, with one uniform scale per panel. All terms appear once per panel. Three panels contain selected recurring words, campus spaces, and care/resources. English labels translate the original Chinese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Kuzhi Yucai Public Welfare School. Field survey and interviews, September 2026. Campus design. References on page 7: Barrett et al. (2015); Adams et al. (2009).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33b902346643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9dedb443c541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9903de11114a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fd345ec4a142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83cbfd691b43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e3fb59491542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3D5765-3C3F-4CA2-979E-A73E98776957}"/>
              </a:ext>
            </a:extLst>
          </p:cNvPr>
          <p:cNvSpPr>
            <a:spLocks xmlns:a="http://schemas.openxmlformats.org/drawingml/2006/main" noGrp="1"/>
          </p:cNvSpPr>
          <p:nvPr>
            <p:ph type="title" idx="0"/>
          </p:nvPr>
        </p:nvSpPr>
        <p:spPr>
          <a:xfrm xmlns:a="http://schemas.openxmlformats.org/drawingml/2006/main">
            <a:off x="1069200" y="2856000"/>
            <a:ext cx="8553600" cy="109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C5AFD4-DF6B-4530-9E50-A45EA95233A4}"/>
              </a:ext>
            </a:extLst>
          </p:cNvPr>
          <p:cNvSpPr>
            <a:spLocks xmlns:a="http://schemas.openxmlformats.org/drawingml/2006/main" noGrp="1"/>
          </p:cNvSpPr>
          <p:nvPr>
            <p:ph type="subTitle" idx="1"/>
          </p:nvPr>
        </p:nvSpPr>
        <p:spPr>
          <a:xfrm xmlns:a="http://schemas.openxmlformats.org/drawingml/2006/main">
            <a:off x="1603800" y="4158000"/>
            <a:ext cx="7484400" cy="84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842"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B09E85-9F64-48D3-8393-652A6CF6AE71}"/>
              </a:ext>
            </a:extLst>
          </p:cNvPr>
          <p:cNvSpPr>
            <a:spLocks xmlns:a="http://schemas.openxmlformats.org/drawingml/2006/main" noGrp="1"/>
          </p:cNvSpPr>
          <p:nvPr>
            <p:ph type="title" idx="0"/>
          </p:nvPr>
        </p:nvSpPr>
        <p:spPr>
          <a:xfrm xmlns:a="http://schemas.openxmlformats.org/drawingml/2006/main">
            <a:off x="1069200" y="3150000"/>
            <a:ext cx="8553600" cy="126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8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BC5A4F-A596-453B-8A8F-6F635B6C8AD6}"/>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484A3F-7908-4F92-B68D-8761AA926CFF}"/>
              </a:ext>
            </a:extLst>
          </p:cNvPr>
          <p:cNvSpPr>
            <a:spLocks xmlns:a="http://schemas.openxmlformats.org/drawingml/2006/main" noGrp="1"/>
          </p:cNvSpPr>
          <p:nvPr>
            <p:ph type="body" idx="1"/>
          </p:nvPr>
        </p:nvSpPr>
        <p:spPr>
          <a:xfrm xmlns:a="http://schemas.openxmlformats.org/drawingml/2006/main">
            <a:off x="601425" y="2100000"/>
            <a:ext cx="94891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01CAA4-B968-4B09-94C2-F283331F88CF}"/>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DF22E1-70BD-4577-BC4B-21F0B35CA659}"/>
              </a:ext>
            </a:extLst>
          </p:cNvPr>
          <p:cNvSpPr>
            <a:spLocks xmlns:a="http://schemas.openxmlformats.org/drawingml/2006/main" noGrp="1"/>
          </p:cNvSpPr>
          <p:nvPr>
            <p:ph type="body" idx="1"/>
          </p:nvPr>
        </p:nvSpPr>
        <p:spPr>
          <a:xfrm xmlns:a="http://schemas.openxmlformats.org/drawingml/2006/main">
            <a:off x="6014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CC9F65C-6C48-43E6-BE78-AF5108913C0E}"/>
              </a:ext>
            </a:extLst>
          </p:cNvPr>
          <p:cNvSpPr>
            <a:spLocks xmlns:a="http://schemas.openxmlformats.org/drawingml/2006/main" noGrp="1"/>
          </p:cNvSpPr>
          <p:nvPr>
            <p:ph type="body" idx="2"/>
          </p:nvPr>
        </p:nvSpPr>
        <p:spPr>
          <a:xfrm xmlns:a="http://schemas.openxmlformats.org/drawingml/2006/main">
            <a:off x="56801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AAFB90-C446-4C0C-9B82-894C61384463}"/>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8D31C2-6417-45BA-8BCF-B1C2C1531DA0}"/>
              </a:ext>
            </a:extLst>
          </p:cNvPr>
          <p:cNvSpPr>
            <a:spLocks xmlns:a="http://schemas.openxmlformats.org/drawingml/2006/main" noGrp="1"/>
          </p:cNvSpPr>
          <p:nvPr>
            <p:ph type="body" idx="1"/>
          </p:nvPr>
        </p:nvSpPr>
        <p:spPr>
          <a:xfrm xmlns:a="http://schemas.openxmlformats.org/drawingml/2006/main">
            <a:off x="6014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b1d7563ac145a6" /><Relationship Type="http://schemas.openxmlformats.org/officeDocument/2006/relationships/slideLayout" Target="/ppt/slideLayouts/slideLayout1.xml" Id="Rf86b92a439c04f09" /><Relationship Type="http://schemas.openxmlformats.org/officeDocument/2006/relationships/slideLayout" Target="/ppt/slideLayouts/slideLayout2.xml" Id="R2e6d2c6a83174963" /><Relationship Type="http://schemas.openxmlformats.org/officeDocument/2006/relationships/slideLayout" Target="/ppt/slideLayouts/slideLayout3.xml" Id="Rf2b56781f0ec4a3c" /><Relationship Type="http://schemas.openxmlformats.org/officeDocument/2006/relationships/slideLayout" Target="/ppt/slideLayouts/slideLayout4.xml" Id="Rd3a2ee6e89f84cf2" /><Relationship Type="http://schemas.openxmlformats.org/officeDocument/2006/relationships/slideLayout" Target="/ppt/slideLayouts/slideLayout5.xml" Id="R60cd6af5b8db4293" /><Relationship Type="http://schemas.openxmlformats.org/officeDocument/2006/relationships/slideLayout" Target="/ppt/slideLayouts/slideLayout6.xml" Id="R9b626dbfe7f64a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6b92a439c04f09"/>
    <p:sldLayoutId xmlns:r="http://schemas.openxmlformats.org/officeDocument/2006/relationships" id="2147483650" r:id="R2e6d2c6a83174963"/>
    <p:sldLayoutId xmlns:r="http://schemas.openxmlformats.org/officeDocument/2006/relationships" id="2147483651" r:id="Rf2b56781f0ec4a3c"/>
    <p:sldLayoutId xmlns:r="http://schemas.openxmlformats.org/officeDocument/2006/relationships" id="2147483652" r:id="Rd3a2ee6e89f84cf2"/>
    <p:sldLayoutId xmlns:r="http://schemas.openxmlformats.org/officeDocument/2006/relationships" id="2147483653" r:id="R60cd6af5b8db4293"/>
    <p:sldLayoutId xmlns:r="http://schemas.openxmlformats.org/officeDocument/2006/relationships" id="2147483654" r:id="R9b626dbfe7f64a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daeb4af24240a5" /><Relationship Type="http://schemas.openxmlformats.org/officeDocument/2006/relationships/notesSlide" Target="/ppt/notesSlides/notesSlide1.xml" Id="Rd3c5f40c95194c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27df0bff994ff5" /><Relationship Type="http://schemas.openxmlformats.org/officeDocument/2006/relationships/image" Target="/ppt/media/image.png" Id="Rfca75c36601546e6" /><Relationship Type="http://schemas.openxmlformats.org/officeDocument/2006/relationships/notesSlide" Target="/ppt/notesSlides/notesSlide2.xml" Id="Rc937cc98deab48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5359859390460c" /><Relationship Type="http://schemas.openxmlformats.org/officeDocument/2006/relationships/notesSlide" Target="/ppt/notesSlides/notesSlide3.xml" Id="R5ca770ccd0674d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7bc7cdcdc84992" /><Relationship Type="http://schemas.openxmlformats.org/officeDocument/2006/relationships/chart" Target="/ppt/slides/charts/chart1.xml" Id="R5b08c886d4e94110" /><Relationship Type="http://schemas.openxmlformats.org/officeDocument/2006/relationships/notesSlide" Target="/ppt/notesSlides/notesSlide4.xml" Id="R1b66a24f64ec49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20db9a62e84c5a" /><Relationship Type="http://schemas.openxmlformats.org/officeDocument/2006/relationships/notesSlide" Target="/ppt/notesSlides/notesSlide5.xml" Id="R4d93fefb5fcc4e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8e1b4dad514502" /><Relationship Type="http://schemas.openxmlformats.org/officeDocument/2006/relationships/notesSlide" Target="/ppt/notesSlides/notesSlide6.xml" Id="R7a7e7948664e44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d57ebad03d44a8" /><Relationship Type="http://schemas.openxmlformats.org/officeDocument/2006/relationships/notesSlide" Target="/ppt/notesSlides/notesSlide7.xml" Id="R419247d812ef49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40b5aca28194343" /><Relationship Type="http://schemas.openxmlformats.org/officeDocument/2006/relationships/image" Target="/ppt/media/image2.png" Id="Ra2d106f7b7a44c1d" /><Relationship Type="http://schemas.openxmlformats.org/officeDocument/2006/relationships/image" Target="/ppt/media/image3.png" Id="R4b4419a0889e4bb9" /><Relationship Type="http://schemas.openxmlformats.org/officeDocument/2006/relationships/image" Target="/ppt/media/image4.png" Id="R1f7b358c99344e86" /><Relationship Type="http://schemas.openxmlformats.org/officeDocument/2006/relationships/image" Target="/ppt/media/image5.png" Id="R452889f378a64d8e" /><Relationship Type="http://schemas.openxmlformats.org/officeDocument/2006/relationships/chart" Target="/ppt/slides/charts/chart2.xml" Id="R1b01d3a6300a4967" /><Relationship Type="http://schemas.openxmlformats.org/officeDocument/2006/relationships/notesSlide" Target="/ppt/notesSlides/notesSlide8.xml" Id="R7b3ef609bc7945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d035399d2f42ca" /><Relationship Type="http://schemas.openxmlformats.org/officeDocument/2006/relationships/image" Target="/ppt/media/image6.png" Id="Rf1e6784726c64c3c" /><Relationship Type="http://schemas.openxmlformats.org/officeDocument/2006/relationships/notesSlide" Target="/ppt/notesSlides/notesSlide9.xml" Id="R25d47293ce8842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132d47cec8473c" /><Relationship Type="http://schemas.openxmlformats.org/officeDocument/2006/relationships/image" Target="/ppt/media/image7.png" Id="Rbb6bfc78af944eab" /><Relationship Type="http://schemas.openxmlformats.org/officeDocument/2006/relationships/image" Target="/ppt/media/image8.png" Id="R91b01a0c95eb408a" /><Relationship Type="http://schemas.openxmlformats.org/officeDocument/2006/relationships/notesSlide" Target="/ppt/notesSlides/notesSlide10.xml" Id="R122aef0d3e1c4c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c61aabd6c44ec2" /><Relationship Type="http://schemas.openxmlformats.org/officeDocument/2006/relationships/image" Target="/ppt/media/image9.png" Id="Re147750013cf4c33" /><Relationship Type="http://schemas.openxmlformats.org/officeDocument/2006/relationships/notesSlide" Target="/ppt/notesSlides/notesSlide11.xml" Id="R18682e0346ff45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6343de7f0c4570" /><Relationship Type="http://schemas.openxmlformats.org/officeDocument/2006/relationships/image" Target="/ppt/media/image10.png" Id="R81636c95dc51427c" /><Relationship Type="http://schemas.openxmlformats.org/officeDocument/2006/relationships/image" Target="/ppt/media/image11.png" Id="R35218f9dc3d94f4d" /><Relationship Type="http://schemas.openxmlformats.org/officeDocument/2006/relationships/notesSlide" Target="/ppt/notesSlides/notesSlide12.xml" Id="R5f6b5e37abfc44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0b7e93cdca54e2a" /><Relationship Type="http://schemas.openxmlformats.org/officeDocument/2006/relationships/image" Target="/ppt/media/image12.png" Id="R6637b8926f744b59" /><Relationship Type="http://schemas.openxmlformats.org/officeDocument/2006/relationships/image" Target="/ppt/media/image13.png" Id="Rfe736ee69f624edd" /><Relationship Type="http://schemas.openxmlformats.org/officeDocument/2006/relationships/image" Target="/ppt/media/image14.png" Id="R78c3328c0a454323" /><Relationship Type="http://schemas.openxmlformats.org/officeDocument/2006/relationships/image" Target="/ppt/media/image15.png" Id="R32b94a8440a04520" /><Relationship Type="http://schemas.openxmlformats.org/officeDocument/2006/relationships/notesSlide" Target="/ppt/notesSlides/notesSlide13.xml" Id="Rc7eac640fdf549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da167933014927" /><Relationship Type="http://schemas.openxmlformats.org/officeDocument/2006/relationships/image" Target="/ppt/media/image16.png" Id="R024372850f7444e0" /><Relationship Type="http://schemas.openxmlformats.org/officeDocument/2006/relationships/image" Target="/ppt/media/image17.png" Id="Rcbcc8d9a288946d3" /><Relationship Type="http://schemas.openxmlformats.org/officeDocument/2006/relationships/notesSlide" Target="/ppt/notesSlides/notesSlide14.xml" Id="Rfd28acb308004c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befcbeb52114817" /><Relationship Type="http://schemas.openxmlformats.org/officeDocument/2006/relationships/image" Target="/ppt/media/image18.png" Id="R7988c66ecf84498a" /><Relationship Type="http://schemas.openxmlformats.org/officeDocument/2006/relationships/image" Target="/ppt/media/image19.png" Id="R75eb7e2989674d71" /><Relationship Type="http://schemas.openxmlformats.org/officeDocument/2006/relationships/notesSlide" Target="/ppt/notesSlides/notesSlide15.xml" Id="R4488ecf0cebc41d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Study</c:v>
          </c:tx>
          <c:spPr>
            <a:solidFill xmlns:a="http://schemas.openxmlformats.org/drawingml/2006/main">
              <a:srgbClr val="345A60"/>
            </a:solidFill>
            <a:ln xmlns:a="http://schemas.openxmlformats.org/drawingml/2006/main" w="0">
              <a:noFill/>
              <a:prstDash val="solid"/>
            </a:ln>
          </c:spPr>
          <c:invertIfNegative val="0"/>
          <c:cat>
            <c:strRef>
              <c:f>'Chart Data'!$A$2:$A$2</c:f>
              <c:strCache>
                <c:ptCount val="1"/>
                <c:pt idx="0">
                  <c:v>Scheduled minutes</c:v>
                </c:pt>
              </c:strCache>
            </c:strRef>
          </c:cat>
          <c:val>
            <c:numRef>
              <c:f>'Chart Data'!$B$2:$B$2</c:f>
              <c:numCache>
                <c:formatCode>General</c:formatCode>
                <c:ptCount val="1"/>
                <c:pt idx="0">
                  <c:v>390</c:v>
                </c:pt>
              </c:numCache>
            </c:numRef>
          </c:val>
        </c:ser>
        <c:ser>
          <c:idx val="1"/>
          <c:order val="1"/>
          <c:tx>
            <c:v>Meals</c:v>
          </c:tx>
          <c:spPr>
            <a:solidFill xmlns:a="http://schemas.openxmlformats.org/drawingml/2006/main">
              <a:srgbClr val="81968A"/>
            </a:solidFill>
            <a:ln xmlns:a="http://schemas.openxmlformats.org/drawingml/2006/main" w="0">
              <a:noFill/>
              <a:prstDash val="solid"/>
            </a:ln>
          </c:spPr>
          <c:invertIfNegative val="0"/>
          <c:cat>
            <c:strRef>
              <c:f>'Chart Data'!$C$2:$C$2</c:f>
              <c:strCache>
                <c:ptCount val="1"/>
                <c:pt idx="0">
                  <c:v>Scheduled minutes</c:v>
                </c:pt>
              </c:strCache>
            </c:strRef>
          </c:cat>
          <c:val>
            <c:numRef>
              <c:f>'Chart Data'!$D$2:$D$2</c:f>
              <c:numCache>
                <c:formatCode>General</c:formatCode>
                <c:ptCount val="1"/>
                <c:pt idx="0">
                  <c:v>160</c:v>
                </c:pt>
              </c:numCache>
            </c:numRef>
          </c:val>
        </c:ser>
        <c:ser>
          <c:idx val="2"/>
          <c:order val="2"/>
          <c:tx>
            <c:v>Activity</c:v>
          </c:tx>
          <c:spPr>
            <a:solidFill xmlns:a="http://schemas.openxmlformats.org/drawingml/2006/main">
              <a:srgbClr val="687F72"/>
            </a:solidFill>
            <a:ln xmlns:a="http://schemas.openxmlformats.org/drawingml/2006/main" w="0">
              <a:noFill/>
              <a:prstDash val="solid"/>
            </a:ln>
          </c:spPr>
          <c:invertIfNegative val="0"/>
          <c:cat>
            <c:strRef>
              <c:f>'Chart Data'!$E$2:$E$2</c:f>
              <c:strCache>
                <c:ptCount val="1"/>
                <c:pt idx="0">
                  <c:v>Scheduled minutes</c:v>
                </c:pt>
              </c:strCache>
            </c:strRef>
          </c:cat>
          <c:val>
            <c:numRef>
              <c:f>'Chart Data'!$F$2:$F$2</c:f>
              <c:numCache>
                <c:formatCode>General</c:formatCode>
                <c:ptCount val="1"/>
                <c:pt idx="0">
                  <c:v>90</c:v>
                </c:pt>
              </c:numCache>
            </c:numRef>
          </c:val>
        </c:ser>
        <c:ser>
          <c:idx val="3"/>
          <c:order val="3"/>
          <c:tx>
            <c:v>Midday rest</c:v>
          </c:tx>
          <c:spPr>
            <a:solidFill xmlns:a="http://schemas.openxmlformats.org/drawingml/2006/main">
              <a:srgbClr val="ABBBA8"/>
            </a:solidFill>
            <a:ln xmlns:a="http://schemas.openxmlformats.org/drawingml/2006/main" w="0">
              <a:noFill/>
              <a:prstDash val="solid"/>
            </a:ln>
          </c:spPr>
          <c:invertIfNegative val="0"/>
          <c:cat>
            <c:strRef>
              <c:f>'Chart Data'!$G$2:$G$2</c:f>
              <c:strCache>
                <c:ptCount val="1"/>
                <c:pt idx="0">
                  <c:v>Scheduled minutes</c:v>
                </c:pt>
              </c:strCache>
            </c:strRef>
          </c:cat>
          <c:val>
            <c:numRef>
              <c:f>'Chart Data'!$H$2:$H$2</c:f>
              <c:numCache>
                <c:formatCode>General</c:formatCode>
                <c:ptCount val="1"/>
                <c:pt idx="0">
                  <c:v>80</c:v>
                </c:pt>
              </c:numCache>
            </c:numRef>
          </c:val>
        </c:ser>
        <c:ser>
          <c:idx val="4"/>
          <c:order val="4"/>
          <c:tx>
            <c:v>Eye exercises</c:v>
          </c:tx>
          <c:spPr>
            <a:solidFill xmlns:a="http://schemas.openxmlformats.org/drawingml/2006/main">
              <a:srgbClr val="B5C3B8"/>
            </a:solidFill>
            <a:ln xmlns:a="http://schemas.openxmlformats.org/drawingml/2006/main" w="0">
              <a:noFill/>
              <a:prstDash val="solid"/>
            </a:ln>
          </c:spPr>
          <c:invertIfNegative val="0"/>
          <c:cat>
            <c:strRef>
              <c:f>'Chart Data'!$I$2:$I$2</c:f>
              <c:strCache>
                <c:ptCount val="1"/>
                <c:pt idx="0">
                  <c:v>Scheduled minutes</c:v>
                </c:pt>
              </c:strCache>
            </c:strRef>
          </c:cat>
          <c:val>
            <c:numRef>
              <c:f>'Chart Data'!$J$2:$J$2</c:f>
              <c:numCache>
                <c:formatCode>General</c:formatCode>
                <c:ptCount val="1"/>
                <c:pt idx="0">
                  <c:v>30</c:v>
                </c:pt>
              </c:numCache>
            </c:numRef>
          </c:val>
        </c:ser>
        <c:ser>
          <c:idx val="5"/>
          <c:order val="5"/>
          <c:tx>
            <c:v>Intervals</c:v>
          </c:tx>
          <c:spPr>
            <a:solidFill xmlns:a="http://schemas.openxmlformats.org/drawingml/2006/main">
              <a:srgbClr val="D9DDD4"/>
            </a:solidFill>
            <a:ln xmlns:a="http://schemas.openxmlformats.org/drawingml/2006/main" w="0">
              <a:noFill/>
              <a:prstDash val="solid"/>
            </a:ln>
          </c:spPr>
          <c:invertIfNegative val="0"/>
          <c:cat>
            <c:strRef>
              <c:f>'Chart Data'!$K$2:$K$2</c:f>
              <c:strCache>
                <c:ptCount val="1"/>
                <c:pt idx="0">
                  <c:v>Scheduled minutes</c:v>
                </c:pt>
              </c:strCache>
            </c:strRef>
          </c:cat>
          <c:val>
            <c:numRef>
              <c:f>'Chart Data'!$L$2:$L$2</c:f>
              <c:numCache>
                <c:formatCode>General</c:formatCode>
                <c:ptCount val="1"/>
                <c:pt idx="0">
                  <c:v>120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825">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3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870"/>
          <c:min val="0"/>
        </c:scaling>
        <c:delete val="1"/>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252D2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score</c:v>
          </c:tx>
          <c:spPr>
            <a:solidFill xmlns:a="http://schemas.openxmlformats.org/drawingml/2006/main">
              <a:srgbClr val="345A60"/>
            </a:solidFill>
          </c:spPr>
          <c:invertIfNegative val="0"/>
          <c:dPt>
            <c:idx val="0"/>
            <c:invertIfNegative val="0"/>
            <c:spPr>
              <a:solidFill xmlns:a="http://schemas.openxmlformats.org/drawingml/2006/main">
                <a:srgbClr val="81968A"/>
              </a:solidFill>
              <a:ln xmlns:a="http://schemas.openxmlformats.org/drawingml/2006/main" w="0">
                <a:noFill/>
                <a:prstDash val="solid"/>
              </a:ln>
            </c:spPr>
          </c:dPt>
          <c:dPt>
            <c:idx val="1"/>
            <c:invertIfNegative val="0"/>
            <c:spPr>
              <a:solidFill xmlns:a="http://schemas.openxmlformats.org/drawingml/2006/main">
                <a:srgbClr val="345A60"/>
              </a:solidFill>
              <a:ln xmlns:a="http://schemas.openxmlformats.org/drawingml/2006/main" w="0">
                <a:noFill/>
                <a:prstDash val="solid"/>
              </a:ln>
            </c:spPr>
          </c:dPt>
          <c:dPt>
            <c:idx val="2"/>
            <c:invertIfNegative val="0"/>
            <c:spPr>
              <a:solidFill xmlns:a="http://schemas.openxmlformats.org/drawingml/2006/main">
                <a:srgbClr val="345A60"/>
              </a:solidFill>
              <a:ln xmlns:a="http://schemas.openxmlformats.org/drawingml/2006/main" w="0">
                <a:noFill/>
                <a:prstDash val="solid"/>
              </a:ln>
            </c:spPr>
          </c:dPt>
          <c:dPt>
            <c:idx val="3"/>
            <c:invertIfNegative val="0"/>
            <c:spPr>
              <a:solidFill xmlns:a="http://schemas.openxmlformats.org/drawingml/2006/main">
                <a:srgbClr val="81968A"/>
              </a:solidFill>
              <a:ln xmlns:a="http://schemas.openxmlformats.org/drawingml/2006/main" w="0">
                <a:noFill/>
                <a:prstDash val="solid"/>
              </a:ln>
            </c:spPr>
          </c:dPt>
          <c:dPt>
            <c:idx val="4"/>
            <c:invertIfNegative val="0"/>
            <c:spPr>
              <a:solidFill xmlns:a="http://schemas.openxmlformats.org/drawingml/2006/main">
                <a:srgbClr val="81968A"/>
              </a:solidFill>
              <a:ln xmlns:a="http://schemas.openxmlformats.org/drawingml/2006/main" w="0">
                <a:noFill/>
                <a:prstDash val="solid"/>
              </a:ln>
            </c:spPr>
          </c:dPt>
          <c:cat>
            <c:strRef>
              <c:f>'Chart Data'!$A$2:$A$6</c:f>
              <c:strCache>
                <c:ptCount val="5"/>
                <c:pt idx="0">
                  <c:v>Spatial connections</c:v>
                </c:pt>
                <c:pt idx="1">
                  <c:v>Care support</c:v>
                </c:pt>
                <c:pt idx="2">
                  <c:v>Activity support</c:v>
                </c:pt>
                <c:pt idx="3">
                  <c:v>Comfort</c:v>
                </c:pt>
                <c:pt idx="4">
                  <c:v>Basic safety</c:v>
                </c:pt>
              </c:strCache>
            </c:strRef>
          </c:cat>
          <c:val>
            <c:numRef>
              <c:f>'Chart Data'!$B$2:$B$6</c:f>
              <c:numCache>
                <c:formatCode>0</c:formatCode>
                <c:ptCount val="5"/>
                <c:pt idx="0">
                  <c:v>3</c:v>
                </c:pt>
                <c:pt idx="1">
                  <c:v>3.83</c:v>
                </c:pt>
                <c:pt idx="2">
                  <c:v>2.71</c:v>
                </c:pt>
                <c:pt idx="3">
                  <c:v>3.44</c:v>
                </c:pt>
                <c:pt idx="4">
                  <c:v>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825">
                  <a:solidFill>
                    <a:srgbClr val="252D2C"/>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25">
                <a:solidFill>
                  <a:srgbClr val="252D2C"/>
                </a:solidFill>
                <a:latin typeface="Arial"/>
                <a:ea typeface="Arial"/>
                <a:cs typeface="Arial"/>
              </a:defRPr>
            </a:pPr>
          </a:p>
        </c:txPr>
        <c:crossAx val="48672768"/>
      </c:catAx>
      <c:valAx>
        <c:axId val="48672768"/>
        <c:scaling>
          <c:orientation val="minMax"/>
          <c:max val="5"/>
          <c:min val="0"/>
        </c:scaling>
        <c:delete val="0"/>
        <c:axPos val="b"/>
        <c:majorGridlines>
          <c:spPr>
            <a:ln xmlns:a="http://schemas.openxmlformats.org/drawingml/2006/main" w="4763">
              <a:solidFill>
                <a:srgbClr val="E0E6DF"/>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252D2C"/>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Editable paragraph">
            <a:extLst xmlns:a="http://schemas.openxmlformats.org/drawingml/2006/main">
              <a:ext uri="{FF2B5EF4-FFF2-40B4-BE49-F238E27FC236}">
                <a16:creationId xmlns:a16="http://schemas.microsoft.com/office/drawing/2014/main" id="{CFA89E5B-5EFC-4500-8CA7-C707A05092DE}"/>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A7A15D0A-672F-4506-9A56-DD04767530CF}"/>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4B71C113-15D5-4167-839E-CA25826E3DB8}"/>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9519096C-45B2-4555-8AA2-0E904AE53FED}"/>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F2D13F18-6D2E-4847-B316-28E4EDDA8E84}"/>
              </a:ext>
            </a:extLst>
          </p:cNvPr>
          <p:cNvSpPr>
            <a:spLocks xmlns:a="http://schemas.openxmlformats.org/drawingml/2006/main" noGrp="1"/>
          </p:cNvSpPr>
          <p:nvPr/>
        </p:nvSpPr>
        <p:spPr>
          <a:xfrm xmlns:a="http://schemas.openxmlformats.org/drawingml/2006/main">
            <a:off x="304800" y="546100"/>
            <a:ext cx="10083800" cy="3690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00" b="1" i="0">
                <a:solidFill>
                  <a:srgbClr val="252D2C"/>
                </a:solidFill>
                <a:latin typeface="Arial"/>
                <a:ea typeface="Arial"/>
                <a:cs typeface="Arial"/>
              </a:defRPr>
            </a:defPPr>
          </a:lstStyle>
          <a:p xmlns:a="http://schemas.openxmlformats.org/drawingml/2006/main">
            <a:pPr>
              <a:buNone/>
              <a:defRPr sz="2200" b="1" i="0">
                <a:solidFill>
                  <a:srgbClr val="252D2C"/>
                </a:solidFill>
                <a:latin typeface="Arial"/>
                <a:ea typeface="Arial"/>
                <a:cs typeface="Arial"/>
              </a:defRPr>
              <a:lnSpc>
                <a:spcPts val="2706"/>
              </a:lnSpc>
              <a:spcBef>
                <a:spcPts val="0"/>
              </a:spcBef>
              <a:spcAft>
                <a:spcPts val="0"/>
              </a:spcAft>
            </a:pPr>
            <a:r>
              <a:rPr sz="2200" b="1" i="0">
                <a:solidFill>
                  <a:srgbClr val="252D2C"/>
                </a:solidFill>
                <a:latin typeface="Arial"/>
                <a:ea typeface="Arial"/>
                <a:cs typeface="Arial"/>
              </a:rPr>
              <a:t>Everyday Care, Spatial Choice</a:t>
            </a:r>
          </a:p>
        </p:txBody>
      </p:sp>
      <p:sp>
        <p:nvSpPr>
          <p:cNvPr id="6" name="">
            <a:extLst xmlns:a="http://schemas.openxmlformats.org/drawingml/2006/main">
              <a:ext uri="{FF2B5EF4-FFF2-40B4-BE49-F238E27FC236}">
                <a16:creationId xmlns:a16="http://schemas.microsoft.com/office/drawing/2014/main" id="{96E7712D-7B75-4597-8789-F6525564918F}"/>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9548F5D8-8D8E-4E6A-BA6A-B3F8DB79C4C5}"/>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D544A234-78DB-4A02-8A67-CC4888295F54}"/>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01 / 15</a:t>
            </a:r>
          </a:p>
        </p:txBody>
      </p:sp>
      <p:sp>
        <p:nvSpPr>
          <p:cNvPr id="9" name="Editable paragraph">
            <a:extLst xmlns:a="http://schemas.openxmlformats.org/drawingml/2006/main">
              <a:ext uri="{FF2B5EF4-FFF2-40B4-BE49-F238E27FC236}">
                <a16:creationId xmlns:a16="http://schemas.microsoft.com/office/drawing/2014/main" id="{65034426-1626-455B-A2C7-D718A42B2E97}"/>
              </a:ext>
            </a:extLst>
          </p:cNvPr>
          <p:cNvSpPr>
            <a:spLocks xmlns:a="http://schemas.openxmlformats.org/drawingml/2006/main" noGrp="1"/>
          </p:cNvSpPr>
          <p:nvPr/>
        </p:nvSpPr>
        <p:spPr>
          <a:xfrm xmlns:a="http://schemas.openxmlformats.org/drawingml/2006/main">
            <a:off x="304800" y="990600"/>
            <a:ext cx="10083800" cy="1675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345A60"/>
                </a:solidFill>
                <a:latin typeface="Arial"/>
                <a:ea typeface="Arial"/>
                <a:cs typeface="Arial"/>
              </a:defRPr>
            </a:defPPr>
          </a:lstStyle>
          <a:p xmlns:a="http://schemas.openxmlformats.org/drawingml/2006/main">
            <a:pPr>
              <a:buNone/>
              <a:defRPr sz="910" b="0" i="0">
                <a:solidFill>
                  <a:srgbClr val="345A60"/>
                </a:solidFill>
                <a:latin typeface="Arial"/>
                <a:ea typeface="Arial"/>
                <a:cs typeface="Arial"/>
              </a:defRPr>
              <a:lnSpc>
                <a:spcPts val="1119"/>
              </a:lnSpc>
              <a:spcBef>
                <a:spcPts val="0"/>
              </a:spcBef>
              <a:spcAft>
                <a:spcPts val="0"/>
              </a:spcAft>
            </a:pPr>
            <a:r>
              <a:rPr sz="910" b="0" i="0">
                <a:solidFill>
                  <a:srgbClr val="345A60"/>
                </a:solidFill>
                <a:latin typeface="Arial"/>
                <a:ea typeface="Arial"/>
                <a:cs typeface="Arial"/>
              </a:rPr>
              <a:t>Keywords: school design; everyday care; activity settings; environmental audit; rural campus.</a:t>
            </a:r>
          </a:p>
        </p:txBody>
      </p:sp>
      <p:sp>
        <p:nvSpPr>
          <p:cNvPr id="10" name="Editable paragraph">
            <a:extLst xmlns:a="http://schemas.openxmlformats.org/drawingml/2006/main">
              <a:ext uri="{FF2B5EF4-FFF2-40B4-BE49-F238E27FC236}">
                <a16:creationId xmlns:a16="http://schemas.microsoft.com/office/drawing/2014/main" id="{4771673E-2872-46F4-9A8B-1501C8199F6C}"/>
              </a:ext>
            </a:extLst>
          </p:cNvPr>
          <p:cNvSpPr>
            <a:spLocks xmlns:a="http://schemas.openxmlformats.org/drawingml/2006/main" noGrp="1"/>
          </p:cNvSpPr>
          <p:nvPr/>
        </p:nvSpPr>
        <p:spPr>
          <a:xfrm xmlns:a="http://schemas.openxmlformats.org/drawingml/2006/main">
            <a:off x="304800" y="1270000"/>
            <a:ext cx="10083800" cy="184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20" b="1" i="0">
                <a:solidFill>
                  <a:srgbClr val="252D2C"/>
                </a:solidFill>
                <a:latin typeface="Arial"/>
                <a:ea typeface="Arial"/>
                <a:cs typeface="Arial"/>
              </a:defRPr>
            </a:defPPr>
          </a:lstStyle>
          <a:p xmlns:a="http://schemas.openxmlformats.org/drawingml/2006/main">
            <a:pPr>
              <a:buNone/>
              <a:defRPr sz="1020" b="1" i="0">
                <a:solidFill>
                  <a:srgbClr val="252D2C"/>
                </a:solidFill>
                <a:latin typeface="Arial"/>
                <a:ea typeface="Arial"/>
                <a:cs typeface="Arial"/>
              </a:defRPr>
              <a:lnSpc>
                <a:spcPts val="1255"/>
              </a:lnSpc>
              <a:spcBef>
                <a:spcPts val="0"/>
              </a:spcBef>
              <a:spcAft>
                <a:spcPts val="0"/>
              </a:spcAft>
            </a:pPr>
            <a:r>
              <a:rPr sz="1020" b="1" i="0">
                <a:solidFill>
                  <a:srgbClr val="252D2C"/>
                </a:solidFill>
                <a:latin typeface="Arial"/>
                <a:ea typeface="Arial"/>
                <a:cs typeface="Arial"/>
              </a:rPr>
              <a:t>Field Research and a Campus Design Proposal for Kuzhi Yucai Public Welfare School, Guiyang County</a:t>
            </a:r>
          </a:p>
        </p:txBody>
      </p:sp>
      <p:sp>
        <p:nvSpPr>
          <p:cNvPr id="11" name="Editable paragraph">
            <a:extLst xmlns:a="http://schemas.openxmlformats.org/drawingml/2006/main">
              <a:ext uri="{FF2B5EF4-FFF2-40B4-BE49-F238E27FC236}">
                <a16:creationId xmlns:a16="http://schemas.microsoft.com/office/drawing/2014/main" id="{83DB808F-37A5-47A9-995B-51281B781D4F}"/>
              </a:ext>
            </a:extLst>
          </p:cNvPr>
          <p:cNvSpPr>
            <a:spLocks xmlns:a="http://schemas.openxmlformats.org/drawingml/2006/main" noGrp="1"/>
          </p:cNvSpPr>
          <p:nvPr/>
        </p:nvSpPr>
        <p:spPr>
          <a:xfrm xmlns:a="http://schemas.openxmlformats.org/drawingml/2006/main">
            <a:off x="304800" y="1676400"/>
            <a:ext cx="48641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Abstract</a:t>
            </a:r>
          </a:p>
        </p:txBody>
      </p:sp>
      <p:sp>
        <p:nvSpPr>
          <p:cNvPr id="12" name="Editable paragraph">
            <a:extLst xmlns:a="http://schemas.openxmlformats.org/drawingml/2006/main">
              <a:ext uri="{FF2B5EF4-FFF2-40B4-BE49-F238E27FC236}">
                <a16:creationId xmlns:a16="http://schemas.microsoft.com/office/drawing/2014/main" id="{0E44FFA4-A086-4986-B23A-D40408737A93}"/>
              </a:ext>
            </a:extLst>
          </p:cNvPr>
          <p:cNvSpPr>
            <a:spLocks xmlns:a="http://schemas.openxmlformats.org/drawingml/2006/main" noGrp="1"/>
          </p:cNvSpPr>
          <p:nvPr/>
        </p:nvSpPr>
        <p:spPr>
          <a:xfrm xmlns:a="http://schemas.openxmlformats.org/drawingml/2006/main">
            <a:off x="5422900" y="1676400"/>
            <a:ext cx="49657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01 / Everyday care and the school environment</a:t>
            </a:r>
          </a:p>
        </p:txBody>
      </p:sp>
      <p:sp>
        <p:nvSpPr>
          <p:cNvPr id="13" name="Editable paragraph">
            <a:extLst xmlns:a="http://schemas.openxmlformats.org/drawingml/2006/main">
              <a:ext uri="{FF2B5EF4-FFF2-40B4-BE49-F238E27FC236}">
                <a16:creationId xmlns:a16="http://schemas.microsoft.com/office/drawing/2014/main" id="{8AF4A3A9-0049-4F9D-8D92-D3EB65A64D73}"/>
              </a:ext>
            </a:extLst>
          </p:cNvPr>
          <p:cNvSpPr>
            <a:spLocks xmlns:a="http://schemas.openxmlformats.org/drawingml/2006/main" noGrp="1"/>
          </p:cNvSpPr>
          <p:nvPr/>
        </p:nvSpPr>
        <p:spPr>
          <a:xfrm xmlns:a="http://schemas.openxmlformats.org/drawingml/2006/main">
            <a:off x="304800" y="1955800"/>
            <a:ext cx="4864100" cy="114980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20" b="0" i="0">
                <a:solidFill>
                  <a:srgbClr val="252D2C"/>
                </a:solidFill>
                <a:latin typeface="Arial"/>
                <a:ea typeface="Arial"/>
                <a:cs typeface="Arial"/>
              </a:defRPr>
            </a:defPPr>
          </a:lstStyle>
          <a:p xmlns:a="http://schemas.openxmlformats.org/drawingml/2006/main">
            <a:pPr>
              <a:buNone/>
              <a:defRPr sz="1020" b="0" i="0">
                <a:solidFill>
                  <a:srgbClr val="252D2C"/>
                </a:solidFill>
                <a:latin typeface="Arial"/>
                <a:ea typeface="Arial"/>
                <a:cs typeface="Arial"/>
              </a:defRPr>
              <a:lnSpc>
                <a:spcPts val="1265"/>
              </a:lnSpc>
              <a:spcBef>
                <a:spcPts val="0"/>
              </a:spcBef>
              <a:spcAft>
                <a:spcPts val="0"/>
              </a:spcAft>
            </a:pPr>
            <a:r>
              <a:rPr sz="1020" b="0" i="0">
                <a:solidFill>
                  <a:srgbClr val="252D2C"/>
                </a:solidFill>
                <a:latin typeface="Arial"/>
                <a:ea typeface="Arial"/>
                <a:cs typeface="Arial"/>
              </a:rPr>
              <a:t>School life continues between lessons, around meals, and through the small moments when a child needs company or help. This study examines how campus design can support those everyday needs at Kuzhi Yucai Public Welfare School in Guiyang County, Hunan. Questionnaires, interviews, environmental assessment, activity observations, and spatial analysis explore how teaching areas, outdoor grounds, and support facilities work together. The findings inform a campus proposal that brings daily care closer to the places children already use.</a:t>
            </a:r>
          </a:p>
        </p:txBody>
      </p:sp>
      <p:sp>
        <p:nvSpPr>
          <p:cNvPr id="14" name="Editable paragraph">
            <a:extLst xmlns:a="http://schemas.openxmlformats.org/drawingml/2006/main">
              <a:ext uri="{FF2B5EF4-FFF2-40B4-BE49-F238E27FC236}">
                <a16:creationId xmlns:a16="http://schemas.microsoft.com/office/drawing/2014/main" id="{F426C8CC-31DA-41E3-AD60-3978A0A696C4}"/>
              </a:ext>
            </a:extLst>
          </p:cNvPr>
          <p:cNvSpPr>
            <a:spLocks xmlns:a="http://schemas.openxmlformats.org/drawingml/2006/main" noGrp="1"/>
          </p:cNvSpPr>
          <p:nvPr/>
        </p:nvSpPr>
        <p:spPr>
          <a:xfrm xmlns:a="http://schemas.openxmlformats.org/drawingml/2006/main">
            <a:off x="304800" y="3207207"/>
            <a:ext cx="4864100" cy="114980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20" b="0" i="0">
                <a:solidFill>
                  <a:srgbClr val="252D2C"/>
                </a:solidFill>
                <a:latin typeface="Arial"/>
                <a:ea typeface="Arial"/>
                <a:cs typeface="Arial"/>
              </a:defRPr>
            </a:defPPr>
          </a:lstStyle>
          <a:p xmlns:a="http://schemas.openxmlformats.org/drawingml/2006/main">
            <a:pPr>
              <a:buNone/>
              <a:defRPr sz="1020" b="0" i="0">
                <a:solidFill>
                  <a:srgbClr val="252D2C"/>
                </a:solidFill>
                <a:latin typeface="Arial"/>
                <a:ea typeface="Arial"/>
                <a:cs typeface="Arial"/>
              </a:defRPr>
              <a:lnSpc>
                <a:spcPts val="1265"/>
              </a:lnSpc>
              <a:spcBef>
                <a:spcPts val="0"/>
              </a:spcBef>
              <a:spcAft>
                <a:spcPts val="0"/>
              </a:spcAft>
            </a:pPr>
            <a:r>
              <a:rPr sz="1020" b="0" i="0">
                <a:solidFill>
                  <a:srgbClr val="252D2C"/>
                </a:solidFill>
                <a:latin typeface="Arial"/>
                <a:ea typeface="Arial"/>
                <a:cs typeface="Arial"/>
              </a:rPr>
              <a:t>Classrooms and the playground occupy a central place in the questionnaire feedback. The environmental audit shows a more uneven pattern: activity support has the lowest domain mean, at 2.71 out of 5, with particular weaknesses in small-group settings and movable furniture. Toilets, handwashing, and waiting areas also need attention. Keyword analysis highlights classrooms and funding, while interviews connect the use of shared spaces with available teachers, continuing donations, and everyday companionship.</a:t>
            </a:r>
          </a:p>
        </p:txBody>
      </p:sp>
      <p:sp>
        <p:nvSpPr>
          <p:cNvPr id="15" name="Editable paragraph">
            <a:extLst xmlns:a="http://schemas.openxmlformats.org/drawingml/2006/main">
              <a:ext uri="{FF2B5EF4-FFF2-40B4-BE49-F238E27FC236}">
                <a16:creationId xmlns:a16="http://schemas.microsoft.com/office/drawing/2014/main" id="{CE4BA253-F6D2-49EC-98DE-DAF77E795E5B}"/>
              </a:ext>
            </a:extLst>
          </p:cNvPr>
          <p:cNvSpPr>
            <a:spLocks xmlns:a="http://schemas.openxmlformats.org/drawingml/2006/main" noGrp="1"/>
          </p:cNvSpPr>
          <p:nvPr/>
        </p:nvSpPr>
        <p:spPr>
          <a:xfrm xmlns:a="http://schemas.openxmlformats.org/drawingml/2006/main">
            <a:off x="304800" y="4458614"/>
            <a:ext cx="4864100" cy="114980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20" b="0" i="0">
                <a:solidFill>
                  <a:srgbClr val="252D2C"/>
                </a:solidFill>
                <a:latin typeface="Arial"/>
                <a:ea typeface="Arial"/>
                <a:cs typeface="Arial"/>
              </a:defRPr>
            </a:defPPr>
          </a:lstStyle>
          <a:p xmlns:a="http://schemas.openxmlformats.org/drawingml/2006/main">
            <a:pPr>
              <a:buNone/>
              <a:defRPr sz="1020" b="0" i="0">
                <a:solidFill>
                  <a:srgbClr val="252D2C"/>
                </a:solidFill>
                <a:latin typeface="Arial"/>
                <a:ea typeface="Arial"/>
                <a:cs typeface="Arial"/>
              </a:defRPr>
              <a:lnSpc>
                <a:spcPts val="1265"/>
              </a:lnSpc>
              <a:spcBef>
                <a:spcPts val="0"/>
              </a:spcBef>
              <a:spcAft>
                <a:spcPts val="0"/>
              </a:spcAft>
            </a:pPr>
            <a:r>
              <a:rPr sz="1020" b="0" i="0">
                <a:solidFill>
                  <a:srgbClr val="252D2C"/>
                </a:solidFill>
                <a:latin typeface="Arial"/>
                <a:ea typeface="Arial"/>
                <a:cs typeface="Arial"/>
              </a:rPr>
              <a:t>The proposal joins teaching wings through sheltered circulation and places shared activities, sanitation, and adult support along familiar routes. Courtyard edges offer settings for conversation, quiet reading, and informal play. Improvements to the existing school begin with washing facilities, surfaces, seating, and storage, while the longer-term plan coordinates buildings and outdoor space. The study argues that a supportive campus grows from the connection between useful places, dependable routines, and people who are available when needed.</a:t>
            </a:r>
          </a:p>
        </p:txBody>
      </p:sp>
      <p:sp>
        <p:nvSpPr>
          <p:cNvPr id="16" name="Editable paragraph">
            <a:extLst xmlns:a="http://schemas.openxmlformats.org/drawingml/2006/main">
              <a:ext uri="{FF2B5EF4-FFF2-40B4-BE49-F238E27FC236}">
                <a16:creationId xmlns:a16="http://schemas.microsoft.com/office/drawing/2014/main" id="{1CD6DECA-1B82-4842-B34B-DFF50DB36286}"/>
              </a:ext>
            </a:extLst>
          </p:cNvPr>
          <p:cNvSpPr>
            <a:spLocks xmlns:a="http://schemas.openxmlformats.org/drawingml/2006/main" noGrp="1"/>
          </p:cNvSpPr>
          <p:nvPr/>
        </p:nvSpPr>
        <p:spPr>
          <a:xfrm xmlns:a="http://schemas.openxmlformats.org/drawingml/2006/main">
            <a:off x="5422900" y="1955800"/>
            <a:ext cx="4965700" cy="8876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32"/>
              </a:lnSpc>
              <a:spcBef>
                <a:spcPts val="0"/>
              </a:spcBef>
              <a:spcAft>
                <a:spcPts val="0"/>
              </a:spcAft>
            </a:pPr>
            <a:r>
              <a:rPr sz="920" b="0" i="0">
                <a:solidFill>
                  <a:srgbClr val="252D2C"/>
                </a:solidFill>
                <a:latin typeface="Arial"/>
                <a:ea typeface="Arial"/>
                <a:cs typeface="Arial"/>
              </a:rPr>
              <a:t>A school is experienced through a sequence of ordinary journeys: entering a classroom, finding a toilet, joining friends outside, waiting for a teacher, and returning for the next lesson. Each journey places different demands on the environment. Light and furniture matter inside a classroom; shade, seating, and easy access to help matter between lessons. A campus that supports children throughout the day needs to consider these transitions as carefully as its teaching rooms.</a:t>
            </a:r>
          </a:p>
        </p:txBody>
      </p:sp>
      <p:sp>
        <p:nvSpPr>
          <p:cNvPr id="17" name="Editable paragraph">
            <a:extLst xmlns:a="http://schemas.openxmlformats.org/drawingml/2006/main">
              <a:ext uri="{FF2B5EF4-FFF2-40B4-BE49-F238E27FC236}">
                <a16:creationId xmlns:a16="http://schemas.microsoft.com/office/drawing/2014/main" id="{9A3A3E99-E530-47FF-88FB-8A7D1427BEBF}"/>
              </a:ext>
            </a:extLst>
          </p:cNvPr>
          <p:cNvSpPr>
            <a:spLocks xmlns:a="http://schemas.openxmlformats.org/drawingml/2006/main" noGrp="1"/>
          </p:cNvSpPr>
          <p:nvPr/>
        </p:nvSpPr>
        <p:spPr>
          <a:xfrm xmlns:a="http://schemas.openxmlformats.org/drawingml/2006/main">
            <a:off x="5422900" y="2932379"/>
            <a:ext cx="4965700" cy="8876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32"/>
              </a:lnSpc>
              <a:spcBef>
                <a:spcPts val="0"/>
              </a:spcBef>
              <a:spcAft>
                <a:spcPts val="0"/>
              </a:spcAft>
            </a:pPr>
            <a:r>
              <a:rPr sz="920" b="0" i="0">
                <a:solidFill>
                  <a:srgbClr val="252D2C"/>
                </a:solidFill>
                <a:latin typeface="Arial"/>
                <a:ea typeface="Arial"/>
                <a:cs typeface="Arial"/>
              </a:rPr>
              <a:t>At Kuzhi Yucai Public Welfare School, daily care is closely connected to education. Questionnaire feedback describes children who need support with everyday habits, relationships, and emotional well-being, including those with limited parental care. These concerns give the campus a wider role in children's lives. Dining, waiting, informal conversation, and shared activity become opportunities for continuity and reassurance. Spatial design can support this work by making essential facilities easy to reach and familiar adults easy to find.</a:t>
            </a:r>
          </a:p>
        </p:txBody>
      </p:sp>
      <p:sp>
        <p:nvSpPr>
          <p:cNvPr id="18" name="Editable paragraph">
            <a:extLst xmlns:a="http://schemas.openxmlformats.org/drawingml/2006/main">
              <a:ext uri="{FF2B5EF4-FFF2-40B4-BE49-F238E27FC236}">
                <a16:creationId xmlns:a16="http://schemas.microsoft.com/office/drawing/2014/main" id="{85C56488-6593-4349-8BE9-F849109DCF46}"/>
              </a:ext>
            </a:extLst>
          </p:cNvPr>
          <p:cNvSpPr>
            <a:spLocks xmlns:a="http://schemas.openxmlformats.org/drawingml/2006/main" noGrp="1"/>
          </p:cNvSpPr>
          <p:nvPr/>
        </p:nvSpPr>
        <p:spPr>
          <a:xfrm xmlns:a="http://schemas.openxmlformats.org/drawingml/2006/main">
            <a:off x="5422900" y="3908958"/>
            <a:ext cx="4965700" cy="10313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32"/>
              </a:lnSpc>
              <a:spcBef>
                <a:spcPts val="0"/>
              </a:spcBef>
              <a:spcAft>
                <a:spcPts val="0"/>
              </a:spcAft>
            </a:pPr>
            <a:r>
              <a:rPr sz="920" b="0" i="0">
                <a:solidFill>
                  <a:srgbClr val="252D2C"/>
                </a:solidFill>
                <a:latin typeface="Arial"/>
                <a:ea typeface="Arial"/>
                <a:cs typeface="Arial"/>
              </a:rPr>
              <a:t>Research on classroom environments offers a useful starting point. Barrett and colleagues relate classroom characteristics, including flexibility and ownership, to pupils' learning progress in English primary schools [1]. Their work draws attention to how children use and experience a room. The World Health Organization's guidance on school sanitation connects convenient access with handwashing, privacy, cleaning, and maintenance [2]. Together, these perspectives place physical arrangements and everyday use within the same design discussion.</a:t>
            </a:r>
          </a:p>
        </p:txBody>
      </p:sp>
      <p:sp>
        <p:nvSpPr>
          <p:cNvPr id="19" name="Editable paragraph">
            <a:extLst xmlns:a="http://schemas.openxmlformats.org/drawingml/2006/main">
              <a:ext uri="{FF2B5EF4-FFF2-40B4-BE49-F238E27FC236}">
                <a16:creationId xmlns:a16="http://schemas.microsoft.com/office/drawing/2014/main" id="{958FEA00-CD66-4A6E-852C-FB7FC5AA8213}"/>
              </a:ext>
            </a:extLst>
          </p:cNvPr>
          <p:cNvSpPr>
            <a:spLocks xmlns:a="http://schemas.openxmlformats.org/drawingml/2006/main" noGrp="1"/>
          </p:cNvSpPr>
          <p:nvPr/>
        </p:nvSpPr>
        <p:spPr>
          <a:xfrm xmlns:a="http://schemas.openxmlformats.org/drawingml/2006/main">
            <a:off x="5422900" y="5029251"/>
            <a:ext cx="4965700" cy="8876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32"/>
              </a:lnSpc>
              <a:spcBef>
                <a:spcPts val="0"/>
              </a:spcBef>
              <a:spcAft>
                <a:spcPts val="0"/>
              </a:spcAft>
            </a:pPr>
            <a:r>
              <a:rPr sz="920" b="0" i="0">
                <a:solidFill>
                  <a:srgbClr val="252D2C"/>
                </a:solidFill>
                <a:latin typeface="Arial"/>
                <a:ea typeface="Arial"/>
                <a:cs typeface="Arial"/>
              </a:rPr>
              <a:t>This study examines the places that structure school life, the difficulties encountered in using them, and the ways those findings can guide a campus proposal. The main concern is the relationship between teaching, activity, and care. A classroom connects to corridors and outdoor areas; a support room depends on access and staff availability. The design therefore considers buildings, routes, and daily management together, with particular attention to improvements that can be maintained within the school's resources.</a:t>
            </a:r>
          </a:p>
        </p:txBody>
      </p:sp>
      <p:sp>
        <p:nvSpPr>
          <p:cNvPr id="20" name="">
            <a:extLst xmlns:a="http://schemas.openxmlformats.org/drawingml/2006/main">
              <a:ext uri="{FF2B5EF4-FFF2-40B4-BE49-F238E27FC236}">
                <a16:creationId xmlns:a16="http://schemas.microsoft.com/office/drawing/2014/main" id="{BA5D7520-6F5D-4F38-B539-1861BFE30BDD}"/>
              </a:ext>
            </a:extLst>
          </p:cNvPr>
          <p:cNvSpPr>
            <a:spLocks xmlns:a="http://schemas.openxmlformats.org/drawingml/2006/main" noGrp="1"/>
          </p:cNvSpPr>
          <p:nvPr/>
        </p:nvSpPr>
        <p:spPr>
          <a:xfrm xmlns:a="http://schemas.openxmlformats.org/drawingml/2006/main">
            <a:off x="304800" y="61849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21" name="Editable paragraph">
            <a:extLst xmlns:a="http://schemas.openxmlformats.org/drawingml/2006/main">
              <a:ext uri="{FF2B5EF4-FFF2-40B4-BE49-F238E27FC236}">
                <a16:creationId xmlns:a16="http://schemas.microsoft.com/office/drawing/2014/main" id="{F9D4C17A-4623-4303-AC90-0A451DB7BC6D}"/>
              </a:ext>
            </a:extLst>
          </p:cNvPr>
          <p:cNvSpPr>
            <a:spLocks xmlns:a="http://schemas.openxmlformats.org/drawingml/2006/main" noGrp="1"/>
          </p:cNvSpPr>
          <p:nvPr/>
        </p:nvSpPr>
        <p:spPr>
          <a:xfrm xmlns:a="http://schemas.openxmlformats.org/drawingml/2006/main">
            <a:off x="304800" y="6299200"/>
            <a:ext cx="100838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1" i="0">
                <a:solidFill>
                  <a:srgbClr val="345A60"/>
                </a:solidFill>
                <a:latin typeface="Arial"/>
                <a:ea typeface="Arial"/>
                <a:cs typeface="Arial"/>
              </a:defRPr>
            </a:defPPr>
          </a:lstStyle>
          <a:p xmlns:a="http://schemas.openxmlformats.org/drawingml/2006/main">
            <a:pPr>
              <a:buNone/>
              <a:defRPr sz="850" b="1" i="0">
                <a:solidFill>
                  <a:srgbClr val="345A60"/>
                </a:solidFill>
                <a:latin typeface="Arial"/>
                <a:ea typeface="Arial"/>
                <a:cs typeface="Arial"/>
              </a:defRPr>
              <a:lnSpc>
                <a:spcPts val="1046"/>
              </a:lnSpc>
              <a:spcBef>
                <a:spcPts val="0"/>
              </a:spcBef>
              <a:spcAft>
                <a:spcPts val="0"/>
              </a:spcAft>
            </a:pPr>
            <a:r>
              <a:rPr sz="850" b="1" i="0">
                <a:solidFill>
                  <a:srgbClr val="345A60"/>
                </a:solidFill>
                <a:latin typeface="Arial"/>
                <a:ea typeface="Arial"/>
                <a:cs typeface="Arial"/>
              </a:rPr>
              <a:t>ANALYTICAL FRAMEWORK</a:t>
            </a:r>
          </a:p>
        </p:txBody>
      </p:sp>
      <p:sp>
        <p:nvSpPr>
          <p:cNvPr id="22" name="Editable paragraph">
            <a:extLst xmlns:a="http://schemas.openxmlformats.org/drawingml/2006/main">
              <a:ext uri="{FF2B5EF4-FFF2-40B4-BE49-F238E27FC236}">
                <a16:creationId xmlns:a16="http://schemas.microsoft.com/office/drawing/2014/main" id="{E73B7C93-6451-4053-81CD-6AA3AEBEF391}"/>
              </a:ext>
            </a:extLst>
          </p:cNvPr>
          <p:cNvSpPr>
            <a:spLocks xmlns:a="http://schemas.openxmlformats.org/drawingml/2006/main" noGrp="1"/>
          </p:cNvSpPr>
          <p:nvPr/>
        </p:nvSpPr>
        <p:spPr>
          <a:xfrm xmlns:a="http://schemas.openxmlformats.org/drawingml/2006/main">
            <a:off x="304800" y="6540500"/>
            <a:ext cx="342900" cy="275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00" b="1" i="0">
                <a:solidFill>
                  <a:srgbClr val="345A60"/>
                </a:solidFill>
                <a:latin typeface="Arial"/>
                <a:ea typeface="Arial"/>
                <a:cs typeface="Arial"/>
              </a:defRPr>
            </a:defPPr>
          </a:lstStyle>
          <a:p xmlns:a="http://schemas.openxmlformats.org/drawingml/2006/main">
            <a:pPr>
              <a:buNone/>
              <a:defRPr sz="1600" b="1" i="0">
                <a:solidFill>
                  <a:srgbClr val="345A60"/>
                </a:solidFill>
                <a:latin typeface="Arial"/>
                <a:ea typeface="Arial"/>
                <a:cs typeface="Arial"/>
              </a:defRPr>
              <a:lnSpc>
                <a:spcPts val="1968"/>
              </a:lnSpc>
              <a:spcBef>
                <a:spcPts val="0"/>
              </a:spcBef>
              <a:spcAft>
                <a:spcPts val="0"/>
              </a:spcAft>
            </a:pPr>
            <a:r>
              <a:rPr sz="1600" b="1" i="0">
                <a:solidFill>
                  <a:srgbClr val="345A60"/>
                </a:solidFill>
                <a:latin typeface="Arial"/>
                <a:ea typeface="Arial"/>
                <a:cs typeface="Arial"/>
              </a:rPr>
              <a:t>01</a:t>
            </a:r>
          </a:p>
        </p:txBody>
      </p:sp>
      <p:sp>
        <p:nvSpPr>
          <p:cNvPr id="23" name="Editable paragraph">
            <a:extLst xmlns:a="http://schemas.openxmlformats.org/drawingml/2006/main">
              <a:ext uri="{FF2B5EF4-FFF2-40B4-BE49-F238E27FC236}">
                <a16:creationId xmlns:a16="http://schemas.microsoft.com/office/drawing/2014/main" id="{5B468089-3057-40C2-AE2B-17E5BE2BA3BE}"/>
              </a:ext>
            </a:extLst>
          </p:cNvPr>
          <p:cNvSpPr>
            <a:spLocks xmlns:a="http://schemas.openxmlformats.org/drawingml/2006/main" noGrp="1"/>
          </p:cNvSpPr>
          <p:nvPr/>
        </p:nvSpPr>
        <p:spPr>
          <a:xfrm xmlns:a="http://schemas.openxmlformats.org/drawingml/2006/main">
            <a:off x="736600" y="6515100"/>
            <a:ext cx="27940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345A60"/>
                </a:solidFill>
                <a:latin typeface="Arial"/>
                <a:ea typeface="Arial"/>
                <a:cs typeface="Arial"/>
              </a:defRPr>
            </a:defPPr>
          </a:lstStyle>
          <a:p xmlns:a="http://schemas.openxmlformats.org/drawingml/2006/main">
            <a:pPr>
              <a:buNone/>
              <a:defRPr sz="940" b="1" i="0">
                <a:solidFill>
                  <a:srgbClr val="345A60"/>
                </a:solidFill>
                <a:latin typeface="Arial"/>
                <a:ea typeface="Arial"/>
                <a:cs typeface="Arial"/>
              </a:defRPr>
              <a:lnSpc>
                <a:spcPts val="1156"/>
              </a:lnSpc>
              <a:spcBef>
                <a:spcPts val="0"/>
              </a:spcBef>
              <a:spcAft>
                <a:spcPts val="0"/>
              </a:spcAft>
            </a:pPr>
            <a:r>
              <a:rPr sz="940" b="1" i="0">
                <a:solidFill>
                  <a:srgbClr val="345A60"/>
                </a:solidFill>
                <a:latin typeface="Arial"/>
                <a:ea typeface="Arial"/>
                <a:cs typeface="Arial"/>
              </a:rPr>
              <a:t>Reach essentials</a:t>
            </a:r>
          </a:p>
        </p:txBody>
      </p:sp>
      <p:sp>
        <p:nvSpPr>
          <p:cNvPr id="24" name="Editable paragraph">
            <a:extLst xmlns:a="http://schemas.openxmlformats.org/drawingml/2006/main">
              <a:ext uri="{FF2B5EF4-FFF2-40B4-BE49-F238E27FC236}">
                <a16:creationId xmlns:a16="http://schemas.microsoft.com/office/drawing/2014/main" id="{D9D0C403-DE69-4173-BB33-AE9423913751}"/>
              </a:ext>
            </a:extLst>
          </p:cNvPr>
          <p:cNvSpPr>
            <a:spLocks xmlns:a="http://schemas.openxmlformats.org/drawingml/2006/main" noGrp="1"/>
          </p:cNvSpPr>
          <p:nvPr/>
        </p:nvSpPr>
        <p:spPr>
          <a:xfrm xmlns:a="http://schemas.openxmlformats.org/drawingml/2006/main">
            <a:off x="736600" y="6743700"/>
            <a:ext cx="2794000" cy="3097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19"/>
              </a:lnSpc>
              <a:spcBef>
                <a:spcPts val="0"/>
              </a:spcBef>
              <a:spcAft>
                <a:spcPts val="0"/>
              </a:spcAft>
            </a:pPr>
            <a:r>
              <a:rPr sz="910" b="0" i="0">
                <a:solidFill>
                  <a:srgbClr val="252D2C"/>
                </a:solidFill>
                <a:latin typeface="Arial"/>
                <a:ea typeface="Arial"/>
                <a:cs typeface="Arial"/>
              </a:rPr>
              <a:t>Teaching, toilets and washing connected by familiar routes.</a:t>
            </a:r>
          </a:p>
        </p:txBody>
      </p:sp>
      <p:sp>
        <p:nvSpPr>
          <p:cNvPr id="25" name="Editable paragraph">
            <a:extLst xmlns:a="http://schemas.openxmlformats.org/drawingml/2006/main">
              <a:ext uri="{FF2B5EF4-FFF2-40B4-BE49-F238E27FC236}">
                <a16:creationId xmlns:a16="http://schemas.microsoft.com/office/drawing/2014/main" id="{92CB1051-BBD0-467C-9094-0E422FEBDE39}"/>
              </a:ext>
            </a:extLst>
          </p:cNvPr>
          <p:cNvSpPr>
            <a:spLocks xmlns:a="http://schemas.openxmlformats.org/drawingml/2006/main" noGrp="1"/>
          </p:cNvSpPr>
          <p:nvPr/>
        </p:nvSpPr>
        <p:spPr>
          <a:xfrm xmlns:a="http://schemas.openxmlformats.org/drawingml/2006/main">
            <a:off x="3733800" y="6540500"/>
            <a:ext cx="342900" cy="275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00" b="1" i="0">
                <a:solidFill>
                  <a:srgbClr val="345A60"/>
                </a:solidFill>
                <a:latin typeface="Arial"/>
                <a:ea typeface="Arial"/>
                <a:cs typeface="Arial"/>
              </a:defRPr>
            </a:defPPr>
          </a:lstStyle>
          <a:p xmlns:a="http://schemas.openxmlformats.org/drawingml/2006/main">
            <a:pPr>
              <a:buNone/>
              <a:defRPr sz="1600" b="1" i="0">
                <a:solidFill>
                  <a:srgbClr val="345A60"/>
                </a:solidFill>
                <a:latin typeface="Arial"/>
                <a:ea typeface="Arial"/>
                <a:cs typeface="Arial"/>
              </a:defRPr>
              <a:lnSpc>
                <a:spcPts val="1968"/>
              </a:lnSpc>
              <a:spcBef>
                <a:spcPts val="0"/>
              </a:spcBef>
              <a:spcAft>
                <a:spcPts val="0"/>
              </a:spcAft>
            </a:pPr>
            <a:r>
              <a:rPr sz="1600" b="1" i="0">
                <a:solidFill>
                  <a:srgbClr val="345A60"/>
                </a:solidFill>
                <a:latin typeface="Arial"/>
                <a:ea typeface="Arial"/>
                <a:cs typeface="Arial"/>
              </a:rPr>
              <a:t>02</a:t>
            </a:r>
          </a:p>
        </p:txBody>
      </p:sp>
      <p:sp>
        <p:nvSpPr>
          <p:cNvPr id="26" name="Editable paragraph">
            <a:extLst xmlns:a="http://schemas.openxmlformats.org/drawingml/2006/main">
              <a:ext uri="{FF2B5EF4-FFF2-40B4-BE49-F238E27FC236}">
                <a16:creationId xmlns:a16="http://schemas.microsoft.com/office/drawing/2014/main" id="{6352B46F-9D79-4E29-B379-D4585591FA2D}"/>
              </a:ext>
            </a:extLst>
          </p:cNvPr>
          <p:cNvSpPr>
            <a:spLocks xmlns:a="http://schemas.openxmlformats.org/drawingml/2006/main" noGrp="1"/>
          </p:cNvSpPr>
          <p:nvPr/>
        </p:nvSpPr>
        <p:spPr>
          <a:xfrm xmlns:a="http://schemas.openxmlformats.org/drawingml/2006/main">
            <a:off x="4165600" y="6515100"/>
            <a:ext cx="27940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345A60"/>
                </a:solidFill>
                <a:latin typeface="Arial"/>
                <a:ea typeface="Arial"/>
                <a:cs typeface="Arial"/>
              </a:defRPr>
            </a:defPPr>
          </a:lstStyle>
          <a:p xmlns:a="http://schemas.openxmlformats.org/drawingml/2006/main">
            <a:pPr>
              <a:buNone/>
              <a:defRPr sz="940" b="1" i="0">
                <a:solidFill>
                  <a:srgbClr val="345A60"/>
                </a:solidFill>
                <a:latin typeface="Arial"/>
                <a:ea typeface="Arial"/>
                <a:cs typeface="Arial"/>
              </a:defRPr>
              <a:lnSpc>
                <a:spcPts val="1156"/>
              </a:lnSpc>
              <a:spcBef>
                <a:spcPts val="0"/>
              </a:spcBef>
              <a:spcAft>
                <a:spcPts val="0"/>
              </a:spcAft>
            </a:pPr>
            <a:r>
              <a:rPr sz="940" b="1" i="0">
                <a:solidFill>
                  <a:srgbClr val="345A60"/>
                </a:solidFill>
                <a:latin typeface="Arial"/>
                <a:ea typeface="Arial"/>
                <a:cs typeface="Arial"/>
              </a:rPr>
              <a:t>Find support</a:t>
            </a:r>
          </a:p>
        </p:txBody>
      </p:sp>
      <p:sp>
        <p:nvSpPr>
          <p:cNvPr id="27" name="Editable paragraph">
            <a:extLst xmlns:a="http://schemas.openxmlformats.org/drawingml/2006/main">
              <a:ext uri="{FF2B5EF4-FFF2-40B4-BE49-F238E27FC236}">
                <a16:creationId xmlns:a16="http://schemas.microsoft.com/office/drawing/2014/main" id="{4E7C3280-CD17-42A2-8773-93835291DA2C}"/>
              </a:ext>
            </a:extLst>
          </p:cNvPr>
          <p:cNvSpPr>
            <a:spLocks xmlns:a="http://schemas.openxmlformats.org/drawingml/2006/main" noGrp="1"/>
          </p:cNvSpPr>
          <p:nvPr/>
        </p:nvSpPr>
        <p:spPr>
          <a:xfrm xmlns:a="http://schemas.openxmlformats.org/drawingml/2006/main">
            <a:off x="4165600" y="6743700"/>
            <a:ext cx="2794000" cy="3097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19"/>
              </a:lnSpc>
              <a:spcBef>
                <a:spcPts val="0"/>
              </a:spcBef>
              <a:spcAft>
                <a:spcPts val="0"/>
              </a:spcAft>
            </a:pPr>
            <a:r>
              <a:rPr sz="910" b="0" i="0">
                <a:solidFill>
                  <a:srgbClr val="252D2C"/>
                </a:solidFill>
                <a:latin typeface="Arial"/>
                <a:ea typeface="Arial"/>
                <a:cs typeface="Arial"/>
              </a:rPr>
              <a:t>Reception, waiting and adult help located close to daily life.</a:t>
            </a:r>
          </a:p>
        </p:txBody>
      </p:sp>
      <p:sp>
        <p:nvSpPr>
          <p:cNvPr id="28" name="Editable paragraph">
            <a:extLst xmlns:a="http://schemas.openxmlformats.org/drawingml/2006/main">
              <a:ext uri="{FF2B5EF4-FFF2-40B4-BE49-F238E27FC236}">
                <a16:creationId xmlns:a16="http://schemas.microsoft.com/office/drawing/2014/main" id="{5E2631B1-E9BA-4E18-85EC-6B091A023D1E}"/>
              </a:ext>
            </a:extLst>
          </p:cNvPr>
          <p:cNvSpPr>
            <a:spLocks xmlns:a="http://schemas.openxmlformats.org/drawingml/2006/main" noGrp="1"/>
          </p:cNvSpPr>
          <p:nvPr/>
        </p:nvSpPr>
        <p:spPr>
          <a:xfrm xmlns:a="http://schemas.openxmlformats.org/drawingml/2006/main">
            <a:off x="7162800" y="6540500"/>
            <a:ext cx="342900" cy="275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00" b="1" i="0">
                <a:solidFill>
                  <a:srgbClr val="345A60"/>
                </a:solidFill>
                <a:latin typeface="Arial"/>
                <a:ea typeface="Arial"/>
                <a:cs typeface="Arial"/>
              </a:defRPr>
            </a:defPPr>
          </a:lstStyle>
          <a:p xmlns:a="http://schemas.openxmlformats.org/drawingml/2006/main">
            <a:pPr>
              <a:buNone/>
              <a:defRPr sz="1600" b="1" i="0">
                <a:solidFill>
                  <a:srgbClr val="345A60"/>
                </a:solidFill>
                <a:latin typeface="Arial"/>
                <a:ea typeface="Arial"/>
                <a:cs typeface="Arial"/>
              </a:defRPr>
              <a:lnSpc>
                <a:spcPts val="1968"/>
              </a:lnSpc>
              <a:spcBef>
                <a:spcPts val="0"/>
              </a:spcBef>
              <a:spcAft>
                <a:spcPts val="0"/>
              </a:spcAft>
            </a:pPr>
            <a:r>
              <a:rPr sz="1600" b="1" i="0">
                <a:solidFill>
                  <a:srgbClr val="345A60"/>
                </a:solidFill>
                <a:latin typeface="Arial"/>
                <a:ea typeface="Arial"/>
                <a:cs typeface="Arial"/>
              </a:rPr>
              <a:t>03</a:t>
            </a:r>
          </a:p>
        </p:txBody>
      </p:sp>
      <p:sp>
        <p:nvSpPr>
          <p:cNvPr id="29" name="Editable paragraph">
            <a:extLst xmlns:a="http://schemas.openxmlformats.org/drawingml/2006/main">
              <a:ext uri="{FF2B5EF4-FFF2-40B4-BE49-F238E27FC236}">
                <a16:creationId xmlns:a16="http://schemas.microsoft.com/office/drawing/2014/main" id="{2E46CBDC-DA07-4583-A72F-5DA9D62CCF3C}"/>
              </a:ext>
            </a:extLst>
          </p:cNvPr>
          <p:cNvSpPr>
            <a:spLocks xmlns:a="http://schemas.openxmlformats.org/drawingml/2006/main" noGrp="1"/>
          </p:cNvSpPr>
          <p:nvPr/>
        </p:nvSpPr>
        <p:spPr>
          <a:xfrm xmlns:a="http://schemas.openxmlformats.org/drawingml/2006/main">
            <a:off x="7594600" y="6515100"/>
            <a:ext cx="27940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345A60"/>
                </a:solidFill>
                <a:latin typeface="Arial"/>
                <a:ea typeface="Arial"/>
                <a:cs typeface="Arial"/>
              </a:defRPr>
            </a:defPPr>
          </a:lstStyle>
          <a:p xmlns:a="http://schemas.openxmlformats.org/drawingml/2006/main">
            <a:pPr>
              <a:buNone/>
              <a:defRPr sz="940" b="1" i="0">
                <a:solidFill>
                  <a:srgbClr val="345A60"/>
                </a:solidFill>
                <a:latin typeface="Arial"/>
                <a:ea typeface="Arial"/>
                <a:cs typeface="Arial"/>
              </a:defRPr>
              <a:lnSpc>
                <a:spcPts val="1156"/>
              </a:lnSpc>
              <a:spcBef>
                <a:spcPts val="0"/>
              </a:spcBef>
              <a:spcAft>
                <a:spcPts val="0"/>
              </a:spcAft>
            </a:pPr>
            <a:r>
              <a:rPr sz="940" b="1" i="0">
                <a:solidFill>
                  <a:srgbClr val="345A60"/>
                </a:solidFill>
                <a:latin typeface="Arial"/>
                <a:ea typeface="Arial"/>
                <a:cs typeface="Arial"/>
              </a:rPr>
              <a:t>Choose a setting</a:t>
            </a:r>
          </a:p>
        </p:txBody>
      </p:sp>
      <p:sp>
        <p:nvSpPr>
          <p:cNvPr id="30" name="Editable paragraph">
            <a:extLst xmlns:a="http://schemas.openxmlformats.org/drawingml/2006/main">
              <a:ext uri="{FF2B5EF4-FFF2-40B4-BE49-F238E27FC236}">
                <a16:creationId xmlns:a16="http://schemas.microsoft.com/office/drawing/2014/main" id="{2ABFD78F-8F06-473B-949E-149E6754CDF1}"/>
              </a:ext>
            </a:extLst>
          </p:cNvPr>
          <p:cNvSpPr>
            <a:spLocks xmlns:a="http://schemas.openxmlformats.org/drawingml/2006/main" noGrp="1"/>
          </p:cNvSpPr>
          <p:nvPr/>
        </p:nvSpPr>
        <p:spPr>
          <a:xfrm xmlns:a="http://schemas.openxmlformats.org/drawingml/2006/main">
            <a:off x="7594600" y="6743700"/>
            <a:ext cx="2794000" cy="3097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19"/>
              </a:lnSpc>
              <a:spcBef>
                <a:spcPts val="0"/>
              </a:spcBef>
              <a:spcAft>
                <a:spcPts val="0"/>
              </a:spcAft>
            </a:pPr>
            <a:r>
              <a:rPr sz="910" b="0" i="0">
                <a:solidFill>
                  <a:srgbClr val="252D2C"/>
                </a:solidFill>
                <a:latin typeface="Arial"/>
                <a:ea typeface="Arial"/>
                <a:cs typeface="Arial"/>
              </a:rPr>
              <a:t>Large-group play, small groups and quiet moments each have a place.</a:t>
            </a:r>
          </a:p>
        </p:txBody>
      </p:sp>
      <p:sp>
        <p:nvSpPr>
          <p:cNvPr id="31" name="Editable paragraph">
            <a:extLst xmlns:a="http://schemas.openxmlformats.org/drawingml/2006/main">
              <a:ext uri="{FF2B5EF4-FFF2-40B4-BE49-F238E27FC236}">
                <a16:creationId xmlns:a16="http://schemas.microsoft.com/office/drawing/2014/main" id="{0C80231A-68C4-49EE-AABF-383FB7E4912B}"/>
              </a:ext>
            </a:extLst>
          </p:cNvPr>
          <p:cNvSpPr>
            <a:spLocks xmlns:a="http://schemas.openxmlformats.org/drawingml/2006/main" noGrp="1"/>
          </p:cNvSpPr>
          <p:nvPr/>
        </p:nvSpPr>
        <p:spPr>
          <a:xfrm xmlns:a="http://schemas.openxmlformats.org/drawingml/2006/main">
            <a:off x="304800" y="7175500"/>
            <a:ext cx="100838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61"/>
              </a:lnSpc>
              <a:spcBef>
                <a:spcPts val="0"/>
              </a:spcBef>
              <a:spcAft>
                <a:spcPts val="0"/>
              </a:spcAft>
            </a:pPr>
            <a:r>
              <a:rPr sz="700" b="0" i="0">
                <a:solidFill>
                  <a:srgbClr val="252D2C"/>
                </a:solidFill>
                <a:latin typeface="Arial"/>
                <a:ea typeface="Arial"/>
                <a:cs typeface="Arial"/>
              </a:rPr>
              <a:t>Figure 1. Everyday access, nearby support, and a choice of activity settings.</a:t>
            </a:r>
          </a:p>
        </p:txBody>
      </p:sp>
    </p:spTree>
    <p:extLst>
      <p:ext uri="{BB962C8B-B14F-4D97-AF65-F5344CB8AC3E}">
        <p14:creationId xmlns:p14="http://schemas.microsoft.com/office/powerpoint/2010/main" val="7673708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 name="Editable paragraph">
            <a:extLst xmlns:a="http://schemas.openxmlformats.org/drawingml/2006/main">
              <a:ext uri="{FF2B5EF4-FFF2-40B4-BE49-F238E27FC236}">
                <a16:creationId xmlns:a16="http://schemas.microsoft.com/office/drawing/2014/main" id="{64A19A2B-9732-4E38-A20C-C95EDC915960}"/>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2A3C2A11-0CB4-4A0C-98E1-02A32973E9C6}"/>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066BB384-21E1-4017-8C14-4A9494E2D6A8}"/>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FF63A324-4B64-479D-8393-999CD7F23288}"/>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57A03CF6-3B86-42FD-A729-71B38D03B388}"/>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Research methods &amp; location</a:t>
            </a:r>
          </a:p>
        </p:txBody>
      </p:sp>
      <p:sp>
        <p:nvSpPr>
          <p:cNvPr id="6" name="">
            <a:extLst xmlns:a="http://schemas.openxmlformats.org/drawingml/2006/main">
              <a:ext uri="{FF2B5EF4-FFF2-40B4-BE49-F238E27FC236}">
                <a16:creationId xmlns:a16="http://schemas.microsoft.com/office/drawing/2014/main" id="{E7904DF6-89DC-4AC1-B265-5649D9E97BC3}"/>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BD3339A3-C313-4EA0-AEF2-2D344B3CA18D}"/>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7627F21D-71FE-41FF-839A-788EFD18214F}"/>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02 / 15</a:t>
            </a:r>
          </a:p>
        </p:txBody>
      </p:sp>
      <p:sp>
        <p:nvSpPr>
          <p:cNvPr id="9" name="Editable paragraph">
            <a:extLst xmlns:a="http://schemas.openxmlformats.org/drawingml/2006/main">
              <a:ext uri="{FF2B5EF4-FFF2-40B4-BE49-F238E27FC236}">
                <a16:creationId xmlns:a16="http://schemas.microsoft.com/office/drawing/2014/main" id="{E83C3067-7E66-4582-9F14-F6650EBBF1E1}"/>
              </a:ext>
            </a:extLst>
          </p:cNvPr>
          <p:cNvSpPr>
            <a:spLocks xmlns:a="http://schemas.openxmlformats.org/drawingml/2006/main" noGrp="1"/>
          </p:cNvSpPr>
          <p:nvPr/>
        </p:nvSpPr>
        <p:spPr>
          <a:xfrm xmlns:a="http://schemas.openxmlformats.org/drawingml/2006/main">
            <a:off x="304800" y="1016000"/>
            <a:ext cx="48641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02 / Research methods</a:t>
            </a:r>
          </a:p>
        </p:txBody>
      </p:sp>
      <p:sp>
        <p:nvSpPr>
          <p:cNvPr id="10" name="Editable paragraph">
            <a:extLst xmlns:a="http://schemas.openxmlformats.org/drawingml/2006/main">
              <a:ext uri="{FF2B5EF4-FFF2-40B4-BE49-F238E27FC236}">
                <a16:creationId xmlns:a16="http://schemas.microsoft.com/office/drawing/2014/main" id="{4454CDFB-A6E4-48A0-81CA-3379E55C2C50}"/>
              </a:ext>
            </a:extLst>
          </p:cNvPr>
          <p:cNvSpPr>
            <a:spLocks xmlns:a="http://schemas.openxmlformats.org/drawingml/2006/main" noGrp="1"/>
          </p:cNvSpPr>
          <p:nvPr/>
        </p:nvSpPr>
        <p:spPr>
          <a:xfrm xmlns:a="http://schemas.openxmlformats.org/drawingml/2006/main">
            <a:off x="304800" y="1282700"/>
            <a:ext cx="4864100" cy="9659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058"/>
              </a:lnSpc>
              <a:spcBef>
                <a:spcPts val="0"/>
              </a:spcBef>
              <a:spcAft>
                <a:spcPts val="0"/>
              </a:spcAft>
            </a:pPr>
            <a:r>
              <a:rPr sz="920" b="0" i="0">
                <a:solidFill>
                  <a:srgbClr val="252D2C"/>
                </a:solidFill>
                <a:latin typeface="Arial"/>
                <a:ea typeface="Arial"/>
                <a:cs typeface="Arial"/>
              </a:rPr>
              <a:t>Fieldwork took place in September 2026 and combined questionnaires, interviews, environmental assessment, and observations of campus activity. The questionnaire covered frequently used places, preferred outdoor settings, underused areas, desired improvements, and barriers to change. Responses were organized by topic and compared with observations of the corresponding spaces. Interviews explored daily routines, teaching support, donations, and the school's relationship with children and former pupils. This approach connected stated needs with the practical conditions of school life.</a:t>
            </a:r>
          </a:p>
        </p:txBody>
      </p:sp>
      <p:sp>
        <p:nvSpPr>
          <p:cNvPr id="11" name="Editable paragraph">
            <a:extLst xmlns:a="http://schemas.openxmlformats.org/drawingml/2006/main">
              <a:ext uri="{FF2B5EF4-FFF2-40B4-BE49-F238E27FC236}">
                <a16:creationId xmlns:a16="http://schemas.microsoft.com/office/drawing/2014/main" id="{903261A5-A5B7-4C26-A5AD-EDDFA267C774}"/>
              </a:ext>
            </a:extLst>
          </p:cNvPr>
          <p:cNvSpPr>
            <a:spLocks xmlns:a="http://schemas.openxmlformats.org/drawingml/2006/main" noGrp="1"/>
          </p:cNvSpPr>
          <p:nvPr/>
        </p:nvSpPr>
        <p:spPr>
          <a:xfrm xmlns:a="http://schemas.openxmlformats.org/drawingml/2006/main">
            <a:off x="304800" y="2312162"/>
            <a:ext cx="4864100" cy="9659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058"/>
              </a:lnSpc>
              <a:spcBef>
                <a:spcPts val="0"/>
              </a:spcBef>
              <a:spcAft>
                <a:spcPts val="0"/>
              </a:spcAft>
            </a:pPr>
            <a:r>
              <a:rPr sz="920" b="0" i="0">
                <a:solidFill>
                  <a:srgbClr val="252D2C"/>
                </a:solidFill>
                <a:latin typeface="Arial"/>
                <a:ea typeface="Arial"/>
                <a:cs typeface="Arial"/>
              </a:rPr>
              <a:t>The environmental audit assessed thirty-five items across basic safety, comfort, activity support, care support, and spatial connections. The analysis examined item scores and domain means, with attention to the meaning of each question. Topics included toilets, washing, shade, ventilation, seating, small-group activity, privacy, and access to adults. Comparing these conditions helped identify where an improvement could address several daily needs at once, such as a sheltered waiting area near staff and frequently used circulation.</a:t>
            </a:r>
          </a:p>
        </p:txBody>
      </p:sp>
      <p:sp>
        <p:nvSpPr>
          <p:cNvPr id="12" name="Editable paragraph">
            <a:extLst xmlns:a="http://schemas.openxmlformats.org/drawingml/2006/main">
              <a:ext uri="{FF2B5EF4-FFF2-40B4-BE49-F238E27FC236}">
                <a16:creationId xmlns:a16="http://schemas.microsoft.com/office/drawing/2014/main" id="{2E7E2636-73CE-4034-BCF9-B43343F246A6}"/>
              </a:ext>
            </a:extLst>
          </p:cNvPr>
          <p:cNvSpPr>
            <a:spLocks xmlns:a="http://schemas.openxmlformats.org/drawingml/2006/main" noGrp="1"/>
          </p:cNvSpPr>
          <p:nvPr/>
        </p:nvSpPr>
        <p:spPr>
          <a:xfrm xmlns:a="http://schemas.openxmlformats.org/drawingml/2006/main">
            <a:off x="304800" y="3341624"/>
            <a:ext cx="4864100" cy="9659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058"/>
              </a:lnSpc>
              <a:spcBef>
                <a:spcPts val="0"/>
              </a:spcBef>
              <a:spcAft>
                <a:spcPts val="0"/>
              </a:spcAft>
            </a:pPr>
            <a:r>
              <a:rPr sz="920" b="0" i="0">
                <a:solidFill>
                  <a:srgbClr val="252D2C"/>
                </a:solidFill>
                <a:latin typeface="Arial"/>
                <a:ea typeface="Arial"/>
                <a:cs typeface="Arial"/>
              </a:rPr>
              <a:t>Keyword analysis focused on the written questionnaire answers. Repeated terms concerning places, activities, and resources were counted in the Chinese text and grouped by topic. Classroom, teaching building, playground, funding, toilet, and school clinic were examined alongside the sentences in which they appeared. The combination of frequency and contextual reading revealed how often a subject arose and what kind of concern it expressed. Differences in priorities were carried into the design discussion, particularly the relationship between activity space and access to care.</a:t>
            </a:r>
          </a:p>
        </p:txBody>
      </p:sp>
      <p:sp>
        <p:nvSpPr>
          <p:cNvPr id="13" name="Editable paragraph">
            <a:extLst xmlns:a="http://schemas.openxmlformats.org/drawingml/2006/main">
              <a:ext uri="{FF2B5EF4-FFF2-40B4-BE49-F238E27FC236}">
                <a16:creationId xmlns:a16="http://schemas.microsoft.com/office/drawing/2014/main" id="{D8523B83-E1B7-47B2-8B30-1C730996114D}"/>
              </a:ext>
            </a:extLst>
          </p:cNvPr>
          <p:cNvSpPr>
            <a:spLocks xmlns:a="http://schemas.openxmlformats.org/drawingml/2006/main" noGrp="1"/>
          </p:cNvSpPr>
          <p:nvPr/>
        </p:nvSpPr>
        <p:spPr>
          <a:xfrm xmlns:a="http://schemas.openxmlformats.org/drawingml/2006/main">
            <a:off x="304800" y="4371086"/>
            <a:ext cx="4864100" cy="9659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058"/>
              </a:lnSpc>
              <a:spcBef>
                <a:spcPts val="0"/>
              </a:spcBef>
              <a:spcAft>
                <a:spcPts val="0"/>
              </a:spcAft>
            </a:pPr>
            <a:r>
              <a:rPr sz="920" b="0" i="0">
                <a:solidFill>
                  <a:srgbClr val="252D2C"/>
                </a:solidFill>
                <a:latin typeface="Arial"/>
                <a:ea typeface="Arial"/>
                <a:cs typeface="Arial"/>
              </a:rPr>
              <a:t>Activity observations covered afternoon lessons and breaks, recording where children gathered and how the same space changed over time. Photographs documented circulation, outdoor surfaces, shelter, and classroom settings. The timetable established the daily sequence of study, meals, rest, and activity. Site mapping examined the school boundary, nearby settlement, and roads. These strands were brought together through a sequence of spatial questions: where does an activity occur, what makes it convenient, and what arrangement would help it work better?</a:t>
            </a:r>
          </a:p>
        </p:txBody>
      </p:sp>
      <p:sp>
        <p:nvSpPr>
          <p:cNvPr id="14" name="Editable paragraph">
            <a:extLst xmlns:a="http://schemas.openxmlformats.org/drawingml/2006/main">
              <a:ext uri="{FF2B5EF4-FFF2-40B4-BE49-F238E27FC236}">
                <a16:creationId xmlns:a16="http://schemas.microsoft.com/office/drawing/2014/main" id="{0C02AAF6-D2F2-483D-AFD8-2D4E3F1F501C}"/>
              </a:ext>
            </a:extLst>
          </p:cNvPr>
          <p:cNvSpPr>
            <a:spLocks xmlns:a="http://schemas.openxmlformats.org/drawingml/2006/main" noGrp="1"/>
          </p:cNvSpPr>
          <p:nvPr/>
        </p:nvSpPr>
        <p:spPr>
          <a:xfrm xmlns:a="http://schemas.openxmlformats.org/drawingml/2006/main">
            <a:off x="5422900" y="1016000"/>
            <a:ext cx="4965700" cy="1878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40" b="1" i="0">
                <a:solidFill>
                  <a:srgbClr val="345A60"/>
                </a:solidFill>
                <a:latin typeface="Arial"/>
                <a:ea typeface="Arial"/>
                <a:cs typeface="Arial"/>
              </a:defRPr>
            </a:defPPr>
          </a:lstStyle>
          <a:p xmlns:a="http://schemas.openxmlformats.org/drawingml/2006/main">
            <a:pPr>
              <a:buNone/>
              <a:defRPr sz="1040" b="1" i="0">
                <a:solidFill>
                  <a:srgbClr val="345A60"/>
                </a:solidFill>
                <a:latin typeface="Arial"/>
                <a:ea typeface="Arial"/>
                <a:cs typeface="Arial"/>
              </a:defRPr>
              <a:lnSpc>
                <a:spcPts val="1279"/>
              </a:lnSpc>
              <a:spcBef>
                <a:spcPts val="0"/>
              </a:spcBef>
              <a:spcAft>
                <a:spcPts val="0"/>
              </a:spcAft>
            </a:pPr>
            <a:r>
              <a:rPr sz="1040" b="1" i="0">
                <a:solidFill>
                  <a:srgbClr val="345A60"/>
                </a:solidFill>
                <a:latin typeface="Arial"/>
                <a:ea typeface="Arial"/>
                <a:cs typeface="Arial"/>
              </a:rPr>
              <a:t>Research question: how can everyday care become a spatial design brief?</a:t>
            </a:r>
          </a:p>
        </p:txBody>
      </p:sp>
      <p:sp>
        <p:nvSpPr>
          <p:cNvPr id="15" name="Editable paragraph">
            <a:extLst xmlns:a="http://schemas.openxmlformats.org/drawingml/2006/main">
              <a:ext uri="{FF2B5EF4-FFF2-40B4-BE49-F238E27FC236}">
                <a16:creationId xmlns:a16="http://schemas.microsoft.com/office/drawing/2014/main" id="{161E0E6F-2F92-4E84-97FB-8EFE7BBE36EB}"/>
              </a:ext>
            </a:extLst>
          </p:cNvPr>
          <p:cNvSpPr>
            <a:spLocks xmlns:a="http://schemas.openxmlformats.org/drawingml/2006/main" noGrp="1"/>
          </p:cNvSpPr>
          <p:nvPr/>
        </p:nvSpPr>
        <p:spPr>
          <a:xfrm xmlns:a="http://schemas.openxmlformats.org/drawingml/2006/main">
            <a:off x="5422900" y="1524000"/>
            <a:ext cx="15875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Voice</a:t>
            </a:r>
          </a:p>
        </p:txBody>
      </p:sp>
      <p:sp>
        <p:nvSpPr>
          <p:cNvPr id="16" name="Editable paragraph">
            <a:extLst xmlns:a="http://schemas.openxmlformats.org/drawingml/2006/main">
              <a:ext uri="{FF2B5EF4-FFF2-40B4-BE49-F238E27FC236}">
                <a16:creationId xmlns:a16="http://schemas.microsoft.com/office/drawing/2014/main" id="{2E8E4BBB-F7B0-46DC-9373-914E205CCED8}"/>
              </a:ext>
            </a:extLst>
          </p:cNvPr>
          <p:cNvSpPr>
            <a:spLocks xmlns:a="http://schemas.openxmlformats.org/drawingml/2006/main" noGrp="1"/>
          </p:cNvSpPr>
          <p:nvPr/>
        </p:nvSpPr>
        <p:spPr>
          <a:xfrm xmlns:a="http://schemas.openxmlformats.org/drawingml/2006/main">
            <a:off x="5422900" y="1689100"/>
            <a:ext cx="1587500" cy="1456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47"/>
              </a:lnSpc>
              <a:spcBef>
                <a:spcPts val="0"/>
              </a:spcBef>
              <a:spcAft>
                <a:spcPts val="0"/>
              </a:spcAft>
            </a:pPr>
            <a:r>
              <a:rPr sz="770" b="0" i="0">
                <a:solidFill>
                  <a:srgbClr val="252D2C"/>
                </a:solidFill>
                <a:latin typeface="Arial"/>
                <a:ea typeface="Arial"/>
                <a:cs typeface="Arial"/>
              </a:rPr>
              <a:t>Questionnaires</a:t>
            </a:r>
          </a:p>
        </p:txBody>
      </p:sp>
      <p:sp>
        <p:nvSpPr>
          <p:cNvPr id="17" name="Editable paragraph">
            <a:extLst xmlns:a="http://schemas.openxmlformats.org/drawingml/2006/main">
              <a:ext uri="{FF2B5EF4-FFF2-40B4-BE49-F238E27FC236}">
                <a16:creationId xmlns:a16="http://schemas.microsoft.com/office/drawing/2014/main" id="{4FBFB62D-2B66-491A-BB96-E5F5F3892435}"/>
              </a:ext>
            </a:extLst>
          </p:cNvPr>
          <p:cNvSpPr>
            <a:spLocks xmlns:a="http://schemas.openxmlformats.org/drawingml/2006/main" noGrp="1"/>
          </p:cNvSpPr>
          <p:nvPr/>
        </p:nvSpPr>
        <p:spPr>
          <a:xfrm xmlns:a="http://schemas.openxmlformats.org/drawingml/2006/main">
            <a:off x="7086600" y="1524000"/>
            <a:ext cx="15875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Place</a:t>
            </a:r>
          </a:p>
        </p:txBody>
      </p:sp>
      <p:sp>
        <p:nvSpPr>
          <p:cNvPr id="18" name="Editable paragraph">
            <a:extLst xmlns:a="http://schemas.openxmlformats.org/drawingml/2006/main">
              <a:ext uri="{FF2B5EF4-FFF2-40B4-BE49-F238E27FC236}">
                <a16:creationId xmlns:a16="http://schemas.microsoft.com/office/drawing/2014/main" id="{24E19E1B-5C52-4417-B106-C9C3A11253B0}"/>
              </a:ext>
            </a:extLst>
          </p:cNvPr>
          <p:cNvSpPr>
            <a:spLocks xmlns:a="http://schemas.openxmlformats.org/drawingml/2006/main" noGrp="1"/>
          </p:cNvSpPr>
          <p:nvPr/>
        </p:nvSpPr>
        <p:spPr>
          <a:xfrm xmlns:a="http://schemas.openxmlformats.org/drawingml/2006/main">
            <a:off x="7086600" y="1689100"/>
            <a:ext cx="1587500" cy="1456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47"/>
              </a:lnSpc>
              <a:spcBef>
                <a:spcPts val="0"/>
              </a:spcBef>
              <a:spcAft>
                <a:spcPts val="0"/>
              </a:spcAft>
            </a:pPr>
            <a:r>
              <a:rPr sz="770" b="0" i="0">
                <a:solidFill>
                  <a:srgbClr val="252D2C"/>
                </a:solidFill>
                <a:latin typeface="Arial"/>
                <a:ea typeface="Arial"/>
                <a:cs typeface="Arial"/>
              </a:rPr>
              <a:t>Environmental audit</a:t>
            </a:r>
          </a:p>
        </p:txBody>
      </p:sp>
      <p:sp>
        <p:nvSpPr>
          <p:cNvPr id="19" name="Editable paragraph">
            <a:extLst xmlns:a="http://schemas.openxmlformats.org/drawingml/2006/main">
              <a:ext uri="{FF2B5EF4-FFF2-40B4-BE49-F238E27FC236}">
                <a16:creationId xmlns:a16="http://schemas.microsoft.com/office/drawing/2014/main" id="{E6D24E44-02CA-400C-A373-1331E2C4FDE3}"/>
              </a:ext>
            </a:extLst>
          </p:cNvPr>
          <p:cNvSpPr>
            <a:spLocks xmlns:a="http://schemas.openxmlformats.org/drawingml/2006/main" noGrp="1"/>
          </p:cNvSpPr>
          <p:nvPr/>
        </p:nvSpPr>
        <p:spPr>
          <a:xfrm xmlns:a="http://schemas.openxmlformats.org/drawingml/2006/main">
            <a:off x="8750300" y="1524000"/>
            <a:ext cx="15875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Use</a:t>
            </a:r>
          </a:p>
        </p:txBody>
      </p:sp>
      <p:sp>
        <p:nvSpPr>
          <p:cNvPr id="20" name="Editable paragraph">
            <a:extLst xmlns:a="http://schemas.openxmlformats.org/drawingml/2006/main">
              <a:ext uri="{FF2B5EF4-FFF2-40B4-BE49-F238E27FC236}">
                <a16:creationId xmlns:a16="http://schemas.microsoft.com/office/drawing/2014/main" id="{37ECBB8E-BD54-435A-A188-C02BBA57BF97}"/>
              </a:ext>
            </a:extLst>
          </p:cNvPr>
          <p:cNvSpPr>
            <a:spLocks xmlns:a="http://schemas.openxmlformats.org/drawingml/2006/main" noGrp="1"/>
          </p:cNvSpPr>
          <p:nvPr/>
        </p:nvSpPr>
        <p:spPr>
          <a:xfrm xmlns:a="http://schemas.openxmlformats.org/drawingml/2006/main">
            <a:off x="8750300" y="1689100"/>
            <a:ext cx="1587500" cy="1456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47"/>
              </a:lnSpc>
              <a:spcBef>
                <a:spcPts val="0"/>
              </a:spcBef>
              <a:spcAft>
                <a:spcPts val="0"/>
              </a:spcAft>
            </a:pPr>
            <a:r>
              <a:rPr sz="770" b="0" i="0">
                <a:solidFill>
                  <a:srgbClr val="252D2C"/>
                </a:solidFill>
                <a:latin typeface="Arial"/>
                <a:ea typeface="Arial"/>
                <a:cs typeface="Arial"/>
              </a:rPr>
              <a:t>Activity observation</a:t>
            </a:r>
          </a:p>
        </p:txBody>
      </p:sp>
      <p:sp>
        <p:nvSpPr>
          <p:cNvPr id="21" name="Editable paragraph">
            <a:extLst xmlns:a="http://schemas.openxmlformats.org/drawingml/2006/main">
              <a:ext uri="{FF2B5EF4-FFF2-40B4-BE49-F238E27FC236}">
                <a16:creationId xmlns:a16="http://schemas.microsoft.com/office/drawing/2014/main" id="{2F6FA000-AABD-42F8-94E0-8012B87123D9}"/>
              </a:ext>
            </a:extLst>
          </p:cNvPr>
          <p:cNvSpPr>
            <a:spLocks xmlns:a="http://schemas.openxmlformats.org/drawingml/2006/main" noGrp="1"/>
          </p:cNvSpPr>
          <p:nvPr/>
        </p:nvSpPr>
        <p:spPr>
          <a:xfrm xmlns:a="http://schemas.openxmlformats.org/drawingml/2006/main">
            <a:off x="5422900" y="1930400"/>
            <a:ext cx="15875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Scene</a:t>
            </a:r>
          </a:p>
        </p:txBody>
      </p:sp>
      <p:sp>
        <p:nvSpPr>
          <p:cNvPr id="22" name="Editable paragraph">
            <a:extLst xmlns:a="http://schemas.openxmlformats.org/drawingml/2006/main">
              <a:ext uri="{FF2B5EF4-FFF2-40B4-BE49-F238E27FC236}">
                <a16:creationId xmlns:a16="http://schemas.microsoft.com/office/drawing/2014/main" id="{B267F209-DE51-4F44-A269-5D886FD88F17}"/>
              </a:ext>
            </a:extLst>
          </p:cNvPr>
          <p:cNvSpPr>
            <a:spLocks xmlns:a="http://schemas.openxmlformats.org/drawingml/2006/main" noGrp="1"/>
          </p:cNvSpPr>
          <p:nvPr/>
        </p:nvSpPr>
        <p:spPr>
          <a:xfrm xmlns:a="http://schemas.openxmlformats.org/drawingml/2006/main">
            <a:off x="5422900" y="2095500"/>
            <a:ext cx="1587500" cy="1456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47"/>
              </a:lnSpc>
              <a:spcBef>
                <a:spcPts val="0"/>
              </a:spcBef>
              <a:spcAft>
                <a:spcPts val="0"/>
              </a:spcAft>
            </a:pPr>
            <a:r>
              <a:rPr sz="770" b="0" i="0">
                <a:solidFill>
                  <a:srgbClr val="252D2C"/>
                </a:solidFill>
                <a:latin typeface="Arial"/>
                <a:ea typeface="Arial"/>
                <a:cs typeface="Arial"/>
              </a:rPr>
              <a:t>Site photography</a:t>
            </a:r>
          </a:p>
        </p:txBody>
      </p:sp>
      <p:sp>
        <p:nvSpPr>
          <p:cNvPr id="23" name="Editable paragraph">
            <a:extLst xmlns:a="http://schemas.openxmlformats.org/drawingml/2006/main">
              <a:ext uri="{FF2B5EF4-FFF2-40B4-BE49-F238E27FC236}">
                <a16:creationId xmlns:a16="http://schemas.microsoft.com/office/drawing/2014/main" id="{FD0AA19D-37F3-4AF1-A64F-50F9299FF1EA}"/>
              </a:ext>
            </a:extLst>
          </p:cNvPr>
          <p:cNvSpPr>
            <a:spLocks xmlns:a="http://schemas.openxmlformats.org/drawingml/2006/main" noGrp="1"/>
          </p:cNvSpPr>
          <p:nvPr/>
        </p:nvSpPr>
        <p:spPr>
          <a:xfrm xmlns:a="http://schemas.openxmlformats.org/drawingml/2006/main">
            <a:off x="7086600" y="1930400"/>
            <a:ext cx="15875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Care</a:t>
            </a:r>
          </a:p>
        </p:txBody>
      </p:sp>
      <p:sp>
        <p:nvSpPr>
          <p:cNvPr id="24" name="Editable paragraph">
            <a:extLst xmlns:a="http://schemas.openxmlformats.org/drawingml/2006/main">
              <a:ext uri="{FF2B5EF4-FFF2-40B4-BE49-F238E27FC236}">
                <a16:creationId xmlns:a16="http://schemas.microsoft.com/office/drawing/2014/main" id="{B215F9F9-B8A3-4875-B190-076E0386C4EE}"/>
              </a:ext>
            </a:extLst>
          </p:cNvPr>
          <p:cNvSpPr>
            <a:spLocks xmlns:a="http://schemas.openxmlformats.org/drawingml/2006/main" noGrp="1"/>
          </p:cNvSpPr>
          <p:nvPr/>
        </p:nvSpPr>
        <p:spPr>
          <a:xfrm xmlns:a="http://schemas.openxmlformats.org/drawingml/2006/main">
            <a:off x="7086600" y="2095500"/>
            <a:ext cx="1587500" cy="1456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47"/>
              </a:lnSpc>
              <a:spcBef>
                <a:spcPts val="0"/>
              </a:spcBef>
              <a:spcAft>
                <a:spcPts val="0"/>
              </a:spcAft>
            </a:pPr>
            <a:r>
              <a:rPr sz="770" b="0" i="0">
                <a:solidFill>
                  <a:srgbClr val="252D2C"/>
                </a:solidFill>
                <a:latin typeface="Arial"/>
                <a:ea typeface="Arial"/>
                <a:cs typeface="Arial"/>
              </a:rPr>
              <a:t>Interviews</a:t>
            </a:r>
          </a:p>
        </p:txBody>
      </p:sp>
      <p:sp>
        <p:nvSpPr>
          <p:cNvPr id="25" name="Editable paragraph">
            <a:extLst xmlns:a="http://schemas.openxmlformats.org/drawingml/2006/main">
              <a:ext uri="{FF2B5EF4-FFF2-40B4-BE49-F238E27FC236}">
                <a16:creationId xmlns:a16="http://schemas.microsoft.com/office/drawing/2014/main" id="{D8E4A0A6-6237-4A71-86C4-D068095A620B}"/>
              </a:ext>
            </a:extLst>
          </p:cNvPr>
          <p:cNvSpPr>
            <a:spLocks xmlns:a="http://schemas.openxmlformats.org/drawingml/2006/main" noGrp="1"/>
          </p:cNvSpPr>
          <p:nvPr/>
        </p:nvSpPr>
        <p:spPr>
          <a:xfrm xmlns:a="http://schemas.openxmlformats.org/drawingml/2006/main">
            <a:off x="8750300" y="1930400"/>
            <a:ext cx="15875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Space</a:t>
            </a:r>
          </a:p>
        </p:txBody>
      </p:sp>
      <p:sp>
        <p:nvSpPr>
          <p:cNvPr id="26" name="Editable paragraph">
            <a:extLst xmlns:a="http://schemas.openxmlformats.org/drawingml/2006/main">
              <a:ext uri="{FF2B5EF4-FFF2-40B4-BE49-F238E27FC236}">
                <a16:creationId xmlns:a16="http://schemas.microsoft.com/office/drawing/2014/main" id="{B1FED7DB-B68F-4499-909F-560FF76D7B34}"/>
              </a:ext>
            </a:extLst>
          </p:cNvPr>
          <p:cNvSpPr>
            <a:spLocks xmlns:a="http://schemas.openxmlformats.org/drawingml/2006/main" noGrp="1"/>
          </p:cNvSpPr>
          <p:nvPr/>
        </p:nvSpPr>
        <p:spPr>
          <a:xfrm xmlns:a="http://schemas.openxmlformats.org/drawingml/2006/main">
            <a:off x="8750300" y="2095500"/>
            <a:ext cx="1587500" cy="1456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47"/>
              </a:lnSpc>
              <a:spcBef>
                <a:spcPts val="0"/>
              </a:spcBef>
              <a:spcAft>
                <a:spcPts val="0"/>
              </a:spcAft>
            </a:pPr>
            <a:r>
              <a:rPr sz="770" b="0" i="0">
                <a:solidFill>
                  <a:srgbClr val="252D2C"/>
                </a:solidFill>
                <a:latin typeface="Arial"/>
                <a:ea typeface="Arial"/>
                <a:cs typeface="Arial"/>
              </a:rPr>
              <a:t>Mapping and drawings</a:t>
            </a:r>
          </a:p>
        </p:txBody>
      </p:sp>
      <p:sp>
        <p:nvSpPr>
          <p:cNvPr id="27" name="Editable paragraph">
            <a:extLst xmlns:a="http://schemas.openxmlformats.org/drawingml/2006/main">
              <a:ext uri="{FF2B5EF4-FFF2-40B4-BE49-F238E27FC236}">
                <a16:creationId xmlns:a16="http://schemas.microsoft.com/office/drawing/2014/main" id="{10C64293-0607-4DA5-8676-BAFCDBC12927}"/>
              </a:ext>
            </a:extLst>
          </p:cNvPr>
          <p:cNvSpPr>
            <a:spLocks xmlns:a="http://schemas.openxmlformats.org/drawingml/2006/main" noGrp="1"/>
          </p:cNvSpPr>
          <p:nvPr/>
        </p:nvSpPr>
        <p:spPr>
          <a:xfrm xmlns:a="http://schemas.openxmlformats.org/drawingml/2006/main">
            <a:off x="5422900" y="2413000"/>
            <a:ext cx="3048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01</a:t>
            </a:r>
          </a:p>
        </p:txBody>
      </p:sp>
      <p:sp>
        <p:nvSpPr>
          <p:cNvPr id="28" name="Editable paragraph">
            <a:extLst xmlns:a="http://schemas.openxmlformats.org/drawingml/2006/main">
              <a:ext uri="{FF2B5EF4-FFF2-40B4-BE49-F238E27FC236}">
                <a16:creationId xmlns:a16="http://schemas.microsoft.com/office/drawing/2014/main" id="{C3FC92E3-B48D-4D92-924C-019DCB9A1A4F}"/>
              </a:ext>
            </a:extLst>
          </p:cNvPr>
          <p:cNvSpPr>
            <a:spLocks xmlns:a="http://schemas.openxmlformats.org/drawingml/2006/main" noGrp="1"/>
          </p:cNvSpPr>
          <p:nvPr/>
        </p:nvSpPr>
        <p:spPr>
          <a:xfrm xmlns:a="http://schemas.openxmlformats.org/drawingml/2006/main">
            <a:off x="5854700" y="2413000"/>
            <a:ext cx="45339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252D2C"/>
                </a:solidFill>
                <a:latin typeface="Arial"/>
                <a:ea typeface="Arial"/>
                <a:cs typeface="Arial"/>
              </a:defRPr>
            </a:defPPr>
          </a:lstStyle>
          <a:p xmlns:a="http://schemas.openxmlformats.org/drawingml/2006/main">
            <a:pPr>
              <a:buNone/>
              <a:defRPr sz="900" b="1" i="0">
                <a:solidFill>
                  <a:srgbClr val="252D2C"/>
                </a:solidFill>
                <a:latin typeface="Arial"/>
                <a:ea typeface="Arial"/>
                <a:cs typeface="Arial"/>
              </a:defRPr>
              <a:lnSpc>
                <a:spcPts val="1107"/>
              </a:lnSpc>
              <a:spcBef>
                <a:spcPts val="0"/>
              </a:spcBef>
              <a:spcAft>
                <a:spcPts val="0"/>
              </a:spcAft>
            </a:pPr>
            <a:r>
              <a:rPr sz="900" b="1" i="0">
                <a:solidFill>
                  <a:srgbClr val="252D2C"/>
                </a:solidFill>
                <a:latin typeface="Arial"/>
                <a:ea typeface="Arial"/>
                <a:cs typeface="Arial"/>
              </a:rPr>
              <a:t>Collect &amp; locate</a:t>
            </a:r>
          </a:p>
        </p:txBody>
      </p:sp>
      <p:sp>
        <p:nvSpPr>
          <p:cNvPr id="29" name="Editable paragraph">
            <a:extLst xmlns:a="http://schemas.openxmlformats.org/drawingml/2006/main">
              <a:ext uri="{FF2B5EF4-FFF2-40B4-BE49-F238E27FC236}">
                <a16:creationId xmlns:a16="http://schemas.microsoft.com/office/drawing/2014/main" id="{B51FB457-A90A-40F0-A486-87C97789EC33}"/>
              </a:ext>
            </a:extLst>
          </p:cNvPr>
          <p:cNvSpPr>
            <a:spLocks xmlns:a="http://schemas.openxmlformats.org/drawingml/2006/main" noGrp="1"/>
          </p:cNvSpPr>
          <p:nvPr/>
        </p:nvSpPr>
        <p:spPr>
          <a:xfrm xmlns:a="http://schemas.openxmlformats.org/drawingml/2006/main">
            <a:off x="5854700" y="2590800"/>
            <a:ext cx="4533900" cy="269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5" b="0" i="0">
                <a:solidFill>
                  <a:srgbClr val="252D2C"/>
                </a:solidFill>
                <a:latin typeface="Arial"/>
                <a:ea typeface="Arial"/>
                <a:cs typeface="Arial"/>
              </a:defRPr>
            </a:defPPr>
          </a:lstStyle>
          <a:p xmlns:a="http://schemas.openxmlformats.org/drawingml/2006/main">
            <a:pPr>
              <a:buNone/>
              <a:defRPr sz="815" b="0" i="0">
                <a:solidFill>
                  <a:srgbClr val="252D2C"/>
                </a:solidFill>
                <a:latin typeface="Arial"/>
                <a:ea typeface="Arial"/>
                <a:cs typeface="Arial"/>
              </a:defRPr>
              <a:lnSpc>
                <a:spcPts val="960"/>
              </a:lnSpc>
              <a:spcBef>
                <a:spcPts val="0"/>
              </a:spcBef>
              <a:spcAft>
                <a:spcPts val="0"/>
              </a:spcAft>
            </a:pPr>
            <a:r>
              <a:rPr sz="815" b="0" i="0">
                <a:solidFill>
                  <a:srgbClr val="252D2C"/>
                </a:solidFill>
                <a:latin typeface="Arial"/>
                <a:ea typeface="Arial"/>
                <a:cs typeface="Arial"/>
              </a:rPr>
              <a:t>Document everyday needs through questionnaires, interviews, environmental assessment, activity observation, photography, and site mapping.</a:t>
            </a:r>
          </a:p>
        </p:txBody>
      </p:sp>
      <p:sp>
        <p:nvSpPr>
          <p:cNvPr id="30" name="">
            <a:extLst xmlns:a="http://schemas.openxmlformats.org/drawingml/2006/main">
              <a:ext uri="{FF2B5EF4-FFF2-40B4-BE49-F238E27FC236}">
                <a16:creationId xmlns:a16="http://schemas.microsoft.com/office/drawing/2014/main" id="{59FD3726-19A3-4C2B-B148-36F38C656892}"/>
              </a:ext>
            </a:extLst>
          </p:cNvPr>
          <p:cNvSpPr>
            <a:spLocks xmlns:a="http://schemas.openxmlformats.org/drawingml/2006/main" noGrp="1"/>
          </p:cNvSpPr>
          <p:nvPr/>
        </p:nvSpPr>
        <p:spPr>
          <a:xfrm xmlns:a="http://schemas.openxmlformats.org/drawingml/2006/main">
            <a:off x="5575300" y="264160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8255">
            <a:solidFill>
              <a:srgbClr val="345A60"/>
            </a:solidFill>
            <a:prstDash val="solid"/>
          </a:ln>
        </p:spPr>
      </p:sp>
      <p:sp>
        <p:nvSpPr>
          <p:cNvPr id="31" name="">
            <a:extLst xmlns:a="http://schemas.openxmlformats.org/drawingml/2006/main">
              <a:ext uri="{FF2B5EF4-FFF2-40B4-BE49-F238E27FC236}">
                <a16:creationId xmlns:a16="http://schemas.microsoft.com/office/drawing/2014/main" id="{6D35E300-2EE3-46B4-B55F-D358D658D6E1}"/>
              </a:ext>
            </a:extLst>
          </p:cNvPr>
          <p:cNvSpPr>
            <a:spLocks xmlns:a="http://schemas.openxmlformats.org/drawingml/2006/main" noGrp="1"/>
          </p:cNvSpPr>
          <p:nvPr/>
        </p:nvSpPr>
        <p:spPr>
          <a:xfrm xmlns:a="http://schemas.openxmlformats.org/drawingml/2006/main">
            <a:off x="5537200" y="2832100"/>
            <a:ext cx="38100" cy="38100"/>
          </a:xfrm>
          <a:custGeom xmlns:a="http://schemas.openxmlformats.org/drawingml/2006/main">
            <a:pathLst>
              <a:path w="38100" h="38100">
                <a:moveTo>
                  <a:pt x="0" y="0"/>
                </a:moveTo>
                <a:lnTo>
                  <a:pt x="38100" y="38100"/>
                </a:lnTo>
              </a:path>
            </a:pathLst>
          </a:custGeom>
          <a:noFill xmlns:a="http://schemas.openxmlformats.org/drawingml/2006/main"/>
          <a:ln xmlns:a="http://schemas.openxmlformats.org/drawingml/2006/main" w="8255">
            <a:solidFill>
              <a:srgbClr val="345A60"/>
            </a:solidFill>
            <a:prstDash val="solid"/>
          </a:ln>
        </p:spPr>
      </p:sp>
      <p:sp>
        <p:nvSpPr>
          <p:cNvPr id="32" name="">
            <a:extLst xmlns:a="http://schemas.openxmlformats.org/drawingml/2006/main">
              <a:ext uri="{FF2B5EF4-FFF2-40B4-BE49-F238E27FC236}">
                <a16:creationId xmlns:a16="http://schemas.microsoft.com/office/drawing/2014/main" id="{3ECBF380-2B21-4860-A3CA-96ED51A74511}"/>
              </a:ext>
            </a:extLst>
          </p:cNvPr>
          <p:cNvSpPr>
            <a:spLocks xmlns:a="http://schemas.openxmlformats.org/drawingml/2006/main" noGrp="1"/>
          </p:cNvSpPr>
          <p:nvPr/>
        </p:nvSpPr>
        <p:spPr>
          <a:xfrm xmlns:a="http://schemas.openxmlformats.org/drawingml/2006/main">
            <a:off x="5575300" y="2832100"/>
            <a:ext cx="38100" cy="38100"/>
          </a:xfrm>
          <a:custGeom xmlns:a="http://schemas.openxmlformats.org/drawingml/2006/main">
            <a:pathLst>
              <a:path w="38100" h="38100">
                <a:moveTo>
                  <a:pt x="38100" y="0"/>
                </a:moveTo>
                <a:lnTo>
                  <a:pt x="0" y="38100"/>
                </a:lnTo>
              </a:path>
            </a:pathLst>
          </a:custGeom>
          <a:noFill xmlns:a="http://schemas.openxmlformats.org/drawingml/2006/main"/>
          <a:ln xmlns:a="http://schemas.openxmlformats.org/drawingml/2006/main" w="8255">
            <a:solidFill>
              <a:srgbClr val="345A60"/>
            </a:solidFill>
            <a:prstDash val="solid"/>
          </a:ln>
        </p:spPr>
      </p:sp>
      <p:sp>
        <p:nvSpPr>
          <p:cNvPr id="33" name="Editable paragraph">
            <a:extLst xmlns:a="http://schemas.openxmlformats.org/drawingml/2006/main">
              <a:ext uri="{FF2B5EF4-FFF2-40B4-BE49-F238E27FC236}">
                <a16:creationId xmlns:a16="http://schemas.microsoft.com/office/drawing/2014/main" id="{32979F04-4FBD-458F-A072-06B63B998C50}"/>
              </a:ext>
            </a:extLst>
          </p:cNvPr>
          <p:cNvSpPr>
            <a:spLocks xmlns:a="http://schemas.openxmlformats.org/drawingml/2006/main" noGrp="1"/>
          </p:cNvSpPr>
          <p:nvPr/>
        </p:nvSpPr>
        <p:spPr>
          <a:xfrm xmlns:a="http://schemas.openxmlformats.org/drawingml/2006/main">
            <a:off x="5422900" y="2946400"/>
            <a:ext cx="3048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02</a:t>
            </a:r>
          </a:p>
        </p:txBody>
      </p:sp>
      <p:sp>
        <p:nvSpPr>
          <p:cNvPr id="34" name="Editable paragraph">
            <a:extLst xmlns:a="http://schemas.openxmlformats.org/drawingml/2006/main">
              <a:ext uri="{FF2B5EF4-FFF2-40B4-BE49-F238E27FC236}">
                <a16:creationId xmlns:a16="http://schemas.microsoft.com/office/drawing/2014/main" id="{3032F865-348B-44CD-986A-9986ABCB21AD}"/>
              </a:ext>
            </a:extLst>
          </p:cNvPr>
          <p:cNvSpPr>
            <a:spLocks xmlns:a="http://schemas.openxmlformats.org/drawingml/2006/main" noGrp="1"/>
          </p:cNvSpPr>
          <p:nvPr/>
        </p:nvSpPr>
        <p:spPr>
          <a:xfrm xmlns:a="http://schemas.openxmlformats.org/drawingml/2006/main">
            <a:off x="5854700" y="2946400"/>
            <a:ext cx="45339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252D2C"/>
                </a:solidFill>
                <a:latin typeface="Arial"/>
                <a:ea typeface="Arial"/>
                <a:cs typeface="Arial"/>
              </a:defRPr>
            </a:defPPr>
          </a:lstStyle>
          <a:p xmlns:a="http://schemas.openxmlformats.org/drawingml/2006/main">
            <a:pPr>
              <a:buNone/>
              <a:defRPr sz="900" b="1" i="0">
                <a:solidFill>
                  <a:srgbClr val="252D2C"/>
                </a:solidFill>
                <a:latin typeface="Arial"/>
                <a:ea typeface="Arial"/>
                <a:cs typeface="Arial"/>
              </a:defRPr>
              <a:lnSpc>
                <a:spcPts val="1107"/>
              </a:lnSpc>
              <a:spcBef>
                <a:spcPts val="0"/>
              </a:spcBef>
              <a:spcAft>
                <a:spcPts val="0"/>
              </a:spcAft>
            </a:pPr>
            <a:r>
              <a:rPr sz="900" b="1" i="0">
                <a:solidFill>
                  <a:srgbClr val="252D2C"/>
                </a:solidFill>
                <a:latin typeface="Arial"/>
                <a:ea typeface="Arial"/>
                <a:cs typeface="Arial"/>
              </a:rPr>
              <a:t>Organize themes</a:t>
            </a:r>
          </a:p>
        </p:txBody>
      </p:sp>
      <p:sp>
        <p:nvSpPr>
          <p:cNvPr id="35" name="Editable paragraph">
            <a:extLst xmlns:a="http://schemas.openxmlformats.org/drawingml/2006/main">
              <a:ext uri="{FF2B5EF4-FFF2-40B4-BE49-F238E27FC236}">
                <a16:creationId xmlns:a16="http://schemas.microsoft.com/office/drawing/2014/main" id="{205DA8C1-EC7D-426A-81D0-EF01916E2F8C}"/>
              </a:ext>
            </a:extLst>
          </p:cNvPr>
          <p:cNvSpPr>
            <a:spLocks xmlns:a="http://schemas.openxmlformats.org/drawingml/2006/main" noGrp="1"/>
          </p:cNvSpPr>
          <p:nvPr/>
        </p:nvSpPr>
        <p:spPr>
          <a:xfrm xmlns:a="http://schemas.openxmlformats.org/drawingml/2006/main">
            <a:off x="5854700" y="3124200"/>
            <a:ext cx="4533900" cy="269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5" b="0" i="0">
                <a:solidFill>
                  <a:srgbClr val="252D2C"/>
                </a:solidFill>
                <a:latin typeface="Arial"/>
                <a:ea typeface="Arial"/>
                <a:cs typeface="Arial"/>
              </a:defRPr>
            </a:defPPr>
          </a:lstStyle>
          <a:p xmlns:a="http://schemas.openxmlformats.org/drawingml/2006/main">
            <a:pPr>
              <a:buNone/>
              <a:defRPr sz="815" b="0" i="0">
                <a:solidFill>
                  <a:srgbClr val="252D2C"/>
                </a:solidFill>
                <a:latin typeface="Arial"/>
                <a:ea typeface="Arial"/>
                <a:cs typeface="Arial"/>
              </a:defRPr>
              <a:lnSpc>
                <a:spcPts val="960"/>
              </a:lnSpc>
              <a:spcBef>
                <a:spcPts val="0"/>
              </a:spcBef>
              <a:spcAft>
                <a:spcPts val="0"/>
              </a:spcAft>
            </a:pPr>
            <a:r>
              <a:rPr sz="815" b="0" i="0">
                <a:solidFill>
                  <a:srgbClr val="252D2C"/>
                </a:solidFill>
                <a:latin typeface="Arial"/>
                <a:ea typeface="Arial"/>
                <a:cs typeface="Arial"/>
              </a:rPr>
              <a:t>Group feedback by place, activity, and resources; organize observations and interviews around daily use and school operations.</a:t>
            </a:r>
          </a:p>
        </p:txBody>
      </p:sp>
      <p:sp>
        <p:nvSpPr>
          <p:cNvPr id="36" name="">
            <a:extLst xmlns:a="http://schemas.openxmlformats.org/drawingml/2006/main">
              <a:ext uri="{FF2B5EF4-FFF2-40B4-BE49-F238E27FC236}">
                <a16:creationId xmlns:a16="http://schemas.microsoft.com/office/drawing/2014/main" id="{74BE7A58-9E32-4BB3-8F15-9CBD137ED800}"/>
              </a:ext>
            </a:extLst>
          </p:cNvPr>
          <p:cNvSpPr>
            <a:spLocks xmlns:a="http://schemas.openxmlformats.org/drawingml/2006/main" noGrp="1"/>
          </p:cNvSpPr>
          <p:nvPr/>
        </p:nvSpPr>
        <p:spPr>
          <a:xfrm xmlns:a="http://schemas.openxmlformats.org/drawingml/2006/main">
            <a:off x="5575300" y="317500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8255">
            <a:solidFill>
              <a:srgbClr val="345A60"/>
            </a:solidFill>
            <a:prstDash val="solid"/>
          </a:ln>
        </p:spPr>
      </p:sp>
      <p:sp>
        <p:nvSpPr>
          <p:cNvPr id="37" name="">
            <a:extLst xmlns:a="http://schemas.openxmlformats.org/drawingml/2006/main">
              <a:ext uri="{FF2B5EF4-FFF2-40B4-BE49-F238E27FC236}">
                <a16:creationId xmlns:a16="http://schemas.microsoft.com/office/drawing/2014/main" id="{6ABA4AEA-7F53-4ACE-988B-3478BD1B86EC}"/>
              </a:ext>
            </a:extLst>
          </p:cNvPr>
          <p:cNvSpPr>
            <a:spLocks xmlns:a="http://schemas.openxmlformats.org/drawingml/2006/main" noGrp="1"/>
          </p:cNvSpPr>
          <p:nvPr/>
        </p:nvSpPr>
        <p:spPr>
          <a:xfrm xmlns:a="http://schemas.openxmlformats.org/drawingml/2006/main">
            <a:off x="5537200" y="3365500"/>
            <a:ext cx="38100" cy="38100"/>
          </a:xfrm>
          <a:custGeom xmlns:a="http://schemas.openxmlformats.org/drawingml/2006/main">
            <a:pathLst>
              <a:path w="38100" h="38100">
                <a:moveTo>
                  <a:pt x="0" y="0"/>
                </a:moveTo>
                <a:lnTo>
                  <a:pt x="38100" y="38100"/>
                </a:lnTo>
              </a:path>
            </a:pathLst>
          </a:custGeom>
          <a:noFill xmlns:a="http://schemas.openxmlformats.org/drawingml/2006/main"/>
          <a:ln xmlns:a="http://schemas.openxmlformats.org/drawingml/2006/main" w="8255">
            <a:solidFill>
              <a:srgbClr val="345A60"/>
            </a:solidFill>
            <a:prstDash val="solid"/>
          </a:ln>
        </p:spPr>
      </p:sp>
      <p:sp>
        <p:nvSpPr>
          <p:cNvPr id="38" name="">
            <a:extLst xmlns:a="http://schemas.openxmlformats.org/drawingml/2006/main">
              <a:ext uri="{FF2B5EF4-FFF2-40B4-BE49-F238E27FC236}">
                <a16:creationId xmlns:a16="http://schemas.microsoft.com/office/drawing/2014/main" id="{2A06E57C-64D5-48C8-BD4A-A0DE93B02E75}"/>
              </a:ext>
            </a:extLst>
          </p:cNvPr>
          <p:cNvSpPr>
            <a:spLocks xmlns:a="http://schemas.openxmlformats.org/drawingml/2006/main" noGrp="1"/>
          </p:cNvSpPr>
          <p:nvPr/>
        </p:nvSpPr>
        <p:spPr>
          <a:xfrm xmlns:a="http://schemas.openxmlformats.org/drawingml/2006/main">
            <a:off x="5575300" y="3365500"/>
            <a:ext cx="38100" cy="38100"/>
          </a:xfrm>
          <a:custGeom xmlns:a="http://schemas.openxmlformats.org/drawingml/2006/main">
            <a:pathLst>
              <a:path w="38100" h="38100">
                <a:moveTo>
                  <a:pt x="38100" y="0"/>
                </a:moveTo>
                <a:lnTo>
                  <a:pt x="0" y="38100"/>
                </a:lnTo>
              </a:path>
            </a:pathLst>
          </a:custGeom>
          <a:noFill xmlns:a="http://schemas.openxmlformats.org/drawingml/2006/main"/>
          <a:ln xmlns:a="http://schemas.openxmlformats.org/drawingml/2006/main" w="8255">
            <a:solidFill>
              <a:srgbClr val="345A60"/>
            </a:solidFill>
            <a:prstDash val="solid"/>
          </a:ln>
        </p:spPr>
      </p:sp>
      <p:sp>
        <p:nvSpPr>
          <p:cNvPr id="39" name="Editable paragraph">
            <a:extLst xmlns:a="http://schemas.openxmlformats.org/drawingml/2006/main">
              <a:ext uri="{FF2B5EF4-FFF2-40B4-BE49-F238E27FC236}">
                <a16:creationId xmlns:a16="http://schemas.microsoft.com/office/drawing/2014/main" id="{C3BB8931-0B03-4661-BDB4-B873B3986062}"/>
              </a:ext>
            </a:extLst>
          </p:cNvPr>
          <p:cNvSpPr>
            <a:spLocks xmlns:a="http://schemas.openxmlformats.org/drawingml/2006/main" noGrp="1"/>
          </p:cNvSpPr>
          <p:nvPr/>
        </p:nvSpPr>
        <p:spPr>
          <a:xfrm xmlns:a="http://schemas.openxmlformats.org/drawingml/2006/main">
            <a:off x="5422900" y="3479800"/>
            <a:ext cx="3048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03</a:t>
            </a:r>
          </a:p>
        </p:txBody>
      </p:sp>
      <p:sp>
        <p:nvSpPr>
          <p:cNvPr id="40" name="Editable paragraph">
            <a:extLst xmlns:a="http://schemas.openxmlformats.org/drawingml/2006/main">
              <a:ext uri="{FF2B5EF4-FFF2-40B4-BE49-F238E27FC236}">
                <a16:creationId xmlns:a16="http://schemas.microsoft.com/office/drawing/2014/main" id="{1E35815E-8B9B-4FA8-8BBD-EA92C39F840E}"/>
              </a:ext>
            </a:extLst>
          </p:cNvPr>
          <p:cNvSpPr>
            <a:spLocks xmlns:a="http://schemas.openxmlformats.org/drawingml/2006/main" noGrp="1"/>
          </p:cNvSpPr>
          <p:nvPr/>
        </p:nvSpPr>
        <p:spPr>
          <a:xfrm xmlns:a="http://schemas.openxmlformats.org/drawingml/2006/main">
            <a:off x="5854700" y="3479800"/>
            <a:ext cx="45339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252D2C"/>
                </a:solidFill>
                <a:latin typeface="Arial"/>
                <a:ea typeface="Arial"/>
                <a:cs typeface="Arial"/>
              </a:defRPr>
            </a:defPPr>
          </a:lstStyle>
          <a:p xmlns:a="http://schemas.openxmlformats.org/drawingml/2006/main">
            <a:pPr>
              <a:buNone/>
              <a:defRPr sz="900" b="1" i="0">
                <a:solidFill>
                  <a:srgbClr val="252D2C"/>
                </a:solidFill>
                <a:latin typeface="Arial"/>
                <a:ea typeface="Arial"/>
                <a:cs typeface="Arial"/>
              </a:defRPr>
              <a:lnSpc>
                <a:spcPts val="1107"/>
              </a:lnSpc>
              <a:spcBef>
                <a:spcPts val="0"/>
              </a:spcBef>
              <a:spcAft>
                <a:spcPts val="0"/>
              </a:spcAft>
            </a:pPr>
            <a:r>
              <a:rPr sz="900" b="1" i="0">
                <a:solidFill>
                  <a:srgbClr val="252D2C"/>
                </a:solidFill>
                <a:latin typeface="Arial"/>
                <a:ea typeface="Arial"/>
                <a:cs typeface="Arial"/>
              </a:rPr>
              <a:t>Describe &amp; compare</a:t>
            </a:r>
          </a:p>
        </p:txBody>
      </p:sp>
      <p:sp>
        <p:nvSpPr>
          <p:cNvPr id="41" name="Editable paragraph">
            <a:extLst xmlns:a="http://schemas.openxmlformats.org/drawingml/2006/main">
              <a:ext uri="{FF2B5EF4-FFF2-40B4-BE49-F238E27FC236}">
                <a16:creationId xmlns:a16="http://schemas.microsoft.com/office/drawing/2014/main" id="{CAC77FC3-8E09-4356-A2B1-EFE18EAAE570}"/>
              </a:ext>
            </a:extLst>
          </p:cNvPr>
          <p:cNvSpPr>
            <a:spLocks xmlns:a="http://schemas.openxmlformats.org/drawingml/2006/main" noGrp="1"/>
          </p:cNvSpPr>
          <p:nvPr/>
        </p:nvSpPr>
        <p:spPr>
          <a:xfrm xmlns:a="http://schemas.openxmlformats.org/drawingml/2006/main">
            <a:off x="5854700" y="3657600"/>
            <a:ext cx="4533900" cy="269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5" b="0" i="0">
                <a:solidFill>
                  <a:srgbClr val="252D2C"/>
                </a:solidFill>
                <a:latin typeface="Arial"/>
                <a:ea typeface="Arial"/>
                <a:cs typeface="Arial"/>
              </a:defRPr>
            </a:defPPr>
          </a:lstStyle>
          <a:p xmlns:a="http://schemas.openxmlformats.org/drawingml/2006/main">
            <a:pPr>
              <a:buNone/>
              <a:defRPr sz="815" b="0" i="0">
                <a:solidFill>
                  <a:srgbClr val="252D2C"/>
                </a:solidFill>
                <a:latin typeface="Arial"/>
                <a:ea typeface="Arial"/>
                <a:cs typeface="Arial"/>
              </a:defRPr>
              <a:lnSpc>
                <a:spcPts val="960"/>
              </a:lnSpc>
              <a:spcBef>
                <a:spcPts val="0"/>
              </a:spcBef>
              <a:spcAft>
                <a:spcPts val="0"/>
              </a:spcAft>
            </a:pPr>
            <a:r>
              <a:rPr sz="815" b="0" i="0">
                <a:solidFill>
                  <a:srgbClr val="252D2C"/>
                </a:solidFill>
                <a:latin typeface="Arial"/>
                <a:ea typeface="Arial"/>
                <a:cs typeface="Arial"/>
              </a:rPr>
              <a:t>Count recurring words; compare priorities, environmental scores, and daily activity patterns; examine the site and its surroundings.</a:t>
            </a:r>
          </a:p>
        </p:txBody>
      </p:sp>
      <p:sp>
        <p:nvSpPr>
          <p:cNvPr id="42" name="">
            <a:extLst xmlns:a="http://schemas.openxmlformats.org/drawingml/2006/main">
              <a:ext uri="{FF2B5EF4-FFF2-40B4-BE49-F238E27FC236}">
                <a16:creationId xmlns:a16="http://schemas.microsoft.com/office/drawing/2014/main" id="{7948F474-EDB8-4BAF-96FE-F39B53B90B8F}"/>
              </a:ext>
            </a:extLst>
          </p:cNvPr>
          <p:cNvSpPr>
            <a:spLocks xmlns:a="http://schemas.openxmlformats.org/drawingml/2006/main" noGrp="1"/>
          </p:cNvSpPr>
          <p:nvPr/>
        </p:nvSpPr>
        <p:spPr>
          <a:xfrm xmlns:a="http://schemas.openxmlformats.org/drawingml/2006/main">
            <a:off x="5575300" y="370840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8255">
            <a:solidFill>
              <a:srgbClr val="345A60"/>
            </a:solidFill>
            <a:prstDash val="solid"/>
          </a:ln>
        </p:spPr>
      </p:sp>
      <p:sp>
        <p:nvSpPr>
          <p:cNvPr id="43" name="">
            <a:extLst xmlns:a="http://schemas.openxmlformats.org/drawingml/2006/main">
              <a:ext uri="{FF2B5EF4-FFF2-40B4-BE49-F238E27FC236}">
                <a16:creationId xmlns:a16="http://schemas.microsoft.com/office/drawing/2014/main" id="{F1CA0852-A50E-4C43-A78D-14DF30B450F9}"/>
              </a:ext>
            </a:extLst>
          </p:cNvPr>
          <p:cNvSpPr>
            <a:spLocks xmlns:a="http://schemas.openxmlformats.org/drawingml/2006/main" noGrp="1"/>
          </p:cNvSpPr>
          <p:nvPr/>
        </p:nvSpPr>
        <p:spPr>
          <a:xfrm xmlns:a="http://schemas.openxmlformats.org/drawingml/2006/main">
            <a:off x="5537200" y="3898900"/>
            <a:ext cx="38100" cy="38100"/>
          </a:xfrm>
          <a:custGeom xmlns:a="http://schemas.openxmlformats.org/drawingml/2006/main">
            <a:pathLst>
              <a:path w="38100" h="38100">
                <a:moveTo>
                  <a:pt x="0" y="0"/>
                </a:moveTo>
                <a:lnTo>
                  <a:pt x="38100" y="38100"/>
                </a:lnTo>
              </a:path>
            </a:pathLst>
          </a:custGeom>
          <a:noFill xmlns:a="http://schemas.openxmlformats.org/drawingml/2006/main"/>
          <a:ln xmlns:a="http://schemas.openxmlformats.org/drawingml/2006/main" w="8255">
            <a:solidFill>
              <a:srgbClr val="345A60"/>
            </a:solidFill>
            <a:prstDash val="solid"/>
          </a:ln>
        </p:spPr>
      </p:sp>
      <p:sp>
        <p:nvSpPr>
          <p:cNvPr id="44" name="">
            <a:extLst xmlns:a="http://schemas.openxmlformats.org/drawingml/2006/main">
              <a:ext uri="{FF2B5EF4-FFF2-40B4-BE49-F238E27FC236}">
                <a16:creationId xmlns:a16="http://schemas.microsoft.com/office/drawing/2014/main" id="{EA285441-7DDF-448F-8C47-222AD4274BFD}"/>
              </a:ext>
            </a:extLst>
          </p:cNvPr>
          <p:cNvSpPr>
            <a:spLocks xmlns:a="http://schemas.openxmlformats.org/drawingml/2006/main" noGrp="1"/>
          </p:cNvSpPr>
          <p:nvPr/>
        </p:nvSpPr>
        <p:spPr>
          <a:xfrm xmlns:a="http://schemas.openxmlformats.org/drawingml/2006/main">
            <a:off x="5575300" y="3898900"/>
            <a:ext cx="38100" cy="38100"/>
          </a:xfrm>
          <a:custGeom xmlns:a="http://schemas.openxmlformats.org/drawingml/2006/main">
            <a:pathLst>
              <a:path w="38100" h="38100">
                <a:moveTo>
                  <a:pt x="38100" y="0"/>
                </a:moveTo>
                <a:lnTo>
                  <a:pt x="0" y="38100"/>
                </a:lnTo>
              </a:path>
            </a:pathLst>
          </a:custGeom>
          <a:noFill xmlns:a="http://schemas.openxmlformats.org/drawingml/2006/main"/>
          <a:ln xmlns:a="http://schemas.openxmlformats.org/drawingml/2006/main" w="8255">
            <a:solidFill>
              <a:srgbClr val="345A60"/>
            </a:solidFill>
            <a:prstDash val="solid"/>
          </a:ln>
        </p:spPr>
      </p:sp>
      <p:sp>
        <p:nvSpPr>
          <p:cNvPr id="45" name="Editable paragraph">
            <a:extLst xmlns:a="http://schemas.openxmlformats.org/drawingml/2006/main">
              <a:ext uri="{FF2B5EF4-FFF2-40B4-BE49-F238E27FC236}">
                <a16:creationId xmlns:a16="http://schemas.microsoft.com/office/drawing/2014/main" id="{F8454739-A5B5-4E30-AC23-BEB6CA5B065D}"/>
              </a:ext>
            </a:extLst>
          </p:cNvPr>
          <p:cNvSpPr>
            <a:spLocks xmlns:a="http://schemas.openxmlformats.org/drawingml/2006/main" noGrp="1"/>
          </p:cNvSpPr>
          <p:nvPr/>
        </p:nvSpPr>
        <p:spPr>
          <a:xfrm xmlns:a="http://schemas.openxmlformats.org/drawingml/2006/main">
            <a:off x="5422900" y="4013200"/>
            <a:ext cx="3048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04</a:t>
            </a:r>
          </a:p>
        </p:txBody>
      </p:sp>
      <p:sp>
        <p:nvSpPr>
          <p:cNvPr id="46" name="Editable paragraph">
            <a:extLst xmlns:a="http://schemas.openxmlformats.org/drawingml/2006/main">
              <a:ext uri="{FF2B5EF4-FFF2-40B4-BE49-F238E27FC236}">
                <a16:creationId xmlns:a16="http://schemas.microsoft.com/office/drawing/2014/main" id="{BEB21731-85CB-4DBC-B42C-8BFF4C3EEAFF}"/>
              </a:ext>
            </a:extLst>
          </p:cNvPr>
          <p:cNvSpPr>
            <a:spLocks xmlns:a="http://schemas.openxmlformats.org/drawingml/2006/main" noGrp="1"/>
          </p:cNvSpPr>
          <p:nvPr/>
        </p:nvSpPr>
        <p:spPr>
          <a:xfrm xmlns:a="http://schemas.openxmlformats.org/drawingml/2006/main">
            <a:off x="5854700" y="4013200"/>
            <a:ext cx="45339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252D2C"/>
                </a:solidFill>
                <a:latin typeface="Arial"/>
                <a:ea typeface="Arial"/>
                <a:cs typeface="Arial"/>
              </a:defRPr>
            </a:defPPr>
          </a:lstStyle>
          <a:p xmlns:a="http://schemas.openxmlformats.org/drawingml/2006/main">
            <a:pPr>
              <a:buNone/>
              <a:defRPr sz="900" b="1" i="0">
                <a:solidFill>
                  <a:srgbClr val="252D2C"/>
                </a:solidFill>
                <a:latin typeface="Arial"/>
                <a:ea typeface="Arial"/>
                <a:cs typeface="Arial"/>
              </a:defRPr>
              <a:lnSpc>
                <a:spcPts val="1107"/>
              </a:lnSpc>
              <a:spcBef>
                <a:spcPts val="0"/>
              </a:spcBef>
              <a:spcAft>
                <a:spcPts val="0"/>
              </a:spcAft>
            </a:pPr>
            <a:r>
              <a:rPr sz="900" b="1" i="0">
                <a:solidFill>
                  <a:srgbClr val="252D2C"/>
                </a:solidFill>
                <a:latin typeface="Arial"/>
                <a:ea typeface="Arial"/>
                <a:cs typeface="Arial"/>
              </a:rPr>
              <a:t>Identify priorities</a:t>
            </a:r>
          </a:p>
        </p:txBody>
      </p:sp>
      <p:sp>
        <p:nvSpPr>
          <p:cNvPr id="47" name="Editable paragraph">
            <a:extLst xmlns:a="http://schemas.openxmlformats.org/drawingml/2006/main">
              <a:ext uri="{FF2B5EF4-FFF2-40B4-BE49-F238E27FC236}">
                <a16:creationId xmlns:a16="http://schemas.microsoft.com/office/drawing/2014/main" id="{5441BE06-3C76-401A-9389-204673F0E423}"/>
              </a:ext>
            </a:extLst>
          </p:cNvPr>
          <p:cNvSpPr>
            <a:spLocks xmlns:a="http://schemas.openxmlformats.org/drawingml/2006/main" noGrp="1"/>
          </p:cNvSpPr>
          <p:nvPr/>
        </p:nvSpPr>
        <p:spPr>
          <a:xfrm xmlns:a="http://schemas.openxmlformats.org/drawingml/2006/main">
            <a:off x="5854700" y="4191000"/>
            <a:ext cx="4533900" cy="269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5" b="0" i="0">
                <a:solidFill>
                  <a:srgbClr val="252D2C"/>
                </a:solidFill>
                <a:latin typeface="Arial"/>
                <a:ea typeface="Arial"/>
                <a:cs typeface="Arial"/>
              </a:defRPr>
            </a:defPPr>
          </a:lstStyle>
          <a:p xmlns:a="http://schemas.openxmlformats.org/drawingml/2006/main">
            <a:pPr>
              <a:buNone/>
              <a:defRPr sz="815" b="0" i="0">
                <a:solidFill>
                  <a:srgbClr val="252D2C"/>
                </a:solidFill>
                <a:latin typeface="Arial"/>
                <a:ea typeface="Arial"/>
                <a:cs typeface="Arial"/>
              </a:defRPr>
              <a:lnSpc>
                <a:spcPts val="960"/>
              </a:lnSpc>
              <a:spcBef>
                <a:spcPts val="0"/>
              </a:spcBef>
              <a:spcAft>
                <a:spcPts val="0"/>
              </a:spcAft>
            </a:pPr>
            <a:r>
              <a:rPr sz="815" b="0" i="0">
                <a:solidFill>
                  <a:srgbClr val="252D2C"/>
                </a:solidFill>
                <a:latin typeface="Arial"/>
                <a:ea typeface="Arial"/>
                <a:cs typeface="Arial"/>
              </a:rPr>
              <a:t>Connect questionnaire themes with observed use: sanitation, small-group activity, nearby adult support, and manageable shared spaces.</a:t>
            </a:r>
          </a:p>
        </p:txBody>
      </p:sp>
      <p:sp>
        <p:nvSpPr>
          <p:cNvPr id="48" name="">
            <a:extLst xmlns:a="http://schemas.openxmlformats.org/drawingml/2006/main">
              <a:ext uri="{FF2B5EF4-FFF2-40B4-BE49-F238E27FC236}">
                <a16:creationId xmlns:a16="http://schemas.microsoft.com/office/drawing/2014/main" id="{CF738F1C-F2C4-48EC-B594-8A8DC466E09E}"/>
              </a:ext>
            </a:extLst>
          </p:cNvPr>
          <p:cNvSpPr>
            <a:spLocks xmlns:a="http://schemas.openxmlformats.org/drawingml/2006/main" noGrp="1"/>
          </p:cNvSpPr>
          <p:nvPr/>
        </p:nvSpPr>
        <p:spPr>
          <a:xfrm xmlns:a="http://schemas.openxmlformats.org/drawingml/2006/main">
            <a:off x="5575300" y="424180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8255">
            <a:solidFill>
              <a:srgbClr val="345A60"/>
            </a:solidFill>
            <a:prstDash val="solid"/>
          </a:ln>
        </p:spPr>
      </p:sp>
      <p:sp>
        <p:nvSpPr>
          <p:cNvPr id="49" name="">
            <a:extLst xmlns:a="http://schemas.openxmlformats.org/drawingml/2006/main">
              <a:ext uri="{FF2B5EF4-FFF2-40B4-BE49-F238E27FC236}">
                <a16:creationId xmlns:a16="http://schemas.microsoft.com/office/drawing/2014/main" id="{BF52E449-359A-4EC5-8708-EEEB2C1B487A}"/>
              </a:ext>
            </a:extLst>
          </p:cNvPr>
          <p:cNvSpPr>
            <a:spLocks xmlns:a="http://schemas.openxmlformats.org/drawingml/2006/main" noGrp="1"/>
          </p:cNvSpPr>
          <p:nvPr/>
        </p:nvSpPr>
        <p:spPr>
          <a:xfrm xmlns:a="http://schemas.openxmlformats.org/drawingml/2006/main">
            <a:off x="5537200" y="4432300"/>
            <a:ext cx="38100" cy="38100"/>
          </a:xfrm>
          <a:custGeom xmlns:a="http://schemas.openxmlformats.org/drawingml/2006/main">
            <a:pathLst>
              <a:path w="38100" h="38100">
                <a:moveTo>
                  <a:pt x="0" y="0"/>
                </a:moveTo>
                <a:lnTo>
                  <a:pt x="38100" y="38100"/>
                </a:lnTo>
              </a:path>
            </a:pathLst>
          </a:custGeom>
          <a:noFill xmlns:a="http://schemas.openxmlformats.org/drawingml/2006/main"/>
          <a:ln xmlns:a="http://schemas.openxmlformats.org/drawingml/2006/main" w="8255">
            <a:solidFill>
              <a:srgbClr val="345A60"/>
            </a:solidFill>
            <a:prstDash val="solid"/>
          </a:ln>
        </p:spPr>
      </p:sp>
      <p:sp>
        <p:nvSpPr>
          <p:cNvPr id="50" name="">
            <a:extLst xmlns:a="http://schemas.openxmlformats.org/drawingml/2006/main">
              <a:ext uri="{FF2B5EF4-FFF2-40B4-BE49-F238E27FC236}">
                <a16:creationId xmlns:a16="http://schemas.microsoft.com/office/drawing/2014/main" id="{98A35AA3-908D-4860-9BB5-1C5CBD3DADE5}"/>
              </a:ext>
            </a:extLst>
          </p:cNvPr>
          <p:cNvSpPr>
            <a:spLocks xmlns:a="http://schemas.openxmlformats.org/drawingml/2006/main" noGrp="1"/>
          </p:cNvSpPr>
          <p:nvPr/>
        </p:nvSpPr>
        <p:spPr>
          <a:xfrm xmlns:a="http://schemas.openxmlformats.org/drawingml/2006/main">
            <a:off x="5575300" y="4432300"/>
            <a:ext cx="38100" cy="38100"/>
          </a:xfrm>
          <a:custGeom xmlns:a="http://schemas.openxmlformats.org/drawingml/2006/main">
            <a:pathLst>
              <a:path w="38100" h="38100">
                <a:moveTo>
                  <a:pt x="38100" y="0"/>
                </a:moveTo>
                <a:lnTo>
                  <a:pt x="0" y="38100"/>
                </a:lnTo>
              </a:path>
            </a:pathLst>
          </a:custGeom>
          <a:noFill xmlns:a="http://schemas.openxmlformats.org/drawingml/2006/main"/>
          <a:ln xmlns:a="http://schemas.openxmlformats.org/drawingml/2006/main" w="8255">
            <a:solidFill>
              <a:srgbClr val="345A60"/>
            </a:solidFill>
            <a:prstDash val="solid"/>
          </a:ln>
        </p:spPr>
      </p:sp>
      <p:sp>
        <p:nvSpPr>
          <p:cNvPr id="51" name="Editable paragraph">
            <a:extLst xmlns:a="http://schemas.openxmlformats.org/drawingml/2006/main">
              <a:ext uri="{FF2B5EF4-FFF2-40B4-BE49-F238E27FC236}">
                <a16:creationId xmlns:a16="http://schemas.microsoft.com/office/drawing/2014/main" id="{E2EB4BF8-3325-4D95-9858-2444C3B7A60C}"/>
              </a:ext>
            </a:extLst>
          </p:cNvPr>
          <p:cNvSpPr>
            <a:spLocks xmlns:a="http://schemas.openxmlformats.org/drawingml/2006/main" noGrp="1"/>
          </p:cNvSpPr>
          <p:nvPr/>
        </p:nvSpPr>
        <p:spPr>
          <a:xfrm xmlns:a="http://schemas.openxmlformats.org/drawingml/2006/main">
            <a:off x="5422900" y="4546600"/>
            <a:ext cx="3048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05</a:t>
            </a:r>
          </a:p>
        </p:txBody>
      </p:sp>
      <p:sp>
        <p:nvSpPr>
          <p:cNvPr id="52" name="Editable paragraph">
            <a:extLst xmlns:a="http://schemas.openxmlformats.org/drawingml/2006/main">
              <a:ext uri="{FF2B5EF4-FFF2-40B4-BE49-F238E27FC236}">
                <a16:creationId xmlns:a16="http://schemas.microsoft.com/office/drawing/2014/main" id="{F78E732E-C808-4F0D-9B32-59A1FE7E3F61}"/>
              </a:ext>
            </a:extLst>
          </p:cNvPr>
          <p:cNvSpPr>
            <a:spLocks xmlns:a="http://schemas.openxmlformats.org/drawingml/2006/main" noGrp="1"/>
          </p:cNvSpPr>
          <p:nvPr/>
        </p:nvSpPr>
        <p:spPr>
          <a:xfrm xmlns:a="http://schemas.openxmlformats.org/drawingml/2006/main">
            <a:off x="5854700" y="4546600"/>
            <a:ext cx="45339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252D2C"/>
                </a:solidFill>
                <a:latin typeface="Arial"/>
                <a:ea typeface="Arial"/>
                <a:cs typeface="Arial"/>
              </a:defRPr>
            </a:defPPr>
          </a:lstStyle>
          <a:p xmlns:a="http://schemas.openxmlformats.org/drawingml/2006/main">
            <a:pPr>
              <a:buNone/>
              <a:defRPr sz="900" b="1" i="0">
                <a:solidFill>
                  <a:srgbClr val="252D2C"/>
                </a:solidFill>
                <a:latin typeface="Arial"/>
                <a:ea typeface="Arial"/>
                <a:cs typeface="Arial"/>
              </a:defRPr>
              <a:lnSpc>
                <a:spcPts val="1107"/>
              </a:lnSpc>
              <a:spcBef>
                <a:spcPts val="0"/>
              </a:spcBef>
              <a:spcAft>
                <a:spcPts val="0"/>
              </a:spcAft>
            </a:pPr>
            <a:r>
              <a:rPr sz="900" b="1" i="0">
                <a:solidFill>
                  <a:srgbClr val="252D2C"/>
                </a:solidFill>
                <a:latin typeface="Arial"/>
                <a:ea typeface="Arial"/>
                <a:cs typeface="Arial"/>
              </a:rPr>
              <a:t>Design and follow up</a:t>
            </a:r>
          </a:p>
        </p:txBody>
      </p:sp>
      <p:sp>
        <p:nvSpPr>
          <p:cNvPr id="53" name="Editable paragraph">
            <a:extLst xmlns:a="http://schemas.openxmlformats.org/drawingml/2006/main">
              <a:ext uri="{FF2B5EF4-FFF2-40B4-BE49-F238E27FC236}">
                <a16:creationId xmlns:a16="http://schemas.microsoft.com/office/drawing/2014/main" id="{CCA73A31-D849-4C0D-B68A-9F8940BE2715}"/>
              </a:ext>
            </a:extLst>
          </p:cNvPr>
          <p:cNvSpPr>
            <a:spLocks xmlns:a="http://schemas.openxmlformats.org/drawingml/2006/main" noGrp="1"/>
          </p:cNvSpPr>
          <p:nvPr/>
        </p:nvSpPr>
        <p:spPr>
          <a:xfrm xmlns:a="http://schemas.openxmlformats.org/drawingml/2006/main">
            <a:off x="5854700" y="4724400"/>
            <a:ext cx="4533900" cy="269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5" b="0" i="0">
                <a:solidFill>
                  <a:srgbClr val="252D2C"/>
                </a:solidFill>
                <a:latin typeface="Arial"/>
                <a:ea typeface="Arial"/>
                <a:cs typeface="Arial"/>
              </a:defRPr>
            </a:defPPr>
          </a:lstStyle>
          <a:p xmlns:a="http://schemas.openxmlformats.org/drawingml/2006/main">
            <a:pPr>
              <a:buNone/>
              <a:defRPr sz="815" b="0" i="0">
                <a:solidFill>
                  <a:srgbClr val="252D2C"/>
                </a:solidFill>
                <a:latin typeface="Arial"/>
                <a:ea typeface="Arial"/>
                <a:cs typeface="Arial"/>
              </a:defRPr>
              <a:lnSpc>
                <a:spcPts val="960"/>
              </a:lnSpc>
              <a:spcBef>
                <a:spcPts val="0"/>
              </a:spcBef>
              <a:spcAft>
                <a:spcPts val="0"/>
              </a:spcAft>
            </a:pPr>
            <a:r>
              <a:rPr sz="815" b="0" i="0">
                <a:solidFill>
                  <a:srgbClr val="252D2C"/>
                </a:solidFill>
                <a:latin typeface="Arial"/>
                <a:ea typeface="Arial"/>
                <a:cs typeface="Arial"/>
              </a:rPr>
              <a:t>Develop room relationships, circulation, shared spaces, and phased improvements; follow use through observation and conversations with pupils and staff.</a:t>
            </a:r>
          </a:p>
        </p:txBody>
      </p:sp>
      <p:sp>
        <p:nvSpPr>
          <p:cNvPr id="54" name="Editable paragraph">
            <a:extLst xmlns:a="http://schemas.openxmlformats.org/drawingml/2006/main">
              <a:ext uri="{FF2B5EF4-FFF2-40B4-BE49-F238E27FC236}">
                <a16:creationId xmlns:a16="http://schemas.microsoft.com/office/drawing/2014/main" id="{6582194B-8E3A-4E01-A8BB-BDDC51ECA2AA}"/>
              </a:ext>
            </a:extLst>
          </p:cNvPr>
          <p:cNvSpPr>
            <a:spLocks xmlns:a="http://schemas.openxmlformats.org/drawingml/2006/main" noGrp="1"/>
          </p:cNvSpPr>
          <p:nvPr/>
        </p:nvSpPr>
        <p:spPr>
          <a:xfrm xmlns:a="http://schemas.openxmlformats.org/drawingml/2006/main">
            <a:off x="5422900" y="5143500"/>
            <a:ext cx="4965700" cy="1331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90" b="0" i="0">
                <a:solidFill>
                  <a:srgbClr val="252D2C"/>
                </a:solidFill>
                <a:latin typeface="Arial"/>
                <a:ea typeface="Arial"/>
                <a:cs typeface="Arial"/>
              </a:defRPr>
            </a:defPPr>
          </a:lstStyle>
          <a:p xmlns:a="http://schemas.openxmlformats.org/drawingml/2006/main">
            <a:pPr>
              <a:buNone/>
              <a:defRPr sz="690" b="0" i="0">
                <a:solidFill>
                  <a:srgbClr val="252D2C"/>
                </a:solidFill>
                <a:latin typeface="Arial"/>
                <a:ea typeface="Arial"/>
                <a:cs typeface="Arial"/>
              </a:defRPr>
              <a:lnSpc>
                <a:spcPts val="849"/>
              </a:lnSpc>
              <a:spcBef>
                <a:spcPts val="0"/>
              </a:spcBef>
              <a:spcAft>
                <a:spcPts val="0"/>
              </a:spcAft>
            </a:pPr>
            <a:r>
              <a:rPr sz="690" b="0" i="0">
                <a:solidFill>
                  <a:srgbClr val="252D2C"/>
                </a:solidFill>
                <a:latin typeface="Arial"/>
                <a:ea typeface="Arial"/>
                <a:cs typeface="Arial"/>
              </a:rPr>
              <a:t>Figure 2. Research methods and their connection to campus design.</a:t>
            </a:r>
          </a:p>
        </p:txBody>
      </p:sp>
      <p:sp>
        <p:nvSpPr>
          <p:cNvPr id="55" name="">
            <a:extLst xmlns:a="http://schemas.openxmlformats.org/drawingml/2006/main">
              <a:ext uri="{FF2B5EF4-FFF2-40B4-BE49-F238E27FC236}">
                <a16:creationId xmlns:a16="http://schemas.microsoft.com/office/drawing/2014/main" id="{6D005A0B-29F1-459B-B342-70D2DFD0F2D3}"/>
              </a:ext>
            </a:extLst>
          </p:cNvPr>
          <p:cNvSpPr>
            <a:spLocks xmlns:a="http://schemas.openxmlformats.org/drawingml/2006/main" noGrp="1"/>
          </p:cNvSpPr>
          <p:nvPr/>
        </p:nvSpPr>
        <p:spPr>
          <a:xfrm xmlns:a="http://schemas.openxmlformats.org/drawingml/2006/main">
            <a:off x="304800" y="54356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6" name="">
            <a:extLst xmlns:a="http://schemas.openxmlformats.org/drawingml/2006/main">
              <a:ext uri="{FF2B5EF4-FFF2-40B4-BE49-F238E27FC236}">
                <a16:creationId xmlns:a16="http://schemas.microsoft.com/office/drawing/2014/main" id="{5DE8DF7C-75E9-440B-BB7C-EBB23A6A0EEF}"/>
              </a:ext>
            </a:extLst>
          </p:cNvPr>
          <p:cNvSpPr>
            <a:spLocks xmlns:a="http://schemas.openxmlformats.org/drawingml/2006/main" noGrp="1"/>
          </p:cNvSpPr>
          <p:nvPr/>
        </p:nvSpPr>
        <p:spPr>
          <a:xfrm xmlns:a="http://schemas.openxmlformats.org/drawingml/2006/main">
            <a:off x="955549" y="6107226"/>
            <a:ext cx="343816" cy="133268"/>
          </a:xfrm>
          <a:custGeom xmlns:a="http://schemas.openxmlformats.org/drawingml/2006/main">
            <a:pathLst>
              <a:path w="343816" h="133268">
                <a:moveTo>
                  <a:pt x="2435" y="103796"/>
                </a:moveTo>
                <a:lnTo>
                  <a:pt x="0" y="106954"/>
                </a:lnTo>
                <a:lnTo>
                  <a:pt x="1735" y="108350"/>
                </a:lnTo>
                <a:lnTo>
                  <a:pt x="541" y="111437"/>
                </a:lnTo>
                <a:lnTo>
                  <a:pt x="2363" y="112672"/>
                </a:lnTo>
                <a:lnTo>
                  <a:pt x="5809" y="109817"/>
                </a:lnTo>
                <a:lnTo>
                  <a:pt x="7981" y="110497"/>
                </a:lnTo>
                <a:lnTo>
                  <a:pt x="12493" y="115858"/>
                </a:lnTo>
                <a:lnTo>
                  <a:pt x="15031" y="123477"/>
                </a:lnTo>
                <a:lnTo>
                  <a:pt x="23831" y="121480"/>
                </a:lnTo>
                <a:lnTo>
                  <a:pt x="29783" y="125806"/>
                </a:lnTo>
                <a:lnTo>
                  <a:pt x="32274" y="125152"/>
                </a:lnTo>
                <a:lnTo>
                  <a:pt x="33642" y="122922"/>
                </a:lnTo>
                <a:lnTo>
                  <a:pt x="36825" y="123450"/>
                </a:lnTo>
                <a:lnTo>
                  <a:pt x="44050" y="113379"/>
                </a:lnTo>
                <a:lnTo>
                  <a:pt x="45777" y="115957"/>
                </a:lnTo>
                <a:lnTo>
                  <a:pt x="47623" y="113066"/>
                </a:lnTo>
                <a:lnTo>
                  <a:pt x="48578" y="114632"/>
                </a:lnTo>
                <a:lnTo>
                  <a:pt x="52548" y="115070"/>
                </a:lnTo>
                <a:lnTo>
                  <a:pt x="59678" y="113030"/>
                </a:lnTo>
                <a:lnTo>
                  <a:pt x="60601" y="115070"/>
                </a:lnTo>
                <a:lnTo>
                  <a:pt x="64906" y="115393"/>
                </a:lnTo>
                <a:lnTo>
                  <a:pt x="69051" y="113289"/>
                </a:lnTo>
                <a:lnTo>
                  <a:pt x="74900" y="114399"/>
                </a:lnTo>
                <a:lnTo>
                  <a:pt x="75488" y="109665"/>
                </a:lnTo>
                <a:lnTo>
                  <a:pt x="72982" y="108895"/>
                </a:lnTo>
                <a:lnTo>
                  <a:pt x="75441" y="105889"/>
                </a:lnTo>
                <a:lnTo>
                  <a:pt x="75186" y="101721"/>
                </a:lnTo>
                <a:lnTo>
                  <a:pt x="79650" y="98993"/>
                </a:lnTo>
                <a:lnTo>
                  <a:pt x="81854" y="99878"/>
                </a:lnTo>
                <a:lnTo>
                  <a:pt x="83247" y="98733"/>
                </a:lnTo>
                <a:lnTo>
                  <a:pt x="90185" y="105299"/>
                </a:lnTo>
                <a:lnTo>
                  <a:pt x="88976" y="106927"/>
                </a:lnTo>
                <a:lnTo>
                  <a:pt x="89517" y="109253"/>
                </a:lnTo>
                <a:lnTo>
                  <a:pt x="92326" y="109343"/>
                </a:lnTo>
                <a:lnTo>
                  <a:pt x="93543" y="112412"/>
                </a:lnTo>
                <a:lnTo>
                  <a:pt x="96726" y="111580"/>
                </a:lnTo>
                <a:lnTo>
                  <a:pt x="98954" y="115043"/>
                </a:lnTo>
                <a:lnTo>
                  <a:pt x="101898" y="116001"/>
                </a:lnTo>
                <a:lnTo>
                  <a:pt x="101580" y="119600"/>
                </a:lnTo>
                <a:lnTo>
                  <a:pt x="104038" y="124713"/>
                </a:lnTo>
                <a:lnTo>
                  <a:pt x="107269" y="128018"/>
                </a:lnTo>
                <a:lnTo>
                  <a:pt x="109537" y="127991"/>
                </a:lnTo>
                <a:lnTo>
                  <a:pt x="110643" y="124704"/>
                </a:lnTo>
                <a:lnTo>
                  <a:pt x="108447" y="120943"/>
                </a:lnTo>
                <a:lnTo>
                  <a:pt x="110285" y="117962"/>
                </a:lnTo>
                <a:lnTo>
                  <a:pt x="115019" y="120325"/>
                </a:lnTo>
                <a:lnTo>
                  <a:pt x="114478" y="121436"/>
                </a:lnTo>
                <a:lnTo>
                  <a:pt x="118703" y="122062"/>
                </a:lnTo>
                <a:lnTo>
                  <a:pt x="121401" y="121982"/>
                </a:lnTo>
                <a:lnTo>
                  <a:pt x="121520" y="119985"/>
                </a:lnTo>
                <a:lnTo>
                  <a:pt x="123159" y="119528"/>
                </a:lnTo>
                <a:lnTo>
                  <a:pt x="126151" y="108000"/>
                </a:lnTo>
                <a:lnTo>
                  <a:pt x="128451" y="104860"/>
                </a:lnTo>
                <a:lnTo>
                  <a:pt x="127424" y="103295"/>
                </a:lnTo>
                <a:lnTo>
                  <a:pt x="128093" y="102329"/>
                </a:lnTo>
                <a:lnTo>
                  <a:pt x="130336" y="104494"/>
                </a:lnTo>
                <a:lnTo>
                  <a:pt x="132700" y="102338"/>
                </a:lnTo>
                <a:lnTo>
                  <a:pt x="128896" y="99735"/>
                </a:lnTo>
                <a:lnTo>
                  <a:pt x="128920" y="96328"/>
                </a:lnTo>
                <a:lnTo>
                  <a:pt x="134140" y="97043"/>
                </a:lnTo>
                <a:lnTo>
                  <a:pt x="136058" y="103894"/>
                </a:lnTo>
                <a:lnTo>
                  <a:pt x="138779" y="104896"/>
                </a:lnTo>
                <a:lnTo>
                  <a:pt x="140124" y="107696"/>
                </a:lnTo>
                <a:lnTo>
                  <a:pt x="139973" y="110202"/>
                </a:lnTo>
                <a:lnTo>
                  <a:pt x="142057" y="109969"/>
                </a:lnTo>
                <a:lnTo>
                  <a:pt x="141604" y="108063"/>
                </a:lnTo>
                <a:lnTo>
                  <a:pt x="142718" y="107687"/>
                </a:lnTo>
                <a:lnTo>
                  <a:pt x="143402" y="109540"/>
                </a:lnTo>
                <a:lnTo>
                  <a:pt x="145033" y="109665"/>
                </a:lnTo>
                <a:lnTo>
                  <a:pt x="143895" y="112591"/>
                </a:lnTo>
                <a:lnTo>
                  <a:pt x="146020" y="111965"/>
                </a:lnTo>
                <a:lnTo>
                  <a:pt x="146935" y="113119"/>
                </a:lnTo>
                <a:lnTo>
                  <a:pt x="152003" y="110864"/>
                </a:lnTo>
                <a:lnTo>
                  <a:pt x="150062" y="109513"/>
                </a:lnTo>
                <a:lnTo>
                  <a:pt x="150850" y="105880"/>
                </a:lnTo>
                <a:lnTo>
                  <a:pt x="152632" y="105961"/>
                </a:lnTo>
                <a:lnTo>
                  <a:pt x="160987" y="114086"/>
                </a:lnTo>
                <a:lnTo>
                  <a:pt x="164003" y="112153"/>
                </a:lnTo>
                <a:lnTo>
                  <a:pt x="163852" y="110792"/>
                </a:lnTo>
                <a:lnTo>
                  <a:pt x="165753" y="112081"/>
                </a:lnTo>
                <a:lnTo>
                  <a:pt x="164902" y="109701"/>
                </a:lnTo>
                <a:lnTo>
                  <a:pt x="166589" y="107365"/>
                </a:lnTo>
                <a:lnTo>
                  <a:pt x="170957" y="106596"/>
                </a:lnTo>
                <a:lnTo>
                  <a:pt x="173758" y="110041"/>
                </a:lnTo>
                <a:lnTo>
                  <a:pt x="171252" y="112967"/>
                </a:lnTo>
                <a:lnTo>
                  <a:pt x="173631" y="114086"/>
                </a:lnTo>
                <a:lnTo>
                  <a:pt x="173137" y="116556"/>
                </a:lnTo>
                <a:lnTo>
                  <a:pt x="178286" y="122421"/>
                </a:lnTo>
                <a:lnTo>
                  <a:pt x="180402" y="122304"/>
                </a:lnTo>
                <a:lnTo>
                  <a:pt x="179591" y="117845"/>
                </a:lnTo>
                <a:lnTo>
                  <a:pt x="183617" y="113889"/>
                </a:lnTo>
                <a:lnTo>
                  <a:pt x="182145" y="109647"/>
                </a:lnTo>
                <a:lnTo>
                  <a:pt x="185352" y="108394"/>
                </a:lnTo>
                <a:lnTo>
                  <a:pt x="184397" y="107276"/>
                </a:lnTo>
                <a:lnTo>
                  <a:pt x="186099" y="105916"/>
                </a:lnTo>
                <a:lnTo>
                  <a:pt x="190953" y="106363"/>
                </a:lnTo>
                <a:lnTo>
                  <a:pt x="191741" y="104440"/>
                </a:lnTo>
                <a:lnTo>
                  <a:pt x="195998" y="106757"/>
                </a:lnTo>
                <a:lnTo>
                  <a:pt x="196929" y="105155"/>
                </a:lnTo>
                <a:lnTo>
                  <a:pt x="198322" y="106211"/>
                </a:lnTo>
                <a:lnTo>
                  <a:pt x="198091" y="108958"/>
                </a:lnTo>
                <a:lnTo>
                  <a:pt x="198934" y="106462"/>
                </a:lnTo>
                <a:lnTo>
                  <a:pt x="200916" y="113191"/>
                </a:lnTo>
                <a:lnTo>
                  <a:pt x="200024" y="116619"/>
                </a:lnTo>
                <a:lnTo>
                  <a:pt x="198210" y="117917"/>
                </a:lnTo>
                <a:lnTo>
                  <a:pt x="202738" y="123137"/>
                </a:lnTo>
                <a:lnTo>
                  <a:pt x="200510" y="123191"/>
                </a:lnTo>
                <a:lnTo>
                  <a:pt x="201488" y="125671"/>
                </a:lnTo>
                <a:lnTo>
                  <a:pt x="200526" y="130876"/>
                </a:lnTo>
                <a:lnTo>
                  <a:pt x="204178" y="128493"/>
                </a:lnTo>
                <a:lnTo>
                  <a:pt x="204273" y="129864"/>
                </a:lnTo>
                <a:lnTo>
                  <a:pt x="212803" y="133268"/>
                </a:lnTo>
                <a:lnTo>
                  <a:pt x="220633" y="131673"/>
                </a:lnTo>
                <a:lnTo>
                  <a:pt x="220967" y="126567"/>
                </a:lnTo>
                <a:lnTo>
                  <a:pt x="222224" y="125143"/>
                </a:lnTo>
                <a:lnTo>
                  <a:pt x="227365" y="124731"/>
                </a:lnTo>
                <a:lnTo>
                  <a:pt x="227961" y="121776"/>
                </a:lnTo>
                <a:lnTo>
                  <a:pt x="231829" y="118302"/>
                </a:lnTo>
                <a:lnTo>
                  <a:pt x="236388" y="117828"/>
                </a:lnTo>
                <a:lnTo>
                  <a:pt x="237025" y="114945"/>
                </a:lnTo>
                <a:lnTo>
                  <a:pt x="243104" y="114148"/>
                </a:lnTo>
                <a:lnTo>
                  <a:pt x="244265" y="114972"/>
                </a:lnTo>
                <a:lnTo>
                  <a:pt x="244632" y="118248"/>
                </a:lnTo>
                <a:lnTo>
                  <a:pt x="243350" y="120209"/>
                </a:lnTo>
                <a:lnTo>
                  <a:pt x="244425" y="124803"/>
                </a:lnTo>
                <a:lnTo>
                  <a:pt x="246549" y="126191"/>
                </a:lnTo>
                <a:lnTo>
                  <a:pt x="248117" y="122537"/>
                </a:lnTo>
                <a:lnTo>
                  <a:pt x="254331" y="128081"/>
                </a:lnTo>
                <a:lnTo>
                  <a:pt x="256623" y="127230"/>
                </a:lnTo>
                <a:lnTo>
                  <a:pt x="261898" y="129693"/>
                </a:lnTo>
                <a:lnTo>
                  <a:pt x="266768" y="127266"/>
                </a:lnTo>
                <a:lnTo>
                  <a:pt x="270118" y="119081"/>
                </a:lnTo>
                <a:lnTo>
                  <a:pt x="272680" y="116127"/>
                </a:lnTo>
                <a:lnTo>
                  <a:pt x="275831" y="115742"/>
                </a:lnTo>
                <a:lnTo>
                  <a:pt x="277319" y="112636"/>
                </a:lnTo>
                <a:lnTo>
                  <a:pt x="280080" y="111284"/>
                </a:lnTo>
                <a:lnTo>
                  <a:pt x="280788" y="112761"/>
                </a:lnTo>
                <a:lnTo>
                  <a:pt x="283470" y="113021"/>
                </a:lnTo>
                <a:lnTo>
                  <a:pt x="285594" y="108099"/>
                </a:lnTo>
                <a:lnTo>
                  <a:pt x="287003" y="107687"/>
                </a:lnTo>
                <a:lnTo>
                  <a:pt x="288340" y="109701"/>
                </a:lnTo>
                <a:lnTo>
                  <a:pt x="293512" y="109799"/>
                </a:lnTo>
                <a:lnTo>
                  <a:pt x="296607" y="105281"/>
                </a:lnTo>
                <a:lnTo>
                  <a:pt x="300975" y="105621"/>
                </a:lnTo>
                <a:lnTo>
                  <a:pt x="299726" y="103724"/>
                </a:lnTo>
                <a:lnTo>
                  <a:pt x="301445" y="101640"/>
                </a:lnTo>
                <a:lnTo>
                  <a:pt x="309887" y="103170"/>
                </a:lnTo>
                <a:lnTo>
                  <a:pt x="312831" y="98966"/>
                </a:lnTo>
                <a:lnTo>
                  <a:pt x="311264" y="95577"/>
                </a:lnTo>
                <a:lnTo>
                  <a:pt x="308757" y="94388"/>
                </a:lnTo>
                <a:lnTo>
                  <a:pt x="310134" y="94495"/>
                </a:lnTo>
                <a:lnTo>
                  <a:pt x="309911" y="93244"/>
                </a:lnTo>
                <a:lnTo>
                  <a:pt x="304914" y="81938"/>
                </a:lnTo>
                <a:lnTo>
                  <a:pt x="307779" y="79696"/>
                </a:lnTo>
                <a:lnTo>
                  <a:pt x="315966" y="80259"/>
                </a:lnTo>
                <a:lnTo>
                  <a:pt x="321298" y="78651"/>
                </a:lnTo>
                <a:lnTo>
                  <a:pt x="321489" y="75355"/>
                </a:lnTo>
                <a:lnTo>
                  <a:pt x="327075" y="67792"/>
                </a:lnTo>
                <a:lnTo>
                  <a:pt x="332239" y="67462"/>
                </a:lnTo>
                <a:lnTo>
                  <a:pt x="332843" y="64543"/>
                </a:lnTo>
                <a:lnTo>
                  <a:pt x="334944" y="63749"/>
                </a:lnTo>
                <a:lnTo>
                  <a:pt x="334801" y="60759"/>
                </a:lnTo>
                <a:lnTo>
                  <a:pt x="342440" y="56254"/>
                </a:lnTo>
                <a:lnTo>
                  <a:pt x="343148" y="54880"/>
                </a:lnTo>
                <a:lnTo>
                  <a:pt x="341922" y="52998"/>
                </a:lnTo>
                <a:lnTo>
                  <a:pt x="343816" y="50117"/>
                </a:lnTo>
                <a:lnTo>
                  <a:pt x="342432" y="48084"/>
                </a:lnTo>
                <a:lnTo>
                  <a:pt x="343522" y="47290"/>
                </a:lnTo>
                <a:lnTo>
                  <a:pt x="343219" y="44152"/>
                </a:lnTo>
                <a:lnTo>
                  <a:pt x="339169" y="43608"/>
                </a:lnTo>
                <a:lnTo>
                  <a:pt x="334109" y="37806"/>
                </a:lnTo>
                <a:lnTo>
                  <a:pt x="331053" y="37485"/>
                </a:lnTo>
                <a:lnTo>
                  <a:pt x="337880" y="31302"/>
                </a:lnTo>
                <a:lnTo>
                  <a:pt x="337809" y="29324"/>
                </a:lnTo>
                <a:lnTo>
                  <a:pt x="334435" y="26715"/>
                </a:lnTo>
                <a:lnTo>
                  <a:pt x="328475" y="25236"/>
                </a:lnTo>
                <a:lnTo>
                  <a:pt x="326072" y="20954"/>
                </a:lnTo>
                <a:lnTo>
                  <a:pt x="320621" y="19876"/>
                </a:lnTo>
                <a:lnTo>
                  <a:pt x="318600" y="17322"/>
                </a:lnTo>
                <a:lnTo>
                  <a:pt x="309680" y="19467"/>
                </a:lnTo>
                <a:lnTo>
                  <a:pt x="305368" y="15844"/>
                </a:lnTo>
                <a:lnTo>
                  <a:pt x="302487" y="15871"/>
                </a:lnTo>
                <a:lnTo>
                  <a:pt x="297435" y="22155"/>
                </a:lnTo>
                <a:lnTo>
                  <a:pt x="291904" y="21790"/>
                </a:lnTo>
                <a:lnTo>
                  <a:pt x="289915" y="23918"/>
                </a:lnTo>
                <a:lnTo>
                  <a:pt x="285395" y="21194"/>
                </a:lnTo>
                <a:lnTo>
                  <a:pt x="283351" y="22565"/>
                </a:lnTo>
                <a:lnTo>
                  <a:pt x="281688" y="28273"/>
                </a:lnTo>
                <a:lnTo>
                  <a:pt x="277820" y="33253"/>
                </a:lnTo>
                <a:lnTo>
                  <a:pt x="266665" y="36095"/>
                </a:lnTo>
                <a:lnTo>
                  <a:pt x="264930" y="38920"/>
                </a:lnTo>
                <a:lnTo>
                  <a:pt x="263020" y="39223"/>
                </a:lnTo>
                <a:lnTo>
                  <a:pt x="256137" y="35044"/>
                </a:lnTo>
                <a:lnTo>
                  <a:pt x="256734" y="33939"/>
                </a:lnTo>
                <a:lnTo>
                  <a:pt x="255031" y="31391"/>
                </a:lnTo>
                <a:lnTo>
                  <a:pt x="244297" y="20517"/>
                </a:lnTo>
                <a:lnTo>
                  <a:pt x="240128" y="22369"/>
                </a:lnTo>
                <a:lnTo>
                  <a:pt x="234327" y="20428"/>
                </a:lnTo>
                <a:lnTo>
                  <a:pt x="233388" y="16788"/>
                </a:lnTo>
                <a:lnTo>
                  <a:pt x="227834" y="10665"/>
                </a:lnTo>
                <a:lnTo>
                  <a:pt x="223132" y="11688"/>
                </a:lnTo>
                <a:lnTo>
                  <a:pt x="222248" y="13583"/>
                </a:lnTo>
                <a:lnTo>
                  <a:pt x="220832" y="11590"/>
                </a:lnTo>
                <a:lnTo>
                  <a:pt x="222272" y="4189"/>
                </a:lnTo>
                <a:lnTo>
                  <a:pt x="215190" y="2997"/>
                </a:lnTo>
                <a:lnTo>
                  <a:pt x="211323" y="7382"/>
                </a:lnTo>
                <a:lnTo>
                  <a:pt x="207122" y="7515"/>
                </a:lnTo>
                <a:lnTo>
                  <a:pt x="205618" y="4669"/>
                </a:lnTo>
                <a:lnTo>
                  <a:pt x="201783" y="3753"/>
                </a:lnTo>
                <a:lnTo>
                  <a:pt x="197152" y="5229"/>
                </a:lnTo>
                <a:lnTo>
                  <a:pt x="194510" y="0"/>
                </a:lnTo>
                <a:lnTo>
                  <a:pt x="194669" y="2490"/>
                </a:lnTo>
                <a:lnTo>
                  <a:pt x="192012" y="3860"/>
                </a:lnTo>
                <a:lnTo>
                  <a:pt x="191868" y="6688"/>
                </a:lnTo>
                <a:lnTo>
                  <a:pt x="187182" y="10612"/>
                </a:lnTo>
                <a:lnTo>
                  <a:pt x="187595" y="15346"/>
                </a:lnTo>
                <a:lnTo>
                  <a:pt x="189728" y="17375"/>
                </a:lnTo>
                <a:lnTo>
                  <a:pt x="187572" y="21693"/>
                </a:lnTo>
                <a:lnTo>
                  <a:pt x="187500" y="25922"/>
                </a:lnTo>
                <a:lnTo>
                  <a:pt x="182972" y="31248"/>
                </a:lnTo>
                <a:lnTo>
                  <a:pt x="179241" y="30741"/>
                </a:lnTo>
                <a:lnTo>
                  <a:pt x="179503" y="26723"/>
                </a:lnTo>
                <a:lnTo>
                  <a:pt x="172891" y="25129"/>
                </a:lnTo>
                <a:lnTo>
                  <a:pt x="172024" y="22895"/>
                </a:lnTo>
                <a:lnTo>
                  <a:pt x="166549" y="28950"/>
                </a:lnTo>
                <a:lnTo>
                  <a:pt x="159340" y="32879"/>
                </a:lnTo>
                <a:lnTo>
                  <a:pt x="156746" y="32166"/>
                </a:lnTo>
                <a:lnTo>
                  <a:pt x="154820" y="30233"/>
                </a:lnTo>
                <a:lnTo>
                  <a:pt x="157287" y="26715"/>
                </a:lnTo>
                <a:lnTo>
                  <a:pt x="157422" y="22636"/>
                </a:lnTo>
                <a:lnTo>
                  <a:pt x="151773" y="25085"/>
                </a:lnTo>
                <a:lnTo>
                  <a:pt x="144715" y="22423"/>
                </a:lnTo>
                <a:lnTo>
                  <a:pt x="141834" y="23340"/>
                </a:lnTo>
                <a:lnTo>
                  <a:pt x="141962" y="26376"/>
                </a:lnTo>
                <a:lnTo>
                  <a:pt x="139089" y="24426"/>
                </a:lnTo>
                <a:lnTo>
                  <a:pt x="134713" y="24381"/>
                </a:lnTo>
                <a:lnTo>
                  <a:pt x="134697" y="21826"/>
                </a:lnTo>
                <a:lnTo>
                  <a:pt x="132684" y="23313"/>
                </a:lnTo>
                <a:lnTo>
                  <a:pt x="130281" y="22707"/>
                </a:lnTo>
                <a:lnTo>
                  <a:pt x="129811" y="20740"/>
                </a:lnTo>
                <a:lnTo>
                  <a:pt x="132716" y="16805"/>
                </a:lnTo>
                <a:lnTo>
                  <a:pt x="130917" y="16894"/>
                </a:lnTo>
                <a:lnTo>
                  <a:pt x="127464" y="18879"/>
                </a:lnTo>
                <a:lnTo>
                  <a:pt x="123708" y="24764"/>
                </a:lnTo>
                <a:lnTo>
                  <a:pt x="119006" y="24738"/>
                </a:lnTo>
                <a:lnTo>
                  <a:pt x="114765" y="22316"/>
                </a:lnTo>
                <a:lnTo>
                  <a:pt x="112903" y="23607"/>
                </a:lnTo>
                <a:lnTo>
                  <a:pt x="109871" y="27187"/>
                </a:lnTo>
                <a:lnTo>
                  <a:pt x="110261" y="29013"/>
                </a:lnTo>
                <a:lnTo>
                  <a:pt x="106314" y="31676"/>
                </a:lnTo>
                <a:lnTo>
                  <a:pt x="104110" y="38840"/>
                </a:lnTo>
                <a:lnTo>
                  <a:pt x="100052" y="42458"/>
                </a:lnTo>
                <a:lnTo>
                  <a:pt x="98739" y="50296"/>
                </a:lnTo>
                <a:lnTo>
                  <a:pt x="96885" y="51910"/>
                </a:lnTo>
                <a:lnTo>
                  <a:pt x="98182" y="55147"/>
                </a:lnTo>
                <a:lnTo>
                  <a:pt x="95644" y="56138"/>
                </a:lnTo>
                <a:lnTo>
                  <a:pt x="92827" y="53997"/>
                </a:lnTo>
                <a:lnTo>
                  <a:pt x="85896" y="57726"/>
                </a:lnTo>
                <a:lnTo>
                  <a:pt x="83867" y="56334"/>
                </a:lnTo>
                <a:lnTo>
                  <a:pt x="78830" y="57494"/>
                </a:lnTo>
                <a:lnTo>
                  <a:pt x="78051" y="56307"/>
                </a:lnTo>
                <a:lnTo>
                  <a:pt x="74486" y="60162"/>
                </a:lnTo>
                <a:lnTo>
                  <a:pt x="68940" y="61795"/>
                </a:lnTo>
                <a:lnTo>
                  <a:pt x="65295" y="60956"/>
                </a:lnTo>
                <a:lnTo>
                  <a:pt x="66990" y="62946"/>
                </a:lnTo>
                <a:lnTo>
                  <a:pt x="61134" y="62026"/>
                </a:lnTo>
                <a:lnTo>
                  <a:pt x="61978" y="65257"/>
                </a:lnTo>
                <a:lnTo>
                  <a:pt x="59646" y="65570"/>
                </a:lnTo>
                <a:lnTo>
                  <a:pt x="57856" y="67908"/>
                </a:lnTo>
                <a:lnTo>
                  <a:pt x="55898" y="66998"/>
                </a:lnTo>
                <a:lnTo>
                  <a:pt x="49684" y="73908"/>
                </a:lnTo>
                <a:lnTo>
                  <a:pt x="47551" y="70060"/>
                </a:lnTo>
                <a:lnTo>
                  <a:pt x="40963" y="69765"/>
                </a:lnTo>
                <a:lnTo>
                  <a:pt x="35043" y="64704"/>
                </a:lnTo>
                <a:lnTo>
                  <a:pt x="31987" y="63874"/>
                </a:lnTo>
                <a:lnTo>
                  <a:pt x="16479" y="68408"/>
                </a:lnTo>
                <a:lnTo>
                  <a:pt x="15580" y="71605"/>
                </a:lnTo>
                <a:lnTo>
                  <a:pt x="9564" y="74167"/>
                </a:lnTo>
                <a:lnTo>
                  <a:pt x="7034" y="77793"/>
                </a:lnTo>
                <a:lnTo>
                  <a:pt x="5363" y="80839"/>
                </a:lnTo>
                <a:lnTo>
                  <a:pt x="5164" y="86540"/>
                </a:lnTo>
                <a:lnTo>
                  <a:pt x="406" y="92028"/>
                </a:lnTo>
                <a:lnTo>
                  <a:pt x="4345" y="97652"/>
                </a:lnTo>
                <a:lnTo>
                  <a:pt x="2133" y="99816"/>
                </a:lnTo>
                <a:lnTo>
                  <a:pt x="2435" y="103796"/>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57" name="">
            <a:extLst xmlns:a="http://schemas.openxmlformats.org/drawingml/2006/main">
              <a:ext uri="{FF2B5EF4-FFF2-40B4-BE49-F238E27FC236}">
                <a16:creationId xmlns:a16="http://schemas.microsoft.com/office/drawing/2014/main" id="{97E1F2A2-FE45-428A-85CC-C7A52AD91751}"/>
              </a:ext>
            </a:extLst>
          </p:cNvPr>
          <p:cNvSpPr>
            <a:spLocks xmlns:a="http://schemas.openxmlformats.org/drawingml/2006/main" noGrp="1"/>
          </p:cNvSpPr>
          <p:nvPr/>
        </p:nvSpPr>
        <p:spPr>
          <a:xfrm xmlns:a="http://schemas.openxmlformats.org/drawingml/2006/main">
            <a:off x="1111627" y="6211665"/>
            <a:ext cx="165920" cy="324816"/>
          </a:xfrm>
          <a:custGeom xmlns:a="http://schemas.openxmlformats.org/drawingml/2006/main">
            <a:pathLst>
              <a:path w="165920" h="324816">
                <a:moveTo>
                  <a:pt x="110690" y="22826"/>
                </a:moveTo>
                <a:lnTo>
                  <a:pt x="105821" y="25253"/>
                </a:lnTo>
                <a:lnTo>
                  <a:pt x="100545" y="22790"/>
                </a:lnTo>
                <a:lnTo>
                  <a:pt x="98254" y="23641"/>
                </a:lnTo>
                <a:lnTo>
                  <a:pt x="92039" y="18097"/>
                </a:lnTo>
                <a:lnTo>
                  <a:pt x="90472" y="21751"/>
                </a:lnTo>
                <a:lnTo>
                  <a:pt x="87559" y="18258"/>
                </a:lnTo>
                <a:lnTo>
                  <a:pt x="88554" y="13808"/>
                </a:lnTo>
                <a:lnTo>
                  <a:pt x="87026" y="9709"/>
                </a:lnTo>
                <a:lnTo>
                  <a:pt x="80947" y="10505"/>
                </a:lnTo>
                <a:lnTo>
                  <a:pt x="80311" y="13388"/>
                </a:lnTo>
                <a:lnTo>
                  <a:pt x="75751" y="13862"/>
                </a:lnTo>
                <a:lnTo>
                  <a:pt x="71884" y="17336"/>
                </a:lnTo>
                <a:lnTo>
                  <a:pt x="71287" y="20291"/>
                </a:lnTo>
                <a:lnTo>
                  <a:pt x="66147" y="20703"/>
                </a:lnTo>
                <a:lnTo>
                  <a:pt x="64890" y="22127"/>
                </a:lnTo>
                <a:lnTo>
                  <a:pt x="64556" y="27233"/>
                </a:lnTo>
                <a:lnTo>
                  <a:pt x="56726" y="28828"/>
                </a:lnTo>
                <a:lnTo>
                  <a:pt x="48196" y="25424"/>
                </a:lnTo>
                <a:lnTo>
                  <a:pt x="48100" y="24053"/>
                </a:lnTo>
                <a:lnTo>
                  <a:pt x="44448" y="26436"/>
                </a:lnTo>
                <a:lnTo>
                  <a:pt x="45411" y="21232"/>
                </a:lnTo>
                <a:lnTo>
                  <a:pt x="44432" y="18751"/>
                </a:lnTo>
                <a:lnTo>
                  <a:pt x="46660" y="18697"/>
                </a:lnTo>
                <a:lnTo>
                  <a:pt x="42133" y="13477"/>
                </a:lnTo>
                <a:lnTo>
                  <a:pt x="43947" y="12179"/>
                </a:lnTo>
                <a:lnTo>
                  <a:pt x="44838" y="8751"/>
                </a:lnTo>
                <a:lnTo>
                  <a:pt x="42857" y="2022"/>
                </a:lnTo>
                <a:lnTo>
                  <a:pt x="42013" y="4518"/>
                </a:lnTo>
                <a:lnTo>
                  <a:pt x="42244" y="1771"/>
                </a:lnTo>
                <a:lnTo>
                  <a:pt x="40852" y="716"/>
                </a:lnTo>
                <a:lnTo>
                  <a:pt x="39921" y="2317"/>
                </a:lnTo>
                <a:lnTo>
                  <a:pt x="35664" y="0"/>
                </a:lnTo>
                <a:lnTo>
                  <a:pt x="34876" y="1923"/>
                </a:lnTo>
                <a:lnTo>
                  <a:pt x="30022" y="1476"/>
                </a:lnTo>
                <a:lnTo>
                  <a:pt x="28319" y="2836"/>
                </a:lnTo>
                <a:lnTo>
                  <a:pt x="29274" y="3954"/>
                </a:lnTo>
                <a:lnTo>
                  <a:pt x="26067" y="5207"/>
                </a:lnTo>
                <a:lnTo>
                  <a:pt x="27539" y="9449"/>
                </a:lnTo>
                <a:lnTo>
                  <a:pt x="24158" y="11570"/>
                </a:lnTo>
                <a:lnTo>
                  <a:pt x="24325" y="17864"/>
                </a:lnTo>
                <a:lnTo>
                  <a:pt x="22208" y="17981"/>
                </a:lnTo>
                <a:lnTo>
                  <a:pt x="17060" y="12116"/>
                </a:lnTo>
                <a:lnTo>
                  <a:pt x="14514" y="14005"/>
                </a:lnTo>
                <a:lnTo>
                  <a:pt x="10066" y="26203"/>
                </a:lnTo>
                <a:lnTo>
                  <a:pt x="11196" y="29097"/>
                </a:lnTo>
                <a:lnTo>
                  <a:pt x="4790" y="34994"/>
                </a:lnTo>
                <a:lnTo>
                  <a:pt x="4997" y="36903"/>
                </a:lnTo>
                <a:lnTo>
                  <a:pt x="7798" y="38042"/>
                </a:lnTo>
                <a:lnTo>
                  <a:pt x="9350" y="41511"/>
                </a:lnTo>
                <a:lnTo>
                  <a:pt x="9111" y="46139"/>
                </a:lnTo>
                <a:lnTo>
                  <a:pt x="13026" y="48641"/>
                </a:lnTo>
                <a:lnTo>
                  <a:pt x="11784" y="51279"/>
                </a:lnTo>
                <a:lnTo>
                  <a:pt x="8259" y="51279"/>
                </a:lnTo>
                <a:lnTo>
                  <a:pt x="3732" y="56913"/>
                </a:lnTo>
                <a:lnTo>
                  <a:pt x="5029" y="60881"/>
                </a:lnTo>
                <a:lnTo>
                  <a:pt x="8419" y="59794"/>
                </a:lnTo>
                <a:lnTo>
                  <a:pt x="8021" y="62487"/>
                </a:lnTo>
                <a:lnTo>
                  <a:pt x="10098" y="65926"/>
                </a:lnTo>
                <a:lnTo>
                  <a:pt x="7209" y="67380"/>
                </a:lnTo>
                <a:lnTo>
                  <a:pt x="5578" y="65917"/>
                </a:lnTo>
                <a:lnTo>
                  <a:pt x="4034" y="66824"/>
                </a:lnTo>
                <a:lnTo>
                  <a:pt x="5761" y="69671"/>
                </a:lnTo>
                <a:lnTo>
                  <a:pt x="398" y="74575"/>
                </a:lnTo>
                <a:lnTo>
                  <a:pt x="0" y="83937"/>
                </a:lnTo>
                <a:lnTo>
                  <a:pt x="2642" y="86059"/>
                </a:lnTo>
                <a:lnTo>
                  <a:pt x="287" y="89906"/>
                </a:lnTo>
                <a:lnTo>
                  <a:pt x="2363" y="90796"/>
                </a:lnTo>
                <a:lnTo>
                  <a:pt x="4337" y="96390"/>
                </a:lnTo>
                <a:lnTo>
                  <a:pt x="3613" y="101067"/>
                </a:lnTo>
                <a:lnTo>
                  <a:pt x="4742" y="103415"/>
                </a:lnTo>
                <a:lnTo>
                  <a:pt x="7965" y="104549"/>
                </a:lnTo>
                <a:lnTo>
                  <a:pt x="8124" y="107591"/>
                </a:lnTo>
                <a:lnTo>
                  <a:pt x="10591" y="110264"/>
                </a:lnTo>
                <a:lnTo>
                  <a:pt x="9183" y="113811"/>
                </a:lnTo>
                <a:lnTo>
                  <a:pt x="11554" y="115179"/>
                </a:lnTo>
                <a:lnTo>
                  <a:pt x="11872" y="120654"/>
                </a:lnTo>
                <a:lnTo>
                  <a:pt x="16941" y="124103"/>
                </a:lnTo>
                <a:lnTo>
                  <a:pt x="17227" y="129176"/>
                </a:lnTo>
                <a:lnTo>
                  <a:pt x="20131" y="130851"/>
                </a:lnTo>
                <a:lnTo>
                  <a:pt x="21245" y="134069"/>
                </a:lnTo>
                <a:lnTo>
                  <a:pt x="22996" y="133780"/>
                </a:lnTo>
                <a:lnTo>
                  <a:pt x="26020" y="126518"/>
                </a:lnTo>
                <a:lnTo>
                  <a:pt x="29720" y="129500"/>
                </a:lnTo>
                <a:lnTo>
                  <a:pt x="31064" y="128283"/>
                </a:lnTo>
                <a:lnTo>
                  <a:pt x="40581" y="128527"/>
                </a:lnTo>
                <a:lnTo>
                  <a:pt x="44003" y="134051"/>
                </a:lnTo>
                <a:lnTo>
                  <a:pt x="45753" y="138485"/>
                </a:lnTo>
                <a:lnTo>
                  <a:pt x="45220" y="140451"/>
                </a:lnTo>
                <a:lnTo>
                  <a:pt x="42276" y="139378"/>
                </a:lnTo>
                <a:lnTo>
                  <a:pt x="40056" y="144815"/>
                </a:lnTo>
                <a:lnTo>
                  <a:pt x="38783" y="143958"/>
                </a:lnTo>
                <a:lnTo>
                  <a:pt x="36372" y="146168"/>
                </a:lnTo>
                <a:lnTo>
                  <a:pt x="32966" y="144517"/>
                </a:lnTo>
                <a:lnTo>
                  <a:pt x="28884" y="147079"/>
                </a:lnTo>
                <a:lnTo>
                  <a:pt x="28383" y="151156"/>
                </a:lnTo>
                <a:lnTo>
                  <a:pt x="32648" y="155288"/>
                </a:lnTo>
                <a:lnTo>
                  <a:pt x="33252" y="161082"/>
                </a:lnTo>
                <a:lnTo>
                  <a:pt x="35847" y="161063"/>
                </a:lnTo>
                <a:lnTo>
                  <a:pt x="36451" y="163744"/>
                </a:lnTo>
                <a:lnTo>
                  <a:pt x="38576" y="164241"/>
                </a:lnTo>
                <a:lnTo>
                  <a:pt x="36292" y="167265"/>
                </a:lnTo>
                <a:lnTo>
                  <a:pt x="37446" y="168620"/>
                </a:lnTo>
                <a:lnTo>
                  <a:pt x="37263" y="174905"/>
                </a:lnTo>
                <a:lnTo>
                  <a:pt x="40088" y="177850"/>
                </a:lnTo>
                <a:lnTo>
                  <a:pt x="45315" y="177579"/>
                </a:lnTo>
                <a:lnTo>
                  <a:pt x="44933" y="179468"/>
                </a:lnTo>
                <a:lnTo>
                  <a:pt x="41846" y="181229"/>
                </a:lnTo>
                <a:lnTo>
                  <a:pt x="41504" y="184085"/>
                </a:lnTo>
                <a:lnTo>
                  <a:pt x="39316" y="185034"/>
                </a:lnTo>
                <a:lnTo>
                  <a:pt x="39228" y="187773"/>
                </a:lnTo>
                <a:lnTo>
                  <a:pt x="37486" y="187989"/>
                </a:lnTo>
                <a:lnTo>
                  <a:pt x="38321" y="190521"/>
                </a:lnTo>
                <a:lnTo>
                  <a:pt x="42236" y="195955"/>
                </a:lnTo>
                <a:lnTo>
                  <a:pt x="45268" y="196380"/>
                </a:lnTo>
                <a:lnTo>
                  <a:pt x="44273" y="198369"/>
                </a:lnTo>
                <a:lnTo>
                  <a:pt x="45952" y="200558"/>
                </a:lnTo>
                <a:lnTo>
                  <a:pt x="45674" y="205181"/>
                </a:lnTo>
                <a:lnTo>
                  <a:pt x="47981" y="205733"/>
                </a:lnTo>
                <a:lnTo>
                  <a:pt x="50281" y="201137"/>
                </a:lnTo>
                <a:lnTo>
                  <a:pt x="53630" y="198831"/>
                </a:lnTo>
                <a:lnTo>
                  <a:pt x="60370" y="200983"/>
                </a:lnTo>
                <a:lnTo>
                  <a:pt x="61802" y="199726"/>
                </a:lnTo>
                <a:lnTo>
                  <a:pt x="66720" y="205461"/>
                </a:lnTo>
                <a:lnTo>
                  <a:pt x="62741" y="215751"/>
                </a:lnTo>
                <a:lnTo>
                  <a:pt x="59933" y="217888"/>
                </a:lnTo>
                <a:lnTo>
                  <a:pt x="64882" y="225784"/>
                </a:lnTo>
                <a:lnTo>
                  <a:pt x="65256" y="228456"/>
                </a:lnTo>
                <a:lnTo>
                  <a:pt x="62503" y="233766"/>
                </a:lnTo>
                <a:lnTo>
                  <a:pt x="64755" y="235333"/>
                </a:lnTo>
                <a:lnTo>
                  <a:pt x="66919" y="240028"/>
                </a:lnTo>
                <a:lnTo>
                  <a:pt x="73842" y="239385"/>
                </a:lnTo>
                <a:lnTo>
                  <a:pt x="76563" y="235859"/>
                </a:lnTo>
                <a:lnTo>
                  <a:pt x="80589" y="234010"/>
                </a:lnTo>
                <a:lnTo>
                  <a:pt x="86223" y="237336"/>
                </a:lnTo>
                <a:lnTo>
                  <a:pt x="85713" y="241542"/>
                </a:lnTo>
                <a:lnTo>
                  <a:pt x="87790" y="246519"/>
                </a:lnTo>
                <a:lnTo>
                  <a:pt x="89835" y="246229"/>
                </a:lnTo>
                <a:lnTo>
                  <a:pt x="90146" y="247780"/>
                </a:lnTo>
                <a:lnTo>
                  <a:pt x="92246" y="248396"/>
                </a:lnTo>
                <a:lnTo>
                  <a:pt x="90122" y="255036"/>
                </a:lnTo>
                <a:lnTo>
                  <a:pt x="93121" y="260951"/>
                </a:lnTo>
                <a:lnTo>
                  <a:pt x="89278" y="266905"/>
                </a:lnTo>
                <a:lnTo>
                  <a:pt x="89326" y="270890"/>
                </a:lnTo>
                <a:lnTo>
                  <a:pt x="91570" y="278046"/>
                </a:lnTo>
                <a:lnTo>
                  <a:pt x="94204" y="281062"/>
                </a:lnTo>
                <a:lnTo>
                  <a:pt x="93933" y="285868"/>
                </a:lnTo>
                <a:lnTo>
                  <a:pt x="99789" y="287231"/>
                </a:lnTo>
                <a:lnTo>
                  <a:pt x="103115" y="291048"/>
                </a:lnTo>
                <a:lnTo>
                  <a:pt x="109927" y="294902"/>
                </a:lnTo>
                <a:lnTo>
                  <a:pt x="111900" y="301549"/>
                </a:lnTo>
                <a:lnTo>
                  <a:pt x="110524" y="308743"/>
                </a:lnTo>
                <a:lnTo>
                  <a:pt x="106624" y="311172"/>
                </a:lnTo>
                <a:lnTo>
                  <a:pt x="105288" y="315859"/>
                </a:lnTo>
                <a:lnTo>
                  <a:pt x="107587" y="320774"/>
                </a:lnTo>
                <a:lnTo>
                  <a:pt x="111566" y="324816"/>
                </a:lnTo>
                <a:lnTo>
                  <a:pt x="113643" y="324734"/>
                </a:lnTo>
                <a:lnTo>
                  <a:pt x="118043" y="320719"/>
                </a:lnTo>
                <a:lnTo>
                  <a:pt x="118019" y="316204"/>
                </a:lnTo>
                <a:lnTo>
                  <a:pt x="119594" y="314466"/>
                </a:lnTo>
                <a:lnTo>
                  <a:pt x="124416" y="317779"/>
                </a:lnTo>
                <a:lnTo>
                  <a:pt x="127369" y="315877"/>
                </a:lnTo>
                <a:lnTo>
                  <a:pt x="129581" y="312009"/>
                </a:lnTo>
                <a:lnTo>
                  <a:pt x="134840" y="309353"/>
                </a:lnTo>
                <a:lnTo>
                  <a:pt x="137824" y="303486"/>
                </a:lnTo>
                <a:lnTo>
                  <a:pt x="145550" y="298448"/>
                </a:lnTo>
                <a:lnTo>
                  <a:pt x="146839" y="292611"/>
                </a:lnTo>
                <a:lnTo>
                  <a:pt x="154168" y="287922"/>
                </a:lnTo>
                <a:lnTo>
                  <a:pt x="152990" y="285187"/>
                </a:lnTo>
                <a:lnTo>
                  <a:pt x="155982" y="280844"/>
                </a:lnTo>
                <a:lnTo>
                  <a:pt x="155083" y="278582"/>
                </a:lnTo>
                <a:lnTo>
                  <a:pt x="156826" y="276284"/>
                </a:lnTo>
                <a:lnTo>
                  <a:pt x="154351" y="269864"/>
                </a:lnTo>
                <a:lnTo>
                  <a:pt x="158998" y="265026"/>
                </a:lnTo>
                <a:lnTo>
                  <a:pt x="162332" y="265008"/>
                </a:lnTo>
                <a:lnTo>
                  <a:pt x="163072" y="256904"/>
                </a:lnTo>
                <a:lnTo>
                  <a:pt x="165920" y="252432"/>
                </a:lnTo>
                <a:lnTo>
                  <a:pt x="160478" y="252940"/>
                </a:lnTo>
                <a:lnTo>
                  <a:pt x="165626" y="237363"/>
                </a:lnTo>
                <a:lnTo>
                  <a:pt x="152775" y="235324"/>
                </a:lnTo>
                <a:lnTo>
                  <a:pt x="152473" y="233331"/>
                </a:lnTo>
                <a:lnTo>
                  <a:pt x="149378" y="230712"/>
                </a:lnTo>
                <a:lnTo>
                  <a:pt x="136296" y="230703"/>
                </a:lnTo>
                <a:lnTo>
                  <a:pt x="133169" y="227406"/>
                </a:lnTo>
                <a:lnTo>
                  <a:pt x="132660" y="224371"/>
                </a:lnTo>
                <a:lnTo>
                  <a:pt x="130703" y="224589"/>
                </a:lnTo>
                <a:lnTo>
                  <a:pt x="129612" y="222768"/>
                </a:lnTo>
                <a:lnTo>
                  <a:pt x="128602" y="205516"/>
                </a:lnTo>
                <a:lnTo>
                  <a:pt x="126016" y="199464"/>
                </a:lnTo>
                <a:lnTo>
                  <a:pt x="132079" y="190765"/>
                </a:lnTo>
                <a:lnTo>
                  <a:pt x="134204" y="190593"/>
                </a:lnTo>
                <a:lnTo>
                  <a:pt x="134108" y="184483"/>
                </a:lnTo>
                <a:lnTo>
                  <a:pt x="135803" y="182386"/>
                </a:lnTo>
                <a:lnTo>
                  <a:pt x="135676" y="179892"/>
                </a:lnTo>
                <a:lnTo>
                  <a:pt x="139193" y="176405"/>
                </a:lnTo>
                <a:lnTo>
                  <a:pt x="138469" y="174291"/>
                </a:lnTo>
                <a:lnTo>
                  <a:pt x="134267" y="173524"/>
                </a:lnTo>
                <a:lnTo>
                  <a:pt x="131212" y="169369"/>
                </a:lnTo>
                <a:lnTo>
                  <a:pt x="130018" y="164719"/>
                </a:lnTo>
                <a:lnTo>
                  <a:pt x="127814" y="165017"/>
                </a:lnTo>
                <a:lnTo>
                  <a:pt x="126414" y="162020"/>
                </a:lnTo>
                <a:lnTo>
                  <a:pt x="124289" y="161831"/>
                </a:lnTo>
                <a:lnTo>
                  <a:pt x="121926" y="151742"/>
                </a:lnTo>
                <a:lnTo>
                  <a:pt x="119093" y="153573"/>
                </a:lnTo>
                <a:lnTo>
                  <a:pt x="116730" y="151958"/>
                </a:lnTo>
                <a:lnTo>
                  <a:pt x="117812" y="145275"/>
                </a:lnTo>
                <a:lnTo>
                  <a:pt x="127679" y="131302"/>
                </a:lnTo>
                <a:lnTo>
                  <a:pt x="131244" y="121104"/>
                </a:lnTo>
                <a:lnTo>
                  <a:pt x="128761" y="117745"/>
                </a:lnTo>
                <a:lnTo>
                  <a:pt x="131419" y="110948"/>
                </a:lnTo>
                <a:lnTo>
                  <a:pt x="131896" y="105161"/>
                </a:lnTo>
                <a:lnTo>
                  <a:pt x="124146" y="107996"/>
                </a:lnTo>
                <a:lnTo>
                  <a:pt x="115417" y="108635"/>
                </a:lnTo>
                <a:lnTo>
                  <a:pt x="106235" y="113351"/>
                </a:lnTo>
                <a:lnTo>
                  <a:pt x="102216" y="113153"/>
                </a:lnTo>
                <a:lnTo>
                  <a:pt x="100116" y="110831"/>
                </a:lnTo>
                <a:lnTo>
                  <a:pt x="94148" y="111164"/>
                </a:lnTo>
                <a:lnTo>
                  <a:pt x="92358" y="107870"/>
                </a:lnTo>
                <a:lnTo>
                  <a:pt x="92111" y="104558"/>
                </a:lnTo>
                <a:lnTo>
                  <a:pt x="96050" y="102057"/>
                </a:lnTo>
                <a:lnTo>
                  <a:pt x="94729" y="99232"/>
                </a:lnTo>
                <a:lnTo>
                  <a:pt x="92724" y="99358"/>
                </a:lnTo>
                <a:lnTo>
                  <a:pt x="91395" y="97514"/>
                </a:lnTo>
                <a:lnTo>
                  <a:pt x="90559" y="91057"/>
                </a:lnTo>
                <a:lnTo>
                  <a:pt x="93814" y="89538"/>
                </a:lnTo>
                <a:lnTo>
                  <a:pt x="95883" y="83839"/>
                </a:lnTo>
                <a:lnTo>
                  <a:pt x="94904" y="81457"/>
                </a:lnTo>
                <a:lnTo>
                  <a:pt x="93241" y="83461"/>
                </a:lnTo>
                <a:lnTo>
                  <a:pt x="89302" y="81798"/>
                </a:lnTo>
                <a:lnTo>
                  <a:pt x="88642" y="78447"/>
                </a:lnTo>
                <a:lnTo>
                  <a:pt x="93002" y="71925"/>
                </a:lnTo>
                <a:lnTo>
                  <a:pt x="92779" y="65306"/>
                </a:lnTo>
                <a:lnTo>
                  <a:pt x="99304" y="59040"/>
                </a:lnTo>
                <a:lnTo>
                  <a:pt x="105733" y="49987"/>
                </a:lnTo>
                <a:lnTo>
                  <a:pt x="106123" y="46345"/>
                </a:lnTo>
                <a:lnTo>
                  <a:pt x="116046" y="35361"/>
                </a:lnTo>
                <a:lnTo>
                  <a:pt x="114462" y="26839"/>
                </a:lnTo>
                <a:lnTo>
                  <a:pt x="110850" y="25379"/>
                </a:lnTo>
                <a:lnTo>
                  <a:pt x="110690" y="22826"/>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58" name="">
            <a:extLst xmlns:a="http://schemas.openxmlformats.org/drawingml/2006/main">
              <a:ext uri="{FF2B5EF4-FFF2-40B4-BE49-F238E27FC236}">
                <a16:creationId xmlns:a16="http://schemas.microsoft.com/office/drawing/2014/main" id="{7264DC4E-C6AA-45F4-A4C9-E6AA2898E070}"/>
              </a:ext>
            </a:extLst>
          </p:cNvPr>
          <p:cNvSpPr>
            <a:spLocks xmlns:a="http://schemas.openxmlformats.org/drawingml/2006/main" noGrp="1"/>
          </p:cNvSpPr>
          <p:nvPr/>
        </p:nvSpPr>
        <p:spPr>
          <a:xfrm xmlns:a="http://schemas.openxmlformats.org/drawingml/2006/main">
            <a:off x="970580" y="6203554"/>
            <a:ext cx="158727" cy="120437"/>
          </a:xfrm>
          <a:custGeom xmlns:a="http://schemas.openxmlformats.org/drawingml/2006/main">
            <a:pathLst>
              <a:path w="158727" h="120437">
                <a:moveTo>
                  <a:pt x="0" y="27149"/>
                </a:moveTo>
                <a:lnTo>
                  <a:pt x="2196" y="37101"/>
                </a:lnTo>
                <a:lnTo>
                  <a:pt x="3963" y="39055"/>
                </a:lnTo>
                <a:lnTo>
                  <a:pt x="5936" y="38338"/>
                </a:lnTo>
                <a:lnTo>
                  <a:pt x="6859" y="42021"/>
                </a:lnTo>
                <a:lnTo>
                  <a:pt x="10209" y="44163"/>
                </a:lnTo>
                <a:lnTo>
                  <a:pt x="12699" y="42550"/>
                </a:lnTo>
                <a:lnTo>
                  <a:pt x="14768" y="43607"/>
                </a:lnTo>
                <a:lnTo>
                  <a:pt x="15532" y="46351"/>
                </a:lnTo>
                <a:lnTo>
                  <a:pt x="14394" y="50547"/>
                </a:lnTo>
                <a:lnTo>
                  <a:pt x="19041" y="53425"/>
                </a:lnTo>
                <a:lnTo>
                  <a:pt x="16177" y="54851"/>
                </a:lnTo>
                <a:lnTo>
                  <a:pt x="15516" y="58385"/>
                </a:lnTo>
                <a:lnTo>
                  <a:pt x="14458" y="55515"/>
                </a:lnTo>
                <a:lnTo>
                  <a:pt x="12723" y="55668"/>
                </a:lnTo>
                <a:lnTo>
                  <a:pt x="11944" y="57632"/>
                </a:lnTo>
                <a:lnTo>
                  <a:pt x="13440" y="58520"/>
                </a:lnTo>
                <a:lnTo>
                  <a:pt x="10480" y="57811"/>
                </a:lnTo>
                <a:lnTo>
                  <a:pt x="6636" y="60162"/>
                </a:lnTo>
                <a:lnTo>
                  <a:pt x="7750" y="62746"/>
                </a:lnTo>
                <a:lnTo>
                  <a:pt x="7050" y="65447"/>
                </a:lnTo>
                <a:lnTo>
                  <a:pt x="8482" y="64406"/>
                </a:lnTo>
                <a:lnTo>
                  <a:pt x="10360" y="66174"/>
                </a:lnTo>
                <a:lnTo>
                  <a:pt x="9787" y="67996"/>
                </a:lnTo>
                <a:lnTo>
                  <a:pt x="11395" y="70078"/>
                </a:lnTo>
                <a:lnTo>
                  <a:pt x="13312" y="70635"/>
                </a:lnTo>
                <a:lnTo>
                  <a:pt x="15206" y="68831"/>
                </a:lnTo>
                <a:lnTo>
                  <a:pt x="18206" y="70016"/>
                </a:lnTo>
                <a:lnTo>
                  <a:pt x="20107" y="66721"/>
                </a:lnTo>
                <a:lnTo>
                  <a:pt x="22566" y="69468"/>
                </a:lnTo>
                <a:lnTo>
                  <a:pt x="24285" y="67736"/>
                </a:lnTo>
                <a:lnTo>
                  <a:pt x="25654" y="69351"/>
                </a:lnTo>
                <a:lnTo>
                  <a:pt x="30125" y="69118"/>
                </a:lnTo>
                <a:lnTo>
                  <a:pt x="30165" y="66021"/>
                </a:lnTo>
                <a:lnTo>
                  <a:pt x="32425" y="65860"/>
                </a:lnTo>
                <a:lnTo>
                  <a:pt x="35075" y="62656"/>
                </a:lnTo>
                <a:lnTo>
                  <a:pt x="35441" y="59928"/>
                </a:lnTo>
                <a:lnTo>
                  <a:pt x="42300" y="60260"/>
                </a:lnTo>
                <a:lnTo>
                  <a:pt x="45968" y="63509"/>
                </a:lnTo>
                <a:lnTo>
                  <a:pt x="45642" y="69217"/>
                </a:lnTo>
                <a:lnTo>
                  <a:pt x="41043" y="70482"/>
                </a:lnTo>
                <a:lnTo>
                  <a:pt x="43390" y="74136"/>
                </a:lnTo>
                <a:lnTo>
                  <a:pt x="48156" y="77162"/>
                </a:lnTo>
                <a:lnTo>
                  <a:pt x="48665" y="80620"/>
                </a:lnTo>
                <a:lnTo>
                  <a:pt x="44926" y="88293"/>
                </a:lnTo>
                <a:lnTo>
                  <a:pt x="44607" y="95132"/>
                </a:lnTo>
                <a:lnTo>
                  <a:pt x="50384" y="94566"/>
                </a:lnTo>
                <a:lnTo>
                  <a:pt x="53249" y="97083"/>
                </a:lnTo>
                <a:lnTo>
                  <a:pt x="57275" y="95177"/>
                </a:lnTo>
                <a:lnTo>
                  <a:pt x="59097" y="90009"/>
                </a:lnTo>
                <a:lnTo>
                  <a:pt x="62169" y="89685"/>
                </a:lnTo>
                <a:lnTo>
                  <a:pt x="63458" y="91573"/>
                </a:lnTo>
                <a:lnTo>
                  <a:pt x="62534" y="93991"/>
                </a:lnTo>
                <a:lnTo>
                  <a:pt x="66974" y="95519"/>
                </a:lnTo>
                <a:lnTo>
                  <a:pt x="68439" y="100194"/>
                </a:lnTo>
                <a:lnTo>
                  <a:pt x="77279" y="105374"/>
                </a:lnTo>
                <a:lnTo>
                  <a:pt x="78425" y="107605"/>
                </a:lnTo>
                <a:lnTo>
                  <a:pt x="82499" y="103494"/>
                </a:lnTo>
                <a:lnTo>
                  <a:pt x="85459" y="104268"/>
                </a:lnTo>
                <a:lnTo>
                  <a:pt x="86239" y="101327"/>
                </a:lnTo>
                <a:lnTo>
                  <a:pt x="89517" y="99528"/>
                </a:lnTo>
                <a:lnTo>
                  <a:pt x="94044" y="99735"/>
                </a:lnTo>
                <a:lnTo>
                  <a:pt x="96002" y="101767"/>
                </a:lnTo>
                <a:lnTo>
                  <a:pt x="100505" y="101471"/>
                </a:lnTo>
                <a:lnTo>
                  <a:pt x="98572" y="107182"/>
                </a:lnTo>
                <a:lnTo>
                  <a:pt x="99774" y="109404"/>
                </a:lnTo>
                <a:lnTo>
                  <a:pt x="102455" y="109080"/>
                </a:lnTo>
                <a:lnTo>
                  <a:pt x="105861" y="111176"/>
                </a:lnTo>
                <a:lnTo>
                  <a:pt x="110635" y="109683"/>
                </a:lnTo>
                <a:lnTo>
                  <a:pt x="112648" y="114209"/>
                </a:lnTo>
                <a:lnTo>
                  <a:pt x="116961" y="116557"/>
                </a:lnTo>
                <a:lnTo>
                  <a:pt x="116380" y="119456"/>
                </a:lnTo>
                <a:lnTo>
                  <a:pt x="117550" y="120428"/>
                </a:lnTo>
                <a:lnTo>
                  <a:pt x="120931" y="120437"/>
                </a:lnTo>
                <a:lnTo>
                  <a:pt x="121488" y="117809"/>
                </a:lnTo>
                <a:lnTo>
                  <a:pt x="133885" y="117439"/>
                </a:lnTo>
                <a:lnTo>
                  <a:pt x="134601" y="107245"/>
                </a:lnTo>
                <a:lnTo>
                  <a:pt x="144826" y="104061"/>
                </a:lnTo>
                <a:lnTo>
                  <a:pt x="143410" y="98908"/>
                </a:lnTo>
                <a:lnTo>
                  <a:pt x="141333" y="98018"/>
                </a:lnTo>
                <a:lnTo>
                  <a:pt x="143688" y="94170"/>
                </a:lnTo>
                <a:lnTo>
                  <a:pt x="141047" y="92049"/>
                </a:lnTo>
                <a:lnTo>
                  <a:pt x="141444" y="82686"/>
                </a:lnTo>
                <a:lnTo>
                  <a:pt x="146808" y="77782"/>
                </a:lnTo>
                <a:lnTo>
                  <a:pt x="145081" y="74936"/>
                </a:lnTo>
                <a:lnTo>
                  <a:pt x="146625" y="74029"/>
                </a:lnTo>
                <a:lnTo>
                  <a:pt x="148256" y="75492"/>
                </a:lnTo>
                <a:lnTo>
                  <a:pt x="151144" y="74038"/>
                </a:lnTo>
                <a:lnTo>
                  <a:pt x="151176" y="72538"/>
                </a:lnTo>
                <a:lnTo>
                  <a:pt x="149067" y="70599"/>
                </a:lnTo>
                <a:lnTo>
                  <a:pt x="149465" y="67906"/>
                </a:lnTo>
                <a:lnTo>
                  <a:pt x="146076" y="68992"/>
                </a:lnTo>
                <a:lnTo>
                  <a:pt x="144779" y="65025"/>
                </a:lnTo>
                <a:lnTo>
                  <a:pt x="149306" y="59390"/>
                </a:lnTo>
                <a:lnTo>
                  <a:pt x="152831" y="59390"/>
                </a:lnTo>
                <a:lnTo>
                  <a:pt x="154072" y="56753"/>
                </a:lnTo>
                <a:lnTo>
                  <a:pt x="150158" y="54250"/>
                </a:lnTo>
                <a:lnTo>
                  <a:pt x="150396" y="49623"/>
                </a:lnTo>
                <a:lnTo>
                  <a:pt x="148845" y="46153"/>
                </a:lnTo>
                <a:lnTo>
                  <a:pt x="146044" y="45015"/>
                </a:lnTo>
                <a:lnTo>
                  <a:pt x="145837" y="43106"/>
                </a:lnTo>
                <a:lnTo>
                  <a:pt x="152242" y="37209"/>
                </a:lnTo>
                <a:lnTo>
                  <a:pt x="151112" y="34315"/>
                </a:lnTo>
                <a:lnTo>
                  <a:pt x="152537" y="29908"/>
                </a:lnTo>
                <a:lnTo>
                  <a:pt x="155560" y="22117"/>
                </a:lnTo>
                <a:lnTo>
                  <a:pt x="158107" y="20228"/>
                </a:lnTo>
                <a:lnTo>
                  <a:pt x="158600" y="17758"/>
                </a:lnTo>
                <a:lnTo>
                  <a:pt x="156221" y="16639"/>
                </a:lnTo>
                <a:lnTo>
                  <a:pt x="158727" y="13713"/>
                </a:lnTo>
                <a:lnTo>
                  <a:pt x="155926" y="10268"/>
                </a:lnTo>
                <a:lnTo>
                  <a:pt x="151558" y="11037"/>
                </a:lnTo>
                <a:lnTo>
                  <a:pt x="149871" y="13372"/>
                </a:lnTo>
                <a:lnTo>
                  <a:pt x="150722" y="15753"/>
                </a:lnTo>
                <a:lnTo>
                  <a:pt x="148821" y="14464"/>
                </a:lnTo>
                <a:lnTo>
                  <a:pt x="148972" y="15824"/>
                </a:lnTo>
                <a:lnTo>
                  <a:pt x="145956" y="17758"/>
                </a:lnTo>
                <a:lnTo>
                  <a:pt x="137601" y="9632"/>
                </a:lnTo>
                <a:lnTo>
                  <a:pt x="135819" y="9552"/>
                </a:lnTo>
                <a:lnTo>
                  <a:pt x="135031" y="13185"/>
                </a:lnTo>
                <a:lnTo>
                  <a:pt x="136973" y="14536"/>
                </a:lnTo>
                <a:lnTo>
                  <a:pt x="131904" y="16791"/>
                </a:lnTo>
                <a:lnTo>
                  <a:pt x="130989" y="15636"/>
                </a:lnTo>
                <a:lnTo>
                  <a:pt x="128864" y="16263"/>
                </a:lnTo>
                <a:lnTo>
                  <a:pt x="130002" y="13337"/>
                </a:lnTo>
                <a:lnTo>
                  <a:pt x="128371" y="13211"/>
                </a:lnTo>
                <a:lnTo>
                  <a:pt x="127687" y="11359"/>
                </a:lnTo>
                <a:lnTo>
                  <a:pt x="126573" y="11735"/>
                </a:lnTo>
                <a:lnTo>
                  <a:pt x="127026" y="13641"/>
                </a:lnTo>
                <a:lnTo>
                  <a:pt x="124942" y="13874"/>
                </a:lnTo>
                <a:lnTo>
                  <a:pt x="125093" y="11368"/>
                </a:lnTo>
                <a:lnTo>
                  <a:pt x="123748" y="8568"/>
                </a:lnTo>
                <a:lnTo>
                  <a:pt x="121027" y="7566"/>
                </a:lnTo>
                <a:lnTo>
                  <a:pt x="119109" y="715"/>
                </a:lnTo>
                <a:lnTo>
                  <a:pt x="113889" y="0"/>
                </a:lnTo>
                <a:lnTo>
                  <a:pt x="113865" y="3407"/>
                </a:lnTo>
                <a:lnTo>
                  <a:pt x="117669" y="6010"/>
                </a:lnTo>
                <a:lnTo>
                  <a:pt x="115306" y="8165"/>
                </a:lnTo>
                <a:lnTo>
                  <a:pt x="113062" y="6001"/>
                </a:lnTo>
                <a:lnTo>
                  <a:pt x="112393" y="6967"/>
                </a:lnTo>
                <a:lnTo>
                  <a:pt x="113420" y="8532"/>
                </a:lnTo>
                <a:lnTo>
                  <a:pt x="111120" y="11672"/>
                </a:lnTo>
                <a:lnTo>
                  <a:pt x="108128" y="23200"/>
                </a:lnTo>
                <a:lnTo>
                  <a:pt x="106489" y="23657"/>
                </a:lnTo>
                <a:lnTo>
                  <a:pt x="106370" y="25654"/>
                </a:lnTo>
                <a:lnTo>
                  <a:pt x="103672" y="25734"/>
                </a:lnTo>
                <a:lnTo>
                  <a:pt x="99447" y="25108"/>
                </a:lnTo>
                <a:lnTo>
                  <a:pt x="99988" y="23997"/>
                </a:lnTo>
                <a:lnTo>
                  <a:pt x="95254" y="21634"/>
                </a:lnTo>
                <a:lnTo>
                  <a:pt x="93416" y="24615"/>
                </a:lnTo>
                <a:lnTo>
                  <a:pt x="95612" y="28376"/>
                </a:lnTo>
                <a:lnTo>
                  <a:pt x="94506" y="31663"/>
                </a:lnTo>
                <a:lnTo>
                  <a:pt x="92238" y="31690"/>
                </a:lnTo>
                <a:lnTo>
                  <a:pt x="87170" y="24964"/>
                </a:lnTo>
                <a:lnTo>
                  <a:pt x="86867" y="19673"/>
                </a:lnTo>
                <a:lnTo>
                  <a:pt x="83923" y="18715"/>
                </a:lnTo>
                <a:lnTo>
                  <a:pt x="81695" y="15252"/>
                </a:lnTo>
                <a:lnTo>
                  <a:pt x="78512" y="16084"/>
                </a:lnTo>
                <a:lnTo>
                  <a:pt x="77295" y="13015"/>
                </a:lnTo>
                <a:lnTo>
                  <a:pt x="74486" y="12925"/>
                </a:lnTo>
                <a:lnTo>
                  <a:pt x="73945" y="10599"/>
                </a:lnTo>
                <a:lnTo>
                  <a:pt x="75154" y="8971"/>
                </a:lnTo>
                <a:lnTo>
                  <a:pt x="70770" y="5464"/>
                </a:lnTo>
                <a:lnTo>
                  <a:pt x="69895" y="2835"/>
                </a:lnTo>
                <a:lnTo>
                  <a:pt x="64619" y="2665"/>
                </a:lnTo>
                <a:lnTo>
                  <a:pt x="61556" y="3970"/>
                </a:lnTo>
                <a:lnTo>
                  <a:pt x="59694" y="6877"/>
                </a:lnTo>
                <a:lnTo>
                  <a:pt x="60410" y="9561"/>
                </a:lnTo>
                <a:lnTo>
                  <a:pt x="57951" y="12567"/>
                </a:lnTo>
                <a:lnTo>
                  <a:pt x="60458" y="13337"/>
                </a:lnTo>
                <a:lnTo>
                  <a:pt x="59869" y="18071"/>
                </a:lnTo>
                <a:lnTo>
                  <a:pt x="54020" y="16961"/>
                </a:lnTo>
                <a:lnTo>
                  <a:pt x="49875" y="19064"/>
                </a:lnTo>
                <a:lnTo>
                  <a:pt x="45570" y="18742"/>
                </a:lnTo>
                <a:lnTo>
                  <a:pt x="44647" y="16702"/>
                </a:lnTo>
                <a:lnTo>
                  <a:pt x="37517" y="18742"/>
                </a:lnTo>
                <a:lnTo>
                  <a:pt x="33547" y="18304"/>
                </a:lnTo>
                <a:lnTo>
                  <a:pt x="32592" y="16737"/>
                </a:lnTo>
                <a:lnTo>
                  <a:pt x="30746" y="19628"/>
                </a:lnTo>
                <a:lnTo>
                  <a:pt x="29019" y="17051"/>
                </a:lnTo>
                <a:lnTo>
                  <a:pt x="26354" y="22189"/>
                </a:lnTo>
                <a:lnTo>
                  <a:pt x="23147" y="23791"/>
                </a:lnTo>
                <a:lnTo>
                  <a:pt x="23410" y="25663"/>
                </a:lnTo>
                <a:lnTo>
                  <a:pt x="20060" y="27498"/>
                </a:lnTo>
                <a:lnTo>
                  <a:pt x="18612" y="26594"/>
                </a:lnTo>
                <a:lnTo>
                  <a:pt x="17243" y="28824"/>
                </a:lnTo>
                <a:lnTo>
                  <a:pt x="13583" y="29101"/>
                </a:lnTo>
                <a:lnTo>
                  <a:pt x="12803" y="27060"/>
                </a:lnTo>
                <a:lnTo>
                  <a:pt x="8801" y="25152"/>
                </a:lnTo>
                <a:lnTo>
                  <a:pt x="0" y="27149"/>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59" name="">
            <a:extLst xmlns:a="http://schemas.openxmlformats.org/drawingml/2006/main">
              <a:ext uri="{FF2B5EF4-FFF2-40B4-BE49-F238E27FC236}">
                <a16:creationId xmlns:a16="http://schemas.microsoft.com/office/drawing/2014/main" id="{880D2AFA-3D50-4566-97B7-5BA022E88654}"/>
              </a:ext>
            </a:extLst>
          </p:cNvPr>
          <p:cNvSpPr>
            <a:spLocks xmlns:a="http://schemas.openxmlformats.org/drawingml/2006/main" noGrp="1"/>
          </p:cNvSpPr>
          <p:nvPr/>
        </p:nvSpPr>
        <p:spPr>
          <a:xfrm xmlns:a="http://schemas.openxmlformats.org/drawingml/2006/main">
            <a:off x="904576" y="6303082"/>
            <a:ext cx="252804" cy="223586"/>
          </a:xfrm>
          <a:custGeom xmlns:a="http://schemas.openxmlformats.org/drawingml/2006/main">
            <a:pathLst>
              <a:path w="252804" h="223586">
                <a:moveTo>
                  <a:pt x="210830" y="4532"/>
                </a:moveTo>
                <a:lnTo>
                  <a:pt x="200605" y="7716"/>
                </a:lnTo>
                <a:lnTo>
                  <a:pt x="199889" y="17911"/>
                </a:lnTo>
                <a:lnTo>
                  <a:pt x="187492" y="18280"/>
                </a:lnTo>
                <a:lnTo>
                  <a:pt x="186935" y="20908"/>
                </a:lnTo>
                <a:lnTo>
                  <a:pt x="183553" y="20899"/>
                </a:lnTo>
                <a:lnTo>
                  <a:pt x="182384" y="19927"/>
                </a:lnTo>
                <a:lnTo>
                  <a:pt x="182964" y="17029"/>
                </a:lnTo>
                <a:lnTo>
                  <a:pt x="178652" y="14680"/>
                </a:lnTo>
                <a:lnTo>
                  <a:pt x="176639" y="10154"/>
                </a:lnTo>
                <a:lnTo>
                  <a:pt x="171864" y="11648"/>
                </a:lnTo>
                <a:lnTo>
                  <a:pt x="168459" y="9552"/>
                </a:lnTo>
                <a:lnTo>
                  <a:pt x="165777" y="9875"/>
                </a:lnTo>
                <a:lnTo>
                  <a:pt x="164576" y="7654"/>
                </a:lnTo>
                <a:lnTo>
                  <a:pt x="166509" y="1942"/>
                </a:lnTo>
                <a:lnTo>
                  <a:pt x="162005" y="2239"/>
                </a:lnTo>
                <a:lnTo>
                  <a:pt x="160048" y="207"/>
                </a:lnTo>
                <a:lnTo>
                  <a:pt x="155521" y="0"/>
                </a:lnTo>
                <a:lnTo>
                  <a:pt x="152242" y="1798"/>
                </a:lnTo>
                <a:lnTo>
                  <a:pt x="151463" y="4739"/>
                </a:lnTo>
                <a:lnTo>
                  <a:pt x="148502" y="3966"/>
                </a:lnTo>
                <a:lnTo>
                  <a:pt x="144428" y="8076"/>
                </a:lnTo>
                <a:lnTo>
                  <a:pt x="143283" y="5845"/>
                </a:lnTo>
                <a:lnTo>
                  <a:pt x="141970" y="6025"/>
                </a:lnTo>
                <a:lnTo>
                  <a:pt x="142033" y="7455"/>
                </a:lnTo>
                <a:lnTo>
                  <a:pt x="139988" y="8022"/>
                </a:lnTo>
                <a:lnTo>
                  <a:pt x="140633" y="10289"/>
                </a:lnTo>
                <a:lnTo>
                  <a:pt x="138628" y="11180"/>
                </a:lnTo>
                <a:lnTo>
                  <a:pt x="138755" y="14914"/>
                </a:lnTo>
                <a:lnTo>
                  <a:pt x="136694" y="17380"/>
                </a:lnTo>
                <a:lnTo>
                  <a:pt x="134681" y="15328"/>
                </a:lnTo>
                <a:lnTo>
                  <a:pt x="129771" y="19882"/>
                </a:lnTo>
                <a:lnTo>
                  <a:pt x="125467" y="17119"/>
                </a:lnTo>
                <a:lnTo>
                  <a:pt x="119594" y="18001"/>
                </a:lnTo>
                <a:lnTo>
                  <a:pt x="119937" y="16723"/>
                </a:lnTo>
                <a:lnTo>
                  <a:pt x="111446" y="16201"/>
                </a:lnTo>
                <a:lnTo>
                  <a:pt x="107150" y="21115"/>
                </a:lnTo>
                <a:lnTo>
                  <a:pt x="107913" y="22448"/>
                </a:lnTo>
                <a:lnTo>
                  <a:pt x="106752" y="25185"/>
                </a:lnTo>
                <a:lnTo>
                  <a:pt x="104922" y="26355"/>
                </a:lnTo>
                <a:lnTo>
                  <a:pt x="103299" y="25437"/>
                </a:lnTo>
                <a:lnTo>
                  <a:pt x="103123" y="27895"/>
                </a:lnTo>
                <a:lnTo>
                  <a:pt x="100816" y="29183"/>
                </a:lnTo>
                <a:lnTo>
                  <a:pt x="98596" y="33542"/>
                </a:lnTo>
                <a:lnTo>
                  <a:pt x="95914" y="27751"/>
                </a:lnTo>
                <a:lnTo>
                  <a:pt x="89883" y="23168"/>
                </a:lnTo>
                <a:lnTo>
                  <a:pt x="88395" y="26256"/>
                </a:lnTo>
                <a:lnTo>
                  <a:pt x="89764" y="30903"/>
                </a:lnTo>
                <a:lnTo>
                  <a:pt x="87941" y="32786"/>
                </a:lnTo>
                <a:lnTo>
                  <a:pt x="89326" y="35786"/>
                </a:lnTo>
                <a:lnTo>
                  <a:pt x="86103" y="37507"/>
                </a:lnTo>
                <a:lnTo>
                  <a:pt x="84886" y="40147"/>
                </a:lnTo>
                <a:lnTo>
                  <a:pt x="82427" y="39912"/>
                </a:lnTo>
                <a:lnTo>
                  <a:pt x="82658" y="41814"/>
                </a:lnTo>
                <a:lnTo>
                  <a:pt x="79451" y="42643"/>
                </a:lnTo>
                <a:lnTo>
                  <a:pt x="79316" y="45924"/>
                </a:lnTo>
                <a:lnTo>
                  <a:pt x="76324" y="45031"/>
                </a:lnTo>
                <a:lnTo>
                  <a:pt x="73173" y="51631"/>
                </a:lnTo>
                <a:lnTo>
                  <a:pt x="74223" y="62283"/>
                </a:lnTo>
                <a:lnTo>
                  <a:pt x="72871" y="63673"/>
                </a:lnTo>
                <a:lnTo>
                  <a:pt x="76491" y="65685"/>
                </a:lnTo>
                <a:lnTo>
                  <a:pt x="78671" y="74160"/>
                </a:lnTo>
                <a:lnTo>
                  <a:pt x="73340" y="75271"/>
                </a:lnTo>
                <a:lnTo>
                  <a:pt x="72902" y="80382"/>
                </a:lnTo>
                <a:lnTo>
                  <a:pt x="68932" y="82080"/>
                </a:lnTo>
                <a:lnTo>
                  <a:pt x="66139" y="85557"/>
                </a:lnTo>
                <a:lnTo>
                  <a:pt x="63060" y="85783"/>
                </a:lnTo>
                <a:lnTo>
                  <a:pt x="63688" y="83173"/>
                </a:lnTo>
                <a:lnTo>
                  <a:pt x="56678" y="84157"/>
                </a:lnTo>
                <a:lnTo>
                  <a:pt x="55835" y="86398"/>
                </a:lnTo>
                <a:lnTo>
                  <a:pt x="51283" y="88349"/>
                </a:lnTo>
                <a:lnTo>
                  <a:pt x="51267" y="78512"/>
                </a:lnTo>
                <a:lnTo>
                  <a:pt x="46947" y="74133"/>
                </a:lnTo>
                <a:lnTo>
                  <a:pt x="43056" y="74901"/>
                </a:lnTo>
                <a:lnTo>
                  <a:pt x="39491" y="72896"/>
                </a:lnTo>
                <a:lnTo>
                  <a:pt x="40334" y="70306"/>
                </a:lnTo>
                <a:lnTo>
                  <a:pt x="39292" y="68889"/>
                </a:lnTo>
                <a:lnTo>
                  <a:pt x="38289" y="68789"/>
                </a:lnTo>
                <a:lnTo>
                  <a:pt x="38098" y="70901"/>
                </a:lnTo>
                <a:lnTo>
                  <a:pt x="33563" y="68699"/>
                </a:lnTo>
                <a:lnTo>
                  <a:pt x="32958" y="66822"/>
                </a:lnTo>
                <a:lnTo>
                  <a:pt x="26012" y="65017"/>
                </a:lnTo>
                <a:lnTo>
                  <a:pt x="20704" y="71190"/>
                </a:lnTo>
                <a:lnTo>
                  <a:pt x="17434" y="71127"/>
                </a:lnTo>
                <a:lnTo>
                  <a:pt x="15357" y="74901"/>
                </a:lnTo>
                <a:lnTo>
                  <a:pt x="16256" y="78621"/>
                </a:lnTo>
                <a:lnTo>
                  <a:pt x="15095" y="82405"/>
                </a:lnTo>
                <a:lnTo>
                  <a:pt x="11068" y="83832"/>
                </a:lnTo>
                <a:lnTo>
                  <a:pt x="5164" y="82531"/>
                </a:lnTo>
                <a:lnTo>
                  <a:pt x="3079" y="87003"/>
                </a:lnTo>
                <a:lnTo>
                  <a:pt x="5411" y="88611"/>
                </a:lnTo>
                <a:lnTo>
                  <a:pt x="6278" y="93247"/>
                </a:lnTo>
                <a:lnTo>
                  <a:pt x="740" y="99257"/>
                </a:lnTo>
                <a:lnTo>
                  <a:pt x="0" y="105533"/>
                </a:lnTo>
                <a:lnTo>
                  <a:pt x="8045" y="111403"/>
                </a:lnTo>
                <a:lnTo>
                  <a:pt x="12174" y="110842"/>
                </a:lnTo>
                <a:lnTo>
                  <a:pt x="14339" y="108562"/>
                </a:lnTo>
                <a:lnTo>
                  <a:pt x="15262" y="102467"/>
                </a:lnTo>
                <a:lnTo>
                  <a:pt x="20171" y="103598"/>
                </a:lnTo>
                <a:lnTo>
                  <a:pt x="24253" y="101039"/>
                </a:lnTo>
                <a:lnTo>
                  <a:pt x="26959" y="103751"/>
                </a:lnTo>
                <a:lnTo>
                  <a:pt x="29210" y="102295"/>
                </a:lnTo>
                <a:lnTo>
                  <a:pt x="30014" y="103923"/>
                </a:lnTo>
                <a:lnTo>
                  <a:pt x="28916" y="107097"/>
                </a:lnTo>
                <a:lnTo>
                  <a:pt x="32902" y="107658"/>
                </a:lnTo>
                <a:lnTo>
                  <a:pt x="34231" y="110869"/>
                </a:lnTo>
                <a:lnTo>
                  <a:pt x="39944" y="108354"/>
                </a:lnTo>
                <a:lnTo>
                  <a:pt x="39435" y="111710"/>
                </a:lnTo>
                <a:lnTo>
                  <a:pt x="40955" y="112217"/>
                </a:lnTo>
                <a:lnTo>
                  <a:pt x="45562" y="109159"/>
                </a:lnTo>
                <a:lnTo>
                  <a:pt x="47352" y="109666"/>
                </a:lnTo>
                <a:lnTo>
                  <a:pt x="51984" y="116994"/>
                </a:lnTo>
                <a:lnTo>
                  <a:pt x="54116" y="117456"/>
                </a:lnTo>
                <a:lnTo>
                  <a:pt x="53885" y="119954"/>
                </a:lnTo>
                <a:lnTo>
                  <a:pt x="60370" y="134431"/>
                </a:lnTo>
                <a:lnTo>
                  <a:pt x="64619" y="137891"/>
                </a:lnTo>
                <a:lnTo>
                  <a:pt x="66919" y="142358"/>
                </a:lnTo>
                <a:lnTo>
                  <a:pt x="68916" y="138707"/>
                </a:lnTo>
                <a:lnTo>
                  <a:pt x="65415" y="135400"/>
                </a:lnTo>
                <a:lnTo>
                  <a:pt x="66990" y="133915"/>
                </a:lnTo>
                <a:lnTo>
                  <a:pt x="74215" y="133996"/>
                </a:lnTo>
                <a:lnTo>
                  <a:pt x="79642" y="136279"/>
                </a:lnTo>
                <a:lnTo>
                  <a:pt x="79746" y="134458"/>
                </a:lnTo>
                <a:lnTo>
                  <a:pt x="82013" y="133000"/>
                </a:lnTo>
                <a:lnTo>
                  <a:pt x="88021" y="137638"/>
                </a:lnTo>
                <a:lnTo>
                  <a:pt x="86979" y="142929"/>
                </a:lnTo>
                <a:lnTo>
                  <a:pt x="90854" y="144252"/>
                </a:lnTo>
                <a:lnTo>
                  <a:pt x="91458" y="146572"/>
                </a:lnTo>
                <a:lnTo>
                  <a:pt x="90702" y="148883"/>
                </a:lnTo>
                <a:lnTo>
                  <a:pt x="87734" y="150506"/>
                </a:lnTo>
                <a:lnTo>
                  <a:pt x="89716" y="151793"/>
                </a:lnTo>
                <a:lnTo>
                  <a:pt x="87480" y="153733"/>
                </a:lnTo>
                <a:lnTo>
                  <a:pt x="87098" y="157506"/>
                </a:lnTo>
                <a:lnTo>
                  <a:pt x="97044" y="150279"/>
                </a:lnTo>
                <a:lnTo>
                  <a:pt x="101349" y="152491"/>
                </a:lnTo>
                <a:lnTo>
                  <a:pt x="100474" y="157351"/>
                </a:lnTo>
                <a:lnTo>
                  <a:pt x="96774" y="157787"/>
                </a:lnTo>
                <a:lnTo>
                  <a:pt x="94458" y="160426"/>
                </a:lnTo>
                <a:lnTo>
                  <a:pt x="91602" y="158204"/>
                </a:lnTo>
                <a:lnTo>
                  <a:pt x="89318" y="159238"/>
                </a:lnTo>
                <a:lnTo>
                  <a:pt x="90265" y="161995"/>
                </a:lnTo>
                <a:lnTo>
                  <a:pt x="88180" y="163202"/>
                </a:lnTo>
                <a:lnTo>
                  <a:pt x="89596" y="166304"/>
                </a:lnTo>
                <a:lnTo>
                  <a:pt x="86875" y="167820"/>
                </a:lnTo>
                <a:lnTo>
                  <a:pt x="88260" y="169689"/>
                </a:lnTo>
                <a:lnTo>
                  <a:pt x="88339" y="174100"/>
                </a:lnTo>
                <a:lnTo>
                  <a:pt x="86501" y="173310"/>
                </a:lnTo>
                <a:lnTo>
                  <a:pt x="87599" y="181598"/>
                </a:lnTo>
                <a:lnTo>
                  <a:pt x="92445" y="183887"/>
                </a:lnTo>
                <a:lnTo>
                  <a:pt x="91928" y="190054"/>
                </a:lnTo>
                <a:lnTo>
                  <a:pt x="96439" y="188773"/>
                </a:lnTo>
                <a:lnTo>
                  <a:pt x="96949" y="190072"/>
                </a:lnTo>
                <a:lnTo>
                  <a:pt x="94745" y="194715"/>
                </a:lnTo>
                <a:lnTo>
                  <a:pt x="94395" y="206249"/>
                </a:lnTo>
                <a:lnTo>
                  <a:pt x="93089" y="209723"/>
                </a:lnTo>
                <a:lnTo>
                  <a:pt x="94474" y="211960"/>
                </a:lnTo>
                <a:lnTo>
                  <a:pt x="97641" y="213033"/>
                </a:lnTo>
                <a:lnTo>
                  <a:pt x="96965" y="215371"/>
                </a:lnTo>
                <a:lnTo>
                  <a:pt x="98429" y="215434"/>
                </a:lnTo>
                <a:lnTo>
                  <a:pt x="99853" y="220829"/>
                </a:lnTo>
                <a:lnTo>
                  <a:pt x="103529" y="219938"/>
                </a:lnTo>
                <a:lnTo>
                  <a:pt x="107420" y="216608"/>
                </a:lnTo>
                <a:lnTo>
                  <a:pt x="110301" y="218364"/>
                </a:lnTo>
                <a:lnTo>
                  <a:pt x="111200" y="214161"/>
                </a:lnTo>
                <a:lnTo>
                  <a:pt x="115178" y="212687"/>
                </a:lnTo>
                <a:lnTo>
                  <a:pt x="117979" y="213715"/>
                </a:lnTo>
                <a:lnTo>
                  <a:pt x="122284" y="206522"/>
                </a:lnTo>
                <a:lnTo>
                  <a:pt x="123509" y="209641"/>
                </a:lnTo>
                <a:lnTo>
                  <a:pt x="128482" y="209059"/>
                </a:lnTo>
                <a:lnTo>
                  <a:pt x="130711" y="211314"/>
                </a:lnTo>
                <a:lnTo>
                  <a:pt x="135795" y="211341"/>
                </a:lnTo>
                <a:lnTo>
                  <a:pt x="137132" y="215416"/>
                </a:lnTo>
                <a:lnTo>
                  <a:pt x="139909" y="213997"/>
                </a:lnTo>
                <a:lnTo>
                  <a:pt x="140649" y="217927"/>
                </a:lnTo>
                <a:lnTo>
                  <a:pt x="142328" y="217618"/>
                </a:lnTo>
                <a:lnTo>
                  <a:pt x="143004" y="215962"/>
                </a:lnTo>
                <a:lnTo>
                  <a:pt x="146744" y="216017"/>
                </a:lnTo>
                <a:lnTo>
                  <a:pt x="148455" y="214170"/>
                </a:lnTo>
                <a:lnTo>
                  <a:pt x="150173" y="214970"/>
                </a:lnTo>
                <a:lnTo>
                  <a:pt x="149290" y="208459"/>
                </a:lnTo>
                <a:lnTo>
                  <a:pt x="150563" y="204249"/>
                </a:lnTo>
                <a:lnTo>
                  <a:pt x="152998" y="204013"/>
                </a:lnTo>
                <a:lnTo>
                  <a:pt x="154621" y="207631"/>
                </a:lnTo>
                <a:lnTo>
                  <a:pt x="156722" y="208668"/>
                </a:lnTo>
                <a:lnTo>
                  <a:pt x="158743" y="217381"/>
                </a:lnTo>
                <a:lnTo>
                  <a:pt x="163597" y="219219"/>
                </a:lnTo>
                <a:lnTo>
                  <a:pt x="159467" y="222776"/>
                </a:lnTo>
                <a:lnTo>
                  <a:pt x="161305" y="223586"/>
                </a:lnTo>
                <a:lnTo>
                  <a:pt x="164051" y="221948"/>
                </a:lnTo>
                <a:lnTo>
                  <a:pt x="164393" y="219501"/>
                </a:lnTo>
                <a:lnTo>
                  <a:pt x="166199" y="221430"/>
                </a:lnTo>
                <a:lnTo>
                  <a:pt x="169358" y="218555"/>
                </a:lnTo>
                <a:lnTo>
                  <a:pt x="170830" y="219583"/>
                </a:lnTo>
                <a:lnTo>
                  <a:pt x="173679" y="216471"/>
                </a:lnTo>
                <a:lnTo>
                  <a:pt x="175501" y="218864"/>
                </a:lnTo>
                <a:lnTo>
                  <a:pt x="176646" y="218336"/>
                </a:lnTo>
                <a:lnTo>
                  <a:pt x="176408" y="215589"/>
                </a:lnTo>
                <a:lnTo>
                  <a:pt x="179813" y="216217"/>
                </a:lnTo>
                <a:lnTo>
                  <a:pt x="180028" y="213233"/>
                </a:lnTo>
                <a:lnTo>
                  <a:pt x="181158" y="212896"/>
                </a:lnTo>
                <a:lnTo>
                  <a:pt x="178914" y="210014"/>
                </a:lnTo>
                <a:lnTo>
                  <a:pt x="180378" y="207867"/>
                </a:lnTo>
                <a:lnTo>
                  <a:pt x="180935" y="210677"/>
                </a:lnTo>
                <a:lnTo>
                  <a:pt x="183824" y="208659"/>
                </a:lnTo>
                <a:lnTo>
                  <a:pt x="185105" y="209559"/>
                </a:lnTo>
                <a:lnTo>
                  <a:pt x="185137" y="213633"/>
                </a:lnTo>
                <a:lnTo>
                  <a:pt x="188017" y="214625"/>
                </a:lnTo>
                <a:lnTo>
                  <a:pt x="193444" y="215598"/>
                </a:lnTo>
                <a:lnTo>
                  <a:pt x="195656" y="214497"/>
                </a:lnTo>
                <a:lnTo>
                  <a:pt x="197478" y="215816"/>
                </a:lnTo>
                <a:lnTo>
                  <a:pt x="200008" y="214261"/>
                </a:lnTo>
                <a:lnTo>
                  <a:pt x="200016" y="211569"/>
                </a:lnTo>
                <a:lnTo>
                  <a:pt x="201337" y="211178"/>
                </a:lnTo>
                <a:lnTo>
                  <a:pt x="206939" y="214870"/>
                </a:lnTo>
                <a:lnTo>
                  <a:pt x="210480" y="213542"/>
                </a:lnTo>
                <a:lnTo>
                  <a:pt x="212756" y="214643"/>
                </a:lnTo>
                <a:lnTo>
                  <a:pt x="216686" y="211823"/>
                </a:lnTo>
                <a:lnTo>
                  <a:pt x="217307" y="205149"/>
                </a:lnTo>
                <a:lnTo>
                  <a:pt x="215262" y="199958"/>
                </a:lnTo>
                <a:lnTo>
                  <a:pt x="218087" y="198441"/>
                </a:lnTo>
                <a:lnTo>
                  <a:pt x="224834" y="199168"/>
                </a:lnTo>
                <a:lnTo>
                  <a:pt x="224174" y="195315"/>
                </a:lnTo>
                <a:lnTo>
                  <a:pt x="226561" y="192543"/>
                </a:lnTo>
                <a:lnTo>
                  <a:pt x="230237" y="192134"/>
                </a:lnTo>
                <a:lnTo>
                  <a:pt x="230022" y="188773"/>
                </a:lnTo>
                <a:lnTo>
                  <a:pt x="232163" y="186757"/>
                </a:lnTo>
                <a:lnTo>
                  <a:pt x="236778" y="186130"/>
                </a:lnTo>
                <a:lnTo>
                  <a:pt x="234271" y="180763"/>
                </a:lnTo>
                <a:lnTo>
                  <a:pt x="235807" y="178829"/>
                </a:lnTo>
                <a:lnTo>
                  <a:pt x="235290" y="173047"/>
                </a:lnTo>
                <a:lnTo>
                  <a:pt x="239316" y="173600"/>
                </a:lnTo>
                <a:lnTo>
                  <a:pt x="242364" y="170478"/>
                </a:lnTo>
                <a:lnTo>
                  <a:pt x="239849" y="166150"/>
                </a:lnTo>
                <a:lnTo>
                  <a:pt x="244496" y="163628"/>
                </a:lnTo>
                <a:lnTo>
                  <a:pt x="244966" y="161170"/>
                </a:lnTo>
                <a:lnTo>
                  <a:pt x="242674" y="157832"/>
                </a:lnTo>
                <a:lnTo>
                  <a:pt x="239086" y="157225"/>
                </a:lnTo>
                <a:lnTo>
                  <a:pt x="234773" y="152627"/>
                </a:lnTo>
                <a:lnTo>
                  <a:pt x="237558" y="147678"/>
                </a:lnTo>
                <a:lnTo>
                  <a:pt x="238656" y="140528"/>
                </a:lnTo>
                <a:lnTo>
                  <a:pt x="238115" y="127476"/>
                </a:lnTo>
                <a:lnTo>
                  <a:pt x="234900" y="127458"/>
                </a:lnTo>
                <a:lnTo>
                  <a:pt x="231105" y="123411"/>
                </a:lnTo>
                <a:lnTo>
                  <a:pt x="231741" y="122533"/>
                </a:lnTo>
                <a:lnTo>
                  <a:pt x="229290" y="121673"/>
                </a:lnTo>
                <a:lnTo>
                  <a:pt x="230269" y="118243"/>
                </a:lnTo>
                <a:lnTo>
                  <a:pt x="225399" y="115655"/>
                </a:lnTo>
                <a:lnTo>
                  <a:pt x="225646" y="112099"/>
                </a:lnTo>
                <a:lnTo>
                  <a:pt x="233181" y="110381"/>
                </a:lnTo>
                <a:lnTo>
                  <a:pt x="232465" y="103444"/>
                </a:lnTo>
                <a:lnTo>
                  <a:pt x="233778" y="102937"/>
                </a:lnTo>
                <a:lnTo>
                  <a:pt x="234844" y="104583"/>
                </a:lnTo>
                <a:lnTo>
                  <a:pt x="241624" y="104230"/>
                </a:lnTo>
                <a:lnTo>
                  <a:pt x="246127" y="108237"/>
                </a:lnTo>
                <a:lnTo>
                  <a:pt x="249103" y="106555"/>
                </a:lnTo>
                <a:lnTo>
                  <a:pt x="249286" y="104538"/>
                </a:lnTo>
                <a:lnTo>
                  <a:pt x="244536" y="96573"/>
                </a:lnTo>
                <a:lnTo>
                  <a:pt x="246279" y="96356"/>
                </a:lnTo>
                <a:lnTo>
                  <a:pt x="246366" y="93617"/>
                </a:lnTo>
                <a:lnTo>
                  <a:pt x="248554" y="92668"/>
                </a:lnTo>
                <a:lnTo>
                  <a:pt x="248897" y="89813"/>
                </a:lnTo>
                <a:lnTo>
                  <a:pt x="251984" y="88051"/>
                </a:lnTo>
                <a:lnTo>
                  <a:pt x="252366" y="86163"/>
                </a:lnTo>
                <a:lnTo>
                  <a:pt x="247138" y="86434"/>
                </a:lnTo>
                <a:lnTo>
                  <a:pt x="244313" y="83489"/>
                </a:lnTo>
                <a:lnTo>
                  <a:pt x="244496" y="77203"/>
                </a:lnTo>
                <a:lnTo>
                  <a:pt x="243343" y="75849"/>
                </a:lnTo>
                <a:lnTo>
                  <a:pt x="245626" y="72824"/>
                </a:lnTo>
                <a:lnTo>
                  <a:pt x="243502" y="72328"/>
                </a:lnTo>
                <a:lnTo>
                  <a:pt x="242897" y="69647"/>
                </a:lnTo>
                <a:lnTo>
                  <a:pt x="240303" y="69665"/>
                </a:lnTo>
                <a:lnTo>
                  <a:pt x="239698" y="63871"/>
                </a:lnTo>
                <a:lnTo>
                  <a:pt x="235433" y="59739"/>
                </a:lnTo>
                <a:lnTo>
                  <a:pt x="235935" y="55662"/>
                </a:lnTo>
                <a:lnTo>
                  <a:pt x="240016" y="53101"/>
                </a:lnTo>
                <a:lnTo>
                  <a:pt x="243422" y="54751"/>
                </a:lnTo>
                <a:lnTo>
                  <a:pt x="245833" y="52541"/>
                </a:lnTo>
                <a:lnTo>
                  <a:pt x="247106" y="53398"/>
                </a:lnTo>
                <a:lnTo>
                  <a:pt x="249326" y="47961"/>
                </a:lnTo>
                <a:lnTo>
                  <a:pt x="252270" y="49034"/>
                </a:lnTo>
                <a:lnTo>
                  <a:pt x="252804" y="47069"/>
                </a:lnTo>
                <a:lnTo>
                  <a:pt x="247631" y="37110"/>
                </a:lnTo>
                <a:lnTo>
                  <a:pt x="238115" y="36867"/>
                </a:lnTo>
                <a:lnTo>
                  <a:pt x="236770" y="38083"/>
                </a:lnTo>
                <a:lnTo>
                  <a:pt x="233070" y="35101"/>
                </a:lnTo>
                <a:lnTo>
                  <a:pt x="230046" y="42364"/>
                </a:lnTo>
                <a:lnTo>
                  <a:pt x="228296" y="42652"/>
                </a:lnTo>
                <a:lnTo>
                  <a:pt x="227182" y="39435"/>
                </a:lnTo>
                <a:lnTo>
                  <a:pt x="224277" y="37759"/>
                </a:lnTo>
                <a:lnTo>
                  <a:pt x="223991" y="32687"/>
                </a:lnTo>
                <a:lnTo>
                  <a:pt x="218922" y="29237"/>
                </a:lnTo>
                <a:lnTo>
                  <a:pt x="218604" y="23762"/>
                </a:lnTo>
                <a:lnTo>
                  <a:pt x="216233" y="22394"/>
                </a:lnTo>
                <a:lnTo>
                  <a:pt x="217641" y="18847"/>
                </a:lnTo>
                <a:lnTo>
                  <a:pt x="215175" y="16174"/>
                </a:lnTo>
                <a:lnTo>
                  <a:pt x="215015" y="13132"/>
                </a:lnTo>
                <a:lnTo>
                  <a:pt x="211793" y="11999"/>
                </a:lnTo>
                <a:lnTo>
                  <a:pt x="210663" y="9650"/>
                </a:lnTo>
                <a:lnTo>
                  <a:pt x="210830" y="4532"/>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0" name="">
            <a:extLst xmlns:a="http://schemas.openxmlformats.org/drawingml/2006/main">
              <a:ext uri="{FF2B5EF4-FFF2-40B4-BE49-F238E27FC236}">
                <a16:creationId xmlns:a16="http://schemas.microsoft.com/office/drawing/2014/main" id="{C13B7ADB-7AFE-4252-965F-4474B2CC6D6F}"/>
              </a:ext>
            </a:extLst>
          </p:cNvPr>
          <p:cNvSpPr>
            <a:spLocks xmlns:a="http://schemas.openxmlformats.org/drawingml/2006/main" noGrp="1"/>
          </p:cNvSpPr>
          <p:nvPr/>
        </p:nvSpPr>
        <p:spPr>
          <a:xfrm xmlns:a="http://schemas.openxmlformats.org/drawingml/2006/main">
            <a:off x="654526" y="6271280"/>
            <a:ext cx="329501" cy="278262"/>
          </a:xfrm>
          <a:custGeom xmlns:a="http://schemas.openxmlformats.org/drawingml/2006/main">
            <a:pathLst>
              <a:path w="329501" h="278262">
                <a:moveTo>
                  <a:pt x="171888" y="213155"/>
                </a:moveTo>
                <a:lnTo>
                  <a:pt x="174291" y="208942"/>
                </a:lnTo>
                <a:lnTo>
                  <a:pt x="173432" y="206246"/>
                </a:lnTo>
                <a:lnTo>
                  <a:pt x="175262" y="201091"/>
                </a:lnTo>
                <a:lnTo>
                  <a:pt x="177180" y="199712"/>
                </a:lnTo>
                <a:lnTo>
                  <a:pt x="179408" y="194332"/>
                </a:lnTo>
                <a:lnTo>
                  <a:pt x="180402" y="177377"/>
                </a:lnTo>
                <a:lnTo>
                  <a:pt x="181341" y="175646"/>
                </a:lnTo>
                <a:lnTo>
                  <a:pt x="185877" y="175963"/>
                </a:lnTo>
                <a:lnTo>
                  <a:pt x="186529" y="170798"/>
                </a:lnTo>
                <a:lnTo>
                  <a:pt x="189179" y="169874"/>
                </a:lnTo>
                <a:lnTo>
                  <a:pt x="190587" y="171913"/>
                </a:lnTo>
                <a:lnTo>
                  <a:pt x="188948" y="181202"/>
                </a:lnTo>
                <a:lnTo>
                  <a:pt x="194781" y="188110"/>
                </a:lnTo>
                <a:lnTo>
                  <a:pt x="193102" y="189970"/>
                </a:lnTo>
                <a:lnTo>
                  <a:pt x="193261" y="192908"/>
                </a:lnTo>
                <a:lnTo>
                  <a:pt x="197502" y="194867"/>
                </a:lnTo>
                <a:lnTo>
                  <a:pt x="196977" y="196038"/>
                </a:lnTo>
                <a:lnTo>
                  <a:pt x="199905" y="197026"/>
                </a:lnTo>
                <a:lnTo>
                  <a:pt x="204043" y="193126"/>
                </a:lnTo>
                <a:lnTo>
                  <a:pt x="208419" y="193325"/>
                </a:lnTo>
                <a:lnTo>
                  <a:pt x="210185" y="190133"/>
                </a:lnTo>
                <a:lnTo>
                  <a:pt x="211116" y="191638"/>
                </a:lnTo>
                <a:lnTo>
                  <a:pt x="212644" y="191294"/>
                </a:lnTo>
                <a:lnTo>
                  <a:pt x="213830" y="188110"/>
                </a:lnTo>
                <a:lnTo>
                  <a:pt x="212604" y="180685"/>
                </a:lnTo>
                <a:lnTo>
                  <a:pt x="216352" y="169294"/>
                </a:lnTo>
                <a:lnTo>
                  <a:pt x="213360" y="161723"/>
                </a:lnTo>
                <a:lnTo>
                  <a:pt x="210822" y="159097"/>
                </a:lnTo>
                <a:lnTo>
                  <a:pt x="217395" y="154941"/>
                </a:lnTo>
                <a:lnTo>
                  <a:pt x="216782" y="151837"/>
                </a:lnTo>
                <a:lnTo>
                  <a:pt x="218524" y="145457"/>
                </a:lnTo>
                <a:lnTo>
                  <a:pt x="216479" y="140473"/>
                </a:lnTo>
                <a:lnTo>
                  <a:pt x="221500" y="131095"/>
                </a:lnTo>
                <a:lnTo>
                  <a:pt x="229760" y="131358"/>
                </a:lnTo>
                <a:lnTo>
                  <a:pt x="231677" y="129785"/>
                </a:lnTo>
                <a:lnTo>
                  <a:pt x="234375" y="130924"/>
                </a:lnTo>
                <a:lnTo>
                  <a:pt x="235441" y="129821"/>
                </a:lnTo>
                <a:lnTo>
                  <a:pt x="240828" y="131593"/>
                </a:lnTo>
                <a:lnTo>
                  <a:pt x="247480" y="130246"/>
                </a:lnTo>
                <a:lnTo>
                  <a:pt x="249708" y="134188"/>
                </a:lnTo>
                <a:lnTo>
                  <a:pt x="253416" y="127082"/>
                </a:lnTo>
                <a:lnTo>
                  <a:pt x="254801" y="127281"/>
                </a:lnTo>
                <a:lnTo>
                  <a:pt x="256328" y="125048"/>
                </a:lnTo>
                <a:lnTo>
                  <a:pt x="255461" y="120413"/>
                </a:lnTo>
                <a:lnTo>
                  <a:pt x="253130" y="118805"/>
                </a:lnTo>
                <a:lnTo>
                  <a:pt x="255214" y="114333"/>
                </a:lnTo>
                <a:lnTo>
                  <a:pt x="261119" y="115634"/>
                </a:lnTo>
                <a:lnTo>
                  <a:pt x="265145" y="114207"/>
                </a:lnTo>
                <a:lnTo>
                  <a:pt x="266306" y="110423"/>
                </a:lnTo>
                <a:lnTo>
                  <a:pt x="265407" y="106702"/>
                </a:lnTo>
                <a:lnTo>
                  <a:pt x="267484" y="102929"/>
                </a:lnTo>
                <a:lnTo>
                  <a:pt x="270754" y="102992"/>
                </a:lnTo>
                <a:lnTo>
                  <a:pt x="276062" y="96819"/>
                </a:lnTo>
                <a:lnTo>
                  <a:pt x="283008" y="98624"/>
                </a:lnTo>
                <a:lnTo>
                  <a:pt x="283613" y="100501"/>
                </a:lnTo>
                <a:lnTo>
                  <a:pt x="288149" y="102703"/>
                </a:lnTo>
                <a:lnTo>
                  <a:pt x="288340" y="100591"/>
                </a:lnTo>
                <a:lnTo>
                  <a:pt x="289342" y="100690"/>
                </a:lnTo>
                <a:lnTo>
                  <a:pt x="290385" y="102107"/>
                </a:lnTo>
                <a:lnTo>
                  <a:pt x="289541" y="104698"/>
                </a:lnTo>
                <a:lnTo>
                  <a:pt x="293106" y="106702"/>
                </a:lnTo>
                <a:lnTo>
                  <a:pt x="296997" y="105935"/>
                </a:lnTo>
                <a:lnTo>
                  <a:pt x="301317" y="110314"/>
                </a:lnTo>
                <a:lnTo>
                  <a:pt x="301333" y="120151"/>
                </a:lnTo>
                <a:lnTo>
                  <a:pt x="305885" y="118199"/>
                </a:lnTo>
                <a:lnTo>
                  <a:pt x="306728" y="115959"/>
                </a:lnTo>
                <a:lnTo>
                  <a:pt x="313738" y="114974"/>
                </a:lnTo>
                <a:lnTo>
                  <a:pt x="313110" y="117585"/>
                </a:lnTo>
                <a:lnTo>
                  <a:pt x="316189" y="117359"/>
                </a:lnTo>
                <a:lnTo>
                  <a:pt x="318982" y="113881"/>
                </a:lnTo>
                <a:lnTo>
                  <a:pt x="322953" y="112184"/>
                </a:lnTo>
                <a:lnTo>
                  <a:pt x="323390" y="107073"/>
                </a:lnTo>
                <a:lnTo>
                  <a:pt x="328722" y="105962"/>
                </a:lnTo>
                <a:lnTo>
                  <a:pt x="326541" y="97487"/>
                </a:lnTo>
                <a:lnTo>
                  <a:pt x="322921" y="95474"/>
                </a:lnTo>
                <a:lnTo>
                  <a:pt x="324274" y="94085"/>
                </a:lnTo>
                <a:lnTo>
                  <a:pt x="322873" y="86399"/>
                </a:lnTo>
                <a:lnTo>
                  <a:pt x="324552" y="79393"/>
                </a:lnTo>
                <a:lnTo>
                  <a:pt x="326374" y="76833"/>
                </a:lnTo>
                <a:lnTo>
                  <a:pt x="329366" y="77726"/>
                </a:lnTo>
                <a:lnTo>
                  <a:pt x="329501" y="74445"/>
                </a:lnTo>
                <a:lnTo>
                  <a:pt x="326048" y="72318"/>
                </a:lnTo>
                <a:lnTo>
                  <a:pt x="325173" y="61309"/>
                </a:lnTo>
                <a:lnTo>
                  <a:pt x="322069" y="60769"/>
                </a:lnTo>
                <a:lnTo>
                  <a:pt x="318720" y="56113"/>
                </a:lnTo>
                <a:lnTo>
                  <a:pt x="314757" y="56149"/>
                </a:lnTo>
                <a:lnTo>
                  <a:pt x="314685" y="52179"/>
                </a:lnTo>
                <a:lnTo>
                  <a:pt x="302925" y="44421"/>
                </a:lnTo>
                <a:lnTo>
                  <a:pt x="303418" y="40922"/>
                </a:lnTo>
                <a:lnTo>
                  <a:pt x="295047" y="32593"/>
                </a:lnTo>
                <a:lnTo>
                  <a:pt x="292119" y="35066"/>
                </a:lnTo>
                <a:lnTo>
                  <a:pt x="289843" y="34535"/>
                </a:lnTo>
                <a:lnTo>
                  <a:pt x="288570" y="30921"/>
                </a:lnTo>
                <a:lnTo>
                  <a:pt x="285578" y="31065"/>
                </a:lnTo>
                <a:lnTo>
                  <a:pt x="285181" y="27109"/>
                </a:lnTo>
                <a:lnTo>
                  <a:pt x="278871" y="26327"/>
                </a:lnTo>
                <a:lnTo>
                  <a:pt x="276961" y="23244"/>
                </a:lnTo>
                <a:lnTo>
                  <a:pt x="275043" y="23514"/>
                </a:lnTo>
                <a:lnTo>
                  <a:pt x="271439" y="20683"/>
                </a:lnTo>
                <a:lnTo>
                  <a:pt x="271113" y="22345"/>
                </a:lnTo>
                <a:lnTo>
                  <a:pt x="267938" y="20144"/>
                </a:lnTo>
                <a:lnTo>
                  <a:pt x="265773" y="23810"/>
                </a:lnTo>
                <a:lnTo>
                  <a:pt x="264301" y="22929"/>
                </a:lnTo>
                <a:lnTo>
                  <a:pt x="263537" y="20018"/>
                </a:lnTo>
                <a:lnTo>
                  <a:pt x="265598" y="19658"/>
                </a:lnTo>
                <a:lnTo>
                  <a:pt x="263712" y="16532"/>
                </a:lnTo>
                <a:lnTo>
                  <a:pt x="261683" y="17035"/>
                </a:lnTo>
                <a:lnTo>
                  <a:pt x="263935" y="13999"/>
                </a:lnTo>
                <a:lnTo>
                  <a:pt x="259718" y="13010"/>
                </a:lnTo>
                <a:lnTo>
                  <a:pt x="260920" y="14475"/>
                </a:lnTo>
                <a:lnTo>
                  <a:pt x="260179" y="15391"/>
                </a:lnTo>
                <a:lnTo>
                  <a:pt x="252230" y="4839"/>
                </a:lnTo>
                <a:lnTo>
                  <a:pt x="249573" y="8268"/>
                </a:lnTo>
                <a:lnTo>
                  <a:pt x="241823" y="10792"/>
                </a:lnTo>
                <a:lnTo>
                  <a:pt x="240144" y="13343"/>
                </a:lnTo>
                <a:lnTo>
                  <a:pt x="234924" y="10262"/>
                </a:lnTo>
                <a:lnTo>
                  <a:pt x="222582" y="22480"/>
                </a:lnTo>
                <a:lnTo>
                  <a:pt x="221524" y="20162"/>
                </a:lnTo>
                <a:lnTo>
                  <a:pt x="217498" y="18553"/>
                </a:lnTo>
                <a:lnTo>
                  <a:pt x="214403" y="15238"/>
                </a:lnTo>
                <a:lnTo>
                  <a:pt x="210018" y="19389"/>
                </a:lnTo>
                <a:lnTo>
                  <a:pt x="207894" y="19218"/>
                </a:lnTo>
                <a:lnTo>
                  <a:pt x="206223" y="22121"/>
                </a:lnTo>
                <a:lnTo>
                  <a:pt x="203191" y="20305"/>
                </a:lnTo>
                <a:lnTo>
                  <a:pt x="202754" y="17754"/>
                </a:lnTo>
                <a:lnTo>
                  <a:pt x="199356" y="18176"/>
                </a:lnTo>
                <a:lnTo>
                  <a:pt x="192473" y="12768"/>
                </a:lnTo>
                <a:lnTo>
                  <a:pt x="187556" y="13585"/>
                </a:lnTo>
                <a:lnTo>
                  <a:pt x="186195" y="11367"/>
                </a:lnTo>
                <a:lnTo>
                  <a:pt x="181421" y="11250"/>
                </a:lnTo>
                <a:lnTo>
                  <a:pt x="180943" y="6473"/>
                </a:lnTo>
                <a:lnTo>
                  <a:pt x="179360" y="4722"/>
                </a:lnTo>
                <a:lnTo>
                  <a:pt x="169779" y="4910"/>
                </a:lnTo>
                <a:lnTo>
                  <a:pt x="169875" y="1266"/>
                </a:lnTo>
                <a:lnTo>
                  <a:pt x="168284" y="0"/>
                </a:lnTo>
                <a:lnTo>
                  <a:pt x="151614" y="763"/>
                </a:lnTo>
                <a:lnTo>
                  <a:pt x="149632" y="2091"/>
                </a:lnTo>
                <a:lnTo>
                  <a:pt x="149887" y="6347"/>
                </a:lnTo>
                <a:lnTo>
                  <a:pt x="148192" y="5871"/>
                </a:lnTo>
                <a:lnTo>
                  <a:pt x="149330" y="11151"/>
                </a:lnTo>
                <a:lnTo>
                  <a:pt x="141468" y="16496"/>
                </a:lnTo>
                <a:lnTo>
                  <a:pt x="139630" y="16316"/>
                </a:lnTo>
                <a:lnTo>
                  <a:pt x="133790" y="9220"/>
                </a:lnTo>
                <a:lnTo>
                  <a:pt x="132525" y="9732"/>
                </a:lnTo>
                <a:lnTo>
                  <a:pt x="132978" y="5647"/>
                </a:lnTo>
                <a:lnTo>
                  <a:pt x="128538" y="8708"/>
                </a:lnTo>
                <a:lnTo>
                  <a:pt x="123231" y="9840"/>
                </a:lnTo>
                <a:lnTo>
                  <a:pt x="118003" y="17071"/>
                </a:lnTo>
                <a:lnTo>
                  <a:pt x="117207" y="20314"/>
                </a:lnTo>
                <a:lnTo>
                  <a:pt x="124138" y="26713"/>
                </a:lnTo>
                <a:lnTo>
                  <a:pt x="126032" y="33465"/>
                </a:lnTo>
                <a:lnTo>
                  <a:pt x="121639" y="39221"/>
                </a:lnTo>
                <a:lnTo>
                  <a:pt x="119618" y="48309"/>
                </a:lnTo>
                <a:lnTo>
                  <a:pt x="113412" y="55537"/>
                </a:lnTo>
                <a:lnTo>
                  <a:pt x="113778" y="60796"/>
                </a:lnTo>
                <a:lnTo>
                  <a:pt x="108677" y="62093"/>
                </a:lnTo>
                <a:lnTo>
                  <a:pt x="105757" y="57644"/>
                </a:lnTo>
                <a:lnTo>
                  <a:pt x="103855" y="58139"/>
                </a:lnTo>
                <a:lnTo>
                  <a:pt x="99606" y="63291"/>
                </a:lnTo>
                <a:lnTo>
                  <a:pt x="92405" y="67659"/>
                </a:lnTo>
                <a:lnTo>
                  <a:pt x="91554" y="73192"/>
                </a:lnTo>
                <a:lnTo>
                  <a:pt x="89628" y="75166"/>
                </a:lnTo>
                <a:lnTo>
                  <a:pt x="86867" y="75454"/>
                </a:lnTo>
                <a:lnTo>
                  <a:pt x="79817" y="71597"/>
                </a:lnTo>
                <a:lnTo>
                  <a:pt x="76404" y="75526"/>
                </a:lnTo>
                <a:lnTo>
                  <a:pt x="76953" y="79420"/>
                </a:lnTo>
                <a:lnTo>
                  <a:pt x="75035" y="83478"/>
                </a:lnTo>
                <a:lnTo>
                  <a:pt x="69497" y="80782"/>
                </a:lnTo>
                <a:lnTo>
                  <a:pt x="61476" y="83387"/>
                </a:lnTo>
                <a:lnTo>
                  <a:pt x="54347" y="88771"/>
                </a:lnTo>
                <a:lnTo>
                  <a:pt x="53432" y="91405"/>
                </a:lnTo>
                <a:lnTo>
                  <a:pt x="55492" y="94816"/>
                </a:lnTo>
                <a:lnTo>
                  <a:pt x="54482" y="97992"/>
                </a:lnTo>
                <a:lnTo>
                  <a:pt x="47742" y="101954"/>
                </a:lnTo>
                <a:lnTo>
                  <a:pt x="46461" y="110278"/>
                </a:lnTo>
                <a:lnTo>
                  <a:pt x="43445" y="110621"/>
                </a:lnTo>
                <a:lnTo>
                  <a:pt x="40430" y="116004"/>
                </a:lnTo>
                <a:lnTo>
                  <a:pt x="36228" y="117684"/>
                </a:lnTo>
                <a:lnTo>
                  <a:pt x="35679" y="119265"/>
                </a:lnTo>
                <a:lnTo>
                  <a:pt x="39355" y="123467"/>
                </a:lnTo>
                <a:lnTo>
                  <a:pt x="38751" y="125961"/>
                </a:lnTo>
                <a:lnTo>
                  <a:pt x="34430" y="127453"/>
                </a:lnTo>
                <a:lnTo>
                  <a:pt x="32266" y="130942"/>
                </a:lnTo>
                <a:lnTo>
                  <a:pt x="31311" y="135155"/>
                </a:lnTo>
                <a:lnTo>
                  <a:pt x="33539" y="137172"/>
                </a:lnTo>
                <a:lnTo>
                  <a:pt x="35162" y="143413"/>
                </a:lnTo>
                <a:lnTo>
                  <a:pt x="35114" y="147502"/>
                </a:lnTo>
                <a:lnTo>
                  <a:pt x="32353" y="149484"/>
                </a:lnTo>
                <a:lnTo>
                  <a:pt x="33412" y="150688"/>
                </a:lnTo>
                <a:lnTo>
                  <a:pt x="32091" y="153231"/>
                </a:lnTo>
                <a:lnTo>
                  <a:pt x="34979" y="154263"/>
                </a:lnTo>
                <a:lnTo>
                  <a:pt x="35671" y="157250"/>
                </a:lnTo>
                <a:lnTo>
                  <a:pt x="31613" y="157585"/>
                </a:lnTo>
                <a:lnTo>
                  <a:pt x="28144" y="163353"/>
                </a:lnTo>
                <a:lnTo>
                  <a:pt x="19893" y="158608"/>
                </a:lnTo>
                <a:lnTo>
                  <a:pt x="15596" y="161578"/>
                </a:lnTo>
                <a:lnTo>
                  <a:pt x="12683" y="161170"/>
                </a:lnTo>
                <a:lnTo>
                  <a:pt x="10487" y="164548"/>
                </a:lnTo>
                <a:lnTo>
                  <a:pt x="4567" y="166541"/>
                </a:lnTo>
                <a:lnTo>
                  <a:pt x="3581" y="170083"/>
                </a:lnTo>
                <a:lnTo>
                  <a:pt x="557" y="170128"/>
                </a:lnTo>
                <a:lnTo>
                  <a:pt x="0" y="172701"/>
                </a:lnTo>
                <a:lnTo>
                  <a:pt x="6580" y="178401"/>
                </a:lnTo>
                <a:lnTo>
                  <a:pt x="5212" y="183504"/>
                </a:lnTo>
                <a:lnTo>
                  <a:pt x="9556" y="185862"/>
                </a:lnTo>
                <a:lnTo>
                  <a:pt x="7686" y="187185"/>
                </a:lnTo>
                <a:lnTo>
                  <a:pt x="7639" y="190523"/>
                </a:lnTo>
                <a:lnTo>
                  <a:pt x="5164" y="192192"/>
                </a:lnTo>
                <a:lnTo>
                  <a:pt x="4281" y="195738"/>
                </a:lnTo>
                <a:lnTo>
                  <a:pt x="7066" y="195248"/>
                </a:lnTo>
                <a:lnTo>
                  <a:pt x="9389" y="196691"/>
                </a:lnTo>
                <a:lnTo>
                  <a:pt x="15381" y="193969"/>
                </a:lnTo>
                <a:lnTo>
                  <a:pt x="15715" y="197081"/>
                </a:lnTo>
                <a:lnTo>
                  <a:pt x="18643" y="198732"/>
                </a:lnTo>
                <a:lnTo>
                  <a:pt x="17999" y="200356"/>
                </a:lnTo>
                <a:lnTo>
                  <a:pt x="20362" y="201826"/>
                </a:lnTo>
                <a:lnTo>
                  <a:pt x="23338" y="201100"/>
                </a:lnTo>
                <a:lnTo>
                  <a:pt x="22081" y="208379"/>
                </a:lnTo>
                <a:lnTo>
                  <a:pt x="26966" y="210921"/>
                </a:lnTo>
                <a:lnTo>
                  <a:pt x="27762" y="215007"/>
                </a:lnTo>
                <a:lnTo>
                  <a:pt x="26537" y="222137"/>
                </a:lnTo>
                <a:lnTo>
                  <a:pt x="22900" y="226217"/>
                </a:lnTo>
                <a:lnTo>
                  <a:pt x="24508" y="229561"/>
                </a:lnTo>
                <a:lnTo>
                  <a:pt x="24134" y="232851"/>
                </a:lnTo>
                <a:lnTo>
                  <a:pt x="20274" y="239915"/>
                </a:lnTo>
                <a:lnTo>
                  <a:pt x="22916" y="242461"/>
                </a:lnTo>
                <a:lnTo>
                  <a:pt x="27619" y="241761"/>
                </a:lnTo>
                <a:lnTo>
                  <a:pt x="31231" y="245326"/>
                </a:lnTo>
                <a:lnTo>
                  <a:pt x="39546" y="244235"/>
                </a:lnTo>
                <a:lnTo>
                  <a:pt x="39801" y="250147"/>
                </a:lnTo>
                <a:lnTo>
                  <a:pt x="34629" y="263744"/>
                </a:lnTo>
                <a:lnTo>
                  <a:pt x="39881" y="268634"/>
                </a:lnTo>
                <a:lnTo>
                  <a:pt x="41552" y="266239"/>
                </a:lnTo>
                <a:lnTo>
                  <a:pt x="47933" y="268907"/>
                </a:lnTo>
                <a:lnTo>
                  <a:pt x="51609" y="262033"/>
                </a:lnTo>
                <a:lnTo>
                  <a:pt x="54450" y="261104"/>
                </a:lnTo>
                <a:lnTo>
                  <a:pt x="56041" y="264882"/>
                </a:lnTo>
                <a:lnTo>
                  <a:pt x="60855" y="268288"/>
                </a:lnTo>
                <a:lnTo>
                  <a:pt x="60943" y="277086"/>
                </a:lnTo>
                <a:lnTo>
                  <a:pt x="63251" y="278262"/>
                </a:lnTo>
                <a:lnTo>
                  <a:pt x="72536" y="275929"/>
                </a:lnTo>
                <a:lnTo>
                  <a:pt x="77255" y="264327"/>
                </a:lnTo>
                <a:lnTo>
                  <a:pt x="76571" y="262979"/>
                </a:lnTo>
                <a:lnTo>
                  <a:pt x="80040" y="256471"/>
                </a:lnTo>
                <a:lnTo>
                  <a:pt x="94148" y="242425"/>
                </a:lnTo>
                <a:lnTo>
                  <a:pt x="96535" y="244817"/>
                </a:lnTo>
                <a:lnTo>
                  <a:pt x="100466" y="241333"/>
                </a:lnTo>
                <a:lnTo>
                  <a:pt x="104118" y="235714"/>
                </a:lnTo>
                <a:lnTo>
                  <a:pt x="105948" y="225026"/>
                </a:lnTo>
                <a:lnTo>
                  <a:pt x="110141" y="223300"/>
                </a:lnTo>
                <a:lnTo>
                  <a:pt x="114255" y="217278"/>
                </a:lnTo>
                <a:lnTo>
                  <a:pt x="115783" y="217868"/>
                </a:lnTo>
                <a:lnTo>
                  <a:pt x="116213" y="220230"/>
                </a:lnTo>
                <a:lnTo>
                  <a:pt x="118823" y="221411"/>
                </a:lnTo>
                <a:lnTo>
                  <a:pt x="122236" y="219912"/>
                </a:lnTo>
                <a:lnTo>
                  <a:pt x="126684" y="221365"/>
                </a:lnTo>
                <a:lnTo>
                  <a:pt x="128387" y="223918"/>
                </a:lnTo>
                <a:lnTo>
                  <a:pt x="133082" y="220520"/>
                </a:lnTo>
                <a:lnTo>
                  <a:pt x="134283" y="224354"/>
                </a:lnTo>
                <a:lnTo>
                  <a:pt x="132127" y="227543"/>
                </a:lnTo>
                <a:lnTo>
                  <a:pt x="135604" y="231197"/>
                </a:lnTo>
                <a:lnTo>
                  <a:pt x="158266" y="226671"/>
                </a:lnTo>
                <a:lnTo>
                  <a:pt x="159236" y="230188"/>
                </a:lnTo>
                <a:lnTo>
                  <a:pt x="160454" y="230061"/>
                </a:lnTo>
                <a:lnTo>
                  <a:pt x="161878" y="224981"/>
                </a:lnTo>
                <a:lnTo>
                  <a:pt x="159793" y="219730"/>
                </a:lnTo>
                <a:lnTo>
                  <a:pt x="162483" y="218422"/>
                </a:lnTo>
                <a:lnTo>
                  <a:pt x="163446" y="213464"/>
                </a:lnTo>
                <a:lnTo>
                  <a:pt x="162618" y="210740"/>
                </a:lnTo>
                <a:lnTo>
                  <a:pt x="166939" y="208779"/>
                </a:lnTo>
                <a:lnTo>
                  <a:pt x="169461" y="212383"/>
                </a:lnTo>
                <a:lnTo>
                  <a:pt x="171888" y="213155"/>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1" name="">
            <a:extLst xmlns:a="http://schemas.openxmlformats.org/drawingml/2006/main">
              <a:ext uri="{FF2B5EF4-FFF2-40B4-BE49-F238E27FC236}">
                <a16:creationId xmlns:a16="http://schemas.microsoft.com/office/drawing/2014/main" id="{69C95398-A590-42E3-A8F4-E95EBB9299B0}"/>
              </a:ext>
            </a:extLst>
          </p:cNvPr>
          <p:cNvSpPr>
            <a:spLocks xmlns:a="http://schemas.openxmlformats.org/drawingml/2006/main" noGrp="1"/>
          </p:cNvSpPr>
          <p:nvPr/>
        </p:nvSpPr>
        <p:spPr>
          <a:xfrm xmlns:a="http://schemas.openxmlformats.org/drawingml/2006/main">
            <a:off x="1016548" y="5912743"/>
            <a:ext cx="267834" cy="233706"/>
          </a:xfrm>
          <a:custGeom xmlns:a="http://schemas.openxmlformats.org/drawingml/2006/main">
            <a:pathLst>
              <a:path w="267834" h="233706">
                <a:moveTo>
                  <a:pt x="0" y="53174"/>
                </a:moveTo>
                <a:lnTo>
                  <a:pt x="2236" y="55423"/>
                </a:lnTo>
                <a:lnTo>
                  <a:pt x="1822" y="65329"/>
                </a:lnTo>
                <a:lnTo>
                  <a:pt x="3819" y="66256"/>
                </a:lnTo>
                <a:lnTo>
                  <a:pt x="7336" y="63962"/>
                </a:lnTo>
                <a:lnTo>
                  <a:pt x="7424" y="66565"/>
                </a:lnTo>
                <a:lnTo>
                  <a:pt x="10631" y="70095"/>
                </a:lnTo>
                <a:lnTo>
                  <a:pt x="11100" y="74112"/>
                </a:lnTo>
                <a:lnTo>
                  <a:pt x="18063" y="79984"/>
                </a:lnTo>
                <a:lnTo>
                  <a:pt x="24730" y="82881"/>
                </a:lnTo>
                <a:lnTo>
                  <a:pt x="27102" y="87917"/>
                </a:lnTo>
                <a:lnTo>
                  <a:pt x="38353" y="89313"/>
                </a:lnTo>
                <a:lnTo>
                  <a:pt x="43064" y="84463"/>
                </a:lnTo>
                <a:lnTo>
                  <a:pt x="46358" y="84021"/>
                </a:lnTo>
                <a:lnTo>
                  <a:pt x="50766" y="89853"/>
                </a:lnTo>
                <a:lnTo>
                  <a:pt x="52055" y="88889"/>
                </a:lnTo>
                <a:lnTo>
                  <a:pt x="55874" y="91982"/>
                </a:lnTo>
                <a:lnTo>
                  <a:pt x="53463" y="94015"/>
                </a:lnTo>
                <a:lnTo>
                  <a:pt x="54975" y="97454"/>
                </a:lnTo>
                <a:lnTo>
                  <a:pt x="52851" y="98957"/>
                </a:lnTo>
                <a:lnTo>
                  <a:pt x="53336" y="107563"/>
                </a:lnTo>
                <a:lnTo>
                  <a:pt x="58198" y="108368"/>
                </a:lnTo>
                <a:lnTo>
                  <a:pt x="61993" y="111491"/>
                </a:lnTo>
                <a:lnTo>
                  <a:pt x="69545" y="107784"/>
                </a:lnTo>
                <a:lnTo>
                  <a:pt x="71948" y="108669"/>
                </a:lnTo>
                <a:lnTo>
                  <a:pt x="70221" y="112881"/>
                </a:lnTo>
                <a:lnTo>
                  <a:pt x="72314" y="114093"/>
                </a:lnTo>
                <a:lnTo>
                  <a:pt x="82308" y="112394"/>
                </a:lnTo>
                <a:lnTo>
                  <a:pt x="88570" y="114580"/>
                </a:lnTo>
                <a:lnTo>
                  <a:pt x="90663" y="128321"/>
                </a:lnTo>
                <a:lnTo>
                  <a:pt x="92166" y="129100"/>
                </a:lnTo>
                <a:lnTo>
                  <a:pt x="89047" y="135285"/>
                </a:lnTo>
                <a:lnTo>
                  <a:pt x="81504" y="141666"/>
                </a:lnTo>
                <a:lnTo>
                  <a:pt x="80971" y="145123"/>
                </a:lnTo>
                <a:lnTo>
                  <a:pt x="75982" y="150639"/>
                </a:lnTo>
                <a:lnTo>
                  <a:pt x="59224" y="158144"/>
                </a:lnTo>
                <a:lnTo>
                  <a:pt x="53734" y="158756"/>
                </a:lnTo>
                <a:lnTo>
                  <a:pt x="50050" y="165129"/>
                </a:lnTo>
                <a:lnTo>
                  <a:pt x="51777" y="173200"/>
                </a:lnTo>
                <a:lnTo>
                  <a:pt x="44130" y="175331"/>
                </a:lnTo>
                <a:lnTo>
                  <a:pt x="41894" y="180519"/>
                </a:lnTo>
                <a:lnTo>
                  <a:pt x="34398" y="183354"/>
                </a:lnTo>
                <a:lnTo>
                  <a:pt x="34923" y="184980"/>
                </a:lnTo>
                <a:lnTo>
                  <a:pt x="30643" y="187779"/>
                </a:lnTo>
                <a:lnTo>
                  <a:pt x="29871" y="193851"/>
                </a:lnTo>
                <a:lnTo>
                  <a:pt x="28343" y="195603"/>
                </a:lnTo>
                <a:lnTo>
                  <a:pt x="31717" y="197960"/>
                </a:lnTo>
                <a:lnTo>
                  <a:pt x="34446" y="197355"/>
                </a:lnTo>
                <a:lnTo>
                  <a:pt x="37573" y="200682"/>
                </a:lnTo>
                <a:lnTo>
                  <a:pt x="39706" y="200095"/>
                </a:lnTo>
                <a:lnTo>
                  <a:pt x="39913" y="204302"/>
                </a:lnTo>
                <a:lnTo>
                  <a:pt x="35886" y="210549"/>
                </a:lnTo>
                <a:lnTo>
                  <a:pt x="38807" y="211644"/>
                </a:lnTo>
                <a:lnTo>
                  <a:pt x="40175" y="213923"/>
                </a:lnTo>
                <a:lnTo>
                  <a:pt x="45618" y="213229"/>
                </a:lnTo>
                <a:lnTo>
                  <a:pt x="49883" y="207773"/>
                </a:lnTo>
                <a:lnTo>
                  <a:pt x="56670" y="204649"/>
                </a:lnTo>
                <a:lnTo>
                  <a:pt x="58437" y="205201"/>
                </a:lnTo>
                <a:lnTo>
                  <a:pt x="58285" y="207986"/>
                </a:lnTo>
                <a:lnTo>
                  <a:pt x="59702" y="207577"/>
                </a:lnTo>
                <a:lnTo>
                  <a:pt x="61142" y="209784"/>
                </a:lnTo>
                <a:lnTo>
                  <a:pt x="54187" y="213700"/>
                </a:lnTo>
                <a:lnTo>
                  <a:pt x="53766" y="216798"/>
                </a:lnTo>
                <a:lnTo>
                  <a:pt x="58007" y="219220"/>
                </a:lnTo>
                <a:lnTo>
                  <a:pt x="62709" y="219247"/>
                </a:lnTo>
                <a:lnTo>
                  <a:pt x="66465" y="213362"/>
                </a:lnTo>
                <a:lnTo>
                  <a:pt x="71717" y="211288"/>
                </a:lnTo>
                <a:lnTo>
                  <a:pt x="68813" y="215223"/>
                </a:lnTo>
                <a:lnTo>
                  <a:pt x="69282" y="217190"/>
                </a:lnTo>
                <a:lnTo>
                  <a:pt x="71685" y="217796"/>
                </a:lnTo>
                <a:lnTo>
                  <a:pt x="73698" y="216309"/>
                </a:lnTo>
                <a:lnTo>
                  <a:pt x="73714" y="218864"/>
                </a:lnTo>
                <a:lnTo>
                  <a:pt x="78091" y="218909"/>
                </a:lnTo>
                <a:lnTo>
                  <a:pt x="80963" y="220859"/>
                </a:lnTo>
                <a:lnTo>
                  <a:pt x="80836" y="217822"/>
                </a:lnTo>
                <a:lnTo>
                  <a:pt x="83716" y="216905"/>
                </a:lnTo>
                <a:lnTo>
                  <a:pt x="90774" y="219568"/>
                </a:lnTo>
                <a:lnTo>
                  <a:pt x="96423" y="217119"/>
                </a:lnTo>
                <a:lnTo>
                  <a:pt x="96288" y="221197"/>
                </a:lnTo>
                <a:lnTo>
                  <a:pt x="93822" y="224715"/>
                </a:lnTo>
                <a:lnTo>
                  <a:pt x="95747" y="226649"/>
                </a:lnTo>
                <a:lnTo>
                  <a:pt x="98341" y="227361"/>
                </a:lnTo>
                <a:lnTo>
                  <a:pt x="105550" y="223433"/>
                </a:lnTo>
                <a:lnTo>
                  <a:pt x="111025" y="217377"/>
                </a:lnTo>
                <a:lnTo>
                  <a:pt x="111892" y="219612"/>
                </a:lnTo>
                <a:lnTo>
                  <a:pt x="118504" y="221206"/>
                </a:lnTo>
                <a:lnTo>
                  <a:pt x="118242" y="225223"/>
                </a:lnTo>
                <a:lnTo>
                  <a:pt x="121974" y="225731"/>
                </a:lnTo>
                <a:lnTo>
                  <a:pt x="126501" y="220405"/>
                </a:lnTo>
                <a:lnTo>
                  <a:pt x="126573" y="216175"/>
                </a:lnTo>
                <a:lnTo>
                  <a:pt x="128729" y="211858"/>
                </a:lnTo>
                <a:lnTo>
                  <a:pt x="126597" y="209828"/>
                </a:lnTo>
                <a:lnTo>
                  <a:pt x="126183" y="205094"/>
                </a:lnTo>
                <a:lnTo>
                  <a:pt x="130870" y="201171"/>
                </a:lnTo>
                <a:lnTo>
                  <a:pt x="131013" y="198342"/>
                </a:lnTo>
                <a:lnTo>
                  <a:pt x="133670" y="196973"/>
                </a:lnTo>
                <a:lnTo>
                  <a:pt x="133511" y="194483"/>
                </a:lnTo>
                <a:lnTo>
                  <a:pt x="136153" y="199712"/>
                </a:lnTo>
                <a:lnTo>
                  <a:pt x="140784" y="198236"/>
                </a:lnTo>
                <a:lnTo>
                  <a:pt x="144619" y="199152"/>
                </a:lnTo>
                <a:lnTo>
                  <a:pt x="146123" y="201998"/>
                </a:lnTo>
                <a:lnTo>
                  <a:pt x="150324" y="201865"/>
                </a:lnTo>
                <a:lnTo>
                  <a:pt x="154192" y="197480"/>
                </a:lnTo>
                <a:lnTo>
                  <a:pt x="161273" y="198671"/>
                </a:lnTo>
                <a:lnTo>
                  <a:pt x="159833" y="206073"/>
                </a:lnTo>
                <a:lnTo>
                  <a:pt x="161250" y="208066"/>
                </a:lnTo>
                <a:lnTo>
                  <a:pt x="162133" y="206171"/>
                </a:lnTo>
                <a:lnTo>
                  <a:pt x="166835" y="205148"/>
                </a:lnTo>
                <a:lnTo>
                  <a:pt x="172389" y="211270"/>
                </a:lnTo>
                <a:lnTo>
                  <a:pt x="173328" y="214911"/>
                </a:lnTo>
                <a:lnTo>
                  <a:pt x="179129" y="216852"/>
                </a:lnTo>
                <a:lnTo>
                  <a:pt x="183299" y="215000"/>
                </a:lnTo>
                <a:lnTo>
                  <a:pt x="194033" y="225874"/>
                </a:lnTo>
                <a:lnTo>
                  <a:pt x="195735" y="228422"/>
                </a:lnTo>
                <a:lnTo>
                  <a:pt x="195139" y="229526"/>
                </a:lnTo>
                <a:lnTo>
                  <a:pt x="202021" y="233706"/>
                </a:lnTo>
                <a:lnTo>
                  <a:pt x="203931" y="233403"/>
                </a:lnTo>
                <a:lnTo>
                  <a:pt x="205666" y="230578"/>
                </a:lnTo>
                <a:lnTo>
                  <a:pt x="216822" y="227736"/>
                </a:lnTo>
                <a:lnTo>
                  <a:pt x="220689" y="222756"/>
                </a:lnTo>
                <a:lnTo>
                  <a:pt x="222352" y="217048"/>
                </a:lnTo>
                <a:lnTo>
                  <a:pt x="224397" y="215677"/>
                </a:lnTo>
                <a:lnTo>
                  <a:pt x="228916" y="218401"/>
                </a:lnTo>
                <a:lnTo>
                  <a:pt x="230906" y="216273"/>
                </a:lnTo>
                <a:lnTo>
                  <a:pt x="236436" y="216638"/>
                </a:lnTo>
                <a:lnTo>
                  <a:pt x="241488" y="210353"/>
                </a:lnTo>
                <a:lnTo>
                  <a:pt x="244369" y="210327"/>
                </a:lnTo>
                <a:lnTo>
                  <a:pt x="248682" y="213950"/>
                </a:lnTo>
                <a:lnTo>
                  <a:pt x="250806" y="212605"/>
                </a:lnTo>
                <a:lnTo>
                  <a:pt x="254578" y="213148"/>
                </a:lnTo>
                <a:lnTo>
                  <a:pt x="258755" y="210763"/>
                </a:lnTo>
                <a:lnTo>
                  <a:pt x="264198" y="203404"/>
                </a:lnTo>
                <a:lnTo>
                  <a:pt x="262766" y="200771"/>
                </a:lnTo>
                <a:lnTo>
                  <a:pt x="264301" y="197729"/>
                </a:lnTo>
                <a:lnTo>
                  <a:pt x="264341" y="192838"/>
                </a:lnTo>
                <a:lnTo>
                  <a:pt x="262782" y="189922"/>
                </a:lnTo>
                <a:lnTo>
                  <a:pt x="265344" y="187717"/>
                </a:lnTo>
                <a:lnTo>
                  <a:pt x="267834" y="178129"/>
                </a:lnTo>
                <a:lnTo>
                  <a:pt x="264978" y="175136"/>
                </a:lnTo>
                <a:lnTo>
                  <a:pt x="267086" y="171557"/>
                </a:lnTo>
                <a:lnTo>
                  <a:pt x="266728" y="166079"/>
                </a:lnTo>
                <a:lnTo>
                  <a:pt x="264540" y="167401"/>
                </a:lnTo>
                <a:lnTo>
                  <a:pt x="263147" y="164729"/>
                </a:lnTo>
                <a:lnTo>
                  <a:pt x="256679" y="166371"/>
                </a:lnTo>
                <a:lnTo>
                  <a:pt x="253663" y="163673"/>
                </a:lnTo>
                <a:lnTo>
                  <a:pt x="253185" y="160265"/>
                </a:lnTo>
                <a:lnTo>
                  <a:pt x="254705" y="157976"/>
                </a:lnTo>
                <a:lnTo>
                  <a:pt x="253734" y="155048"/>
                </a:lnTo>
                <a:lnTo>
                  <a:pt x="250886" y="154365"/>
                </a:lnTo>
                <a:lnTo>
                  <a:pt x="249103" y="156884"/>
                </a:lnTo>
                <a:lnTo>
                  <a:pt x="248467" y="154178"/>
                </a:lnTo>
                <a:lnTo>
                  <a:pt x="245769" y="152520"/>
                </a:lnTo>
                <a:lnTo>
                  <a:pt x="246271" y="146365"/>
                </a:lnTo>
                <a:lnTo>
                  <a:pt x="241170" y="149229"/>
                </a:lnTo>
                <a:lnTo>
                  <a:pt x="240144" y="148182"/>
                </a:lnTo>
                <a:lnTo>
                  <a:pt x="237128" y="131723"/>
                </a:lnTo>
                <a:lnTo>
                  <a:pt x="229760" y="134230"/>
                </a:lnTo>
                <a:lnTo>
                  <a:pt x="227031" y="132795"/>
                </a:lnTo>
                <a:lnTo>
                  <a:pt x="227794" y="128339"/>
                </a:lnTo>
                <a:lnTo>
                  <a:pt x="223545" y="129446"/>
                </a:lnTo>
                <a:lnTo>
                  <a:pt x="220482" y="127701"/>
                </a:lnTo>
                <a:lnTo>
                  <a:pt x="221278" y="124840"/>
                </a:lnTo>
                <a:lnTo>
                  <a:pt x="218214" y="121803"/>
                </a:lnTo>
                <a:lnTo>
                  <a:pt x="212342" y="123459"/>
                </a:lnTo>
                <a:lnTo>
                  <a:pt x="207186" y="129437"/>
                </a:lnTo>
                <a:lnTo>
                  <a:pt x="205165" y="125354"/>
                </a:lnTo>
                <a:lnTo>
                  <a:pt x="206016" y="121847"/>
                </a:lnTo>
                <a:lnTo>
                  <a:pt x="200812" y="126337"/>
                </a:lnTo>
                <a:lnTo>
                  <a:pt x="199252" y="125576"/>
                </a:lnTo>
                <a:lnTo>
                  <a:pt x="199977" y="120298"/>
                </a:lnTo>
                <a:lnTo>
                  <a:pt x="195823" y="111659"/>
                </a:lnTo>
                <a:lnTo>
                  <a:pt x="200446" y="105997"/>
                </a:lnTo>
                <a:lnTo>
                  <a:pt x="199905" y="101248"/>
                </a:lnTo>
                <a:lnTo>
                  <a:pt x="196372" y="101018"/>
                </a:lnTo>
                <a:lnTo>
                  <a:pt x="195537" y="102282"/>
                </a:lnTo>
                <a:lnTo>
                  <a:pt x="191924" y="98002"/>
                </a:lnTo>
                <a:lnTo>
                  <a:pt x="188200" y="97852"/>
                </a:lnTo>
                <a:lnTo>
                  <a:pt x="187802" y="95218"/>
                </a:lnTo>
                <a:lnTo>
                  <a:pt x="191606" y="86901"/>
                </a:lnTo>
                <a:lnTo>
                  <a:pt x="195680" y="84436"/>
                </a:lnTo>
                <a:lnTo>
                  <a:pt x="195664" y="78739"/>
                </a:lnTo>
                <a:lnTo>
                  <a:pt x="196985" y="76063"/>
                </a:lnTo>
                <a:lnTo>
                  <a:pt x="205984" y="74386"/>
                </a:lnTo>
                <a:lnTo>
                  <a:pt x="207416" y="71428"/>
                </a:lnTo>
                <a:lnTo>
                  <a:pt x="206724" y="69230"/>
                </a:lnTo>
                <a:lnTo>
                  <a:pt x="209334" y="65744"/>
                </a:lnTo>
                <a:lnTo>
                  <a:pt x="199682" y="55573"/>
                </a:lnTo>
                <a:lnTo>
                  <a:pt x="193110" y="55872"/>
                </a:lnTo>
                <a:lnTo>
                  <a:pt x="191367" y="53306"/>
                </a:lnTo>
                <a:lnTo>
                  <a:pt x="202698" y="48254"/>
                </a:lnTo>
                <a:lnTo>
                  <a:pt x="203374" y="45592"/>
                </a:lnTo>
                <a:lnTo>
                  <a:pt x="206533" y="44623"/>
                </a:lnTo>
                <a:lnTo>
                  <a:pt x="207313" y="42155"/>
                </a:lnTo>
                <a:lnTo>
                  <a:pt x="204679" y="39001"/>
                </a:lnTo>
                <a:lnTo>
                  <a:pt x="202571" y="39301"/>
                </a:lnTo>
                <a:lnTo>
                  <a:pt x="201751" y="35081"/>
                </a:lnTo>
                <a:lnTo>
                  <a:pt x="197215" y="34094"/>
                </a:lnTo>
                <a:lnTo>
                  <a:pt x="198489" y="33997"/>
                </a:lnTo>
                <a:lnTo>
                  <a:pt x="195871" y="26926"/>
                </a:lnTo>
                <a:lnTo>
                  <a:pt x="192306" y="29330"/>
                </a:lnTo>
                <a:lnTo>
                  <a:pt x="179113" y="28423"/>
                </a:lnTo>
                <a:lnTo>
                  <a:pt x="177840" y="27067"/>
                </a:lnTo>
                <a:lnTo>
                  <a:pt x="181150" y="17993"/>
                </a:lnTo>
                <a:lnTo>
                  <a:pt x="179670" y="13225"/>
                </a:lnTo>
                <a:lnTo>
                  <a:pt x="183259" y="6708"/>
                </a:lnTo>
                <a:lnTo>
                  <a:pt x="181747" y="5952"/>
                </a:lnTo>
                <a:lnTo>
                  <a:pt x="183490" y="4976"/>
                </a:lnTo>
                <a:lnTo>
                  <a:pt x="184023" y="2171"/>
                </a:lnTo>
                <a:lnTo>
                  <a:pt x="182662" y="0"/>
                </a:lnTo>
                <a:lnTo>
                  <a:pt x="154415" y="23872"/>
                </a:lnTo>
                <a:lnTo>
                  <a:pt x="139129" y="43909"/>
                </a:lnTo>
                <a:lnTo>
                  <a:pt x="131880" y="49991"/>
                </a:lnTo>
                <a:lnTo>
                  <a:pt x="122181" y="64173"/>
                </a:lnTo>
                <a:lnTo>
                  <a:pt x="120669" y="65453"/>
                </a:lnTo>
                <a:lnTo>
                  <a:pt x="114072" y="63759"/>
                </a:lnTo>
                <a:lnTo>
                  <a:pt x="114462" y="66485"/>
                </a:lnTo>
                <a:lnTo>
                  <a:pt x="112704" y="68498"/>
                </a:lnTo>
                <a:lnTo>
                  <a:pt x="111271" y="67950"/>
                </a:lnTo>
                <a:lnTo>
                  <a:pt x="107913" y="53474"/>
                </a:lnTo>
                <a:lnTo>
                  <a:pt x="102256" y="54505"/>
                </a:lnTo>
                <a:lnTo>
                  <a:pt x="98118" y="57486"/>
                </a:lnTo>
                <a:lnTo>
                  <a:pt x="95047" y="62224"/>
                </a:lnTo>
                <a:lnTo>
                  <a:pt x="92278" y="61597"/>
                </a:lnTo>
                <a:lnTo>
                  <a:pt x="86708" y="39653"/>
                </a:lnTo>
                <a:lnTo>
                  <a:pt x="91586" y="32993"/>
                </a:lnTo>
                <a:lnTo>
                  <a:pt x="100251" y="25412"/>
                </a:lnTo>
                <a:lnTo>
                  <a:pt x="104022" y="14192"/>
                </a:lnTo>
                <a:lnTo>
                  <a:pt x="103330" y="12468"/>
                </a:lnTo>
                <a:lnTo>
                  <a:pt x="96511" y="18231"/>
                </a:lnTo>
                <a:lnTo>
                  <a:pt x="93392" y="25351"/>
                </a:lnTo>
                <a:lnTo>
                  <a:pt x="89811" y="27138"/>
                </a:lnTo>
                <a:lnTo>
                  <a:pt x="88291" y="13365"/>
                </a:lnTo>
                <a:lnTo>
                  <a:pt x="83446" y="10348"/>
                </a:lnTo>
                <a:lnTo>
                  <a:pt x="80621" y="10304"/>
                </a:lnTo>
                <a:lnTo>
                  <a:pt x="69553" y="18512"/>
                </a:lnTo>
                <a:lnTo>
                  <a:pt x="71327" y="20123"/>
                </a:lnTo>
                <a:lnTo>
                  <a:pt x="69242" y="22147"/>
                </a:lnTo>
                <a:lnTo>
                  <a:pt x="68773" y="27684"/>
                </a:lnTo>
                <a:lnTo>
                  <a:pt x="65486" y="28476"/>
                </a:lnTo>
                <a:lnTo>
                  <a:pt x="65176" y="30158"/>
                </a:lnTo>
                <a:lnTo>
                  <a:pt x="61046" y="33196"/>
                </a:lnTo>
                <a:lnTo>
                  <a:pt x="58651" y="32166"/>
                </a:lnTo>
                <a:lnTo>
                  <a:pt x="53996" y="41962"/>
                </a:lnTo>
                <a:lnTo>
                  <a:pt x="52835" y="42490"/>
                </a:lnTo>
                <a:lnTo>
                  <a:pt x="52023" y="40772"/>
                </a:lnTo>
                <a:lnTo>
                  <a:pt x="48713" y="42006"/>
                </a:lnTo>
                <a:lnTo>
                  <a:pt x="44941" y="38067"/>
                </a:lnTo>
                <a:lnTo>
                  <a:pt x="42475" y="39459"/>
                </a:lnTo>
                <a:lnTo>
                  <a:pt x="37303" y="36860"/>
                </a:lnTo>
                <a:lnTo>
                  <a:pt x="31924" y="40825"/>
                </a:lnTo>
                <a:lnTo>
                  <a:pt x="27563" y="38975"/>
                </a:lnTo>
                <a:lnTo>
                  <a:pt x="26672" y="35979"/>
                </a:lnTo>
                <a:lnTo>
                  <a:pt x="18023" y="35239"/>
                </a:lnTo>
                <a:lnTo>
                  <a:pt x="11856" y="46650"/>
                </a:lnTo>
                <a:lnTo>
                  <a:pt x="11068" y="46042"/>
                </a:lnTo>
                <a:lnTo>
                  <a:pt x="7933" y="50238"/>
                </a:lnTo>
                <a:lnTo>
                  <a:pt x="629" y="50511"/>
                </a:lnTo>
                <a:lnTo>
                  <a:pt x="0" y="53174"/>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2" name="">
            <a:extLst xmlns:a="http://schemas.openxmlformats.org/drawingml/2006/main">
              <a:ext uri="{FF2B5EF4-FFF2-40B4-BE49-F238E27FC236}">
                <a16:creationId xmlns:a16="http://schemas.microsoft.com/office/drawing/2014/main" id="{6CC52F57-99A4-4496-9886-3EBECF01D72D}"/>
              </a:ext>
            </a:extLst>
          </p:cNvPr>
          <p:cNvSpPr>
            <a:spLocks xmlns:a="http://schemas.openxmlformats.org/drawingml/2006/main" noGrp="1"/>
          </p:cNvSpPr>
          <p:nvPr/>
        </p:nvSpPr>
        <p:spPr>
          <a:xfrm xmlns:a="http://schemas.openxmlformats.org/drawingml/2006/main">
            <a:off x="1099572" y="5920805"/>
            <a:ext cx="7718" cy="5427"/>
          </a:xfrm>
          <a:custGeom xmlns:a="http://schemas.openxmlformats.org/drawingml/2006/main">
            <a:pathLst>
              <a:path w="7718" h="5427">
                <a:moveTo>
                  <a:pt x="0" y="536"/>
                </a:moveTo>
                <a:lnTo>
                  <a:pt x="7472" y="5427"/>
                </a:lnTo>
                <a:lnTo>
                  <a:pt x="7718" y="3228"/>
                </a:lnTo>
                <a:lnTo>
                  <a:pt x="4822" y="0"/>
                </a:lnTo>
                <a:lnTo>
                  <a:pt x="0" y="536"/>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3" name="">
            <a:extLst xmlns:a="http://schemas.openxmlformats.org/drawingml/2006/main">
              <a:ext uri="{FF2B5EF4-FFF2-40B4-BE49-F238E27FC236}">
                <a16:creationId xmlns:a16="http://schemas.microsoft.com/office/drawing/2014/main" id="{614BF4ED-8160-4161-AB53-8562402F67F3}"/>
              </a:ext>
            </a:extLst>
          </p:cNvPr>
          <p:cNvSpPr>
            <a:spLocks xmlns:a="http://schemas.openxmlformats.org/drawingml/2006/main" noGrp="1"/>
          </p:cNvSpPr>
          <p:nvPr/>
        </p:nvSpPr>
        <p:spPr>
          <a:xfrm xmlns:a="http://schemas.openxmlformats.org/drawingml/2006/main">
            <a:off x="751212" y="5867400"/>
            <a:ext cx="263728" cy="281883"/>
          </a:xfrm>
          <a:custGeom xmlns:a="http://schemas.openxmlformats.org/drawingml/2006/main">
            <a:pathLst>
              <a:path w="263728" h="281883">
                <a:moveTo>
                  <a:pt x="260633" y="103279"/>
                </a:moveTo>
                <a:lnTo>
                  <a:pt x="260426" y="96418"/>
                </a:lnTo>
                <a:lnTo>
                  <a:pt x="263442" y="91684"/>
                </a:lnTo>
                <a:lnTo>
                  <a:pt x="263514" y="88494"/>
                </a:lnTo>
                <a:lnTo>
                  <a:pt x="253504" y="83524"/>
                </a:lnTo>
                <a:lnTo>
                  <a:pt x="252613" y="81269"/>
                </a:lnTo>
                <a:lnTo>
                  <a:pt x="254928" y="76355"/>
                </a:lnTo>
                <a:lnTo>
                  <a:pt x="248419" y="81225"/>
                </a:lnTo>
                <a:lnTo>
                  <a:pt x="248252" y="83260"/>
                </a:lnTo>
                <a:lnTo>
                  <a:pt x="245324" y="76839"/>
                </a:lnTo>
                <a:lnTo>
                  <a:pt x="235632" y="76346"/>
                </a:lnTo>
                <a:lnTo>
                  <a:pt x="232776" y="72085"/>
                </a:lnTo>
                <a:lnTo>
                  <a:pt x="228932" y="72718"/>
                </a:lnTo>
                <a:lnTo>
                  <a:pt x="228129" y="70429"/>
                </a:lnTo>
                <a:lnTo>
                  <a:pt x="230174" y="66935"/>
                </a:lnTo>
                <a:lnTo>
                  <a:pt x="230524" y="62614"/>
                </a:lnTo>
                <a:lnTo>
                  <a:pt x="228781" y="58295"/>
                </a:lnTo>
                <a:lnTo>
                  <a:pt x="227365" y="60098"/>
                </a:lnTo>
                <a:lnTo>
                  <a:pt x="228821" y="62210"/>
                </a:lnTo>
                <a:lnTo>
                  <a:pt x="226792" y="61682"/>
                </a:lnTo>
                <a:lnTo>
                  <a:pt x="218143" y="56175"/>
                </a:lnTo>
                <a:lnTo>
                  <a:pt x="217530" y="54346"/>
                </a:lnTo>
                <a:lnTo>
                  <a:pt x="212843" y="53888"/>
                </a:lnTo>
                <a:lnTo>
                  <a:pt x="213726" y="47224"/>
                </a:lnTo>
                <a:lnTo>
                  <a:pt x="210130" y="48033"/>
                </a:lnTo>
                <a:lnTo>
                  <a:pt x="206987" y="44728"/>
                </a:lnTo>
                <a:lnTo>
                  <a:pt x="199539" y="44095"/>
                </a:lnTo>
                <a:lnTo>
                  <a:pt x="196086" y="40773"/>
                </a:lnTo>
                <a:lnTo>
                  <a:pt x="194534" y="41239"/>
                </a:lnTo>
                <a:lnTo>
                  <a:pt x="194781" y="38954"/>
                </a:lnTo>
                <a:lnTo>
                  <a:pt x="191821" y="37997"/>
                </a:lnTo>
                <a:lnTo>
                  <a:pt x="191717" y="36600"/>
                </a:lnTo>
                <a:lnTo>
                  <a:pt x="184126" y="33683"/>
                </a:lnTo>
                <a:lnTo>
                  <a:pt x="179392" y="34430"/>
                </a:lnTo>
                <a:lnTo>
                  <a:pt x="176511" y="38603"/>
                </a:lnTo>
                <a:lnTo>
                  <a:pt x="173122" y="39508"/>
                </a:lnTo>
                <a:lnTo>
                  <a:pt x="154160" y="37759"/>
                </a:lnTo>
                <a:lnTo>
                  <a:pt x="150675" y="32770"/>
                </a:lnTo>
                <a:lnTo>
                  <a:pt x="148789" y="32436"/>
                </a:lnTo>
                <a:lnTo>
                  <a:pt x="144277" y="34000"/>
                </a:lnTo>
                <a:lnTo>
                  <a:pt x="137633" y="32059"/>
                </a:lnTo>
                <a:lnTo>
                  <a:pt x="132915" y="35150"/>
                </a:lnTo>
                <a:lnTo>
                  <a:pt x="129636" y="33104"/>
                </a:lnTo>
                <a:lnTo>
                  <a:pt x="130703" y="30829"/>
                </a:lnTo>
                <a:lnTo>
                  <a:pt x="128984" y="30873"/>
                </a:lnTo>
                <a:lnTo>
                  <a:pt x="129708" y="29459"/>
                </a:lnTo>
                <a:lnTo>
                  <a:pt x="128522" y="28063"/>
                </a:lnTo>
                <a:lnTo>
                  <a:pt x="125109" y="28555"/>
                </a:lnTo>
                <a:lnTo>
                  <a:pt x="124448" y="30100"/>
                </a:lnTo>
                <a:lnTo>
                  <a:pt x="120812" y="24148"/>
                </a:lnTo>
                <a:lnTo>
                  <a:pt x="120319" y="25201"/>
                </a:lnTo>
                <a:lnTo>
                  <a:pt x="117191" y="22199"/>
                </a:lnTo>
                <a:lnTo>
                  <a:pt x="117255" y="19838"/>
                </a:lnTo>
                <a:lnTo>
                  <a:pt x="112791" y="18724"/>
                </a:lnTo>
                <a:lnTo>
                  <a:pt x="111136" y="14934"/>
                </a:lnTo>
                <a:lnTo>
                  <a:pt x="109187" y="13977"/>
                </a:lnTo>
                <a:lnTo>
                  <a:pt x="78544" y="12591"/>
                </a:lnTo>
                <a:lnTo>
                  <a:pt x="63760" y="10206"/>
                </a:lnTo>
                <a:lnTo>
                  <a:pt x="62940" y="2358"/>
                </a:lnTo>
                <a:lnTo>
                  <a:pt x="55620" y="2016"/>
                </a:lnTo>
                <a:lnTo>
                  <a:pt x="52580" y="0"/>
                </a:lnTo>
                <a:lnTo>
                  <a:pt x="37064" y="2147"/>
                </a:lnTo>
                <a:lnTo>
                  <a:pt x="38361" y="11942"/>
                </a:lnTo>
                <a:lnTo>
                  <a:pt x="32115" y="15162"/>
                </a:lnTo>
                <a:lnTo>
                  <a:pt x="23187" y="7882"/>
                </a:lnTo>
                <a:lnTo>
                  <a:pt x="15429" y="11679"/>
                </a:lnTo>
                <a:lnTo>
                  <a:pt x="5785" y="10583"/>
                </a:lnTo>
                <a:lnTo>
                  <a:pt x="2419" y="12337"/>
                </a:lnTo>
                <a:lnTo>
                  <a:pt x="1377" y="11548"/>
                </a:lnTo>
                <a:lnTo>
                  <a:pt x="645" y="14004"/>
                </a:lnTo>
                <a:lnTo>
                  <a:pt x="1202" y="16179"/>
                </a:lnTo>
                <a:lnTo>
                  <a:pt x="0" y="17364"/>
                </a:lnTo>
                <a:lnTo>
                  <a:pt x="4154" y="20303"/>
                </a:lnTo>
                <a:lnTo>
                  <a:pt x="8100" y="20663"/>
                </a:lnTo>
                <a:lnTo>
                  <a:pt x="9548" y="22735"/>
                </a:lnTo>
                <a:lnTo>
                  <a:pt x="3748" y="26922"/>
                </a:lnTo>
                <a:lnTo>
                  <a:pt x="947" y="35326"/>
                </a:lnTo>
                <a:lnTo>
                  <a:pt x="6732" y="37505"/>
                </a:lnTo>
                <a:lnTo>
                  <a:pt x="6421" y="40193"/>
                </a:lnTo>
                <a:lnTo>
                  <a:pt x="8498" y="45492"/>
                </a:lnTo>
                <a:lnTo>
                  <a:pt x="12190" y="46011"/>
                </a:lnTo>
                <a:lnTo>
                  <a:pt x="12851" y="47479"/>
                </a:lnTo>
                <a:lnTo>
                  <a:pt x="15453" y="46802"/>
                </a:lnTo>
                <a:lnTo>
                  <a:pt x="18452" y="49000"/>
                </a:lnTo>
                <a:lnTo>
                  <a:pt x="21595" y="56228"/>
                </a:lnTo>
                <a:lnTo>
                  <a:pt x="20816" y="61611"/>
                </a:lnTo>
                <a:lnTo>
                  <a:pt x="24659" y="63873"/>
                </a:lnTo>
                <a:lnTo>
                  <a:pt x="24611" y="66521"/>
                </a:lnTo>
                <a:lnTo>
                  <a:pt x="26330" y="68616"/>
                </a:lnTo>
                <a:lnTo>
                  <a:pt x="33436" y="71785"/>
                </a:lnTo>
                <a:lnTo>
                  <a:pt x="39459" y="67181"/>
                </a:lnTo>
                <a:lnTo>
                  <a:pt x="40000" y="72930"/>
                </a:lnTo>
                <a:lnTo>
                  <a:pt x="46971" y="72921"/>
                </a:lnTo>
                <a:lnTo>
                  <a:pt x="52779" y="70350"/>
                </a:lnTo>
                <a:lnTo>
                  <a:pt x="65590" y="74972"/>
                </a:lnTo>
                <a:lnTo>
                  <a:pt x="68876" y="73423"/>
                </a:lnTo>
                <a:lnTo>
                  <a:pt x="73746" y="75113"/>
                </a:lnTo>
                <a:lnTo>
                  <a:pt x="78624" y="74805"/>
                </a:lnTo>
                <a:lnTo>
                  <a:pt x="79658" y="77385"/>
                </a:lnTo>
                <a:lnTo>
                  <a:pt x="78425" y="78680"/>
                </a:lnTo>
                <a:lnTo>
                  <a:pt x="81186" y="80063"/>
                </a:lnTo>
                <a:lnTo>
                  <a:pt x="81711" y="82996"/>
                </a:lnTo>
                <a:lnTo>
                  <a:pt x="93424" y="84643"/>
                </a:lnTo>
                <a:lnTo>
                  <a:pt x="97076" y="86996"/>
                </a:lnTo>
                <a:lnTo>
                  <a:pt x="110651" y="86027"/>
                </a:lnTo>
                <a:lnTo>
                  <a:pt x="110985" y="88238"/>
                </a:lnTo>
                <a:lnTo>
                  <a:pt x="113778" y="89252"/>
                </a:lnTo>
                <a:lnTo>
                  <a:pt x="115688" y="93447"/>
                </a:lnTo>
                <a:lnTo>
                  <a:pt x="118059" y="94355"/>
                </a:lnTo>
                <a:lnTo>
                  <a:pt x="117725" y="96207"/>
                </a:lnTo>
                <a:lnTo>
                  <a:pt x="120390" y="97035"/>
                </a:lnTo>
                <a:lnTo>
                  <a:pt x="123048" y="103570"/>
                </a:lnTo>
                <a:lnTo>
                  <a:pt x="120151" y="108334"/>
                </a:lnTo>
                <a:lnTo>
                  <a:pt x="121910" y="111722"/>
                </a:lnTo>
                <a:lnTo>
                  <a:pt x="116388" y="117592"/>
                </a:lnTo>
                <a:lnTo>
                  <a:pt x="117693" y="119534"/>
                </a:lnTo>
                <a:lnTo>
                  <a:pt x="111661" y="122051"/>
                </a:lnTo>
                <a:lnTo>
                  <a:pt x="108097" y="129912"/>
                </a:lnTo>
                <a:lnTo>
                  <a:pt x="110611" y="134807"/>
                </a:lnTo>
                <a:lnTo>
                  <a:pt x="106267" y="140879"/>
                </a:lnTo>
                <a:lnTo>
                  <a:pt x="107810" y="145105"/>
                </a:lnTo>
                <a:lnTo>
                  <a:pt x="106418" y="147758"/>
                </a:lnTo>
                <a:lnTo>
                  <a:pt x="102017" y="148678"/>
                </a:lnTo>
                <a:lnTo>
                  <a:pt x="96336" y="145459"/>
                </a:lnTo>
                <a:lnTo>
                  <a:pt x="87456" y="150960"/>
                </a:lnTo>
                <a:lnTo>
                  <a:pt x="80279" y="161587"/>
                </a:lnTo>
                <a:lnTo>
                  <a:pt x="77709" y="161843"/>
                </a:lnTo>
                <a:lnTo>
                  <a:pt x="77199" y="164667"/>
                </a:lnTo>
                <a:lnTo>
                  <a:pt x="71820" y="166216"/>
                </a:lnTo>
                <a:lnTo>
                  <a:pt x="65463" y="161781"/>
                </a:lnTo>
                <a:lnTo>
                  <a:pt x="66067" y="162950"/>
                </a:lnTo>
                <a:lnTo>
                  <a:pt x="63736" y="162967"/>
                </a:lnTo>
                <a:lnTo>
                  <a:pt x="61317" y="166163"/>
                </a:lnTo>
                <a:lnTo>
                  <a:pt x="57896" y="166402"/>
                </a:lnTo>
                <a:lnTo>
                  <a:pt x="55962" y="168394"/>
                </a:lnTo>
                <a:lnTo>
                  <a:pt x="54856" y="166694"/>
                </a:lnTo>
                <a:lnTo>
                  <a:pt x="52509" y="168961"/>
                </a:lnTo>
                <a:lnTo>
                  <a:pt x="53981" y="173912"/>
                </a:lnTo>
                <a:lnTo>
                  <a:pt x="60824" y="176419"/>
                </a:lnTo>
                <a:lnTo>
                  <a:pt x="62184" y="180707"/>
                </a:lnTo>
                <a:lnTo>
                  <a:pt x="67452" y="183933"/>
                </a:lnTo>
                <a:lnTo>
                  <a:pt x="66537" y="184890"/>
                </a:lnTo>
                <a:lnTo>
                  <a:pt x="72067" y="186299"/>
                </a:lnTo>
                <a:lnTo>
                  <a:pt x="67396" y="190830"/>
                </a:lnTo>
                <a:lnTo>
                  <a:pt x="66704" y="194669"/>
                </a:lnTo>
                <a:lnTo>
                  <a:pt x="68550" y="197845"/>
                </a:lnTo>
                <a:lnTo>
                  <a:pt x="67890" y="199734"/>
                </a:lnTo>
                <a:lnTo>
                  <a:pt x="72457" y="201224"/>
                </a:lnTo>
                <a:lnTo>
                  <a:pt x="75863" y="208758"/>
                </a:lnTo>
                <a:lnTo>
                  <a:pt x="79817" y="213446"/>
                </a:lnTo>
                <a:lnTo>
                  <a:pt x="83326" y="213321"/>
                </a:lnTo>
                <a:lnTo>
                  <a:pt x="85411" y="218196"/>
                </a:lnTo>
                <a:lnTo>
                  <a:pt x="88825" y="220772"/>
                </a:lnTo>
                <a:lnTo>
                  <a:pt x="88276" y="221953"/>
                </a:lnTo>
                <a:lnTo>
                  <a:pt x="90702" y="226439"/>
                </a:lnTo>
                <a:lnTo>
                  <a:pt x="88872" y="227968"/>
                </a:lnTo>
                <a:lnTo>
                  <a:pt x="87965" y="233460"/>
                </a:lnTo>
                <a:lnTo>
                  <a:pt x="80740" y="236047"/>
                </a:lnTo>
                <a:lnTo>
                  <a:pt x="83358" y="240137"/>
                </a:lnTo>
                <a:lnTo>
                  <a:pt x="76173" y="241755"/>
                </a:lnTo>
                <a:lnTo>
                  <a:pt x="73277" y="243721"/>
                </a:lnTo>
                <a:lnTo>
                  <a:pt x="72751" y="246647"/>
                </a:lnTo>
                <a:lnTo>
                  <a:pt x="64460" y="247047"/>
                </a:lnTo>
                <a:lnTo>
                  <a:pt x="66784" y="255127"/>
                </a:lnTo>
                <a:lnTo>
                  <a:pt x="70810" y="252297"/>
                </a:lnTo>
                <a:lnTo>
                  <a:pt x="74788" y="252608"/>
                </a:lnTo>
                <a:lnTo>
                  <a:pt x="75123" y="250223"/>
                </a:lnTo>
                <a:lnTo>
                  <a:pt x="76889" y="251603"/>
                </a:lnTo>
                <a:lnTo>
                  <a:pt x="82308" y="248622"/>
                </a:lnTo>
                <a:lnTo>
                  <a:pt x="82005" y="251531"/>
                </a:lnTo>
                <a:lnTo>
                  <a:pt x="83334" y="252742"/>
                </a:lnTo>
                <a:lnTo>
                  <a:pt x="81918" y="254735"/>
                </a:lnTo>
                <a:lnTo>
                  <a:pt x="85491" y="260129"/>
                </a:lnTo>
                <a:lnTo>
                  <a:pt x="84997" y="261358"/>
                </a:lnTo>
                <a:lnTo>
                  <a:pt x="75870" y="258803"/>
                </a:lnTo>
                <a:lnTo>
                  <a:pt x="71287" y="264341"/>
                </a:lnTo>
                <a:lnTo>
                  <a:pt x="69577" y="264252"/>
                </a:lnTo>
                <a:lnTo>
                  <a:pt x="65781" y="269836"/>
                </a:lnTo>
                <a:lnTo>
                  <a:pt x="63736" y="268794"/>
                </a:lnTo>
                <a:lnTo>
                  <a:pt x="53901" y="279601"/>
                </a:lnTo>
                <a:lnTo>
                  <a:pt x="53654" y="281696"/>
                </a:lnTo>
                <a:lnTo>
                  <a:pt x="57880" y="281883"/>
                </a:lnTo>
                <a:lnTo>
                  <a:pt x="79021" y="273693"/>
                </a:lnTo>
                <a:lnTo>
                  <a:pt x="87559" y="273355"/>
                </a:lnTo>
                <a:lnTo>
                  <a:pt x="95039" y="270611"/>
                </a:lnTo>
                <a:lnTo>
                  <a:pt x="96089" y="263958"/>
                </a:lnTo>
                <a:lnTo>
                  <a:pt x="101914" y="263219"/>
                </a:lnTo>
                <a:lnTo>
                  <a:pt x="105256" y="260370"/>
                </a:lnTo>
                <a:lnTo>
                  <a:pt x="107213" y="262622"/>
                </a:lnTo>
                <a:lnTo>
                  <a:pt x="110698" y="261135"/>
                </a:lnTo>
                <a:lnTo>
                  <a:pt x="114836" y="263370"/>
                </a:lnTo>
                <a:lnTo>
                  <a:pt x="121106" y="263219"/>
                </a:lnTo>
                <a:lnTo>
                  <a:pt x="128339" y="257815"/>
                </a:lnTo>
                <a:lnTo>
                  <a:pt x="131641" y="259622"/>
                </a:lnTo>
                <a:lnTo>
                  <a:pt x="142002" y="256978"/>
                </a:lnTo>
                <a:lnTo>
                  <a:pt x="156459" y="243570"/>
                </a:lnTo>
                <a:lnTo>
                  <a:pt x="164775" y="246923"/>
                </a:lnTo>
                <a:lnTo>
                  <a:pt x="166477" y="245259"/>
                </a:lnTo>
                <a:lnTo>
                  <a:pt x="170368" y="245882"/>
                </a:lnTo>
                <a:lnTo>
                  <a:pt x="171920" y="251327"/>
                </a:lnTo>
                <a:lnTo>
                  <a:pt x="174084" y="251692"/>
                </a:lnTo>
                <a:lnTo>
                  <a:pt x="176177" y="250090"/>
                </a:lnTo>
                <a:lnTo>
                  <a:pt x="177068" y="250864"/>
                </a:lnTo>
                <a:lnTo>
                  <a:pt x="179177" y="248311"/>
                </a:lnTo>
                <a:lnTo>
                  <a:pt x="179050" y="242547"/>
                </a:lnTo>
                <a:lnTo>
                  <a:pt x="183275" y="240484"/>
                </a:lnTo>
                <a:lnTo>
                  <a:pt x="186856" y="244334"/>
                </a:lnTo>
                <a:lnTo>
                  <a:pt x="188550" y="241942"/>
                </a:lnTo>
                <a:lnTo>
                  <a:pt x="191860" y="243214"/>
                </a:lnTo>
                <a:lnTo>
                  <a:pt x="194462" y="247341"/>
                </a:lnTo>
                <a:lnTo>
                  <a:pt x="196722" y="247190"/>
                </a:lnTo>
                <a:lnTo>
                  <a:pt x="198282" y="243863"/>
                </a:lnTo>
                <a:lnTo>
                  <a:pt x="205037" y="244032"/>
                </a:lnTo>
                <a:lnTo>
                  <a:pt x="207512" y="240848"/>
                </a:lnTo>
                <a:lnTo>
                  <a:pt x="206350" y="238216"/>
                </a:lnTo>
                <a:lnTo>
                  <a:pt x="208244" y="237318"/>
                </a:lnTo>
                <a:lnTo>
                  <a:pt x="217100" y="239461"/>
                </a:lnTo>
                <a:lnTo>
                  <a:pt x="216440" y="240715"/>
                </a:lnTo>
                <a:lnTo>
                  <a:pt x="218246" y="240501"/>
                </a:lnTo>
                <a:lnTo>
                  <a:pt x="219185" y="242262"/>
                </a:lnTo>
                <a:lnTo>
                  <a:pt x="224445" y="243365"/>
                </a:lnTo>
                <a:lnTo>
                  <a:pt x="225336" y="240466"/>
                </a:lnTo>
                <a:lnTo>
                  <a:pt x="223171" y="238572"/>
                </a:lnTo>
                <a:lnTo>
                  <a:pt x="229656" y="238074"/>
                </a:lnTo>
                <a:lnTo>
                  <a:pt x="233134" y="243045"/>
                </a:lnTo>
                <a:lnTo>
                  <a:pt x="235027" y="241355"/>
                </a:lnTo>
                <a:lnTo>
                  <a:pt x="239738" y="241844"/>
                </a:lnTo>
                <a:lnTo>
                  <a:pt x="241146" y="240679"/>
                </a:lnTo>
                <a:lnTo>
                  <a:pt x="240199" y="239728"/>
                </a:lnTo>
                <a:lnTo>
                  <a:pt x="243995" y="237096"/>
                </a:lnTo>
                <a:lnTo>
                  <a:pt x="245992" y="238723"/>
                </a:lnTo>
                <a:lnTo>
                  <a:pt x="248459" y="237789"/>
                </a:lnTo>
                <a:lnTo>
                  <a:pt x="253010" y="231602"/>
                </a:lnTo>
                <a:lnTo>
                  <a:pt x="260601" y="228883"/>
                </a:lnTo>
                <a:lnTo>
                  <a:pt x="260633" y="220949"/>
                </a:lnTo>
                <a:lnTo>
                  <a:pt x="262989" y="219644"/>
                </a:lnTo>
                <a:lnTo>
                  <a:pt x="263728" y="213392"/>
                </a:lnTo>
                <a:lnTo>
                  <a:pt x="256790" y="207090"/>
                </a:lnTo>
                <a:lnTo>
                  <a:pt x="257482" y="199450"/>
                </a:lnTo>
                <a:lnTo>
                  <a:pt x="256838" y="189686"/>
                </a:lnTo>
                <a:lnTo>
                  <a:pt x="255318" y="187540"/>
                </a:lnTo>
                <a:lnTo>
                  <a:pt x="256360" y="176251"/>
                </a:lnTo>
                <a:lnTo>
                  <a:pt x="254530" y="173274"/>
                </a:lnTo>
                <a:lnTo>
                  <a:pt x="255087" y="167907"/>
                </a:lnTo>
                <a:lnTo>
                  <a:pt x="253695" y="165659"/>
                </a:lnTo>
                <a:lnTo>
                  <a:pt x="250130" y="165189"/>
                </a:lnTo>
                <a:lnTo>
                  <a:pt x="246716" y="162365"/>
                </a:lnTo>
                <a:lnTo>
                  <a:pt x="247043" y="160604"/>
                </a:lnTo>
                <a:lnTo>
                  <a:pt x="248650" y="160480"/>
                </a:lnTo>
                <a:lnTo>
                  <a:pt x="248737" y="155038"/>
                </a:lnTo>
                <a:lnTo>
                  <a:pt x="253798" y="149483"/>
                </a:lnTo>
                <a:lnTo>
                  <a:pt x="252644" y="149005"/>
                </a:lnTo>
                <a:lnTo>
                  <a:pt x="251729" y="137334"/>
                </a:lnTo>
                <a:lnTo>
                  <a:pt x="250456" y="135894"/>
                </a:lnTo>
                <a:lnTo>
                  <a:pt x="256973" y="136521"/>
                </a:lnTo>
                <a:lnTo>
                  <a:pt x="257761" y="135469"/>
                </a:lnTo>
                <a:lnTo>
                  <a:pt x="255946" y="132156"/>
                </a:lnTo>
                <a:lnTo>
                  <a:pt x="256153" y="126749"/>
                </a:lnTo>
                <a:lnTo>
                  <a:pt x="257474" y="122872"/>
                </a:lnTo>
                <a:lnTo>
                  <a:pt x="262217" y="117874"/>
                </a:lnTo>
                <a:lnTo>
                  <a:pt x="263092" y="110981"/>
                </a:lnTo>
                <a:lnTo>
                  <a:pt x="260633" y="103279"/>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4" name="">
            <a:extLst xmlns:a="http://schemas.openxmlformats.org/drawingml/2006/main">
              <a:ext uri="{FF2B5EF4-FFF2-40B4-BE49-F238E27FC236}">
                <a16:creationId xmlns:a16="http://schemas.microsoft.com/office/drawing/2014/main" id="{ED3DC2A6-9B8B-4E55-A16C-22DD3F980164}"/>
              </a:ext>
            </a:extLst>
          </p:cNvPr>
          <p:cNvSpPr>
            <a:spLocks xmlns:a="http://schemas.openxmlformats.org/drawingml/2006/main" noGrp="1"/>
          </p:cNvSpPr>
          <p:nvPr/>
        </p:nvSpPr>
        <p:spPr>
          <a:xfrm xmlns:a="http://schemas.openxmlformats.org/drawingml/2006/main">
            <a:off x="636257" y="5922449"/>
            <a:ext cx="238003" cy="149973"/>
          </a:xfrm>
          <a:custGeom xmlns:a="http://schemas.openxmlformats.org/drawingml/2006/main">
            <a:pathLst>
              <a:path w="238003" h="149973">
                <a:moveTo>
                  <a:pt x="100243" y="148819"/>
                </a:moveTo>
                <a:lnTo>
                  <a:pt x="101667" y="146432"/>
                </a:lnTo>
                <a:lnTo>
                  <a:pt x="105001" y="145634"/>
                </a:lnTo>
                <a:lnTo>
                  <a:pt x="111534" y="148970"/>
                </a:lnTo>
                <a:lnTo>
                  <a:pt x="114757" y="143886"/>
                </a:lnTo>
                <a:lnTo>
                  <a:pt x="120661" y="149973"/>
                </a:lnTo>
                <a:lnTo>
                  <a:pt x="122578" y="147480"/>
                </a:lnTo>
                <a:lnTo>
                  <a:pt x="119372" y="139425"/>
                </a:lnTo>
                <a:lnTo>
                  <a:pt x="123613" y="137004"/>
                </a:lnTo>
                <a:lnTo>
                  <a:pt x="122260" y="132252"/>
                </a:lnTo>
                <a:lnTo>
                  <a:pt x="126740" y="129256"/>
                </a:lnTo>
                <a:lnTo>
                  <a:pt x="129756" y="134371"/>
                </a:lnTo>
                <a:lnTo>
                  <a:pt x="133742" y="135054"/>
                </a:lnTo>
                <a:lnTo>
                  <a:pt x="142161" y="144720"/>
                </a:lnTo>
                <a:lnTo>
                  <a:pt x="143919" y="144401"/>
                </a:lnTo>
                <a:lnTo>
                  <a:pt x="143951" y="141802"/>
                </a:lnTo>
                <a:lnTo>
                  <a:pt x="147739" y="143532"/>
                </a:lnTo>
                <a:lnTo>
                  <a:pt x="149704" y="141447"/>
                </a:lnTo>
                <a:lnTo>
                  <a:pt x="156284" y="144720"/>
                </a:lnTo>
                <a:lnTo>
                  <a:pt x="158202" y="143470"/>
                </a:lnTo>
                <a:lnTo>
                  <a:pt x="159618" y="136685"/>
                </a:lnTo>
                <a:lnTo>
                  <a:pt x="165172" y="138875"/>
                </a:lnTo>
                <a:lnTo>
                  <a:pt x="166971" y="138113"/>
                </a:lnTo>
                <a:lnTo>
                  <a:pt x="165706" y="130568"/>
                </a:lnTo>
                <a:lnTo>
                  <a:pt x="175111" y="130054"/>
                </a:lnTo>
                <a:lnTo>
                  <a:pt x="176567" y="127953"/>
                </a:lnTo>
                <a:lnTo>
                  <a:pt x="174816" y="125862"/>
                </a:lnTo>
                <a:lnTo>
                  <a:pt x="174920" y="123655"/>
                </a:lnTo>
                <a:lnTo>
                  <a:pt x="176503" y="123496"/>
                </a:lnTo>
                <a:lnTo>
                  <a:pt x="175779" y="121370"/>
                </a:lnTo>
                <a:lnTo>
                  <a:pt x="168936" y="118863"/>
                </a:lnTo>
                <a:lnTo>
                  <a:pt x="167464" y="113912"/>
                </a:lnTo>
                <a:lnTo>
                  <a:pt x="169811" y="111645"/>
                </a:lnTo>
                <a:lnTo>
                  <a:pt x="170917" y="113345"/>
                </a:lnTo>
                <a:lnTo>
                  <a:pt x="172851" y="111353"/>
                </a:lnTo>
                <a:lnTo>
                  <a:pt x="176273" y="111114"/>
                </a:lnTo>
                <a:lnTo>
                  <a:pt x="178692" y="107918"/>
                </a:lnTo>
                <a:lnTo>
                  <a:pt x="181023" y="107901"/>
                </a:lnTo>
                <a:lnTo>
                  <a:pt x="180418" y="106732"/>
                </a:lnTo>
                <a:lnTo>
                  <a:pt x="186776" y="111167"/>
                </a:lnTo>
                <a:lnTo>
                  <a:pt x="192155" y="109618"/>
                </a:lnTo>
                <a:lnTo>
                  <a:pt x="192664" y="106794"/>
                </a:lnTo>
                <a:lnTo>
                  <a:pt x="195234" y="106537"/>
                </a:lnTo>
                <a:lnTo>
                  <a:pt x="202412" y="95910"/>
                </a:lnTo>
                <a:lnTo>
                  <a:pt x="211292" y="90409"/>
                </a:lnTo>
                <a:lnTo>
                  <a:pt x="216973" y="93628"/>
                </a:lnTo>
                <a:lnTo>
                  <a:pt x="222575" y="91391"/>
                </a:lnTo>
                <a:lnTo>
                  <a:pt x="221222" y="85829"/>
                </a:lnTo>
                <a:lnTo>
                  <a:pt x="225566" y="79757"/>
                </a:lnTo>
                <a:lnTo>
                  <a:pt x="223052" y="74862"/>
                </a:lnTo>
                <a:lnTo>
                  <a:pt x="226617" y="67001"/>
                </a:lnTo>
                <a:lnTo>
                  <a:pt x="232648" y="64485"/>
                </a:lnTo>
                <a:lnTo>
                  <a:pt x="231343" y="62543"/>
                </a:lnTo>
                <a:lnTo>
                  <a:pt x="236865" y="56673"/>
                </a:lnTo>
                <a:lnTo>
                  <a:pt x="235107" y="53285"/>
                </a:lnTo>
                <a:lnTo>
                  <a:pt x="238003" y="48521"/>
                </a:lnTo>
                <a:lnTo>
                  <a:pt x="235346" y="41986"/>
                </a:lnTo>
                <a:lnTo>
                  <a:pt x="232680" y="41158"/>
                </a:lnTo>
                <a:lnTo>
                  <a:pt x="233014" y="39306"/>
                </a:lnTo>
                <a:lnTo>
                  <a:pt x="230643" y="38398"/>
                </a:lnTo>
                <a:lnTo>
                  <a:pt x="228733" y="34203"/>
                </a:lnTo>
                <a:lnTo>
                  <a:pt x="225941" y="33189"/>
                </a:lnTo>
                <a:lnTo>
                  <a:pt x="225606" y="30978"/>
                </a:lnTo>
                <a:lnTo>
                  <a:pt x="212032" y="31947"/>
                </a:lnTo>
                <a:lnTo>
                  <a:pt x="208379" y="29594"/>
                </a:lnTo>
                <a:lnTo>
                  <a:pt x="196667" y="27947"/>
                </a:lnTo>
                <a:lnTo>
                  <a:pt x="196141" y="25013"/>
                </a:lnTo>
                <a:lnTo>
                  <a:pt x="193380" y="23631"/>
                </a:lnTo>
                <a:lnTo>
                  <a:pt x="194614" y="22336"/>
                </a:lnTo>
                <a:lnTo>
                  <a:pt x="193579" y="19756"/>
                </a:lnTo>
                <a:lnTo>
                  <a:pt x="188701" y="20064"/>
                </a:lnTo>
                <a:lnTo>
                  <a:pt x="183832" y="18373"/>
                </a:lnTo>
                <a:lnTo>
                  <a:pt x="180546" y="19923"/>
                </a:lnTo>
                <a:lnTo>
                  <a:pt x="167735" y="15301"/>
                </a:lnTo>
                <a:lnTo>
                  <a:pt x="161926" y="17872"/>
                </a:lnTo>
                <a:lnTo>
                  <a:pt x="154956" y="17880"/>
                </a:lnTo>
                <a:lnTo>
                  <a:pt x="154415" y="12132"/>
                </a:lnTo>
                <a:lnTo>
                  <a:pt x="148391" y="16736"/>
                </a:lnTo>
                <a:lnTo>
                  <a:pt x="141285" y="13567"/>
                </a:lnTo>
                <a:lnTo>
                  <a:pt x="139567" y="11472"/>
                </a:lnTo>
                <a:lnTo>
                  <a:pt x="139614" y="8823"/>
                </a:lnTo>
                <a:lnTo>
                  <a:pt x="135357" y="5225"/>
                </a:lnTo>
                <a:lnTo>
                  <a:pt x="119857" y="15750"/>
                </a:lnTo>
                <a:lnTo>
                  <a:pt x="117215" y="15979"/>
                </a:lnTo>
                <a:lnTo>
                  <a:pt x="111120" y="12546"/>
                </a:lnTo>
                <a:lnTo>
                  <a:pt x="108821" y="16190"/>
                </a:lnTo>
                <a:lnTo>
                  <a:pt x="108479" y="20478"/>
                </a:lnTo>
                <a:lnTo>
                  <a:pt x="103991" y="20953"/>
                </a:lnTo>
                <a:lnTo>
                  <a:pt x="97649" y="25577"/>
                </a:lnTo>
                <a:lnTo>
                  <a:pt x="95214" y="24705"/>
                </a:lnTo>
                <a:lnTo>
                  <a:pt x="92835" y="19906"/>
                </a:lnTo>
                <a:lnTo>
                  <a:pt x="87074" y="20848"/>
                </a:lnTo>
                <a:lnTo>
                  <a:pt x="85626" y="15275"/>
                </a:lnTo>
                <a:lnTo>
                  <a:pt x="79205" y="9404"/>
                </a:lnTo>
                <a:lnTo>
                  <a:pt x="75441" y="7046"/>
                </a:lnTo>
                <a:lnTo>
                  <a:pt x="66847" y="5876"/>
                </a:lnTo>
                <a:lnTo>
                  <a:pt x="59964" y="0"/>
                </a:lnTo>
                <a:lnTo>
                  <a:pt x="46971" y="3281"/>
                </a:lnTo>
                <a:lnTo>
                  <a:pt x="39968" y="3527"/>
                </a:lnTo>
                <a:lnTo>
                  <a:pt x="35767" y="1768"/>
                </a:lnTo>
                <a:lnTo>
                  <a:pt x="30062" y="4169"/>
                </a:lnTo>
                <a:lnTo>
                  <a:pt x="24516" y="2454"/>
                </a:lnTo>
                <a:lnTo>
                  <a:pt x="17402" y="3237"/>
                </a:lnTo>
                <a:lnTo>
                  <a:pt x="7957" y="7600"/>
                </a:lnTo>
                <a:lnTo>
                  <a:pt x="7607" y="9096"/>
                </a:lnTo>
                <a:lnTo>
                  <a:pt x="10233" y="11252"/>
                </a:lnTo>
                <a:lnTo>
                  <a:pt x="8578" y="12493"/>
                </a:lnTo>
                <a:lnTo>
                  <a:pt x="9445" y="14210"/>
                </a:lnTo>
                <a:lnTo>
                  <a:pt x="8562" y="16472"/>
                </a:lnTo>
                <a:lnTo>
                  <a:pt x="1997" y="19051"/>
                </a:lnTo>
                <a:lnTo>
                  <a:pt x="2117" y="22961"/>
                </a:lnTo>
                <a:lnTo>
                  <a:pt x="0" y="25119"/>
                </a:lnTo>
                <a:lnTo>
                  <a:pt x="3740" y="29779"/>
                </a:lnTo>
                <a:lnTo>
                  <a:pt x="8793" y="28581"/>
                </a:lnTo>
                <a:lnTo>
                  <a:pt x="9787" y="33145"/>
                </a:lnTo>
                <a:lnTo>
                  <a:pt x="11800" y="34899"/>
                </a:lnTo>
                <a:lnTo>
                  <a:pt x="4862" y="40734"/>
                </a:lnTo>
                <a:lnTo>
                  <a:pt x="14641" y="55826"/>
                </a:lnTo>
                <a:lnTo>
                  <a:pt x="15564" y="59392"/>
                </a:lnTo>
                <a:lnTo>
                  <a:pt x="13567" y="61916"/>
                </a:lnTo>
                <a:lnTo>
                  <a:pt x="18572" y="68202"/>
                </a:lnTo>
                <a:lnTo>
                  <a:pt x="30133" y="56991"/>
                </a:lnTo>
                <a:lnTo>
                  <a:pt x="32640" y="56550"/>
                </a:lnTo>
                <a:lnTo>
                  <a:pt x="34128" y="58191"/>
                </a:lnTo>
                <a:lnTo>
                  <a:pt x="36571" y="66533"/>
                </a:lnTo>
                <a:lnTo>
                  <a:pt x="35481" y="68759"/>
                </a:lnTo>
                <a:lnTo>
                  <a:pt x="37693" y="73449"/>
                </a:lnTo>
                <a:lnTo>
                  <a:pt x="34168" y="76090"/>
                </a:lnTo>
                <a:lnTo>
                  <a:pt x="39897" y="80350"/>
                </a:lnTo>
                <a:lnTo>
                  <a:pt x="45833" y="82126"/>
                </a:lnTo>
                <a:lnTo>
                  <a:pt x="53408" y="76311"/>
                </a:lnTo>
                <a:lnTo>
                  <a:pt x="57593" y="78759"/>
                </a:lnTo>
                <a:lnTo>
                  <a:pt x="59972" y="83646"/>
                </a:lnTo>
                <a:lnTo>
                  <a:pt x="58516" y="87836"/>
                </a:lnTo>
                <a:lnTo>
                  <a:pt x="55508" y="88199"/>
                </a:lnTo>
                <a:lnTo>
                  <a:pt x="53646" y="94646"/>
                </a:lnTo>
                <a:lnTo>
                  <a:pt x="56622" y="101944"/>
                </a:lnTo>
                <a:lnTo>
                  <a:pt x="56408" y="104573"/>
                </a:lnTo>
                <a:lnTo>
                  <a:pt x="57983" y="106484"/>
                </a:lnTo>
                <a:lnTo>
                  <a:pt x="62137" y="107006"/>
                </a:lnTo>
                <a:lnTo>
                  <a:pt x="66465" y="102289"/>
                </a:lnTo>
                <a:lnTo>
                  <a:pt x="69505" y="104130"/>
                </a:lnTo>
                <a:lnTo>
                  <a:pt x="73117" y="102971"/>
                </a:lnTo>
                <a:lnTo>
                  <a:pt x="74860" y="107060"/>
                </a:lnTo>
                <a:lnTo>
                  <a:pt x="76038" y="106998"/>
                </a:lnTo>
                <a:lnTo>
                  <a:pt x="74979" y="108201"/>
                </a:lnTo>
                <a:lnTo>
                  <a:pt x="81512" y="109760"/>
                </a:lnTo>
                <a:lnTo>
                  <a:pt x="79770" y="116755"/>
                </a:lnTo>
                <a:lnTo>
                  <a:pt x="81560" y="117959"/>
                </a:lnTo>
                <a:lnTo>
                  <a:pt x="87703" y="114390"/>
                </a:lnTo>
                <a:lnTo>
                  <a:pt x="87862" y="123026"/>
                </a:lnTo>
                <a:lnTo>
                  <a:pt x="92962" y="122583"/>
                </a:lnTo>
                <a:lnTo>
                  <a:pt x="93981" y="126172"/>
                </a:lnTo>
                <a:lnTo>
                  <a:pt x="91737" y="132412"/>
                </a:lnTo>
                <a:lnTo>
                  <a:pt x="88037" y="136188"/>
                </a:lnTo>
                <a:lnTo>
                  <a:pt x="88276" y="138476"/>
                </a:lnTo>
                <a:lnTo>
                  <a:pt x="95978" y="141234"/>
                </a:lnTo>
                <a:lnTo>
                  <a:pt x="95636" y="147169"/>
                </a:lnTo>
                <a:lnTo>
                  <a:pt x="100243" y="148819"/>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5" name="">
            <a:extLst xmlns:a="http://schemas.openxmlformats.org/drawingml/2006/main">
              <a:ext uri="{FF2B5EF4-FFF2-40B4-BE49-F238E27FC236}">
                <a16:creationId xmlns:a16="http://schemas.microsoft.com/office/drawing/2014/main" id="{1758B514-4307-40AE-BD79-1592E83A1E08}"/>
              </a:ext>
            </a:extLst>
          </p:cNvPr>
          <p:cNvSpPr>
            <a:spLocks xmlns:a="http://schemas.openxmlformats.org/drawingml/2006/main" noGrp="1"/>
          </p:cNvSpPr>
          <p:nvPr/>
        </p:nvSpPr>
        <p:spPr>
          <a:xfrm xmlns:a="http://schemas.openxmlformats.org/drawingml/2006/main">
            <a:off x="784600" y="5965917"/>
            <a:ext cx="324114" cy="253811"/>
          </a:xfrm>
          <a:custGeom xmlns:a="http://schemas.openxmlformats.org/drawingml/2006/main">
            <a:pathLst>
              <a:path w="324114" h="253811">
                <a:moveTo>
                  <a:pt x="285714" y="163624"/>
                </a:moveTo>
                <a:lnTo>
                  <a:pt x="286135" y="160526"/>
                </a:lnTo>
                <a:lnTo>
                  <a:pt x="293090" y="156610"/>
                </a:lnTo>
                <a:lnTo>
                  <a:pt x="291650" y="154403"/>
                </a:lnTo>
                <a:lnTo>
                  <a:pt x="290233" y="154812"/>
                </a:lnTo>
                <a:lnTo>
                  <a:pt x="290385" y="152027"/>
                </a:lnTo>
                <a:lnTo>
                  <a:pt x="285515" y="152000"/>
                </a:lnTo>
                <a:lnTo>
                  <a:pt x="277566" y="160055"/>
                </a:lnTo>
                <a:lnTo>
                  <a:pt x="272123" y="160749"/>
                </a:lnTo>
                <a:lnTo>
                  <a:pt x="270754" y="158470"/>
                </a:lnTo>
                <a:lnTo>
                  <a:pt x="267834" y="157375"/>
                </a:lnTo>
                <a:lnTo>
                  <a:pt x="271861" y="151128"/>
                </a:lnTo>
                <a:lnTo>
                  <a:pt x="271654" y="146921"/>
                </a:lnTo>
                <a:lnTo>
                  <a:pt x="269521" y="147508"/>
                </a:lnTo>
                <a:lnTo>
                  <a:pt x="266394" y="144181"/>
                </a:lnTo>
                <a:lnTo>
                  <a:pt x="263665" y="144786"/>
                </a:lnTo>
                <a:lnTo>
                  <a:pt x="260291" y="142429"/>
                </a:lnTo>
                <a:lnTo>
                  <a:pt x="261819" y="140677"/>
                </a:lnTo>
                <a:lnTo>
                  <a:pt x="262591" y="134606"/>
                </a:lnTo>
                <a:lnTo>
                  <a:pt x="266871" y="131806"/>
                </a:lnTo>
                <a:lnTo>
                  <a:pt x="266346" y="130180"/>
                </a:lnTo>
                <a:lnTo>
                  <a:pt x="273842" y="127345"/>
                </a:lnTo>
                <a:lnTo>
                  <a:pt x="276078" y="122157"/>
                </a:lnTo>
                <a:lnTo>
                  <a:pt x="283724" y="120026"/>
                </a:lnTo>
                <a:lnTo>
                  <a:pt x="281998" y="111955"/>
                </a:lnTo>
                <a:lnTo>
                  <a:pt x="285682" y="105582"/>
                </a:lnTo>
                <a:lnTo>
                  <a:pt x="291172" y="104970"/>
                </a:lnTo>
                <a:lnTo>
                  <a:pt x="307930" y="97465"/>
                </a:lnTo>
                <a:lnTo>
                  <a:pt x="312919" y="91949"/>
                </a:lnTo>
                <a:lnTo>
                  <a:pt x="313452" y="88492"/>
                </a:lnTo>
                <a:lnTo>
                  <a:pt x="320995" y="82111"/>
                </a:lnTo>
                <a:lnTo>
                  <a:pt x="324114" y="75927"/>
                </a:lnTo>
                <a:lnTo>
                  <a:pt x="322611" y="75147"/>
                </a:lnTo>
                <a:lnTo>
                  <a:pt x="320518" y="61406"/>
                </a:lnTo>
                <a:lnTo>
                  <a:pt x="314256" y="59220"/>
                </a:lnTo>
                <a:lnTo>
                  <a:pt x="304262" y="60919"/>
                </a:lnTo>
                <a:lnTo>
                  <a:pt x="302169" y="59707"/>
                </a:lnTo>
                <a:lnTo>
                  <a:pt x="303896" y="55495"/>
                </a:lnTo>
                <a:lnTo>
                  <a:pt x="301493" y="54610"/>
                </a:lnTo>
                <a:lnTo>
                  <a:pt x="293941" y="58317"/>
                </a:lnTo>
                <a:lnTo>
                  <a:pt x="290146" y="55194"/>
                </a:lnTo>
                <a:lnTo>
                  <a:pt x="285284" y="54389"/>
                </a:lnTo>
                <a:lnTo>
                  <a:pt x="284799" y="45783"/>
                </a:lnTo>
                <a:lnTo>
                  <a:pt x="286923" y="44280"/>
                </a:lnTo>
                <a:lnTo>
                  <a:pt x="285411" y="40841"/>
                </a:lnTo>
                <a:lnTo>
                  <a:pt x="287822" y="38808"/>
                </a:lnTo>
                <a:lnTo>
                  <a:pt x="284003" y="35715"/>
                </a:lnTo>
                <a:lnTo>
                  <a:pt x="282714" y="36679"/>
                </a:lnTo>
                <a:lnTo>
                  <a:pt x="278306" y="30847"/>
                </a:lnTo>
                <a:lnTo>
                  <a:pt x="275011" y="31289"/>
                </a:lnTo>
                <a:lnTo>
                  <a:pt x="270301" y="36140"/>
                </a:lnTo>
                <a:lnTo>
                  <a:pt x="259050" y="34743"/>
                </a:lnTo>
                <a:lnTo>
                  <a:pt x="256678" y="29707"/>
                </a:lnTo>
                <a:lnTo>
                  <a:pt x="250010" y="26810"/>
                </a:lnTo>
                <a:lnTo>
                  <a:pt x="243048" y="20938"/>
                </a:lnTo>
                <a:lnTo>
                  <a:pt x="242578" y="16921"/>
                </a:lnTo>
                <a:lnTo>
                  <a:pt x="239372" y="13391"/>
                </a:lnTo>
                <a:lnTo>
                  <a:pt x="239284" y="10788"/>
                </a:lnTo>
                <a:lnTo>
                  <a:pt x="235767" y="13082"/>
                </a:lnTo>
                <a:lnTo>
                  <a:pt x="233770" y="12156"/>
                </a:lnTo>
                <a:lnTo>
                  <a:pt x="234184" y="2249"/>
                </a:lnTo>
                <a:lnTo>
                  <a:pt x="231948" y="0"/>
                </a:lnTo>
                <a:lnTo>
                  <a:pt x="228312" y="1208"/>
                </a:lnTo>
                <a:lnTo>
                  <a:pt x="227245" y="4762"/>
                </a:lnTo>
                <a:lnTo>
                  <a:pt x="229704" y="12464"/>
                </a:lnTo>
                <a:lnTo>
                  <a:pt x="228829" y="19358"/>
                </a:lnTo>
                <a:lnTo>
                  <a:pt x="224086" y="24355"/>
                </a:lnTo>
                <a:lnTo>
                  <a:pt x="222766" y="28232"/>
                </a:lnTo>
                <a:lnTo>
                  <a:pt x="222559" y="33639"/>
                </a:lnTo>
                <a:lnTo>
                  <a:pt x="224373" y="36953"/>
                </a:lnTo>
                <a:lnTo>
                  <a:pt x="223585" y="38004"/>
                </a:lnTo>
                <a:lnTo>
                  <a:pt x="217068" y="37377"/>
                </a:lnTo>
                <a:lnTo>
                  <a:pt x="218341" y="38817"/>
                </a:lnTo>
                <a:lnTo>
                  <a:pt x="219256" y="50488"/>
                </a:lnTo>
                <a:lnTo>
                  <a:pt x="220410" y="50966"/>
                </a:lnTo>
                <a:lnTo>
                  <a:pt x="215350" y="56521"/>
                </a:lnTo>
                <a:lnTo>
                  <a:pt x="215262" y="61963"/>
                </a:lnTo>
                <a:lnTo>
                  <a:pt x="213655" y="62087"/>
                </a:lnTo>
                <a:lnTo>
                  <a:pt x="213328" y="63849"/>
                </a:lnTo>
                <a:lnTo>
                  <a:pt x="216742" y="66673"/>
                </a:lnTo>
                <a:lnTo>
                  <a:pt x="220307" y="67142"/>
                </a:lnTo>
                <a:lnTo>
                  <a:pt x="221699" y="69391"/>
                </a:lnTo>
                <a:lnTo>
                  <a:pt x="221142" y="74757"/>
                </a:lnTo>
                <a:lnTo>
                  <a:pt x="222972" y="77734"/>
                </a:lnTo>
                <a:lnTo>
                  <a:pt x="221930" y="89024"/>
                </a:lnTo>
                <a:lnTo>
                  <a:pt x="223450" y="91169"/>
                </a:lnTo>
                <a:lnTo>
                  <a:pt x="224094" y="100933"/>
                </a:lnTo>
                <a:lnTo>
                  <a:pt x="223402" y="108573"/>
                </a:lnTo>
                <a:lnTo>
                  <a:pt x="230341" y="114875"/>
                </a:lnTo>
                <a:lnTo>
                  <a:pt x="229601" y="121127"/>
                </a:lnTo>
                <a:lnTo>
                  <a:pt x="227245" y="122433"/>
                </a:lnTo>
                <a:lnTo>
                  <a:pt x="227213" y="130366"/>
                </a:lnTo>
                <a:lnTo>
                  <a:pt x="219622" y="133086"/>
                </a:lnTo>
                <a:lnTo>
                  <a:pt x="215071" y="139273"/>
                </a:lnTo>
                <a:lnTo>
                  <a:pt x="212604" y="140206"/>
                </a:lnTo>
                <a:lnTo>
                  <a:pt x="210607" y="138579"/>
                </a:lnTo>
                <a:lnTo>
                  <a:pt x="206812" y="141211"/>
                </a:lnTo>
                <a:lnTo>
                  <a:pt x="207758" y="142163"/>
                </a:lnTo>
                <a:lnTo>
                  <a:pt x="206350" y="143327"/>
                </a:lnTo>
                <a:lnTo>
                  <a:pt x="201639" y="142838"/>
                </a:lnTo>
                <a:lnTo>
                  <a:pt x="199746" y="144528"/>
                </a:lnTo>
                <a:lnTo>
                  <a:pt x="196269" y="139557"/>
                </a:lnTo>
                <a:lnTo>
                  <a:pt x="189784" y="140055"/>
                </a:lnTo>
                <a:lnTo>
                  <a:pt x="191948" y="141949"/>
                </a:lnTo>
                <a:lnTo>
                  <a:pt x="191057" y="144848"/>
                </a:lnTo>
                <a:lnTo>
                  <a:pt x="185797" y="143745"/>
                </a:lnTo>
                <a:lnTo>
                  <a:pt x="184858" y="141985"/>
                </a:lnTo>
                <a:lnTo>
                  <a:pt x="183052" y="142198"/>
                </a:lnTo>
                <a:lnTo>
                  <a:pt x="183712" y="140944"/>
                </a:lnTo>
                <a:lnTo>
                  <a:pt x="174856" y="138801"/>
                </a:lnTo>
                <a:lnTo>
                  <a:pt x="172962" y="139699"/>
                </a:lnTo>
                <a:lnTo>
                  <a:pt x="174124" y="142331"/>
                </a:lnTo>
                <a:lnTo>
                  <a:pt x="171649" y="145515"/>
                </a:lnTo>
                <a:lnTo>
                  <a:pt x="164894" y="145346"/>
                </a:lnTo>
                <a:lnTo>
                  <a:pt x="163334" y="148673"/>
                </a:lnTo>
                <a:lnTo>
                  <a:pt x="161074" y="148824"/>
                </a:lnTo>
                <a:lnTo>
                  <a:pt x="158473" y="144697"/>
                </a:lnTo>
                <a:lnTo>
                  <a:pt x="155162" y="143425"/>
                </a:lnTo>
                <a:lnTo>
                  <a:pt x="153468" y="145818"/>
                </a:lnTo>
                <a:lnTo>
                  <a:pt x="149887" y="141967"/>
                </a:lnTo>
                <a:lnTo>
                  <a:pt x="145662" y="144030"/>
                </a:lnTo>
                <a:lnTo>
                  <a:pt x="145789" y="149794"/>
                </a:lnTo>
                <a:lnTo>
                  <a:pt x="143680" y="152347"/>
                </a:lnTo>
                <a:lnTo>
                  <a:pt x="142789" y="151573"/>
                </a:lnTo>
                <a:lnTo>
                  <a:pt x="140696" y="153175"/>
                </a:lnTo>
                <a:lnTo>
                  <a:pt x="138532" y="152810"/>
                </a:lnTo>
                <a:lnTo>
                  <a:pt x="136981" y="147365"/>
                </a:lnTo>
                <a:lnTo>
                  <a:pt x="133090" y="146743"/>
                </a:lnTo>
                <a:lnTo>
                  <a:pt x="131387" y="148406"/>
                </a:lnTo>
                <a:lnTo>
                  <a:pt x="123072" y="145053"/>
                </a:lnTo>
                <a:lnTo>
                  <a:pt x="108614" y="158461"/>
                </a:lnTo>
                <a:lnTo>
                  <a:pt x="98254" y="161105"/>
                </a:lnTo>
                <a:lnTo>
                  <a:pt x="94951" y="159298"/>
                </a:lnTo>
                <a:lnTo>
                  <a:pt x="87718" y="164702"/>
                </a:lnTo>
                <a:lnTo>
                  <a:pt x="81448" y="164853"/>
                </a:lnTo>
                <a:lnTo>
                  <a:pt x="77311" y="162619"/>
                </a:lnTo>
                <a:lnTo>
                  <a:pt x="73826" y="164105"/>
                </a:lnTo>
                <a:lnTo>
                  <a:pt x="71868" y="161853"/>
                </a:lnTo>
                <a:lnTo>
                  <a:pt x="68526" y="164702"/>
                </a:lnTo>
                <a:lnTo>
                  <a:pt x="62701" y="165441"/>
                </a:lnTo>
                <a:lnTo>
                  <a:pt x="61651" y="172094"/>
                </a:lnTo>
                <a:lnTo>
                  <a:pt x="54172" y="174838"/>
                </a:lnTo>
                <a:lnTo>
                  <a:pt x="45634" y="175176"/>
                </a:lnTo>
                <a:lnTo>
                  <a:pt x="24492" y="183366"/>
                </a:lnTo>
                <a:lnTo>
                  <a:pt x="20267" y="183179"/>
                </a:lnTo>
                <a:lnTo>
                  <a:pt x="16694" y="185167"/>
                </a:lnTo>
                <a:lnTo>
                  <a:pt x="15246" y="188804"/>
                </a:lnTo>
                <a:lnTo>
                  <a:pt x="4679" y="194209"/>
                </a:lnTo>
                <a:lnTo>
                  <a:pt x="0" y="200417"/>
                </a:lnTo>
                <a:lnTo>
                  <a:pt x="2681" y="203558"/>
                </a:lnTo>
                <a:lnTo>
                  <a:pt x="10463" y="204496"/>
                </a:lnTo>
                <a:lnTo>
                  <a:pt x="12389" y="208244"/>
                </a:lnTo>
                <a:lnTo>
                  <a:pt x="9707" y="211806"/>
                </a:lnTo>
                <a:lnTo>
                  <a:pt x="12142" y="214762"/>
                </a:lnTo>
                <a:lnTo>
                  <a:pt x="15055" y="216307"/>
                </a:lnTo>
                <a:lnTo>
                  <a:pt x="17306" y="214529"/>
                </a:lnTo>
                <a:lnTo>
                  <a:pt x="19988" y="216083"/>
                </a:lnTo>
                <a:lnTo>
                  <a:pt x="18627" y="221469"/>
                </a:lnTo>
                <a:lnTo>
                  <a:pt x="14187" y="226812"/>
                </a:lnTo>
                <a:lnTo>
                  <a:pt x="17927" y="230628"/>
                </a:lnTo>
                <a:lnTo>
                  <a:pt x="14888" y="235366"/>
                </a:lnTo>
                <a:lnTo>
                  <a:pt x="20036" y="237181"/>
                </a:lnTo>
                <a:lnTo>
                  <a:pt x="22582" y="236287"/>
                </a:lnTo>
                <a:lnTo>
                  <a:pt x="25463" y="240060"/>
                </a:lnTo>
                <a:lnTo>
                  <a:pt x="21142" y="245516"/>
                </a:lnTo>
                <a:lnTo>
                  <a:pt x="21102" y="247439"/>
                </a:lnTo>
                <a:lnTo>
                  <a:pt x="24508" y="249533"/>
                </a:lnTo>
                <a:lnTo>
                  <a:pt x="29226" y="249587"/>
                </a:lnTo>
                <a:lnTo>
                  <a:pt x="29767" y="246196"/>
                </a:lnTo>
                <a:lnTo>
                  <a:pt x="31558" y="246661"/>
                </a:lnTo>
                <a:lnTo>
                  <a:pt x="33801" y="240337"/>
                </a:lnTo>
                <a:lnTo>
                  <a:pt x="36340" y="238907"/>
                </a:lnTo>
                <a:lnTo>
                  <a:pt x="36395" y="240713"/>
                </a:lnTo>
                <a:lnTo>
                  <a:pt x="43772" y="242886"/>
                </a:lnTo>
                <a:lnTo>
                  <a:pt x="42491" y="244953"/>
                </a:lnTo>
                <a:lnTo>
                  <a:pt x="45665" y="244165"/>
                </a:lnTo>
                <a:lnTo>
                  <a:pt x="50837" y="250464"/>
                </a:lnTo>
                <a:lnTo>
                  <a:pt x="52493" y="250410"/>
                </a:lnTo>
                <a:lnTo>
                  <a:pt x="54808" y="248576"/>
                </a:lnTo>
                <a:lnTo>
                  <a:pt x="54211" y="245239"/>
                </a:lnTo>
                <a:lnTo>
                  <a:pt x="57800" y="241473"/>
                </a:lnTo>
                <a:lnTo>
                  <a:pt x="57179" y="239184"/>
                </a:lnTo>
                <a:lnTo>
                  <a:pt x="67699" y="223381"/>
                </a:lnTo>
                <a:lnTo>
                  <a:pt x="74844" y="224444"/>
                </a:lnTo>
                <a:lnTo>
                  <a:pt x="81154" y="218396"/>
                </a:lnTo>
                <a:lnTo>
                  <a:pt x="82053" y="214503"/>
                </a:lnTo>
                <a:lnTo>
                  <a:pt x="86294" y="211324"/>
                </a:lnTo>
                <a:lnTo>
                  <a:pt x="89692" y="215958"/>
                </a:lnTo>
                <a:lnTo>
                  <a:pt x="88872" y="217593"/>
                </a:lnTo>
                <a:lnTo>
                  <a:pt x="96264" y="217530"/>
                </a:lnTo>
                <a:lnTo>
                  <a:pt x="96845" y="220379"/>
                </a:lnTo>
                <a:lnTo>
                  <a:pt x="103816" y="215601"/>
                </a:lnTo>
                <a:lnTo>
                  <a:pt x="105797" y="216458"/>
                </a:lnTo>
                <a:lnTo>
                  <a:pt x="106036" y="218995"/>
                </a:lnTo>
                <a:lnTo>
                  <a:pt x="110842" y="216244"/>
                </a:lnTo>
                <a:lnTo>
                  <a:pt x="112672" y="218575"/>
                </a:lnTo>
                <a:lnTo>
                  <a:pt x="110770" y="229967"/>
                </a:lnTo>
                <a:lnTo>
                  <a:pt x="113356" y="234517"/>
                </a:lnTo>
                <a:lnTo>
                  <a:pt x="114892" y="234901"/>
                </a:lnTo>
                <a:lnTo>
                  <a:pt x="112322" y="237422"/>
                </a:lnTo>
                <a:lnTo>
                  <a:pt x="112536" y="243485"/>
                </a:lnTo>
                <a:lnTo>
                  <a:pt x="116849" y="244577"/>
                </a:lnTo>
                <a:lnTo>
                  <a:pt x="116499" y="242403"/>
                </a:lnTo>
                <a:lnTo>
                  <a:pt x="114295" y="240955"/>
                </a:lnTo>
                <a:lnTo>
                  <a:pt x="115433" y="238996"/>
                </a:lnTo>
                <a:lnTo>
                  <a:pt x="117351" y="241598"/>
                </a:lnTo>
                <a:lnTo>
                  <a:pt x="119682" y="241902"/>
                </a:lnTo>
                <a:lnTo>
                  <a:pt x="119674" y="246348"/>
                </a:lnTo>
                <a:lnTo>
                  <a:pt x="123119" y="244300"/>
                </a:lnTo>
                <a:lnTo>
                  <a:pt x="124321" y="246598"/>
                </a:lnTo>
                <a:lnTo>
                  <a:pt x="122642" y="246724"/>
                </a:lnTo>
                <a:lnTo>
                  <a:pt x="120772" y="251018"/>
                </a:lnTo>
                <a:lnTo>
                  <a:pt x="117589" y="251886"/>
                </a:lnTo>
                <a:lnTo>
                  <a:pt x="120605" y="253811"/>
                </a:lnTo>
                <a:lnTo>
                  <a:pt x="127806" y="248102"/>
                </a:lnTo>
                <a:lnTo>
                  <a:pt x="126239" y="246643"/>
                </a:lnTo>
                <a:lnTo>
                  <a:pt x="128085" y="244031"/>
                </a:lnTo>
                <a:lnTo>
                  <a:pt x="130997" y="247055"/>
                </a:lnTo>
                <a:lnTo>
                  <a:pt x="135333" y="245391"/>
                </a:lnTo>
                <a:lnTo>
                  <a:pt x="136973" y="245641"/>
                </a:lnTo>
                <a:lnTo>
                  <a:pt x="135341" y="246223"/>
                </a:lnTo>
                <a:lnTo>
                  <a:pt x="136997" y="247359"/>
                </a:lnTo>
                <a:lnTo>
                  <a:pt x="138437" y="243718"/>
                </a:lnTo>
                <a:lnTo>
                  <a:pt x="140275" y="243056"/>
                </a:lnTo>
                <a:lnTo>
                  <a:pt x="140712" y="251224"/>
                </a:lnTo>
                <a:lnTo>
                  <a:pt x="144587" y="250777"/>
                </a:lnTo>
                <a:lnTo>
                  <a:pt x="146282" y="252396"/>
                </a:lnTo>
                <a:lnTo>
                  <a:pt x="149362" y="249050"/>
                </a:lnTo>
                <a:lnTo>
                  <a:pt x="153133" y="247941"/>
                </a:lnTo>
                <a:lnTo>
                  <a:pt x="155926" y="251376"/>
                </a:lnTo>
                <a:lnTo>
                  <a:pt x="156364" y="248844"/>
                </a:lnTo>
                <a:lnTo>
                  <a:pt x="160335" y="245990"/>
                </a:lnTo>
                <a:lnTo>
                  <a:pt x="162507" y="246420"/>
                </a:lnTo>
                <a:lnTo>
                  <a:pt x="165395" y="244621"/>
                </a:lnTo>
                <a:lnTo>
                  <a:pt x="171856" y="246089"/>
                </a:lnTo>
                <a:lnTo>
                  <a:pt x="173384" y="245105"/>
                </a:lnTo>
                <a:lnTo>
                  <a:pt x="173082" y="241124"/>
                </a:lnTo>
                <a:lnTo>
                  <a:pt x="175294" y="238960"/>
                </a:lnTo>
                <a:lnTo>
                  <a:pt x="171355" y="233337"/>
                </a:lnTo>
                <a:lnTo>
                  <a:pt x="176113" y="227849"/>
                </a:lnTo>
                <a:lnTo>
                  <a:pt x="176312" y="222148"/>
                </a:lnTo>
                <a:lnTo>
                  <a:pt x="177983" y="219102"/>
                </a:lnTo>
                <a:lnTo>
                  <a:pt x="180514" y="215476"/>
                </a:lnTo>
                <a:lnTo>
                  <a:pt x="186529" y="212913"/>
                </a:lnTo>
                <a:lnTo>
                  <a:pt x="187428" y="209717"/>
                </a:lnTo>
                <a:lnTo>
                  <a:pt x="202937" y="205183"/>
                </a:lnTo>
                <a:lnTo>
                  <a:pt x="205992" y="206013"/>
                </a:lnTo>
                <a:lnTo>
                  <a:pt x="211912" y="211074"/>
                </a:lnTo>
                <a:lnTo>
                  <a:pt x="218501" y="211369"/>
                </a:lnTo>
                <a:lnTo>
                  <a:pt x="220633" y="215217"/>
                </a:lnTo>
                <a:lnTo>
                  <a:pt x="226847" y="208307"/>
                </a:lnTo>
                <a:lnTo>
                  <a:pt x="228805" y="209217"/>
                </a:lnTo>
                <a:lnTo>
                  <a:pt x="230595" y="206878"/>
                </a:lnTo>
                <a:lnTo>
                  <a:pt x="232927" y="206566"/>
                </a:lnTo>
                <a:lnTo>
                  <a:pt x="232083" y="203335"/>
                </a:lnTo>
                <a:lnTo>
                  <a:pt x="237940" y="204255"/>
                </a:lnTo>
                <a:lnTo>
                  <a:pt x="236245" y="202264"/>
                </a:lnTo>
                <a:lnTo>
                  <a:pt x="239889" y="203103"/>
                </a:lnTo>
                <a:lnTo>
                  <a:pt x="245435" y="201470"/>
                </a:lnTo>
                <a:lnTo>
                  <a:pt x="249000" y="197616"/>
                </a:lnTo>
                <a:lnTo>
                  <a:pt x="249780" y="198803"/>
                </a:lnTo>
                <a:lnTo>
                  <a:pt x="254816" y="197643"/>
                </a:lnTo>
                <a:lnTo>
                  <a:pt x="256846" y="199035"/>
                </a:lnTo>
                <a:lnTo>
                  <a:pt x="263776" y="195306"/>
                </a:lnTo>
                <a:lnTo>
                  <a:pt x="266593" y="197446"/>
                </a:lnTo>
                <a:lnTo>
                  <a:pt x="269131" y="196456"/>
                </a:lnTo>
                <a:lnTo>
                  <a:pt x="267834" y="193218"/>
                </a:lnTo>
                <a:lnTo>
                  <a:pt x="269688" y="191604"/>
                </a:lnTo>
                <a:lnTo>
                  <a:pt x="271001" y="183767"/>
                </a:lnTo>
                <a:lnTo>
                  <a:pt x="275059" y="180149"/>
                </a:lnTo>
                <a:lnTo>
                  <a:pt x="277263" y="172985"/>
                </a:lnTo>
                <a:lnTo>
                  <a:pt x="279086" y="172807"/>
                </a:lnTo>
                <a:lnTo>
                  <a:pt x="281210" y="170321"/>
                </a:lnTo>
                <a:lnTo>
                  <a:pt x="280820" y="168495"/>
                </a:lnTo>
                <a:lnTo>
                  <a:pt x="285714" y="163624"/>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6" name="">
            <a:extLst xmlns:a="http://schemas.openxmlformats.org/drawingml/2006/main">
              <a:ext uri="{FF2B5EF4-FFF2-40B4-BE49-F238E27FC236}">
                <a16:creationId xmlns:a16="http://schemas.microsoft.com/office/drawing/2014/main" id="{97F2C4DB-F061-4F63-A961-AB4463D74AD5}"/>
              </a:ext>
            </a:extLst>
          </p:cNvPr>
          <p:cNvSpPr>
            <a:spLocks xmlns:a="http://schemas.openxmlformats.org/drawingml/2006/main" noGrp="1"/>
          </p:cNvSpPr>
          <p:nvPr/>
        </p:nvSpPr>
        <p:spPr>
          <a:xfrm xmlns:a="http://schemas.openxmlformats.org/drawingml/2006/main">
            <a:off x="1004429" y="6406526"/>
            <a:ext cx="291610" cy="318432"/>
          </a:xfrm>
          <a:custGeom xmlns:a="http://schemas.openxmlformats.org/drawingml/2006/main">
            <a:pathLst>
              <a:path w="291610" h="318432">
                <a:moveTo>
                  <a:pt x="19169" y="269093"/>
                </a:moveTo>
                <a:lnTo>
                  <a:pt x="24301" y="277458"/>
                </a:lnTo>
                <a:lnTo>
                  <a:pt x="26314" y="277347"/>
                </a:lnTo>
                <a:lnTo>
                  <a:pt x="30627" y="270092"/>
                </a:lnTo>
                <a:lnTo>
                  <a:pt x="32847" y="275586"/>
                </a:lnTo>
                <a:lnTo>
                  <a:pt x="39300" y="276806"/>
                </a:lnTo>
                <a:lnTo>
                  <a:pt x="40040" y="278100"/>
                </a:lnTo>
                <a:lnTo>
                  <a:pt x="48037" y="280100"/>
                </a:lnTo>
                <a:lnTo>
                  <a:pt x="52962" y="279815"/>
                </a:lnTo>
                <a:lnTo>
                  <a:pt x="57569" y="277467"/>
                </a:lnTo>
                <a:lnTo>
                  <a:pt x="62161" y="278751"/>
                </a:lnTo>
                <a:lnTo>
                  <a:pt x="63625" y="281981"/>
                </a:lnTo>
                <a:lnTo>
                  <a:pt x="70285" y="287661"/>
                </a:lnTo>
                <a:lnTo>
                  <a:pt x="70213" y="296236"/>
                </a:lnTo>
                <a:lnTo>
                  <a:pt x="74096" y="300726"/>
                </a:lnTo>
                <a:lnTo>
                  <a:pt x="74287" y="307000"/>
                </a:lnTo>
                <a:lnTo>
                  <a:pt x="78695" y="308691"/>
                </a:lnTo>
                <a:lnTo>
                  <a:pt x="80326" y="310878"/>
                </a:lnTo>
                <a:lnTo>
                  <a:pt x="79754" y="317320"/>
                </a:lnTo>
                <a:lnTo>
                  <a:pt x="83111" y="318432"/>
                </a:lnTo>
                <a:lnTo>
                  <a:pt x="93249" y="317421"/>
                </a:lnTo>
                <a:lnTo>
                  <a:pt x="97736" y="313304"/>
                </a:lnTo>
                <a:lnTo>
                  <a:pt x="109266" y="313451"/>
                </a:lnTo>
                <a:lnTo>
                  <a:pt x="110889" y="312394"/>
                </a:lnTo>
                <a:lnTo>
                  <a:pt x="110436" y="310575"/>
                </a:lnTo>
                <a:lnTo>
                  <a:pt x="113380" y="309325"/>
                </a:lnTo>
                <a:lnTo>
                  <a:pt x="112051" y="307524"/>
                </a:lnTo>
                <a:lnTo>
                  <a:pt x="113102" y="304208"/>
                </a:lnTo>
                <a:lnTo>
                  <a:pt x="110269" y="301250"/>
                </a:lnTo>
                <a:lnTo>
                  <a:pt x="110492" y="297558"/>
                </a:lnTo>
                <a:lnTo>
                  <a:pt x="108510" y="296162"/>
                </a:lnTo>
                <a:lnTo>
                  <a:pt x="111980" y="291003"/>
                </a:lnTo>
                <a:lnTo>
                  <a:pt x="111940" y="288845"/>
                </a:lnTo>
                <a:lnTo>
                  <a:pt x="114327" y="286881"/>
                </a:lnTo>
                <a:lnTo>
                  <a:pt x="112306" y="285890"/>
                </a:lnTo>
                <a:lnTo>
                  <a:pt x="106991" y="277302"/>
                </a:lnTo>
                <a:lnTo>
                  <a:pt x="107914" y="272935"/>
                </a:lnTo>
                <a:lnTo>
                  <a:pt x="116658" y="267506"/>
                </a:lnTo>
                <a:lnTo>
                  <a:pt x="114231" y="265911"/>
                </a:lnTo>
                <a:lnTo>
                  <a:pt x="111502" y="260521"/>
                </a:lnTo>
                <a:lnTo>
                  <a:pt x="105765" y="258880"/>
                </a:lnTo>
                <a:lnTo>
                  <a:pt x="104643" y="260246"/>
                </a:lnTo>
                <a:lnTo>
                  <a:pt x="102057" y="259485"/>
                </a:lnTo>
                <a:lnTo>
                  <a:pt x="101954" y="260667"/>
                </a:lnTo>
                <a:lnTo>
                  <a:pt x="100593" y="259769"/>
                </a:lnTo>
                <a:lnTo>
                  <a:pt x="96654" y="261300"/>
                </a:lnTo>
                <a:lnTo>
                  <a:pt x="92493" y="259742"/>
                </a:lnTo>
                <a:lnTo>
                  <a:pt x="93312" y="255563"/>
                </a:lnTo>
                <a:lnTo>
                  <a:pt x="90758" y="252731"/>
                </a:lnTo>
                <a:lnTo>
                  <a:pt x="90090" y="245879"/>
                </a:lnTo>
                <a:lnTo>
                  <a:pt x="92549" y="246795"/>
                </a:lnTo>
                <a:lnTo>
                  <a:pt x="96352" y="245201"/>
                </a:lnTo>
                <a:lnTo>
                  <a:pt x="97188" y="249497"/>
                </a:lnTo>
                <a:lnTo>
                  <a:pt x="101150" y="251375"/>
                </a:lnTo>
                <a:lnTo>
                  <a:pt x="101731" y="247619"/>
                </a:lnTo>
                <a:lnTo>
                  <a:pt x="107006" y="243196"/>
                </a:lnTo>
                <a:lnTo>
                  <a:pt x="115091" y="243828"/>
                </a:lnTo>
                <a:lnTo>
                  <a:pt x="115974" y="241327"/>
                </a:lnTo>
                <a:lnTo>
                  <a:pt x="123303" y="237701"/>
                </a:lnTo>
                <a:lnTo>
                  <a:pt x="125737" y="233216"/>
                </a:lnTo>
                <a:lnTo>
                  <a:pt x="125085" y="232108"/>
                </a:lnTo>
                <a:lnTo>
                  <a:pt x="130321" y="232813"/>
                </a:lnTo>
                <a:lnTo>
                  <a:pt x="130663" y="230534"/>
                </a:lnTo>
                <a:lnTo>
                  <a:pt x="128872" y="227231"/>
                </a:lnTo>
                <a:lnTo>
                  <a:pt x="131228" y="223891"/>
                </a:lnTo>
                <a:lnTo>
                  <a:pt x="133464" y="223836"/>
                </a:lnTo>
                <a:lnTo>
                  <a:pt x="133758" y="219866"/>
                </a:lnTo>
                <a:lnTo>
                  <a:pt x="136280" y="220552"/>
                </a:lnTo>
                <a:lnTo>
                  <a:pt x="137402" y="223250"/>
                </a:lnTo>
                <a:lnTo>
                  <a:pt x="140856" y="221970"/>
                </a:lnTo>
                <a:lnTo>
                  <a:pt x="144548" y="217012"/>
                </a:lnTo>
                <a:lnTo>
                  <a:pt x="147874" y="216289"/>
                </a:lnTo>
                <a:lnTo>
                  <a:pt x="149585" y="218686"/>
                </a:lnTo>
                <a:lnTo>
                  <a:pt x="150834" y="217735"/>
                </a:lnTo>
                <a:lnTo>
                  <a:pt x="152752" y="219546"/>
                </a:lnTo>
                <a:lnTo>
                  <a:pt x="154080" y="215914"/>
                </a:lnTo>
                <a:lnTo>
                  <a:pt x="155767" y="215997"/>
                </a:lnTo>
                <a:lnTo>
                  <a:pt x="154820" y="217222"/>
                </a:lnTo>
                <a:lnTo>
                  <a:pt x="156937" y="220158"/>
                </a:lnTo>
                <a:lnTo>
                  <a:pt x="157311" y="227944"/>
                </a:lnTo>
                <a:lnTo>
                  <a:pt x="161114" y="226800"/>
                </a:lnTo>
                <a:lnTo>
                  <a:pt x="163971" y="228685"/>
                </a:lnTo>
                <a:lnTo>
                  <a:pt x="166414" y="234854"/>
                </a:lnTo>
                <a:lnTo>
                  <a:pt x="173336" y="236173"/>
                </a:lnTo>
                <a:lnTo>
                  <a:pt x="173862" y="239359"/>
                </a:lnTo>
                <a:lnTo>
                  <a:pt x="175978" y="241318"/>
                </a:lnTo>
                <a:lnTo>
                  <a:pt x="181469" y="239038"/>
                </a:lnTo>
                <a:lnTo>
                  <a:pt x="187166" y="239881"/>
                </a:lnTo>
                <a:lnTo>
                  <a:pt x="186569" y="241419"/>
                </a:lnTo>
                <a:lnTo>
                  <a:pt x="187914" y="242573"/>
                </a:lnTo>
                <a:lnTo>
                  <a:pt x="189625" y="240137"/>
                </a:lnTo>
                <a:lnTo>
                  <a:pt x="190818" y="240448"/>
                </a:lnTo>
                <a:lnTo>
                  <a:pt x="192306" y="242866"/>
                </a:lnTo>
                <a:lnTo>
                  <a:pt x="196221" y="244359"/>
                </a:lnTo>
                <a:lnTo>
                  <a:pt x="196881" y="250157"/>
                </a:lnTo>
                <a:lnTo>
                  <a:pt x="200486" y="246932"/>
                </a:lnTo>
                <a:lnTo>
                  <a:pt x="210583" y="245705"/>
                </a:lnTo>
                <a:lnTo>
                  <a:pt x="211594" y="242829"/>
                </a:lnTo>
                <a:lnTo>
                  <a:pt x="214618" y="242738"/>
                </a:lnTo>
                <a:lnTo>
                  <a:pt x="214419" y="241382"/>
                </a:lnTo>
                <a:lnTo>
                  <a:pt x="218485" y="243351"/>
                </a:lnTo>
                <a:lnTo>
                  <a:pt x="219861" y="240879"/>
                </a:lnTo>
                <a:lnTo>
                  <a:pt x="221333" y="241337"/>
                </a:lnTo>
                <a:lnTo>
                  <a:pt x="222797" y="245851"/>
                </a:lnTo>
                <a:lnTo>
                  <a:pt x="221914" y="246447"/>
                </a:lnTo>
                <a:lnTo>
                  <a:pt x="231105" y="246319"/>
                </a:lnTo>
                <a:lnTo>
                  <a:pt x="233794" y="240961"/>
                </a:lnTo>
                <a:lnTo>
                  <a:pt x="239197" y="238196"/>
                </a:lnTo>
                <a:lnTo>
                  <a:pt x="239905" y="233838"/>
                </a:lnTo>
                <a:lnTo>
                  <a:pt x="241401" y="233033"/>
                </a:lnTo>
                <a:lnTo>
                  <a:pt x="240645" y="228978"/>
                </a:lnTo>
                <a:lnTo>
                  <a:pt x="248881" y="228612"/>
                </a:lnTo>
                <a:lnTo>
                  <a:pt x="248364" y="225245"/>
                </a:lnTo>
                <a:lnTo>
                  <a:pt x="251133" y="221274"/>
                </a:lnTo>
                <a:lnTo>
                  <a:pt x="249223" y="218667"/>
                </a:lnTo>
                <a:lnTo>
                  <a:pt x="251697" y="213967"/>
                </a:lnTo>
                <a:lnTo>
                  <a:pt x="255079" y="213848"/>
                </a:lnTo>
                <a:lnTo>
                  <a:pt x="255994" y="207923"/>
                </a:lnTo>
                <a:lnTo>
                  <a:pt x="254116" y="206598"/>
                </a:lnTo>
                <a:lnTo>
                  <a:pt x="254642" y="202320"/>
                </a:lnTo>
                <a:lnTo>
                  <a:pt x="249764" y="198089"/>
                </a:lnTo>
                <a:lnTo>
                  <a:pt x="250011" y="196061"/>
                </a:lnTo>
                <a:lnTo>
                  <a:pt x="244568" y="185219"/>
                </a:lnTo>
                <a:lnTo>
                  <a:pt x="244632" y="181138"/>
                </a:lnTo>
                <a:lnTo>
                  <a:pt x="251530" y="173170"/>
                </a:lnTo>
                <a:lnTo>
                  <a:pt x="252748" y="163892"/>
                </a:lnTo>
                <a:lnTo>
                  <a:pt x="261214" y="154162"/>
                </a:lnTo>
                <a:lnTo>
                  <a:pt x="260275" y="149924"/>
                </a:lnTo>
                <a:lnTo>
                  <a:pt x="261676" y="146698"/>
                </a:lnTo>
                <a:lnTo>
                  <a:pt x="260172" y="143964"/>
                </a:lnTo>
                <a:lnTo>
                  <a:pt x="261047" y="138161"/>
                </a:lnTo>
                <a:lnTo>
                  <a:pt x="258421" y="136011"/>
                </a:lnTo>
                <a:lnTo>
                  <a:pt x="258334" y="134126"/>
                </a:lnTo>
                <a:lnTo>
                  <a:pt x="261190" y="131585"/>
                </a:lnTo>
                <a:lnTo>
                  <a:pt x="263474" y="124129"/>
                </a:lnTo>
                <a:lnTo>
                  <a:pt x="272648" y="125312"/>
                </a:lnTo>
                <a:lnTo>
                  <a:pt x="274582" y="122900"/>
                </a:lnTo>
                <a:lnTo>
                  <a:pt x="272919" y="120261"/>
                </a:lnTo>
                <a:lnTo>
                  <a:pt x="281982" y="116503"/>
                </a:lnTo>
                <a:lnTo>
                  <a:pt x="284401" y="116876"/>
                </a:lnTo>
                <a:lnTo>
                  <a:pt x="291610" y="111763"/>
                </a:lnTo>
                <a:lnTo>
                  <a:pt x="288881" y="109089"/>
                </a:lnTo>
                <a:lnTo>
                  <a:pt x="290878" y="107216"/>
                </a:lnTo>
                <a:lnTo>
                  <a:pt x="288634" y="103415"/>
                </a:lnTo>
                <a:lnTo>
                  <a:pt x="285069" y="104469"/>
                </a:lnTo>
                <a:lnTo>
                  <a:pt x="283470" y="101560"/>
                </a:lnTo>
                <a:lnTo>
                  <a:pt x="272052" y="105924"/>
                </a:lnTo>
                <a:lnTo>
                  <a:pt x="269983" y="109107"/>
                </a:lnTo>
                <a:lnTo>
                  <a:pt x="265702" y="109471"/>
                </a:lnTo>
                <a:lnTo>
                  <a:pt x="265153" y="106988"/>
                </a:lnTo>
                <a:lnTo>
                  <a:pt x="263060" y="107634"/>
                </a:lnTo>
                <a:lnTo>
                  <a:pt x="262392" y="105806"/>
                </a:lnTo>
                <a:lnTo>
                  <a:pt x="261158" y="107197"/>
                </a:lnTo>
                <a:lnTo>
                  <a:pt x="259050" y="106543"/>
                </a:lnTo>
                <a:lnTo>
                  <a:pt x="251674" y="111981"/>
                </a:lnTo>
                <a:lnTo>
                  <a:pt x="249032" y="109871"/>
                </a:lnTo>
                <a:lnTo>
                  <a:pt x="250090" y="107552"/>
                </a:lnTo>
                <a:lnTo>
                  <a:pt x="249263" y="106470"/>
                </a:lnTo>
                <a:lnTo>
                  <a:pt x="245022" y="108625"/>
                </a:lnTo>
                <a:lnTo>
                  <a:pt x="242038" y="114492"/>
                </a:lnTo>
                <a:lnTo>
                  <a:pt x="236778" y="117149"/>
                </a:lnTo>
                <a:lnTo>
                  <a:pt x="234566" y="121016"/>
                </a:lnTo>
                <a:lnTo>
                  <a:pt x="231614" y="122918"/>
                </a:lnTo>
                <a:lnTo>
                  <a:pt x="226792" y="119606"/>
                </a:lnTo>
                <a:lnTo>
                  <a:pt x="225216" y="121344"/>
                </a:lnTo>
                <a:lnTo>
                  <a:pt x="225240" y="125858"/>
                </a:lnTo>
                <a:lnTo>
                  <a:pt x="220840" y="129873"/>
                </a:lnTo>
                <a:lnTo>
                  <a:pt x="218763" y="129955"/>
                </a:lnTo>
                <a:lnTo>
                  <a:pt x="214785" y="125913"/>
                </a:lnTo>
                <a:lnTo>
                  <a:pt x="212485" y="120998"/>
                </a:lnTo>
                <a:lnTo>
                  <a:pt x="213822" y="116312"/>
                </a:lnTo>
                <a:lnTo>
                  <a:pt x="217721" y="113883"/>
                </a:lnTo>
                <a:lnTo>
                  <a:pt x="218779" y="110590"/>
                </a:lnTo>
                <a:lnTo>
                  <a:pt x="219097" y="106688"/>
                </a:lnTo>
                <a:lnTo>
                  <a:pt x="217124" y="100042"/>
                </a:lnTo>
                <a:lnTo>
                  <a:pt x="210313" y="96188"/>
                </a:lnTo>
                <a:lnTo>
                  <a:pt x="206987" y="92371"/>
                </a:lnTo>
                <a:lnTo>
                  <a:pt x="201130" y="91008"/>
                </a:lnTo>
                <a:lnTo>
                  <a:pt x="201401" y="86201"/>
                </a:lnTo>
                <a:lnTo>
                  <a:pt x="198767" y="83186"/>
                </a:lnTo>
                <a:lnTo>
                  <a:pt x="196523" y="76030"/>
                </a:lnTo>
                <a:lnTo>
                  <a:pt x="196476" y="72045"/>
                </a:lnTo>
                <a:lnTo>
                  <a:pt x="200319" y="66091"/>
                </a:lnTo>
                <a:lnTo>
                  <a:pt x="197319" y="60175"/>
                </a:lnTo>
                <a:lnTo>
                  <a:pt x="199444" y="53536"/>
                </a:lnTo>
                <a:lnTo>
                  <a:pt x="197343" y="52919"/>
                </a:lnTo>
                <a:lnTo>
                  <a:pt x="197033" y="51369"/>
                </a:lnTo>
                <a:lnTo>
                  <a:pt x="194988" y="51659"/>
                </a:lnTo>
                <a:lnTo>
                  <a:pt x="192911" y="46681"/>
                </a:lnTo>
                <a:lnTo>
                  <a:pt x="193420" y="42476"/>
                </a:lnTo>
                <a:lnTo>
                  <a:pt x="190380" y="39603"/>
                </a:lnTo>
                <a:lnTo>
                  <a:pt x="185710" y="39603"/>
                </a:lnTo>
                <a:lnTo>
                  <a:pt x="179614" y="45068"/>
                </a:lnTo>
                <a:lnTo>
                  <a:pt x="174116" y="45168"/>
                </a:lnTo>
                <a:lnTo>
                  <a:pt x="171952" y="40473"/>
                </a:lnTo>
                <a:lnTo>
                  <a:pt x="169700" y="38905"/>
                </a:lnTo>
                <a:lnTo>
                  <a:pt x="172453" y="33596"/>
                </a:lnTo>
                <a:lnTo>
                  <a:pt x="172079" y="30924"/>
                </a:lnTo>
                <a:lnTo>
                  <a:pt x="167217" y="22167"/>
                </a:lnTo>
                <a:lnTo>
                  <a:pt x="169939" y="20891"/>
                </a:lnTo>
                <a:lnTo>
                  <a:pt x="173917" y="10601"/>
                </a:lnTo>
                <a:lnTo>
                  <a:pt x="169000" y="4866"/>
                </a:lnTo>
                <a:lnTo>
                  <a:pt x="167568" y="6123"/>
                </a:lnTo>
                <a:lnTo>
                  <a:pt x="160828" y="3970"/>
                </a:lnTo>
                <a:lnTo>
                  <a:pt x="157478" y="6277"/>
                </a:lnTo>
                <a:lnTo>
                  <a:pt x="155178" y="10872"/>
                </a:lnTo>
                <a:lnTo>
                  <a:pt x="152871" y="10320"/>
                </a:lnTo>
                <a:lnTo>
                  <a:pt x="153149" y="5698"/>
                </a:lnTo>
                <a:lnTo>
                  <a:pt x="151471" y="3509"/>
                </a:lnTo>
                <a:lnTo>
                  <a:pt x="152465" y="1519"/>
                </a:lnTo>
                <a:lnTo>
                  <a:pt x="149433" y="1094"/>
                </a:lnTo>
                <a:lnTo>
                  <a:pt x="149250" y="3111"/>
                </a:lnTo>
                <a:lnTo>
                  <a:pt x="146274" y="4793"/>
                </a:lnTo>
                <a:lnTo>
                  <a:pt x="141771" y="787"/>
                </a:lnTo>
                <a:lnTo>
                  <a:pt x="138389" y="1519"/>
                </a:lnTo>
                <a:lnTo>
                  <a:pt x="132612" y="0"/>
                </a:lnTo>
                <a:lnTo>
                  <a:pt x="133328" y="6937"/>
                </a:lnTo>
                <a:lnTo>
                  <a:pt x="125793" y="8656"/>
                </a:lnTo>
                <a:lnTo>
                  <a:pt x="125546" y="12211"/>
                </a:lnTo>
                <a:lnTo>
                  <a:pt x="130416" y="14799"/>
                </a:lnTo>
                <a:lnTo>
                  <a:pt x="129437" y="18229"/>
                </a:lnTo>
                <a:lnTo>
                  <a:pt x="131888" y="19089"/>
                </a:lnTo>
                <a:lnTo>
                  <a:pt x="131252" y="19967"/>
                </a:lnTo>
                <a:lnTo>
                  <a:pt x="135047" y="24014"/>
                </a:lnTo>
                <a:lnTo>
                  <a:pt x="138262" y="24032"/>
                </a:lnTo>
                <a:lnTo>
                  <a:pt x="138803" y="37084"/>
                </a:lnTo>
                <a:lnTo>
                  <a:pt x="137705" y="44234"/>
                </a:lnTo>
                <a:lnTo>
                  <a:pt x="134920" y="49184"/>
                </a:lnTo>
                <a:lnTo>
                  <a:pt x="139233" y="53781"/>
                </a:lnTo>
                <a:lnTo>
                  <a:pt x="142821" y="54388"/>
                </a:lnTo>
                <a:lnTo>
                  <a:pt x="145113" y="57726"/>
                </a:lnTo>
                <a:lnTo>
                  <a:pt x="144643" y="60184"/>
                </a:lnTo>
                <a:lnTo>
                  <a:pt x="142208" y="60493"/>
                </a:lnTo>
                <a:lnTo>
                  <a:pt x="139614" y="63714"/>
                </a:lnTo>
                <a:lnTo>
                  <a:pt x="142511" y="67035"/>
                </a:lnTo>
                <a:lnTo>
                  <a:pt x="139463" y="70157"/>
                </a:lnTo>
                <a:lnTo>
                  <a:pt x="135437" y="69603"/>
                </a:lnTo>
                <a:lnTo>
                  <a:pt x="135954" y="75385"/>
                </a:lnTo>
                <a:lnTo>
                  <a:pt x="134418" y="77319"/>
                </a:lnTo>
                <a:lnTo>
                  <a:pt x="136925" y="82686"/>
                </a:lnTo>
                <a:lnTo>
                  <a:pt x="132310" y="83313"/>
                </a:lnTo>
                <a:lnTo>
                  <a:pt x="130169" y="85329"/>
                </a:lnTo>
                <a:lnTo>
                  <a:pt x="130384" y="88691"/>
                </a:lnTo>
                <a:lnTo>
                  <a:pt x="126708" y="89100"/>
                </a:lnTo>
                <a:lnTo>
                  <a:pt x="124321" y="91871"/>
                </a:lnTo>
                <a:lnTo>
                  <a:pt x="124981" y="95724"/>
                </a:lnTo>
                <a:lnTo>
                  <a:pt x="118234" y="94997"/>
                </a:lnTo>
                <a:lnTo>
                  <a:pt x="115409" y="96515"/>
                </a:lnTo>
                <a:lnTo>
                  <a:pt x="117454" y="101705"/>
                </a:lnTo>
                <a:lnTo>
                  <a:pt x="116833" y="108380"/>
                </a:lnTo>
                <a:lnTo>
                  <a:pt x="112903" y="111199"/>
                </a:lnTo>
                <a:lnTo>
                  <a:pt x="110627" y="110099"/>
                </a:lnTo>
                <a:lnTo>
                  <a:pt x="107086" y="111427"/>
                </a:lnTo>
                <a:lnTo>
                  <a:pt x="101484" y="107734"/>
                </a:lnTo>
                <a:lnTo>
                  <a:pt x="100163" y="108125"/>
                </a:lnTo>
                <a:lnTo>
                  <a:pt x="100155" y="110817"/>
                </a:lnTo>
                <a:lnTo>
                  <a:pt x="97625" y="112373"/>
                </a:lnTo>
                <a:lnTo>
                  <a:pt x="95803" y="111054"/>
                </a:lnTo>
                <a:lnTo>
                  <a:pt x="93591" y="112154"/>
                </a:lnTo>
                <a:lnTo>
                  <a:pt x="85284" y="110190"/>
                </a:lnTo>
                <a:lnTo>
                  <a:pt x="85252" y="106115"/>
                </a:lnTo>
                <a:lnTo>
                  <a:pt x="83971" y="105215"/>
                </a:lnTo>
                <a:lnTo>
                  <a:pt x="81082" y="107234"/>
                </a:lnTo>
                <a:lnTo>
                  <a:pt x="80525" y="104424"/>
                </a:lnTo>
                <a:lnTo>
                  <a:pt x="79061" y="106570"/>
                </a:lnTo>
                <a:lnTo>
                  <a:pt x="81305" y="109453"/>
                </a:lnTo>
                <a:lnTo>
                  <a:pt x="80175" y="109789"/>
                </a:lnTo>
                <a:lnTo>
                  <a:pt x="79960" y="112773"/>
                </a:lnTo>
                <a:lnTo>
                  <a:pt x="76555" y="112145"/>
                </a:lnTo>
                <a:lnTo>
                  <a:pt x="76794" y="114892"/>
                </a:lnTo>
                <a:lnTo>
                  <a:pt x="75648" y="115420"/>
                </a:lnTo>
                <a:lnTo>
                  <a:pt x="73826" y="113028"/>
                </a:lnTo>
                <a:lnTo>
                  <a:pt x="70977" y="116139"/>
                </a:lnTo>
                <a:lnTo>
                  <a:pt x="69505" y="115111"/>
                </a:lnTo>
                <a:lnTo>
                  <a:pt x="66346" y="117986"/>
                </a:lnTo>
                <a:lnTo>
                  <a:pt x="64540" y="116057"/>
                </a:lnTo>
                <a:lnTo>
                  <a:pt x="64198" y="118505"/>
                </a:lnTo>
                <a:lnTo>
                  <a:pt x="61452" y="120143"/>
                </a:lnTo>
                <a:lnTo>
                  <a:pt x="59614" y="119333"/>
                </a:lnTo>
                <a:lnTo>
                  <a:pt x="63744" y="115775"/>
                </a:lnTo>
                <a:lnTo>
                  <a:pt x="58890" y="113937"/>
                </a:lnTo>
                <a:lnTo>
                  <a:pt x="56869" y="105224"/>
                </a:lnTo>
                <a:lnTo>
                  <a:pt x="54768" y="104187"/>
                </a:lnTo>
                <a:lnTo>
                  <a:pt x="53145" y="100569"/>
                </a:lnTo>
                <a:lnTo>
                  <a:pt x="50710" y="100805"/>
                </a:lnTo>
                <a:lnTo>
                  <a:pt x="49437" y="105015"/>
                </a:lnTo>
                <a:lnTo>
                  <a:pt x="50320" y="111527"/>
                </a:lnTo>
                <a:lnTo>
                  <a:pt x="48602" y="110726"/>
                </a:lnTo>
                <a:lnTo>
                  <a:pt x="46891" y="112573"/>
                </a:lnTo>
                <a:lnTo>
                  <a:pt x="43151" y="112518"/>
                </a:lnTo>
                <a:lnTo>
                  <a:pt x="42475" y="114174"/>
                </a:lnTo>
                <a:lnTo>
                  <a:pt x="40796" y="114483"/>
                </a:lnTo>
                <a:lnTo>
                  <a:pt x="40056" y="110553"/>
                </a:lnTo>
                <a:lnTo>
                  <a:pt x="37279" y="111972"/>
                </a:lnTo>
                <a:lnTo>
                  <a:pt x="35942" y="107898"/>
                </a:lnTo>
                <a:lnTo>
                  <a:pt x="30858" y="107870"/>
                </a:lnTo>
                <a:lnTo>
                  <a:pt x="28629" y="105615"/>
                </a:lnTo>
                <a:lnTo>
                  <a:pt x="23656" y="106197"/>
                </a:lnTo>
                <a:lnTo>
                  <a:pt x="22431" y="103078"/>
                </a:lnTo>
                <a:lnTo>
                  <a:pt x="18126" y="110271"/>
                </a:lnTo>
                <a:lnTo>
                  <a:pt x="15325" y="109244"/>
                </a:lnTo>
                <a:lnTo>
                  <a:pt x="11347" y="110717"/>
                </a:lnTo>
                <a:lnTo>
                  <a:pt x="10448" y="114920"/>
                </a:lnTo>
                <a:lnTo>
                  <a:pt x="7567" y="113164"/>
                </a:lnTo>
                <a:lnTo>
                  <a:pt x="3676" y="116494"/>
                </a:lnTo>
                <a:lnTo>
                  <a:pt x="0" y="117385"/>
                </a:lnTo>
                <a:lnTo>
                  <a:pt x="1186" y="121408"/>
                </a:lnTo>
                <a:lnTo>
                  <a:pt x="5634" y="122108"/>
                </a:lnTo>
                <a:lnTo>
                  <a:pt x="7297" y="120034"/>
                </a:lnTo>
                <a:lnTo>
                  <a:pt x="9787" y="121890"/>
                </a:lnTo>
                <a:lnTo>
                  <a:pt x="11259" y="120470"/>
                </a:lnTo>
                <a:lnTo>
                  <a:pt x="15039" y="124138"/>
                </a:lnTo>
                <a:lnTo>
                  <a:pt x="13981" y="130292"/>
                </a:lnTo>
                <a:lnTo>
                  <a:pt x="8809" y="140903"/>
                </a:lnTo>
                <a:lnTo>
                  <a:pt x="11506" y="142852"/>
                </a:lnTo>
                <a:lnTo>
                  <a:pt x="9731" y="142834"/>
                </a:lnTo>
                <a:lnTo>
                  <a:pt x="12039" y="147208"/>
                </a:lnTo>
                <a:lnTo>
                  <a:pt x="9366" y="147919"/>
                </a:lnTo>
                <a:lnTo>
                  <a:pt x="4814" y="153615"/>
                </a:lnTo>
                <a:lnTo>
                  <a:pt x="5769" y="155311"/>
                </a:lnTo>
                <a:lnTo>
                  <a:pt x="15190" y="155411"/>
                </a:lnTo>
                <a:lnTo>
                  <a:pt x="17060" y="151993"/>
                </a:lnTo>
                <a:lnTo>
                  <a:pt x="18612" y="152111"/>
                </a:lnTo>
                <a:lnTo>
                  <a:pt x="22487" y="161876"/>
                </a:lnTo>
                <a:lnTo>
                  <a:pt x="18452" y="163819"/>
                </a:lnTo>
                <a:lnTo>
                  <a:pt x="18134" y="166464"/>
                </a:lnTo>
                <a:lnTo>
                  <a:pt x="18803" y="167960"/>
                </a:lnTo>
                <a:lnTo>
                  <a:pt x="22248" y="168544"/>
                </a:lnTo>
                <a:lnTo>
                  <a:pt x="21110" y="177514"/>
                </a:lnTo>
                <a:lnTo>
                  <a:pt x="23219" y="179230"/>
                </a:lnTo>
                <a:lnTo>
                  <a:pt x="15126" y="187329"/>
                </a:lnTo>
                <a:lnTo>
                  <a:pt x="12946" y="186087"/>
                </a:lnTo>
                <a:lnTo>
                  <a:pt x="11371" y="181102"/>
                </a:lnTo>
                <a:lnTo>
                  <a:pt x="9445" y="180874"/>
                </a:lnTo>
                <a:lnTo>
                  <a:pt x="6644" y="184005"/>
                </a:lnTo>
                <a:lnTo>
                  <a:pt x="2172" y="185192"/>
                </a:lnTo>
                <a:lnTo>
                  <a:pt x="1544" y="188315"/>
                </a:lnTo>
                <a:lnTo>
                  <a:pt x="3637" y="196636"/>
                </a:lnTo>
                <a:lnTo>
                  <a:pt x="931" y="201580"/>
                </a:lnTo>
                <a:lnTo>
                  <a:pt x="1631" y="203865"/>
                </a:lnTo>
                <a:lnTo>
                  <a:pt x="4082" y="205108"/>
                </a:lnTo>
                <a:lnTo>
                  <a:pt x="2013" y="207521"/>
                </a:lnTo>
                <a:lnTo>
                  <a:pt x="2697" y="208929"/>
                </a:lnTo>
                <a:lnTo>
                  <a:pt x="7758" y="209459"/>
                </a:lnTo>
                <a:lnTo>
                  <a:pt x="13551" y="213683"/>
                </a:lnTo>
                <a:lnTo>
                  <a:pt x="19996" y="212138"/>
                </a:lnTo>
                <a:lnTo>
                  <a:pt x="19710" y="215247"/>
                </a:lnTo>
                <a:lnTo>
                  <a:pt x="23211" y="220076"/>
                </a:lnTo>
                <a:lnTo>
                  <a:pt x="24372" y="225611"/>
                </a:lnTo>
                <a:lnTo>
                  <a:pt x="30181" y="233619"/>
                </a:lnTo>
                <a:lnTo>
                  <a:pt x="30332" y="235083"/>
                </a:lnTo>
                <a:lnTo>
                  <a:pt x="27476" y="236026"/>
                </a:lnTo>
                <a:lnTo>
                  <a:pt x="32871" y="239056"/>
                </a:lnTo>
                <a:lnTo>
                  <a:pt x="30842" y="241080"/>
                </a:lnTo>
                <a:lnTo>
                  <a:pt x="29155" y="240155"/>
                </a:lnTo>
                <a:lnTo>
                  <a:pt x="25757" y="247134"/>
                </a:lnTo>
                <a:lnTo>
                  <a:pt x="16400" y="253116"/>
                </a:lnTo>
                <a:lnTo>
                  <a:pt x="18206" y="254857"/>
                </a:lnTo>
                <a:lnTo>
                  <a:pt x="18206" y="260484"/>
                </a:lnTo>
                <a:lnTo>
                  <a:pt x="19742" y="262381"/>
                </a:lnTo>
                <a:lnTo>
                  <a:pt x="19169" y="269093"/>
                </a:lnTo>
              </a:path>
            </a:pathLst>
          </a:custGeom>
          <a:solidFill xmlns:a="http://schemas.openxmlformats.org/drawingml/2006/main">
            <a:srgbClr val="81968A"/>
          </a:solidFill>
          <a:ln xmlns:a="http://schemas.openxmlformats.org/drawingml/2006/main" w="3810">
            <a:solidFill>
              <a:srgbClr val="65736D"/>
            </a:solidFill>
            <a:prstDash val="solid"/>
          </a:ln>
        </p:spPr>
      </p:sp>
      <p:sp>
        <p:nvSpPr>
          <p:cNvPr id="67" name="">
            <a:extLst xmlns:a="http://schemas.openxmlformats.org/drawingml/2006/main">
              <a:ext uri="{FF2B5EF4-FFF2-40B4-BE49-F238E27FC236}">
                <a16:creationId xmlns:a16="http://schemas.microsoft.com/office/drawing/2014/main" id="{AAEBED96-B1E1-4ACE-BE8B-A307D5EA4B33}"/>
              </a:ext>
            </a:extLst>
          </p:cNvPr>
          <p:cNvSpPr>
            <a:spLocks xmlns:a="http://schemas.openxmlformats.org/drawingml/2006/main" noGrp="1"/>
          </p:cNvSpPr>
          <p:nvPr/>
        </p:nvSpPr>
        <p:spPr>
          <a:xfrm xmlns:a="http://schemas.openxmlformats.org/drawingml/2006/main">
            <a:off x="818171" y="6401065"/>
            <a:ext cx="219129" cy="365495"/>
          </a:xfrm>
          <a:custGeom xmlns:a="http://schemas.openxmlformats.org/drawingml/2006/main">
            <a:pathLst>
              <a:path w="219129" h="365495">
                <a:moveTo>
                  <a:pt x="205427" y="274554"/>
                </a:moveTo>
                <a:lnTo>
                  <a:pt x="206000" y="267842"/>
                </a:lnTo>
                <a:lnTo>
                  <a:pt x="204464" y="265945"/>
                </a:lnTo>
                <a:lnTo>
                  <a:pt x="204464" y="260318"/>
                </a:lnTo>
                <a:lnTo>
                  <a:pt x="202658" y="258577"/>
                </a:lnTo>
                <a:lnTo>
                  <a:pt x="212016" y="252595"/>
                </a:lnTo>
                <a:lnTo>
                  <a:pt x="215413" y="245616"/>
                </a:lnTo>
                <a:lnTo>
                  <a:pt x="217100" y="246541"/>
                </a:lnTo>
                <a:lnTo>
                  <a:pt x="219129" y="244517"/>
                </a:lnTo>
                <a:lnTo>
                  <a:pt x="213734" y="241487"/>
                </a:lnTo>
                <a:lnTo>
                  <a:pt x="216591" y="240544"/>
                </a:lnTo>
                <a:lnTo>
                  <a:pt x="216440" y="239079"/>
                </a:lnTo>
                <a:lnTo>
                  <a:pt x="210631" y="231072"/>
                </a:lnTo>
                <a:lnTo>
                  <a:pt x="209469" y="225537"/>
                </a:lnTo>
                <a:lnTo>
                  <a:pt x="205968" y="220708"/>
                </a:lnTo>
                <a:lnTo>
                  <a:pt x="206255" y="217599"/>
                </a:lnTo>
                <a:lnTo>
                  <a:pt x="199810" y="219144"/>
                </a:lnTo>
                <a:lnTo>
                  <a:pt x="194017" y="214920"/>
                </a:lnTo>
                <a:lnTo>
                  <a:pt x="188956" y="214390"/>
                </a:lnTo>
                <a:lnTo>
                  <a:pt x="188272" y="212982"/>
                </a:lnTo>
                <a:lnTo>
                  <a:pt x="190341" y="210568"/>
                </a:lnTo>
                <a:lnTo>
                  <a:pt x="187890" y="209326"/>
                </a:lnTo>
                <a:lnTo>
                  <a:pt x="187190" y="207041"/>
                </a:lnTo>
                <a:lnTo>
                  <a:pt x="189895" y="202097"/>
                </a:lnTo>
                <a:lnTo>
                  <a:pt x="187802" y="193776"/>
                </a:lnTo>
                <a:lnTo>
                  <a:pt x="188431" y="190653"/>
                </a:lnTo>
                <a:lnTo>
                  <a:pt x="192903" y="189466"/>
                </a:lnTo>
                <a:lnTo>
                  <a:pt x="195704" y="186334"/>
                </a:lnTo>
                <a:lnTo>
                  <a:pt x="197629" y="186563"/>
                </a:lnTo>
                <a:lnTo>
                  <a:pt x="199205" y="191548"/>
                </a:lnTo>
                <a:lnTo>
                  <a:pt x="201385" y="192790"/>
                </a:lnTo>
                <a:lnTo>
                  <a:pt x="209477" y="184691"/>
                </a:lnTo>
                <a:lnTo>
                  <a:pt x="207369" y="182975"/>
                </a:lnTo>
                <a:lnTo>
                  <a:pt x="208507" y="174005"/>
                </a:lnTo>
                <a:lnTo>
                  <a:pt x="205061" y="173421"/>
                </a:lnTo>
                <a:lnTo>
                  <a:pt x="204393" y="171925"/>
                </a:lnTo>
                <a:lnTo>
                  <a:pt x="204711" y="169280"/>
                </a:lnTo>
                <a:lnTo>
                  <a:pt x="208745" y="167337"/>
                </a:lnTo>
                <a:lnTo>
                  <a:pt x="208721" y="165121"/>
                </a:lnTo>
                <a:lnTo>
                  <a:pt x="207432" y="165203"/>
                </a:lnTo>
                <a:lnTo>
                  <a:pt x="204870" y="157572"/>
                </a:lnTo>
                <a:lnTo>
                  <a:pt x="203318" y="157454"/>
                </a:lnTo>
                <a:lnTo>
                  <a:pt x="201449" y="160872"/>
                </a:lnTo>
                <a:lnTo>
                  <a:pt x="192027" y="160772"/>
                </a:lnTo>
                <a:lnTo>
                  <a:pt x="191073" y="159076"/>
                </a:lnTo>
                <a:lnTo>
                  <a:pt x="195624" y="153380"/>
                </a:lnTo>
                <a:lnTo>
                  <a:pt x="198298" y="152669"/>
                </a:lnTo>
                <a:lnTo>
                  <a:pt x="195990" y="148295"/>
                </a:lnTo>
                <a:lnTo>
                  <a:pt x="197765" y="148313"/>
                </a:lnTo>
                <a:lnTo>
                  <a:pt x="195067" y="146363"/>
                </a:lnTo>
                <a:lnTo>
                  <a:pt x="200239" y="135753"/>
                </a:lnTo>
                <a:lnTo>
                  <a:pt x="201297" y="129599"/>
                </a:lnTo>
                <a:lnTo>
                  <a:pt x="197518" y="125931"/>
                </a:lnTo>
                <a:lnTo>
                  <a:pt x="196046" y="127351"/>
                </a:lnTo>
                <a:lnTo>
                  <a:pt x="193555" y="125494"/>
                </a:lnTo>
                <a:lnTo>
                  <a:pt x="191892" y="127569"/>
                </a:lnTo>
                <a:lnTo>
                  <a:pt x="189060" y="127478"/>
                </a:lnTo>
                <a:lnTo>
                  <a:pt x="185948" y="124621"/>
                </a:lnTo>
                <a:lnTo>
                  <a:pt x="186107" y="120135"/>
                </a:lnTo>
                <a:lnTo>
                  <a:pt x="184834" y="117451"/>
                </a:lnTo>
                <a:lnTo>
                  <a:pt x="183370" y="117388"/>
                </a:lnTo>
                <a:lnTo>
                  <a:pt x="184047" y="115050"/>
                </a:lnTo>
                <a:lnTo>
                  <a:pt x="180880" y="113977"/>
                </a:lnTo>
                <a:lnTo>
                  <a:pt x="179495" y="111740"/>
                </a:lnTo>
                <a:lnTo>
                  <a:pt x="180800" y="108266"/>
                </a:lnTo>
                <a:lnTo>
                  <a:pt x="181150" y="96732"/>
                </a:lnTo>
                <a:lnTo>
                  <a:pt x="183354" y="92089"/>
                </a:lnTo>
                <a:lnTo>
                  <a:pt x="182845" y="90790"/>
                </a:lnTo>
                <a:lnTo>
                  <a:pt x="178333" y="92071"/>
                </a:lnTo>
                <a:lnTo>
                  <a:pt x="178851" y="85904"/>
                </a:lnTo>
                <a:lnTo>
                  <a:pt x="174729" y="84896"/>
                </a:lnTo>
                <a:lnTo>
                  <a:pt x="174291" y="79148"/>
                </a:lnTo>
                <a:lnTo>
                  <a:pt x="173066" y="78749"/>
                </a:lnTo>
                <a:lnTo>
                  <a:pt x="172907" y="75327"/>
                </a:lnTo>
                <a:lnTo>
                  <a:pt x="174745" y="76117"/>
                </a:lnTo>
                <a:lnTo>
                  <a:pt x="174665" y="71706"/>
                </a:lnTo>
                <a:lnTo>
                  <a:pt x="173281" y="69837"/>
                </a:lnTo>
                <a:lnTo>
                  <a:pt x="176002" y="68321"/>
                </a:lnTo>
                <a:lnTo>
                  <a:pt x="174586" y="65219"/>
                </a:lnTo>
                <a:lnTo>
                  <a:pt x="176670" y="64012"/>
                </a:lnTo>
                <a:lnTo>
                  <a:pt x="175723" y="61255"/>
                </a:lnTo>
                <a:lnTo>
                  <a:pt x="178007" y="60221"/>
                </a:lnTo>
                <a:lnTo>
                  <a:pt x="180864" y="62443"/>
                </a:lnTo>
                <a:lnTo>
                  <a:pt x="183179" y="59804"/>
                </a:lnTo>
                <a:lnTo>
                  <a:pt x="186879" y="59369"/>
                </a:lnTo>
                <a:lnTo>
                  <a:pt x="187755" y="54508"/>
                </a:lnTo>
                <a:lnTo>
                  <a:pt x="183450" y="52296"/>
                </a:lnTo>
                <a:lnTo>
                  <a:pt x="173504" y="59523"/>
                </a:lnTo>
                <a:lnTo>
                  <a:pt x="173885" y="55751"/>
                </a:lnTo>
                <a:lnTo>
                  <a:pt x="176121" y="53810"/>
                </a:lnTo>
                <a:lnTo>
                  <a:pt x="174140" y="52523"/>
                </a:lnTo>
                <a:lnTo>
                  <a:pt x="177108" y="50900"/>
                </a:lnTo>
                <a:lnTo>
                  <a:pt x="177864" y="48589"/>
                </a:lnTo>
                <a:lnTo>
                  <a:pt x="177259" y="46269"/>
                </a:lnTo>
                <a:lnTo>
                  <a:pt x="173384" y="44946"/>
                </a:lnTo>
                <a:lnTo>
                  <a:pt x="174426" y="39655"/>
                </a:lnTo>
                <a:lnTo>
                  <a:pt x="168419" y="35017"/>
                </a:lnTo>
                <a:lnTo>
                  <a:pt x="166151" y="36475"/>
                </a:lnTo>
                <a:lnTo>
                  <a:pt x="166048" y="38296"/>
                </a:lnTo>
                <a:lnTo>
                  <a:pt x="160621" y="36013"/>
                </a:lnTo>
                <a:lnTo>
                  <a:pt x="153396" y="35932"/>
                </a:lnTo>
                <a:lnTo>
                  <a:pt x="151820" y="37417"/>
                </a:lnTo>
                <a:lnTo>
                  <a:pt x="155322" y="40724"/>
                </a:lnTo>
                <a:lnTo>
                  <a:pt x="153324" y="44375"/>
                </a:lnTo>
                <a:lnTo>
                  <a:pt x="151025" y="39908"/>
                </a:lnTo>
                <a:lnTo>
                  <a:pt x="146776" y="36448"/>
                </a:lnTo>
                <a:lnTo>
                  <a:pt x="140291" y="21971"/>
                </a:lnTo>
                <a:lnTo>
                  <a:pt x="140521" y="19473"/>
                </a:lnTo>
                <a:lnTo>
                  <a:pt x="138389" y="19011"/>
                </a:lnTo>
                <a:lnTo>
                  <a:pt x="133758" y="11683"/>
                </a:lnTo>
                <a:lnTo>
                  <a:pt x="131968" y="11176"/>
                </a:lnTo>
                <a:lnTo>
                  <a:pt x="127361" y="14234"/>
                </a:lnTo>
                <a:lnTo>
                  <a:pt x="125841" y="13727"/>
                </a:lnTo>
                <a:lnTo>
                  <a:pt x="126350" y="10372"/>
                </a:lnTo>
                <a:lnTo>
                  <a:pt x="120637" y="12886"/>
                </a:lnTo>
                <a:lnTo>
                  <a:pt x="119308" y="9675"/>
                </a:lnTo>
                <a:lnTo>
                  <a:pt x="115321" y="9114"/>
                </a:lnTo>
                <a:lnTo>
                  <a:pt x="116420" y="5940"/>
                </a:lnTo>
                <a:lnTo>
                  <a:pt x="115616" y="4313"/>
                </a:lnTo>
                <a:lnTo>
                  <a:pt x="113364" y="5768"/>
                </a:lnTo>
                <a:lnTo>
                  <a:pt x="110659" y="3056"/>
                </a:lnTo>
                <a:lnTo>
                  <a:pt x="106577" y="5615"/>
                </a:lnTo>
                <a:lnTo>
                  <a:pt x="101667" y="4484"/>
                </a:lnTo>
                <a:lnTo>
                  <a:pt x="100744" y="10580"/>
                </a:lnTo>
                <a:lnTo>
                  <a:pt x="98580" y="12859"/>
                </a:lnTo>
                <a:lnTo>
                  <a:pt x="94450" y="13420"/>
                </a:lnTo>
                <a:lnTo>
                  <a:pt x="90686" y="9576"/>
                </a:lnTo>
                <a:lnTo>
                  <a:pt x="86994" y="9087"/>
                </a:lnTo>
                <a:lnTo>
                  <a:pt x="86867" y="5813"/>
                </a:lnTo>
                <a:lnTo>
                  <a:pt x="83836" y="461"/>
                </a:lnTo>
                <a:lnTo>
                  <a:pt x="77183" y="1808"/>
                </a:lnTo>
                <a:lnTo>
                  <a:pt x="71796" y="36"/>
                </a:lnTo>
                <a:lnTo>
                  <a:pt x="70730" y="1139"/>
                </a:lnTo>
                <a:lnTo>
                  <a:pt x="68033" y="0"/>
                </a:lnTo>
                <a:lnTo>
                  <a:pt x="66115" y="1573"/>
                </a:lnTo>
                <a:lnTo>
                  <a:pt x="57856" y="1311"/>
                </a:lnTo>
                <a:lnTo>
                  <a:pt x="52835" y="10688"/>
                </a:lnTo>
                <a:lnTo>
                  <a:pt x="54880" y="15673"/>
                </a:lnTo>
                <a:lnTo>
                  <a:pt x="53137" y="22052"/>
                </a:lnTo>
                <a:lnTo>
                  <a:pt x="53750" y="25157"/>
                </a:lnTo>
                <a:lnTo>
                  <a:pt x="47177" y="29312"/>
                </a:lnTo>
                <a:lnTo>
                  <a:pt x="49716" y="31938"/>
                </a:lnTo>
                <a:lnTo>
                  <a:pt x="52707" y="39510"/>
                </a:lnTo>
                <a:lnTo>
                  <a:pt x="48960" y="50900"/>
                </a:lnTo>
                <a:lnTo>
                  <a:pt x="50185" y="58326"/>
                </a:lnTo>
                <a:lnTo>
                  <a:pt x="49000" y="61509"/>
                </a:lnTo>
                <a:lnTo>
                  <a:pt x="47472" y="61854"/>
                </a:lnTo>
                <a:lnTo>
                  <a:pt x="46541" y="60348"/>
                </a:lnTo>
                <a:lnTo>
                  <a:pt x="44774" y="63541"/>
                </a:lnTo>
                <a:lnTo>
                  <a:pt x="40398" y="63341"/>
                </a:lnTo>
                <a:lnTo>
                  <a:pt x="36260" y="67242"/>
                </a:lnTo>
                <a:lnTo>
                  <a:pt x="33332" y="66253"/>
                </a:lnTo>
                <a:lnTo>
                  <a:pt x="33857" y="65083"/>
                </a:lnTo>
                <a:lnTo>
                  <a:pt x="29616" y="63123"/>
                </a:lnTo>
                <a:lnTo>
                  <a:pt x="29457" y="60185"/>
                </a:lnTo>
                <a:lnTo>
                  <a:pt x="31136" y="58326"/>
                </a:lnTo>
                <a:lnTo>
                  <a:pt x="25303" y="51417"/>
                </a:lnTo>
                <a:lnTo>
                  <a:pt x="26943" y="42128"/>
                </a:lnTo>
                <a:lnTo>
                  <a:pt x="25534" y="40090"/>
                </a:lnTo>
                <a:lnTo>
                  <a:pt x="22884" y="41014"/>
                </a:lnTo>
                <a:lnTo>
                  <a:pt x="22232" y="46178"/>
                </a:lnTo>
                <a:lnTo>
                  <a:pt x="17696" y="45861"/>
                </a:lnTo>
                <a:lnTo>
                  <a:pt x="16758" y="47592"/>
                </a:lnTo>
                <a:lnTo>
                  <a:pt x="15763" y="64547"/>
                </a:lnTo>
                <a:lnTo>
                  <a:pt x="13535" y="69927"/>
                </a:lnTo>
                <a:lnTo>
                  <a:pt x="11617" y="71307"/>
                </a:lnTo>
                <a:lnTo>
                  <a:pt x="9787" y="76462"/>
                </a:lnTo>
                <a:lnTo>
                  <a:pt x="10647" y="79157"/>
                </a:lnTo>
                <a:lnTo>
                  <a:pt x="7376" y="86440"/>
                </a:lnTo>
                <a:lnTo>
                  <a:pt x="13280" y="87693"/>
                </a:lnTo>
                <a:lnTo>
                  <a:pt x="12867" y="89164"/>
                </a:lnTo>
                <a:lnTo>
                  <a:pt x="15898" y="88855"/>
                </a:lnTo>
                <a:lnTo>
                  <a:pt x="22542" y="92344"/>
                </a:lnTo>
                <a:lnTo>
                  <a:pt x="36778" y="91726"/>
                </a:lnTo>
                <a:lnTo>
                  <a:pt x="36571" y="96178"/>
                </a:lnTo>
                <a:lnTo>
                  <a:pt x="37955" y="98068"/>
                </a:lnTo>
                <a:lnTo>
                  <a:pt x="40692" y="99185"/>
                </a:lnTo>
                <a:lnTo>
                  <a:pt x="47909" y="97740"/>
                </a:lnTo>
                <a:lnTo>
                  <a:pt x="49556" y="100803"/>
                </a:lnTo>
                <a:lnTo>
                  <a:pt x="49389" y="105984"/>
                </a:lnTo>
                <a:lnTo>
                  <a:pt x="46517" y="106575"/>
                </a:lnTo>
                <a:lnTo>
                  <a:pt x="45761" y="110812"/>
                </a:lnTo>
                <a:lnTo>
                  <a:pt x="46907" y="112249"/>
                </a:lnTo>
                <a:lnTo>
                  <a:pt x="44544" y="117251"/>
                </a:lnTo>
                <a:lnTo>
                  <a:pt x="46071" y="120972"/>
                </a:lnTo>
                <a:lnTo>
                  <a:pt x="46111" y="124566"/>
                </a:lnTo>
                <a:lnTo>
                  <a:pt x="44719" y="126313"/>
                </a:lnTo>
                <a:lnTo>
                  <a:pt x="45681" y="126423"/>
                </a:lnTo>
                <a:lnTo>
                  <a:pt x="42578" y="129380"/>
                </a:lnTo>
                <a:lnTo>
                  <a:pt x="45443" y="133031"/>
                </a:lnTo>
                <a:lnTo>
                  <a:pt x="41440" y="134150"/>
                </a:lnTo>
                <a:lnTo>
                  <a:pt x="38082" y="139259"/>
                </a:lnTo>
                <a:lnTo>
                  <a:pt x="34565" y="149807"/>
                </a:lnTo>
                <a:lnTo>
                  <a:pt x="36817" y="149871"/>
                </a:lnTo>
                <a:lnTo>
                  <a:pt x="37040" y="152040"/>
                </a:lnTo>
                <a:lnTo>
                  <a:pt x="38950" y="152468"/>
                </a:lnTo>
                <a:lnTo>
                  <a:pt x="38504" y="153790"/>
                </a:lnTo>
                <a:lnTo>
                  <a:pt x="40780" y="156724"/>
                </a:lnTo>
                <a:lnTo>
                  <a:pt x="39356" y="157335"/>
                </a:lnTo>
                <a:lnTo>
                  <a:pt x="43597" y="164319"/>
                </a:lnTo>
                <a:lnTo>
                  <a:pt x="49453" y="165997"/>
                </a:lnTo>
                <a:lnTo>
                  <a:pt x="51403" y="161209"/>
                </a:lnTo>
                <a:lnTo>
                  <a:pt x="57354" y="157499"/>
                </a:lnTo>
                <a:lnTo>
                  <a:pt x="58636" y="159824"/>
                </a:lnTo>
                <a:lnTo>
                  <a:pt x="62041" y="157754"/>
                </a:lnTo>
                <a:lnTo>
                  <a:pt x="63068" y="161465"/>
                </a:lnTo>
                <a:lnTo>
                  <a:pt x="66441" y="160982"/>
                </a:lnTo>
                <a:lnTo>
                  <a:pt x="67484" y="162322"/>
                </a:lnTo>
                <a:lnTo>
                  <a:pt x="73070" y="160425"/>
                </a:lnTo>
                <a:lnTo>
                  <a:pt x="73444" y="163270"/>
                </a:lnTo>
                <a:lnTo>
                  <a:pt x="78568" y="163680"/>
                </a:lnTo>
                <a:lnTo>
                  <a:pt x="73452" y="167036"/>
                </a:lnTo>
                <a:lnTo>
                  <a:pt x="70014" y="167337"/>
                </a:lnTo>
                <a:lnTo>
                  <a:pt x="68821" y="170612"/>
                </a:lnTo>
                <a:lnTo>
                  <a:pt x="70428" y="172691"/>
                </a:lnTo>
                <a:lnTo>
                  <a:pt x="71025" y="179890"/>
                </a:lnTo>
                <a:lnTo>
                  <a:pt x="67516" y="180128"/>
                </a:lnTo>
                <a:lnTo>
                  <a:pt x="65121" y="183988"/>
                </a:lnTo>
                <a:lnTo>
                  <a:pt x="57442" y="186435"/>
                </a:lnTo>
                <a:lnTo>
                  <a:pt x="54601" y="185933"/>
                </a:lnTo>
                <a:lnTo>
                  <a:pt x="51729" y="188617"/>
                </a:lnTo>
                <a:lnTo>
                  <a:pt x="52087" y="200316"/>
                </a:lnTo>
                <a:lnTo>
                  <a:pt x="56909" y="207223"/>
                </a:lnTo>
                <a:lnTo>
                  <a:pt x="54259" y="213548"/>
                </a:lnTo>
                <a:lnTo>
                  <a:pt x="53630" y="224787"/>
                </a:lnTo>
                <a:lnTo>
                  <a:pt x="50758" y="229013"/>
                </a:lnTo>
                <a:lnTo>
                  <a:pt x="49485" y="234567"/>
                </a:lnTo>
                <a:lnTo>
                  <a:pt x="47575" y="236617"/>
                </a:lnTo>
                <a:lnTo>
                  <a:pt x="45666" y="236269"/>
                </a:lnTo>
                <a:lnTo>
                  <a:pt x="44448" y="241102"/>
                </a:lnTo>
                <a:lnTo>
                  <a:pt x="41424" y="244014"/>
                </a:lnTo>
                <a:lnTo>
                  <a:pt x="37621" y="246413"/>
                </a:lnTo>
                <a:lnTo>
                  <a:pt x="33443" y="245909"/>
                </a:lnTo>
                <a:lnTo>
                  <a:pt x="27133" y="256231"/>
                </a:lnTo>
                <a:lnTo>
                  <a:pt x="22025" y="259264"/>
                </a:lnTo>
                <a:lnTo>
                  <a:pt x="24134" y="266761"/>
                </a:lnTo>
                <a:lnTo>
                  <a:pt x="23402" y="270400"/>
                </a:lnTo>
                <a:lnTo>
                  <a:pt x="16519" y="275251"/>
                </a:lnTo>
                <a:lnTo>
                  <a:pt x="7392" y="278809"/>
                </a:lnTo>
                <a:lnTo>
                  <a:pt x="3740" y="288111"/>
                </a:lnTo>
                <a:lnTo>
                  <a:pt x="4663" y="289304"/>
                </a:lnTo>
                <a:lnTo>
                  <a:pt x="1385" y="293205"/>
                </a:lnTo>
                <a:lnTo>
                  <a:pt x="2156" y="293985"/>
                </a:lnTo>
                <a:lnTo>
                  <a:pt x="0" y="299218"/>
                </a:lnTo>
                <a:lnTo>
                  <a:pt x="1289" y="305710"/>
                </a:lnTo>
                <a:lnTo>
                  <a:pt x="3430" y="307960"/>
                </a:lnTo>
                <a:lnTo>
                  <a:pt x="2451" y="309972"/>
                </a:lnTo>
                <a:lnTo>
                  <a:pt x="5848" y="312672"/>
                </a:lnTo>
                <a:lnTo>
                  <a:pt x="5140" y="315374"/>
                </a:lnTo>
                <a:lnTo>
                  <a:pt x="6254" y="317368"/>
                </a:lnTo>
                <a:lnTo>
                  <a:pt x="3963" y="319932"/>
                </a:lnTo>
                <a:lnTo>
                  <a:pt x="6589" y="317910"/>
                </a:lnTo>
                <a:lnTo>
                  <a:pt x="7496" y="318829"/>
                </a:lnTo>
                <a:lnTo>
                  <a:pt x="21166" y="315640"/>
                </a:lnTo>
                <a:lnTo>
                  <a:pt x="22694" y="304369"/>
                </a:lnTo>
                <a:lnTo>
                  <a:pt x="21810" y="300191"/>
                </a:lnTo>
                <a:lnTo>
                  <a:pt x="27364" y="299016"/>
                </a:lnTo>
                <a:lnTo>
                  <a:pt x="36197" y="293728"/>
                </a:lnTo>
                <a:lnTo>
                  <a:pt x="39292" y="288524"/>
                </a:lnTo>
                <a:lnTo>
                  <a:pt x="45355" y="284074"/>
                </a:lnTo>
                <a:lnTo>
                  <a:pt x="46963" y="281203"/>
                </a:lnTo>
                <a:lnTo>
                  <a:pt x="53806" y="288772"/>
                </a:lnTo>
                <a:lnTo>
                  <a:pt x="59415" y="289075"/>
                </a:lnTo>
                <a:lnTo>
                  <a:pt x="61564" y="284909"/>
                </a:lnTo>
                <a:lnTo>
                  <a:pt x="65144" y="285551"/>
                </a:lnTo>
                <a:lnTo>
                  <a:pt x="65590" y="288341"/>
                </a:lnTo>
                <a:lnTo>
                  <a:pt x="70515" y="289837"/>
                </a:lnTo>
                <a:lnTo>
                  <a:pt x="67913" y="295215"/>
                </a:lnTo>
                <a:lnTo>
                  <a:pt x="68582" y="300145"/>
                </a:lnTo>
                <a:lnTo>
                  <a:pt x="75115" y="302771"/>
                </a:lnTo>
                <a:lnTo>
                  <a:pt x="74971" y="305554"/>
                </a:lnTo>
                <a:lnTo>
                  <a:pt x="70762" y="308529"/>
                </a:lnTo>
                <a:lnTo>
                  <a:pt x="69743" y="312562"/>
                </a:lnTo>
                <a:lnTo>
                  <a:pt x="71025" y="315043"/>
                </a:lnTo>
                <a:lnTo>
                  <a:pt x="75393" y="317597"/>
                </a:lnTo>
                <a:lnTo>
                  <a:pt x="72027" y="323471"/>
                </a:lnTo>
                <a:lnTo>
                  <a:pt x="73977" y="326890"/>
                </a:lnTo>
                <a:lnTo>
                  <a:pt x="72369" y="329373"/>
                </a:lnTo>
                <a:lnTo>
                  <a:pt x="76730" y="339122"/>
                </a:lnTo>
                <a:lnTo>
                  <a:pt x="74088" y="346897"/>
                </a:lnTo>
                <a:lnTo>
                  <a:pt x="74510" y="349556"/>
                </a:lnTo>
                <a:lnTo>
                  <a:pt x="69704" y="357418"/>
                </a:lnTo>
                <a:lnTo>
                  <a:pt x="71979" y="357962"/>
                </a:lnTo>
                <a:lnTo>
                  <a:pt x="72711" y="360706"/>
                </a:lnTo>
                <a:lnTo>
                  <a:pt x="75592" y="359251"/>
                </a:lnTo>
                <a:lnTo>
                  <a:pt x="80326" y="360853"/>
                </a:lnTo>
                <a:lnTo>
                  <a:pt x="84074" y="365495"/>
                </a:lnTo>
                <a:lnTo>
                  <a:pt x="86979" y="363524"/>
                </a:lnTo>
                <a:lnTo>
                  <a:pt x="88467" y="365108"/>
                </a:lnTo>
                <a:lnTo>
                  <a:pt x="90010" y="364159"/>
                </a:lnTo>
                <a:lnTo>
                  <a:pt x="92692" y="356627"/>
                </a:lnTo>
                <a:lnTo>
                  <a:pt x="100331" y="357612"/>
                </a:lnTo>
                <a:lnTo>
                  <a:pt x="100426" y="350182"/>
                </a:lnTo>
                <a:lnTo>
                  <a:pt x="103935" y="345139"/>
                </a:lnTo>
                <a:lnTo>
                  <a:pt x="107301" y="342231"/>
                </a:lnTo>
                <a:lnTo>
                  <a:pt x="109393" y="342296"/>
                </a:lnTo>
                <a:lnTo>
                  <a:pt x="110038" y="340548"/>
                </a:lnTo>
                <a:lnTo>
                  <a:pt x="113650" y="341955"/>
                </a:lnTo>
                <a:lnTo>
                  <a:pt x="120955" y="341054"/>
                </a:lnTo>
                <a:lnTo>
                  <a:pt x="125411" y="343584"/>
                </a:lnTo>
                <a:lnTo>
                  <a:pt x="128490" y="342498"/>
                </a:lnTo>
                <a:lnTo>
                  <a:pt x="133352" y="343335"/>
                </a:lnTo>
                <a:lnTo>
                  <a:pt x="134299" y="345820"/>
                </a:lnTo>
                <a:lnTo>
                  <a:pt x="138445" y="344707"/>
                </a:lnTo>
                <a:lnTo>
                  <a:pt x="143466" y="345765"/>
                </a:lnTo>
                <a:lnTo>
                  <a:pt x="147150" y="343621"/>
                </a:lnTo>
                <a:lnTo>
                  <a:pt x="155958" y="348526"/>
                </a:lnTo>
                <a:lnTo>
                  <a:pt x="157367" y="343446"/>
                </a:lnTo>
                <a:lnTo>
                  <a:pt x="161067" y="338800"/>
                </a:lnTo>
                <a:lnTo>
                  <a:pt x="164639" y="337926"/>
                </a:lnTo>
                <a:lnTo>
                  <a:pt x="166597" y="334403"/>
                </a:lnTo>
                <a:lnTo>
                  <a:pt x="170496" y="331984"/>
                </a:lnTo>
                <a:lnTo>
                  <a:pt x="173026" y="331432"/>
                </a:lnTo>
                <a:lnTo>
                  <a:pt x="174196" y="332665"/>
                </a:lnTo>
                <a:lnTo>
                  <a:pt x="177331" y="328444"/>
                </a:lnTo>
                <a:lnTo>
                  <a:pt x="176495" y="325208"/>
                </a:lnTo>
                <a:lnTo>
                  <a:pt x="177936" y="317836"/>
                </a:lnTo>
                <a:lnTo>
                  <a:pt x="173122" y="316127"/>
                </a:lnTo>
                <a:lnTo>
                  <a:pt x="169907" y="311901"/>
                </a:lnTo>
                <a:lnTo>
                  <a:pt x="170201" y="307675"/>
                </a:lnTo>
                <a:lnTo>
                  <a:pt x="175103" y="301540"/>
                </a:lnTo>
                <a:lnTo>
                  <a:pt x="174586" y="296794"/>
                </a:lnTo>
                <a:lnTo>
                  <a:pt x="178214" y="288368"/>
                </a:lnTo>
                <a:lnTo>
                  <a:pt x="177784" y="284744"/>
                </a:lnTo>
                <a:lnTo>
                  <a:pt x="180545" y="277754"/>
                </a:lnTo>
                <a:lnTo>
                  <a:pt x="179670" y="276057"/>
                </a:lnTo>
                <a:lnTo>
                  <a:pt x="188312" y="275663"/>
                </a:lnTo>
                <a:lnTo>
                  <a:pt x="189696" y="279855"/>
                </a:lnTo>
                <a:lnTo>
                  <a:pt x="193468" y="278974"/>
                </a:lnTo>
                <a:lnTo>
                  <a:pt x="196460" y="280212"/>
                </a:lnTo>
                <a:lnTo>
                  <a:pt x="198409" y="277259"/>
                </a:lnTo>
                <a:lnTo>
                  <a:pt x="205427" y="274554"/>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8" name="">
            <a:extLst xmlns:a="http://schemas.openxmlformats.org/drawingml/2006/main">
              <a:ext uri="{FF2B5EF4-FFF2-40B4-BE49-F238E27FC236}">
                <a16:creationId xmlns:a16="http://schemas.microsoft.com/office/drawing/2014/main" id="{7E8CDB18-2F82-4ACB-BE78-CC953260ABF7}"/>
              </a:ext>
            </a:extLst>
          </p:cNvPr>
          <p:cNvSpPr>
            <a:spLocks xmlns:a="http://schemas.openxmlformats.org/drawingml/2006/main" noGrp="1"/>
          </p:cNvSpPr>
          <p:nvPr/>
        </p:nvSpPr>
        <p:spPr>
          <a:xfrm xmlns:a="http://schemas.openxmlformats.org/drawingml/2006/main">
            <a:off x="504034" y="6045945"/>
            <a:ext cx="337880" cy="519229"/>
          </a:xfrm>
          <a:custGeom xmlns:a="http://schemas.openxmlformats.org/drawingml/2006/main">
            <a:pathLst>
              <a:path w="337880" h="519229">
                <a:moveTo>
                  <a:pt x="91084" y="215303"/>
                </a:moveTo>
                <a:lnTo>
                  <a:pt x="92763" y="218219"/>
                </a:lnTo>
                <a:lnTo>
                  <a:pt x="98652" y="222032"/>
                </a:lnTo>
                <a:lnTo>
                  <a:pt x="96575" y="223809"/>
                </a:lnTo>
                <a:lnTo>
                  <a:pt x="98596" y="230470"/>
                </a:lnTo>
                <a:lnTo>
                  <a:pt x="95859" y="237483"/>
                </a:lnTo>
                <a:lnTo>
                  <a:pt x="97012" y="241714"/>
                </a:lnTo>
                <a:lnTo>
                  <a:pt x="95095" y="241346"/>
                </a:lnTo>
                <a:lnTo>
                  <a:pt x="93296" y="243637"/>
                </a:lnTo>
                <a:lnTo>
                  <a:pt x="89127" y="243295"/>
                </a:lnTo>
                <a:lnTo>
                  <a:pt x="75656" y="253828"/>
                </a:lnTo>
                <a:lnTo>
                  <a:pt x="74295" y="255555"/>
                </a:lnTo>
                <a:lnTo>
                  <a:pt x="74868" y="262308"/>
                </a:lnTo>
                <a:lnTo>
                  <a:pt x="73841" y="264026"/>
                </a:lnTo>
                <a:lnTo>
                  <a:pt x="65940" y="264970"/>
                </a:lnTo>
                <a:lnTo>
                  <a:pt x="65606" y="263090"/>
                </a:lnTo>
                <a:lnTo>
                  <a:pt x="59622" y="259745"/>
                </a:lnTo>
                <a:lnTo>
                  <a:pt x="52946" y="265240"/>
                </a:lnTo>
                <a:lnTo>
                  <a:pt x="53416" y="261013"/>
                </a:lnTo>
                <a:lnTo>
                  <a:pt x="50647" y="260230"/>
                </a:lnTo>
                <a:lnTo>
                  <a:pt x="48156" y="264925"/>
                </a:lnTo>
                <a:lnTo>
                  <a:pt x="46883" y="263864"/>
                </a:lnTo>
                <a:lnTo>
                  <a:pt x="46509" y="265699"/>
                </a:lnTo>
                <a:lnTo>
                  <a:pt x="48339" y="265465"/>
                </a:lnTo>
                <a:lnTo>
                  <a:pt x="50392" y="262973"/>
                </a:lnTo>
                <a:lnTo>
                  <a:pt x="50909" y="264961"/>
                </a:lnTo>
                <a:lnTo>
                  <a:pt x="47082" y="267930"/>
                </a:lnTo>
                <a:lnTo>
                  <a:pt x="48371" y="269927"/>
                </a:lnTo>
                <a:lnTo>
                  <a:pt x="46819" y="275741"/>
                </a:lnTo>
                <a:lnTo>
                  <a:pt x="44925" y="276164"/>
                </a:lnTo>
                <a:lnTo>
                  <a:pt x="45315" y="278243"/>
                </a:lnTo>
                <a:lnTo>
                  <a:pt x="41042" y="279099"/>
                </a:lnTo>
                <a:lnTo>
                  <a:pt x="40724" y="280467"/>
                </a:lnTo>
                <a:lnTo>
                  <a:pt x="37804" y="278315"/>
                </a:lnTo>
                <a:lnTo>
                  <a:pt x="36682" y="279234"/>
                </a:lnTo>
                <a:lnTo>
                  <a:pt x="38067" y="285167"/>
                </a:lnTo>
                <a:lnTo>
                  <a:pt x="36244" y="288157"/>
                </a:lnTo>
                <a:lnTo>
                  <a:pt x="33698" y="287239"/>
                </a:lnTo>
                <a:lnTo>
                  <a:pt x="31765" y="289157"/>
                </a:lnTo>
                <a:lnTo>
                  <a:pt x="28359" y="289148"/>
                </a:lnTo>
                <a:lnTo>
                  <a:pt x="24906" y="294887"/>
                </a:lnTo>
                <a:lnTo>
                  <a:pt x="17752" y="298311"/>
                </a:lnTo>
                <a:lnTo>
                  <a:pt x="16941" y="299996"/>
                </a:lnTo>
                <a:lnTo>
                  <a:pt x="19423" y="300771"/>
                </a:lnTo>
                <a:lnTo>
                  <a:pt x="18468" y="301772"/>
                </a:lnTo>
                <a:lnTo>
                  <a:pt x="20012" y="303971"/>
                </a:lnTo>
                <a:lnTo>
                  <a:pt x="19574" y="307109"/>
                </a:lnTo>
                <a:lnTo>
                  <a:pt x="13463" y="315694"/>
                </a:lnTo>
                <a:lnTo>
                  <a:pt x="9851" y="314648"/>
                </a:lnTo>
                <a:lnTo>
                  <a:pt x="9358" y="317399"/>
                </a:lnTo>
                <a:lnTo>
                  <a:pt x="4679" y="318879"/>
                </a:lnTo>
                <a:lnTo>
                  <a:pt x="2220" y="317318"/>
                </a:lnTo>
                <a:lnTo>
                  <a:pt x="0" y="319826"/>
                </a:lnTo>
                <a:lnTo>
                  <a:pt x="5705" y="323995"/>
                </a:lnTo>
                <a:lnTo>
                  <a:pt x="7090" y="323138"/>
                </a:lnTo>
                <a:lnTo>
                  <a:pt x="9095" y="328228"/>
                </a:lnTo>
                <a:lnTo>
                  <a:pt x="11100" y="328381"/>
                </a:lnTo>
                <a:lnTo>
                  <a:pt x="12429" y="330936"/>
                </a:lnTo>
                <a:lnTo>
                  <a:pt x="11737" y="333491"/>
                </a:lnTo>
                <a:lnTo>
                  <a:pt x="18365" y="330340"/>
                </a:lnTo>
                <a:lnTo>
                  <a:pt x="18731" y="328589"/>
                </a:lnTo>
                <a:lnTo>
                  <a:pt x="18787" y="331866"/>
                </a:lnTo>
                <a:lnTo>
                  <a:pt x="23235" y="330394"/>
                </a:lnTo>
                <a:lnTo>
                  <a:pt x="23091" y="327415"/>
                </a:lnTo>
                <a:lnTo>
                  <a:pt x="21556" y="326143"/>
                </a:lnTo>
                <a:lnTo>
                  <a:pt x="31327" y="320322"/>
                </a:lnTo>
                <a:lnTo>
                  <a:pt x="34955" y="316461"/>
                </a:lnTo>
                <a:lnTo>
                  <a:pt x="38043" y="317363"/>
                </a:lnTo>
                <a:lnTo>
                  <a:pt x="41918" y="314386"/>
                </a:lnTo>
                <a:lnTo>
                  <a:pt x="49708" y="314179"/>
                </a:lnTo>
                <a:lnTo>
                  <a:pt x="46103" y="318310"/>
                </a:lnTo>
                <a:lnTo>
                  <a:pt x="44933" y="322172"/>
                </a:lnTo>
                <a:lnTo>
                  <a:pt x="49214" y="322813"/>
                </a:lnTo>
                <a:lnTo>
                  <a:pt x="50742" y="321414"/>
                </a:lnTo>
                <a:lnTo>
                  <a:pt x="54012" y="322686"/>
                </a:lnTo>
                <a:lnTo>
                  <a:pt x="55715" y="319176"/>
                </a:lnTo>
                <a:lnTo>
                  <a:pt x="57203" y="319988"/>
                </a:lnTo>
                <a:lnTo>
                  <a:pt x="58723" y="318518"/>
                </a:lnTo>
                <a:lnTo>
                  <a:pt x="66314" y="308335"/>
                </a:lnTo>
                <a:lnTo>
                  <a:pt x="68661" y="311861"/>
                </a:lnTo>
                <a:lnTo>
                  <a:pt x="71033" y="312645"/>
                </a:lnTo>
                <a:lnTo>
                  <a:pt x="82403" y="308425"/>
                </a:lnTo>
                <a:lnTo>
                  <a:pt x="87416" y="309904"/>
                </a:lnTo>
                <a:lnTo>
                  <a:pt x="88530" y="307325"/>
                </a:lnTo>
                <a:lnTo>
                  <a:pt x="88443" y="308506"/>
                </a:lnTo>
                <a:lnTo>
                  <a:pt x="90535" y="308218"/>
                </a:lnTo>
                <a:lnTo>
                  <a:pt x="94355" y="314107"/>
                </a:lnTo>
                <a:lnTo>
                  <a:pt x="98978" y="311365"/>
                </a:lnTo>
                <a:lnTo>
                  <a:pt x="97092" y="318130"/>
                </a:lnTo>
                <a:lnTo>
                  <a:pt x="97434" y="320151"/>
                </a:lnTo>
                <a:lnTo>
                  <a:pt x="100394" y="320178"/>
                </a:lnTo>
                <a:lnTo>
                  <a:pt x="100283" y="321712"/>
                </a:lnTo>
                <a:lnTo>
                  <a:pt x="96344" y="322091"/>
                </a:lnTo>
                <a:lnTo>
                  <a:pt x="101070" y="324627"/>
                </a:lnTo>
                <a:lnTo>
                  <a:pt x="102391" y="323237"/>
                </a:lnTo>
                <a:lnTo>
                  <a:pt x="101206" y="322578"/>
                </a:lnTo>
                <a:lnTo>
                  <a:pt x="101468" y="320593"/>
                </a:lnTo>
                <a:lnTo>
                  <a:pt x="105646" y="321576"/>
                </a:lnTo>
                <a:lnTo>
                  <a:pt x="104476" y="322334"/>
                </a:lnTo>
                <a:lnTo>
                  <a:pt x="105558" y="326387"/>
                </a:lnTo>
                <a:lnTo>
                  <a:pt x="108964" y="331360"/>
                </a:lnTo>
                <a:lnTo>
                  <a:pt x="109115" y="334051"/>
                </a:lnTo>
                <a:lnTo>
                  <a:pt x="107619" y="334584"/>
                </a:lnTo>
                <a:lnTo>
                  <a:pt x="106967" y="337203"/>
                </a:lnTo>
                <a:lnTo>
                  <a:pt x="109744" y="335992"/>
                </a:lnTo>
                <a:lnTo>
                  <a:pt x="110953" y="342161"/>
                </a:lnTo>
                <a:lnTo>
                  <a:pt x="107842" y="343525"/>
                </a:lnTo>
                <a:lnTo>
                  <a:pt x="107349" y="345341"/>
                </a:lnTo>
                <a:lnTo>
                  <a:pt x="105001" y="344808"/>
                </a:lnTo>
                <a:lnTo>
                  <a:pt x="93702" y="351052"/>
                </a:lnTo>
                <a:lnTo>
                  <a:pt x="94928" y="354478"/>
                </a:lnTo>
                <a:lnTo>
                  <a:pt x="93734" y="355997"/>
                </a:lnTo>
                <a:lnTo>
                  <a:pt x="96766" y="355725"/>
                </a:lnTo>
                <a:lnTo>
                  <a:pt x="99201" y="350781"/>
                </a:lnTo>
                <a:lnTo>
                  <a:pt x="101031" y="350619"/>
                </a:lnTo>
                <a:lnTo>
                  <a:pt x="101620" y="352526"/>
                </a:lnTo>
                <a:lnTo>
                  <a:pt x="104961" y="354062"/>
                </a:lnTo>
                <a:lnTo>
                  <a:pt x="104858" y="359631"/>
                </a:lnTo>
                <a:lnTo>
                  <a:pt x="102582" y="363728"/>
                </a:lnTo>
                <a:lnTo>
                  <a:pt x="105503" y="369517"/>
                </a:lnTo>
                <a:lnTo>
                  <a:pt x="106187" y="374520"/>
                </a:lnTo>
                <a:lnTo>
                  <a:pt x="110794" y="376828"/>
                </a:lnTo>
                <a:lnTo>
                  <a:pt x="111399" y="373661"/>
                </a:lnTo>
                <a:lnTo>
                  <a:pt x="113197" y="374765"/>
                </a:lnTo>
                <a:lnTo>
                  <a:pt x="114637" y="373489"/>
                </a:lnTo>
                <a:lnTo>
                  <a:pt x="114168" y="371046"/>
                </a:lnTo>
                <a:lnTo>
                  <a:pt x="116977" y="372665"/>
                </a:lnTo>
                <a:lnTo>
                  <a:pt x="114319" y="377154"/>
                </a:lnTo>
                <a:lnTo>
                  <a:pt x="109831" y="379679"/>
                </a:lnTo>
                <a:lnTo>
                  <a:pt x="109648" y="377498"/>
                </a:lnTo>
                <a:lnTo>
                  <a:pt x="107102" y="375416"/>
                </a:lnTo>
                <a:lnTo>
                  <a:pt x="106171" y="374548"/>
                </a:lnTo>
                <a:lnTo>
                  <a:pt x="103625" y="375299"/>
                </a:lnTo>
                <a:lnTo>
                  <a:pt x="102614" y="372756"/>
                </a:lnTo>
                <a:lnTo>
                  <a:pt x="96256" y="372584"/>
                </a:lnTo>
                <a:lnTo>
                  <a:pt x="90989" y="376095"/>
                </a:lnTo>
                <a:lnTo>
                  <a:pt x="90440" y="378964"/>
                </a:lnTo>
                <a:lnTo>
                  <a:pt x="85682" y="378113"/>
                </a:lnTo>
                <a:lnTo>
                  <a:pt x="86366" y="380621"/>
                </a:lnTo>
                <a:lnTo>
                  <a:pt x="83310" y="383237"/>
                </a:lnTo>
                <a:lnTo>
                  <a:pt x="71494" y="382838"/>
                </a:lnTo>
                <a:lnTo>
                  <a:pt x="74470" y="388652"/>
                </a:lnTo>
                <a:lnTo>
                  <a:pt x="78815" y="391414"/>
                </a:lnTo>
                <a:lnTo>
                  <a:pt x="81878" y="389322"/>
                </a:lnTo>
                <a:lnTo>
                  <a:pt x="87138" y="398906"/>
                </a:lnTo>
                <a:lnTo>
                  <a:pt x="86294" y="403736"/>
                </a:lnTo>
                <a:lnTo>
                  <a:pt x="88268" y="403745"/>
                </a:lnTo>
                <a:lnTo>
                  <a:pt x="89676" y="409293"/>
                </a:lnTo>
                <a:lnTo>
                  <a:pt x="85745" y="412339"/>
                </a:lnTo>
                <a:lnTo>
                  <a:pt x="86302" y="416429"/>
                </a:lnTo>
                <a:lnTo>
                  <a:pt x="83175" y="419313"/>
                </a:lnTo>
                <a:lnTo>
                  <a:pt x="82944" y="420901"/>
                </a:lnTo>
                <a:lnTo>
                  <a:pt x="85642" y="421636"/>
                </a:lnTo>
                <a:lnTo>
                  <a:pt x="84560" y="423650"/>
                </a:lnTo>
                <a:lnTo>
                  <a:pt x="77756" y="427171"/>
                </a:lnTo>
                <a:lnTo>
                  <a:pt x="72783" y="440706"/>
                </a:lnTo>
                <a:lnTo>
                  <a:pt x="69704" y="443585"/>
                </a:lnTo>
                <a:lnTo>
                  <a:pt x="71804" y="448817"/>
                </a:lnTo>
                <a:lnTo>
                  <a:pt x="77605" y="449789"/>
                </a:lnTo>
                <a:lnTo>
                  <a:pt x="79650" y="454014"/>
                </a:lnTo>
                <a:lnTo>
                  <a:pt x="94609" y="449789"/>
                </a:lnTo>
                <a:lnTo>
                  <a:pt x="94872" y="447627"/>
                </a:lnTo>
                <a:lnTo>
                  <a:pt x="98087" y="445828"/>
                </a:lnTo>
                <a:lnTo>
                  <a:pt x="99590" y="448254"/>
                </a:lnTo>
                <a:lnTo>
                  <a:pt x="96965" y="450725"/>
                </a:lnTo>
                <a:lnTo>
                  <a:pt x="94172" y="458150"/>
                </a:lnTo>
                <a:lnTo>
                  <a:pt x="96026" y="462931"/>
                </a:lnTo>
                <a:lnTo>
                  <a:pt x="98341" y="463986"/>
                </a:lnTo>
                <a:lnTo>
                  <a:pt x="98652" y="465113"/>
                </a:lnTo>
                <a:lnTo>
                  <a:pt x="97036" y="465477"/>
                </a:lnTo>
                <a:lnTo>
                  <a:pt x="99487" y="473017"/>
                </a:lnTo>
                <a:lnTo>
                  <a:pt x="101962" y="473681"/>
                </a:lnTo>
                <a:lnTo>
                  <a:pt x="102248" y="472271"/>
                </a:lnTo>
                <a:lnTo>
                  <a:pt x="105001" y="476265"/>
                </a:lnTo>
                <a:lnTo>
                  <a:pt x="103545" y="481415"/>
                </a:lnTo>
                <a:lnTo>
                  <a:pt x="99455" y="480978"/>
                </a:lnTo>
                <a:lnTo>
                  <a:pt x="98087" y="482270"/>
                </a:lnTo>
                <a:lnTo>
                  <a:pt x="95739" y="480578"/>
                </a:lnTo>
                <a:lnTo>
                  <a:pt x="96376" y="488578"/>
                </a:lnTo>
                <a:lnTo>
                  <a:pt x="99917" y="489452"/>
                </a:lnTo>
                <a:lnTo>
                  <a:pt x="100426" y="492421"/>
                </a:lnTo>
                <a:lnTo>
                  <a:pt x="104866" y="497584"/>
                </a:lnTo>
                <a:lnTo>
                  <a:pt x="108813" y="497266"/>
                </a:lnTo>
                <a:lnTo>
                  <a:pt x="111645" y="493759"/>
                </a:lnTo>
                <a:lnTo>
                  <a:pt x="115791" y="494042"/>
                </a:lnTo>
                <a:lnTo>
                  <a:pt x="122586" y="489525"/>
                </a:lnTo>
                <a:lnTo>
                  <a:pt x="124194" y="490399"/>
                </a:lnTo>
                <a:lnTo>
                  <a:pt x="124663" y="494524"/>
                </a:lnTo>
                <a:lnTo>
                  <a:pt x="128474" y="494797"/>
                </a:lnTo>
                <a:lnTo>
                  <a:pt x="130607" y="496036"/>
                </a:lnTo>
                <a:lnTo>
                  <a:pt x="130464" y="497557"/>
                </a:lnTo>
                <a:lnTo>
                  <a:pt x="133241" y="495052"/>
                </a:lnTo>
                <a:lnTo>
                  <a:pt x="136360" y="498659"/>
                </a:lnTo>
                <a:lnTo>
                  <a:pt x="133495" y="504800"/>
                </a:lnTo>
                <a:lnTo>
                  <a:pt x="131092" y="503961"/>
                </a:lnTo>
                <a:lnTo>
                  <a:pt x="129509" y="508098"/>
                </a:lnTo>
                <a:lnTo>
                  <a:pt x="129032" y="509875"/>
                </a:lnTo>
                <a:lnTo>
                  <a:pt x="130957" y="512027"/>
                </a:lnTo>
                <a:lnTo>
                  <a:pt x="130957" y="513977"/>
                </a:lnTo>
                <a:lnTo>
                  <a:pt x="129215" y="514451"/>
                </a:lnTo>
                <a:lnTo>
                  <a:pt x="129891" y="516876"/>
                </a:lnTo>
                <a:lnTo>
                  <a:pt x="141986" y="515235"/>
                </a:lnTo>
                <a:lnTo>
                  <a:pt x="141460" y="517551"/>
                </a:lnTo>
                <a:lnTo>
                  <a:pt x="143609" y="519229"/>
                </a:lnTo>
                <a:lnTo>
                  <a:pt x="148510" y="516958"/>
                </a:lnTo>
                <a:lnTo>
                  <a:pt x="150364" y="511780"/>
                </a:lnTo>
                <a:lnTo>
                  <a:pt x="147532" y="501592"/>
                </a:lnTo>
                <a:lnTo>
                  <a:pt x="144357" y="499607"/>
                </a:lnTo>
                <a:lnTo>
                  <a:pt x="144039" y="497730"/>
                </a:lnTo>
                <a:lnTo>
                  <a:pt x="146871" y="491638"/>
                </a:lnTo>
                <a:lnTo>
                  <a:pt x="148709" y="490563"/>
                </a:lnTo>
                <a:lnTo>
                  <a:pt x="154773" y="492967"/>
                </a:lnTo>
                <a:lnTo>
                  <a:pt x="156897" y="491811"/>
                </a:lnTo>
                <a:lnTo>
                  <a:pt x="159412" y="482862"/>
                </a:lnTo>
                <a:lnTo>
                  <a:pt x="160987" y="481679"/>
                </a:lnTo>
                <a:lnTo>
                  <a:pt x="162181" y="473545"/>
                </a:lnTo>
                <a:lnTo>
                  <a:pt x="170766" y="465250"/>
                </a:lnTo>
                <a:lnTo>
                  <a:pt x="174625" y="458186"/>
                </a:lnTo>
                <a:lnTo>
                  <a:pt x="174999" y="454896"/>
                </a:lnTo>
                <a:lnTo>
                  <a:pt x="173392" y="451552"/>
                </a:lnTo>
                <a:lnTo>
                  <a:pt x="177028" y="447473"/>
                </a:lnTo>
                <a:lnTo>
                  <a:pt x="178254" y="440343"/>
                </a:lnTo>
                <a:lnTo>
                  <a:pt x="177458" y="436257"/>
                </a:lnTo>
                <a:lnTo>
                  <a:pt x="172572" y="433714"/>
                </a:lnTo>
                <a:lnTo>
                  <a:pt x="173830" y="426436"/>
                </a:lnTo>
                <a:lnTo>
                  <a:pt x="170854" y="427161"/>
                </a:lnTo>
                <a:lnTo>
                  <a:pt x="168491" y="425691"/>
                </a:lnTo>
                <a:lnTo>
                  <a:pt x="169135" y="424067"/>
                </a:lnTo>
                <a:lnTo>
                  <a:pt x="166207" y="422416"/>
                </a:lnTo>
                <a:lnTo>
                  <a:pt x="165873" y="419304"/>
                </a:lnTo>
                <a:lnTo>
                  <a:pt x="159881" y="422026"/>
                </a:lnTo>
                <a:lnTo>
                  <a:pt x="157557" y="420583"/>
                </a:lnTo>
                <a:lnTo>
                  <a:pt x="154773" y="421073"/>
                </a:lnTo>
                <a:lnTo>
                  <a:pt x="155656" y="417527"/>
                </a:lnTo>
                <a:lnTo>
                  <a:pt x="158130" y="415858"/>
                </a:lnTo>
                <a:lnTo>
                  <a:pt x="158178" y="412521"/>
                </a:lnTo>
                <a:lnTo>
                  <a:pt x="160048" y="411197"/>
                </a:lnTo>
                <a:lnTo>
                  <a:pt x="155704" y="408840"/>
                </a:lnTo>
                <a:lnTo>
                  <a:pt x="157072" y="403736"/>
                </a:lnTo>
                <a:lnTo>
                  <a:pt x="150492" y="398036"/>
                </a:lnTo>
                <a:lnTo>
                  <a:pt x="151049" y="395463"/>
                </a:lnTo>
                <a:lnTo>
                  <a:pt x="154072" y="395418"/>
                </a:lnTo>
                <a:lnTo>
                  <a:pt x="155059" y="391876"/>
                </a:lnTo>
                <a:lnTo>
                  <a:pt x="160979" y="389883"/>
                </a:lnTo>
                <a:lnTo>
                  <a:pt x="161289" y="387846"/>
                </a:lnTo>
                <a:lnTo>
                  <a:pt x="166088" y="386913"/>
                </a:lnTo>
                <a:lnTo>
                  <a:pt x="168411" y="384432"/>
                </a:lnTo>
                <a:lnTo>
                  <a:pt x="173877" y="385011"/>
                </a:lnTo>
                <a:lnTo>
                  <a:pt x="176766" y="387013"/>
                </a:lnTo>
                <a:lnTo>
                  <a:pt x="175970" y="388081"/>
                </a:lnTo>
                <a:lnTo>
                  <a:pt x="178636" y="388688"/>
                </a:lnTo>
                <a:lnTo>
                  <a:pt x="182105" y="382920"/>
                </a:lnTo>
                <a:lnTo>
                  <a:pt x="186163" y="382585"/>
                </a:lnTo>
                <a:lnTo>
                  <a:pt x="185471" y="379598"/>
                </a:lnTo>
                <a:lnTo>
                  <a:pt x="182582" y="378566"/>
                </a:lnTo>
                <a:lnTo>
                  <a:pt x="183903" y="376023"/>
                </a:lnTo>
                <a:lnTo>
                  <a:pt x="182845" y="374819"/>
                </a:lnTo>
                <a:lnTo>
                  <a:pt x="185606" y="372837"/>
                </a:lnTo>
                <a:lnTo>
                  <a:pt x="185654" y="368748"/>
                </a:lnTo>
                <a:lnTo>
                  <a:pt x="184031" y="362507"/>
                </a:lnTo>
                <a:lnTo>
                  <a:pt x="181803" y="360490"/>
                </a:lnTo>
                <a:lnTo>
                  <a:pt x="182757" y="356277"/>
                </a:lnTo>
                <a:lnTo>
                  <a:pt x="184922" y="352788"/>
                </a:lnTo>
                <a:lnTo>
                  <a:pt x="189243" y="351296"/>
                </a:lnTo>
                <a:lnTo>
                  <a:pt x="189847" y="348802"/>
                </a:lnTo>
                <a:lnTo>
                  <a:pt x="186171" y="344601"/>
                </a:lnTo>
                <a:lnTo>
                  <a:pt x="186720" y="343019"/>
                </a:lnTo>
                <a:lnTo>
                  <a:pt x="190922" y="341339"/>
                </a:lnTo>
                <a:lnTo>
                  <a:pt x="193937" y="335956"/>
                </a:lnTo>
                <a:lnTo>
                  <a:pt x="196953" y="335613"/>
                </a:lnTo>
                <a:lnTo>
                  <a:pt x="198234" y="327289"/>
                </a:lnTo>
                <a:lnTo>
                  <a:pt x="204974" y="323327"/>
                </a:lnTo>
                <a:lnTo>
                  <a:pt x="205984" y="320151"/>
                </a:lnTo>
                <a:lnTo>
                  <a:pt x="203923" y="316741"/>
                </a:lnTo>
                <a:lnTo>
                  <a:pt x="204838" y="314107"/>
                </a:lnTo>
                <a:lnTo>
                  <a:pt x="211968" y="308723"/>
                </a:lnTo>
                <a:lnTo>
                  <a:pt x="219989" y="306117"/>
                </a:lnTo>
                <a:lnTo>
                  <a:pt x="225527" y="308813"/>
                </a:lnTo>
                <a:lnTo>
                  <a:pt x="227444" y="304756"/>
                </a:lnTo>
                <a:lnTo>
                  <a:pt x="226895" y="300861"/>
                </a:lnTo>
                <a:lnTo>
                  <a:pt x="230309" y="296932"/>
                </a:lnTo>
                <a:lnTo>
                  <a:pt x="237359" y="300789"/>
                </a:lnTo>
                <a:lnTo>
                  <a:pt x="240120" y="300501"/>
                </a:lnTo>
                <a:lnTo>
                  <a:pt x="242046" y="298527"/>
                </a:lnTo>
                <a:lnTo>
                  <a:pt x="242897" y="292995"/>
                </a:lnTo>
                <a:lnTo>
                  <a:pt x="250098" y="288626"/>
                </a:lnTo>
                <a:lnTo>
                  <a:pt x="254347" y="283474"/>
                </a:lnTo>
                <a:lnTo>
                  <a:pt x="256249" y="282979"/>
                </a:lnTo>
                <a:lnTo>
                  <a:pt x="259169" y="287428"/>
                </a:lnTo>
                <a:lnTo>
                  <a:pt x="264270" y="286131"/>
                </a:lnTo>
                <a:lnTo>
                  <a:pt x="263904" y="280872"/>
                </a:lnTo>
                <a:lnTo>
                  <a:pt x="270110" y="273644"/>
                </a:lnTo>
                <a:lnTo>
                  <a:pt x="272131" y="264557"/>
                </a:lnTo>
                <a:lnTo>
                  <a:pt x="276523" y="258801"/>
                </a:lnTo>
                <a:lnTo>
                  <a:pt x="274630" y="252048"/>
                </a:lnTo>
                <a:lnTo>
                  <a:pt x="267699" y="245650"/>
                </a:lnTo>
                <a:lnTo>
                  <a:pt x="268495" y="242406"/>
                </a:lnTo>
                <a:lnTo>
                  <a:pt x="273722" y="235175"/>
                </a:lnTo>
                <a:lnTo>
                  <a:pt x="279030" y="234044"/>
                </a:lnTo>
                <a:lnTo>
                  <a:pt x="283470" y="230982"/>
                </a:lnTo>
                <a:lnTo>
                  <a:pt x="283016" y="235067"/>
                </a:lnTo>
                <a:lnTo>
                  <a:pt x="285618" y="235705"/>
                </a:lnTo>
                <a:lnTo>
                  <a:pt x="290122" y="241651"/>
                </a:lnTo>
                <a:lnTo>
                  <a:pt x="293305" y="241184"/>
                </a:lnTo>
                <a:lnTo>
                  <a:pt x="299822" y="236486"/>
                </a:lnTo>
                <a:lnTo>
                  <a:pt x="298684" y="231206"/>
                </a:lnTo>
                <a:lnTo>
                  <a:pt x="300379" y="231682"/>
                </a:lnTo>
                <a:lnTo>
                  <a:pt x="300124" y="227427"/>
                </a:lnTo>
                <a:lnTo>
                  <a:pt x="302105" y="226098"/>
                </a:lnTo>
                <a:lnTo>
                  <a:pt x="301978" y="223244"/>
                </a:lnTo>
                <a:lnTo>
                  <a:pt x="297498" y="221835"/>
                </a:lnTo>
                <a:lnTo>
                  <a:pt x="293711" y="209339"/>
                </a:lnTo>
                <a:lnTo>
                  <a:pt x="291419" y="209276"/>
                </a:lnTo>
                <a:lnTo>
                  <a:pt x="289963" y="205259"/>
                </a:lnTo>
                <a:lnTo>
                  <a:pt x="287353" y="203170"/>
                </a:lnTo>
                <a:lnTo>
                  <a:pt x="290822" y="193303"/>
                </a:lnTo>
                <a:lnTo>
                  <a:pt x="292994" y="191896"/>
                </a:lnTo>
                <a:lnTo>
                  <a:pt x="297450" y="194360"/>
                </a:lnTo>
                <a:lnTo>
                  <a:pt x="305789" y="194253"/>
                </a:lnTo>
                <a:lnTo>
                  <a:pt x="309840" y="192058"/>
                </a:lnTo>
                <a:lnTo>
                  <a:pt x="313102" y="186656"/>
                </a:lnTo>
                <a:lnTo>
                  <a:pt x="318282" y="182770"/>
                </a:lnTo>
                <a:lnTo>
                  <a:pt x="316882" y="181901"/>
                </a:lnTo>
                <a:lnTo>
                  <a:pt x="316285" y="177971"/>
                </a:lnTo>
                <a:lnTo>
                  <a:pt x="321210" y="170936"/>
                </a:lnTo>
                <a:lnTo>
                  <a:pt x="316937" y="169209"/>
                </a:lnTo>
                <a:lnTo>
                  <a:pt x="318282" y="164897"/>
                </a:lnTo>
                <a:lnTo>
                  <a:pt x="323056" y="164924"/>
                </a:lnTo>
                <a:lnTo>
                  <a:pt x="324337" y="162858"/>
                </a:lnTo>
                <a:lnTo>
                  <a:pt x="316961" y="160685"/>
                </a:lnTo>
                <a:lnTo>
                  <a:pt x="316905" y="158878"/>
                </a:lnTo>
                <a:lnTo>
                  <a:pt x="314367" y="160309"/>
                </a:lnTo>
                <a:lnTo>
                  <a:pt x="312123" y="166633"/>
                </a:lnTo>
                <a:lnTo>
                  <a:pt x="310333" y="166168"/>
                </a:lnTo>
                <a:lnTo>
                  <a:pt x="309792" y="169558"/>
                </a:lnTo>
                <a:lnTo>
                  <a:pt x="305073" y="169505"/>
                </a:lnTo>
                <a:lnTo>
                  <a:pt x="301668" y="167411"/>
                </a:lnTo>
                <a:lnTo>
                  <a:pt x="301707" y="165488"/>
                </a:lnTo>
                <a:lnTo>
                  <a:pt x="306028" y="160032"/>
                </a:lnTo>
                <a:lnTo>
                  <a:pt x="303148" y="156258"/>
                </a:lnTo>
                <a:lnTo>
                  <a:pt x="300601" y="157152"/>
                </a:lnTo>
                <a:lnTo>
                  <a:pt x="295453" y="155337"/>
                </a:lnTo>
                <a:lnTo>
                  <a:pt x="298493" y="150600"/>
                </a:lnTo>
                <a:lnTo>
                  <a:pt x="294753" y="146784"/>
                </a:lnTo>
                <a:lnTo>
                  <a:pt x="299193" y="141441"/>
                </a:lnTo>
                <a:lnTo>
                  <a:pt x="300554" y="136055"/>
                </a:lnTo>
                <a:lnTo>
                  <a:pt x="297872" y="134501"/>
                </a:lnTo>
                <a:lnTo>
                  <a:pt x="295620" y="136278"/>
                </a:lnTo>
                <a:lnTo>
                  <a:pt x="292708" y="134733"/>
                </a:lnTo>
                <a:lnTo>
                  <a:pt x="290273" y="131778"/>
                </a:lnTo>
                <a:lnTo>
                  <a:pt x="292955" y="128216"/>
                </a:lnTo>
                <a:lnTo>
                  <a:pt x="291029" y="124467"/>
                </a:lnTo>
                <a:lnTo>
                  <a:pt x="283247" y="123530"/>
                </a:lnTo>
                <a:lnTo>
                  <a:pt x="280566" y="120389"/>
                </a:lnTo>
                <a:lnTo>
                  <a:pt x="285244" y="114180"/>
                </a:lnTo>
                <a:lnTo>
                  <a:pt x="295811" y="108776"/>
                </a:lnTo>
                <a:lnTo>
                  <a:pt x="297259" y="105138"/>
                </a:lnTo>
                <a:lnTo>
                  <a:pt x="299885" y="104389"/>
                </a:lnTo>
                <a:lnTo>
                  <a:pt x="305018" y="96386"/>
                </a:lnTo>
                <a:lnTo>
                  <a:pt x="310914" y="90248"/>
                </a:lnTo>
                <a:lnTo>
                  <a:pt x="312959" y="91290"/>
                </a:lnTo>
                <a:lnTo>
                  <a:pt x="316754" y="85706"/>
                </a:lnTo>
                <a:lnTo>
                  <a:pt x="318465" y="85795"/>
                </a:lnTo>
                <a:lnTo>
                  <a:pt x="323048" y="80258"/>
                </a:lnTo>
                <a:lnTo>
                  <a:pt x="330958" y="82822"/>
                </a:lnTo>
                <a:lnTo>
                  <a:pt x="332668" y="81584"/>
                </a:lnTo>
                <a:lnTo>
                  <a:pt x="329096" y="76190"/>
                </a:lnTo>
                <a:lnTo>
                  <a:pt x="330512" y="74196"/>
                </a:lnTo>
                <a:lnTo>
                  <a:pt x="329183" y="72986"/>
                </a:lnTo>
                <a:lnTo>
                  <a:pt x="329486" y="70077"/>
                </a:lnTo>
                <a:lnTo>
                  <a:pt x="324067" y="73058"/>
                </a:lnTo>
                <a:lnTo>
                  <a:pt x="322300" y="71678"/>
                </a:lnTo>
                <a:lnTo>
                  <a:pt x="321966" y="74063"/>
                </a:lnTo>
                <a:lnTo>
                  <a:pt x="317988" y="73752"/>
                </a:lnTo>
                <a:lnTo>
                  <a:pt x="313961" y="76581"/>
                </a:lnTo>
                <a:lnTo>
                  <a:pt x="311638" y="68502"/>
                </a:lnTo>
                <a:lnTo>
                  <a:pt x="319929" y="68102"/>
                </a:lnTo>
                <a:lnTo>
                  <a:pt x="320454" y="65175"/>
                </a:lnTo>
                <a:lnTo>
                  <a:pt x="323351" y="63210"/>
                </a:lnTo>
                <a:lnTo>
                  <a:pt x="330536" y="61592"/>
                </a:lnTo>
                <a:lnTo>
                  <a:pt x="327918" y="57502"/>
                </a:lnTo>
                <a:lnTo>
                  <a:pt x="335143" y="54915"/>
                </a:lnTo>
                <a:lnTo>
                  <a:pt x="336050" y="49423"/>
                </a:lnTo>
                <a:lnTo>
                  <a:pt x="337880" y="47894"/>
                </a:lnTo>
                <a:lnTo>
                  <a:pt x="335453" y="43408"/>
                </a:lnTo>
                <a:lnTo>
                  <a:pt x="336002" y="42226"/>
                </a:lnTo>
                <a:lnTo>
                  <a:pt x="332589" y="39651"/>
                </a:lnTo>
                <a:lnTo>
                  <a:pt x="330504" y="34776"/>
                </a:lnTo>
                <a:lnTo>
                  <a:pt x="326995" y="34900"/>
                </a:lnTo>
                <a:lnTo>
                  <a:pt x="323040" y="30213"/>
                </a:lnTo>
                <a:lnTo>
                  <a:pt x="319635" y="22679"/>
                </a:lnTo>
                <a:lnTo>
                  <a:pt x="315067" y="21189"/>
                </a:lnTo>
                <a:lnTo>
                  <a:pt x="315728" y="19299"/>
                </a:lnTo>
                <a:lnTo>
                  <a:pt x="313882" y="16124"/>
                </a:lnTo>
                <a:lnTo>
                  <a:pt x="314574" y="12284"/>
                </a:lnTo>
                <a:lnTo>
                  <a:pt x="319245" y="7754"/>
                </a:lnTo>
                <a:lnTo>
                  <a:pt x="313715" y="6345"/>
                </a:lnTo>
                <a:lnTo>
                  <a:pt x="314630" y="5388"/>
                </a:lnTo>
                <a:lnTo>
                  <a:pt x="309362" y="2162"/>
                </a:lnTo>
                <a:lnTo>
                  <a:pt x="308726" y="0"/>
                </a:lnTo>
                <a:lnTo>
                  <a:pt x="307142" y="159"/>
                </a:lnTo>
                <a:lnTo>
                  <a:pt x="308789" y="4457"/>
                </a:lnTo>
                <a:lnTo>
                  <a:pt x="307333" y="6558"/>
                </a:lnTo>
                <a:lnTo>
                  <a:pt x="297928" y="7072"/>
                </a:lnTo>
                <a:lnTo>
                  <a:pt x="299193" y="14617"/>
                </a:lnTo>
                <a:lnTo>
                  <a:pt x="297395" y="15379"/>
                </a:lnTo>
                <a:lnTo>
                  <a:pt x="291841" y="13189"/>
                </a:lnTo>
                <a:lnTo>
                  <a:pt x="290424" y="19974"/>
                </a:lnTo>
                <a:lnTo>
                  <a:pt x="288507" y="21224"/>
                </a:lnTo>
                <a:lnTo>
                  <a:pt x="281926" y="17951"/>
                </a:lnTo>
                <a:lnTo>
                  <a:pt x="279961" y="20036"/>
                </a:lnTo>
                <a:lnTo>
                  <a:pt x="276173" y="18306"/>
                </a:lnTo>
                <a:lnTo>
                  <a:pt x="276142" y="20905"/>
                </a:lnTo>
                <a:lnTo>
                  <a:pt x="274383" y="21224"/>
                </a:lnTo>
                <a:lnTo>
                  <a:pt x="265964" y="11558"/>
                </a:lnTo>
                <a:lnTo>
                  <a:pt x="261978" y="10875"/>
                </a:lnTo>
                <a:lnTo>
                  <a:pt x="258962" y="5760"/>
                </a:lnTo>
                <a:lnTo>
                  <a:pt x="254482" y="8756"/>
                </a:lnTo>
                <a:lnTo>
                  <a:pt x="255835" y="13508"/>
                </a:lnTo>
                <a:lnTo>
                  <a:pt x="251594" y="15929"/>
                </a:lnTo>
                <a:lnTo>
                  <a:pt x="254801" y="23984"/>
                </a:lnTo>
                <a:lnTo>
                  <a:pt x="252883" y="26477"/>
                </a:lnTo>
                <a:lnTo>
                  <a:pt x="246979" y="20390"/>
                </a:lnTo>
                <a:lnTo>
                  <a:pt x="243756" y="25474"/>
                </a:lnTo>
                <a:lnTo>
                  <a:pt x="237224" y="22138"/>
                </a:lnTo>
                <a:lnTo>
                  <a:pt x="233889" y="22936"/>
                </a:lnTo>
                <a:lnTo>
                  <a:pt x="232465" y="25323"/>
                </a:lnTo>
                <a:lnTo>
                  <a:pt x="233325" y="28101"/>
                </a:lnTo>
                <a:lnTo>
                  <a:pt x="225829" y="35220"/>
                </a:lnTo>
                <a:lnTo>
                  <a:pt x="225192" y="43559"/>
                </a:lnTo>
                <a:lnTo>
                  <a:pt x="220896" y="45638"/>
                </a:lnTo>
                <a:lnTo>
                  <a:pt x="216965" y="44723"/>
                </a:lnTo>
                <a:lnTo>
                  <a:pt x="214992" y="59680"/>
                </a:lnTo>
                <a:lnTo>
                  <a:pt x="213161" y="59520"/>
                </a:lnTo>
                <a:lnTo>
                  <a:pt x="211077" y="64046"/>
                </a:lnTo>
                <a:lnTo>
                  <a:pt x="208936" y="62676"/>
                </a:lnTo>
                <a:lnTo>
                  <a:pt x="207472" y="64144"/>
                </a:lnTo>
                <a:lnTo>
                  <a:pt x="206525" y="67168"/>
                </a:lnTo>
                <a:lnTo>
                  <a:pt x="209254" y="68769"/>
                </a:lnTo>
                <a:lnTo>
                  <a:pt x="208339" y="69401"/>
                </a:lnTo>
                <a:lnTo>
                  <a:pt x="210098" y="75736"/>
                </a:lnTo>
                <a:lnTo>
                  <a:pt x="208292" y="77391"/>
                </a:lnTo>
                <a:lnTo>
                  <a:pt x="200764" y="73956"/>
                </a:lnTo>
                <a:lnTo>
                  <a:pt x="199985" y="82020"/>
                </a:lnTo>
                <a:lnTo>
                  <a:pt x="197621" y="83204"/>
                </a:lnTo>
                <a:lnTo>
                  <a:pt x="197295" y="90435"/>
                </a:lnTo>
                <a:lnTo>
                  <a:pt x="199475" y="93072"/>
                </a:lnTo>
                <a:lnTo>
                  <a:pt x="195767" y="96324"/>
                </a:lnTo>
                <a:lnTo>
                  <a:pt x="191566" y="93713"/>
                </a:lnTo>
                <a:lnTo>
                  <a:pt x="190659" y="95504"/>
                </a:lnTo>
                <a:lnTo>
                  <a:pt x="192290" y="97170"/>
                </a:lnTo>
                <a:lnTo>
                  <a:pt x="191932" y="101528"/>
                </a:lnTo>
                <a:lnTo>
                  <a:pt x="196253" y="106868"/>
                </a:lnTo>
                <a:lnTo>
                  <a:pt x="197796" y="105495"/>
                </a:lnTo>
                <a:lnTo>
                  <a:pt x="203374" y="110158"/>
                </a:lnTo>
                <a:lnTo>
                  <a:pt x="205618" y="110265"/>
                </a:lnTo>
                <a:lnTo>
                  <a:pt x="206446" y="112824"/>
                </a:lnTo>
                <a:lnTo>
                  <a:pt x="202594" y="115090"/>
                </a:lnTo>
                <a:lnTo>
                  <a:pt x="201584" y="117828"/>
                </a:lnTo>
                <a:lnTo>
                  <a:pt x="202698" y="122861"/>
                </a:lnTo>
                <a:lnTo>
                  <a:pt x="201138" y="123708"/>
                </a:lnTo>
                <a:lnTo>
                  <a:pt x="202809" y="127171"/>
                </a:lnTo>
                <a:lnTo>
                  <a:pt x="210631" y="131849"/>
                </a:lnTo>
                <a:lnTo>
                  <a:pt x="211021" y="135715"/>
                </a:lnTo>
                <a:lnTo>
                  <a:pt x="209995" y="137278"/>
                </a:lnTo>
                <a:lnTo>
                  <a:pt x="203525" y="136698"/>
                </a:lnTo>
                <a:lnTo>
                  <a:pt x="205061" y="138886"/>
                </a:lnTo>
                <a:lnTo>
                  <a:pt x="200287" y="144175"/>
                </a:lnTo>
                <a:lnTo>
                  <a:pt x="202189" y="145792"/>
                </a:lnTo>
                <a:lnTo>
                  <a:pt x="201552" y="147713"/>
                </a:lnTo>
                <a:lnTo>
                  <a:pt x="198210" y="148294"/>
                </a:lnTo>
                <a:lnTo>
                  <a:pt x="197757" y="149858"/>
                </a:lnTo>
                <a:lnTo>
                  <a:pt x="199937" y="152772"/>
                </a:lnTo>
                <a:lnTo>
                  <a:pt x="197104" y="154560"/>
                </a:lnTo>
                <a:lnTo>
                  <a:pt x="191932" y="154765"/>
                </a:lnTo>
                <a:lnTo>
                  <a:pt x="195680" y="161919"/>
                </a:lnTo>
                <a:lnTo>
                  <a:pt x="193452" y="163108"/>
                </a:lnTo>
                <a:lnTo>
                  <a:pt x="194383" y="165595"/>
                </a:lnTo>
                <a:lnTo>
                  <a:pt x="191844" y="168753"/>
                </a:lnTo>
                <a:lnTo>
                  <a:pt x="191725" y="171536"/>
                </a:lnTo>
                <a:lnTo>
                  <a:pt x="182638" y="177846"/>
                </a:lnTo>
                <a:lnTo>
                  <a:pt x="183529" y="180612"/>
                </a:lnTo>
                <a:lnTo>
                  <a:pt x="178954" y="184731"/>
                </a:lnTo>
                <a:lnTo>
                  <a:pt x="175731" y="182805"/>
                </a:lnTo>
                <a:lnTo>
                  <a:pt x="175930" y="180119"/>
                </a:lnTo>
                <a:lnTo>
                  <a:pt x="173368" y="178517"/>
                </a:lnTo>
                <a:lnTo>
                  <a:pt x="171912" y="179797"/>
                </a:lnTo>
                <a:lnTo>
                  <a:pt x="171355" y="176727"/>
                </a:lnTo>
                <a:lnTo>
                  <a:pt x="169628" y="176019"/>
                </a:lnTo>
                <a:lnTo>
                  <a:pt x="168626" y="178123"/>
                </a:lnTo>
                <a:lnTo>
                  <a:pt x="166024" y="176333"/>
                </a:lnTo>
                <a:lnTo>
                  <a:pt x="163223" y="177649"/>
                </a:lnTo>
                <a:lnTo>
                  <a:pt x="162491" y="179913"/>
                </a:lnTo>
                <a:lnTo>
                  <a:pt x="152035" y="173755"/>
                </a:lnTo>
                <a:lnTo>
                  <a:pt x="152720" y="172216"/>
                </a:lnTo>
                <a:lnTo>
                  <a:pt x="145558" y="173934"/>
                </a:lnTo>
                <a:lnTo>
                  <a:pt x="143084" y="169809"/>
                </a:lnTo>
                <a:lnTo>
                  <a:pt x="145153" y="164790"/>
                </a:lnTo>
                <a:lnTo>
                  <a:pt x="136726" y="165792"/>
                </a:lnTo>
                <a:lnTo>
                  <a:pt x="136853" y="171724"/>
                </a:lnTo>
                <a:lnTo>
                  <a:pt x="133989" y="174981"/>
                </a:lnTo>
                <a:lnTo>
                  <a:pt x="134824" y="177416"/>
                </a:lnTo>
                <a:lnTo>
                  <a:pt x="129421" y="180155"/>
                </a:lnTo>
                <a:lnTo>
                  <a:pt x="124751" y="185393"/>
                </a:lnTo>
                <a:lnTo>
                  <a:pt x="121926" y="184408"/>
                </a:lnTo>
                <a:lnTo>
                  <a:pt x="120804" y="187149"/>
                </a:lnTo>
                <a:lnTo>
                  <a:pt x="120772" y="189504"/>
                </a:lnTo>
                <a:lnTo>
                  <a:pt x="122873" y="189970"/>
                </a:lnTo>
                <a:lnTo>
                  <a:pt x="123772" y="192282"/>
                </a:lnTo>
                <a:lnTo>
                  <a:pt x="124393" y="196690"/>
                </a:lnTo>
                <a:lnTo>
                  <a:pt x="120868" y="198061"/>
                </a:lnTo>
                <a:lnTo>
                  <a:pt x="121377" y="199620"/>
                </a:lnTo>
                <a:lnTo>
                  <a:pt x="119443" y="199863"/>
                </a:lnTo>
                <a:lnTo>
                  <a:pt x="117987" y="202722"/>
                </a:lnTo>
                <a:lnTo>
                  <a:pt x="113682" y="200965"/>
                </a:lnTo>
                <a:lnTo>
                  <a:pt x="110189" y="204685"/>
                </a:lnTo>
                <a:lnTo>
                  <a:pt x="107754" y="203098"/>
                </a:lnTo>
                <a:lnTo>
                  <a:pt x="107722" y="200535"/>
                </a:lnTo>
                <a:lnTo>
                  <a:pt x="106044" y="200373"/>
                </a:lnTo>
                <a:lnTo>
                  <a:pt x="100895" y="204407"/>
                </a:lnTo>
                <a:lnTo>
                  <a:pt x="99567" y="204273"/>
                </a:lnTo>
                <a:lnTo>
                  <a:pt x="99336" y="201646"/>
                </a:lnTo>
                <a:lnTo>
                  <a:pt x="97331" y="201861"/>
                </a:lnTo>
                <a:lnTo>
                  <a:pt x="96328" y="203260"/>
                </a:lnTo>
                <a:lnTo>
                  <a:pt x="97355" y="206792"/>
                </a:lnTo>
                <a:lnTo>
                  <a:pt x="91084" y="215303"/>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69" name="">
            <a:extLst xmlns:a="http://schemas.openxmlformats.org/drawingml/2006/main">
              <a:ext uri="{FF2B5EF4-FFF2-40B4-BE49-F238E27FC236}">
                <a16:creationId xmlns:a16="http://schemas.microsoft.com/office/drawing/2014/main" id="{CA1B0AA4-76E3-448B-B811-1BFA056B1AD2}"/>
              </a:ext>
            </a:extLst>
          </p:cNvPr>
          <p:cNvSpPr>
            <a:spLocks xmlns:a="http://schemas.openxmlformats.org/drawingml/2006/main" noGrp="1"/>
          </p:cNvSpPr>
          <p:nvPr/>
        </p:nvSpPr>
        <p:spPr>
          <a:xfrm xmlns:a="http://schemas.openxmlformats.org/drawingml/2006/main">
            <a:off x="602177" y="6406435"/>
            <a:ext cx="2212" cy="1393"/>
          </a:xfrm>
          <a:custGeom xmlns:a="http://schemas.openxmlformats.org/drawingml/2006/main">
            <a:pathLst>
              <a:path w="2212" h="1393">
                <a:moveTo>
                  <a:pt x="0" y="506"/>
                </a:moveTo>
                <a:lnTo>
                  <a:pt x="247" y="1393"/>
                </a:lnTo>
                <a:lnTo>
                  <a:pt x="2212" y="0"/>
                </a:lnTo>
                <a:lnTo>
                  <a:pt x="0" y="506"/>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0" name="">
            <a:extLst xmlns:a="http://schemas.openxmlformats.org/drawingml/2006/main">
              <a:ext uri="{FF2B5EF4-FFF2-40B4-BE49-F238E27FC236}">
                <a16:creationId xmlns:a16="http://schemas.microsoft.com/office/drawing/2014/main" id="{CBA34DCD-8D3E-4E37-965C-A1C235FDC5CA}"/>
              </a:ext>
            </a:extLst>
          </p:cNvPr>
          <p:cNvSpPr>
            <a:spLocks xmlns:a="http://schemas.openxmlformats.org/drawingml/2006/main" noGrp="1"/>
          </p:cNvSpPr>
          <p:nvPr/>
        </p:nvSpPr>
        <p:spPr>
          <a:xfrm xmlns:a="http://schemas.openxmlformats.org/drawingml/2006/main">
            <a:off x="610205" y="6420466"/>
            <a:ext cx="953" cy="953"/>
          </a:xfrm>
          <a:custGeom xmlns:a="http://schemas.openxmlformats.org/drawingml/2006/main">
            <a:pathLst>
              <a:path w="953" h="953">
                <a:moveTo>
                  <a:pt x="0" y="27"/>
                </a:moveTo>
                <a:lnTo>
                  <a:pt x="947" y="878"/>
                </a:lnTo>
                <a:lnTo>
                  <a:pt x="16" y="0"/>
                </a:lnTo>
                <a:lnTo>
                  <a:pt x="0" y="27"/>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1" name="">
            <a:extLst xmlns:a="http://schemas.openxmlformats.org/drawingml/2006/main">
              <a:ext uri="{FF2B5EF4-FFF2-40B4-BE49-F238E27FC236}">
                <a16:creationId xmlns:a16="http://schemas.microsoft.com/office/drawing/2014/main" id="{CB78F17C-C84D-4FE8-A966-41C562553600}"/>
              </a:ext>
            </a:extLst>
          </p:cNvPr>
          <p:cNvSpPr>
            <a:spLocks xmlns:a="http://schemas.openxmlformats.org/drawingml/2006/main" noGrp="1"/>
          </p:cNvSpPr>
          <p:nvPr/>
        </p:nvSpPr>
        <p:spPr>
          <a:xfrm xmlns:a="http://schemas.openxmlformats.org/drawingml/2006/main">
            <a:off x="791387" y="6177241"/>
            <a:ext cx="255222" cy="168484"/>
          </a:xfrm>
          <a:custGeom xmlns:a="http://schemas.openxmlformats.org/drawingml/2006/main">
            <a:pathLst>
              <a:path w="255222" h="168484">
                <a:moveTo>
                  <a:pt x="192640" y="168484"/>
                </a:moveTo>
                <a:lnTo>
                  <a:pt x="195847" y="167655"/>
                </a:lnTo>
                <a:lnTo>
                  <a:pt x="195616" y="165754"/>
                </a:lnTo>
                <a:lnTo>
                  <a:pt x="198075" y="165988"/>
                </a:lnTo>
                <a:lnTo>
                  <a:pt x="199292" y="163348"/>
                </a:lnTo>
                <a:lnTo>
                  <a:pt x="202515" y="161627"/>
                </a:lnTo>
                <a:lnTo>
                  <a:pt x="201130" y="158627"/>
                </a:lnTo>
                <a:lnTo>
                  <a:pt x="202953" y="156744"/>
                </a:lnTo>
                <a:lnTo>
                  <a:pt x="201584" y="152098"/>
                </a:lnTo>
                <a:lnTo>
                  <a:pt x="203072" y="149009"/>
                </a:lnTo>
                <a:lnTo>
                  <a:pt x="209103" y="153592"/>
                </a:lnTo>
                <a:lnTo>
                  <a:pt x="211785" y="159384"/>
                </a:lnTo>
                <a:lnTo>
                  <a:pt x="214005" y="155024"/>
                </a:lnTo>
                <a:lnTo>
                  <a:pt x="216312" y="153736"/>
                </a:lnTo>
                <a:lnTo>
                  <a:pt x="216487" y="151278"/>
                </a:lnTo>
                <a:lnTo>
                  <a:pt x="218111" y="152197"/>
                </a:lnTo>
                <a:lnTo>
                  <a:pt x="219941" y="151026"/>
                </a:lnTo>
                <a:lnTo>
                  <a:pt x="221102" y="148289"/>
                </a:lnTo>
                <a:lnTo>
                  <a:pt x="220339" y="146957"/>
                </a:lnTo>
                <a:lnTo>
                  <a:pt x="224635" y="142042"/>
                </a:lnTo>
                <a:lnTo>
                  <a:pt x="233126" y="142564"/>
                </a:lnTo>
                <a:lnTo>
                  <a:pt x="232783" y="143842"/>
                </a:lnTo>
                <a:lnTo>
                  <a:pt x="238656" y="142960"/>
                </a:lnTo>
                <a:lnTo>
                  <a:pt x="242960" y="145723"/>
                </a:lnTo>
                <a:lnTo>
                  <a:pt x="247870" y="141169"/>
                </a:lnTo>
                <a:lnTo>
                  <a:pt x="249883" y="143221"/>
                </a:lnTo>
                <a:lnTo>
                  <a:pt x="251944" y="140755"/>
                </a:lnTo>
                <a:lnTo>
                  <a:pt x="251817" y="137021"/>
                </a:lnTo>
                <a:lnTo>
                  <a:pt x="253822" y="136131"/>
                </a:lnTo>
                <a:lnTo>
                  <a:pt x="253177" y="133863"/>
                </a:lnTo>
                <a:lnTo>
                  <a:pt x="255222" y="133297"/>
                </a:lnTo>
                <a:lnTo>
                  <a:pt x="255159" y="131867"/>
                </a:lnTo>
                <a:lnTo>
                  <a:pt x="247631" y="126507"/>
                </a:lnTo>
                <a:lnTo>
                  <a:pt x="246167" y="121832"/>
                </a:lnTo>
                <a:lnTo>
                  <a:pt x="241727" y="120303"/>
                </a:lnTo>
                <a:lnTo>
                  <a:pt x="242650" y="117886"/>
                </a:lnTo>
                <a:lnTo>
                  <a:pt x="241361" y="115998"/>
                </a:lnTo>
                <a:lnTo>
                  <a:pt x="238290" y="116322"/>
                </a:lnTo>
                <a:lnTo>
                  <a:pt x="236468" y="121490"/>
                </a:lnTo>
                <a:lnTo>
                  <a:pt x="232441" y="123396"/>
                </a:lnTo>
                <a:lnTo>
                  <a:pt x="229577" y="120879"/>
                </a:lnTo>
                <a:lnTo>
                  <a:pt x="223800" y="121445"/>
                </a:lnTo>
                <a:lnTo>
                  <a:pt x="224118" y="114605"/>
                </a:lnTo>
                <a:lnTo>
                  <a:pt x="227858" y="106933"/>
                </a:lnTo>
                <a:lnTo>
                  <a:pt x="227349" y="103475"/>
                </a:lnTo>
                <a:lnTo>
                  <a:pt x="220530" y="98375"/>
                </a:lnTo>
                <a:lnTo>
                  <a:pt x="220235" y="96795"/>
                </a:lnTo>
                <a:lnTo>
                  <a:pt x="224834" y="95529"/>
                </a:lnTo>
                <a:lnTo>
                  <a:pt x="225869" y="91553"/>
                </a:lnTo>
                <a:lnTo>
                  <a:pt x="221492" y="86573"/>
                </a:lnTo>
                <a:lnTo>
                  <a:pt x="214633" y="86241"/>
                </a:lnTo>
                <a:lnTo>
                  <a:pt x="214267" y="88969"/>
                </a:lnTo>
                <a:lnTo>
                  <a:pt x="211618" y="92173"/>
                </a:lnTo>
                <a:lnTo>
                  <a:pt x="209358" y="92334"/>
                </a:lnTo>
                <a:lnTo>
                  <a:pt x="209318" y="95431"/>
                </a:lnTo>
                <a:lnTo>
                  <a:pt x="204846" y="95664"/>
                </a:lnTo>
                <a:lnTo>
                  <a:pt x="203478" y="94048"/>
                </a:lnTo>
                <a:lnTo>
                  <a:pt x="201759" y="95781"/>
                </a:lnTo>
                <a:lnTo>
                  <a:pt x="199300" y="93034"/>
                </a:lnTo>
                <a:lnTo>
                  <a:pt x="197398" y="96328"/>
                </a:lnTo>
                <a:lnTo>
                  <a:pt x="194399" y="95143"/>
                </a:lnTo>
                <a:lnTo>
                  <a:pt x="192505" y="96948"/>
                </a:lnTo>
                <a:lnTo>
                  <a:pt x="190587" y="96391"/>
                </a:lnTo>
                <a:lnTo>
                  <a:pt x="187675" y="90719"/>
                </a:lnTo>
                <a:lnTo>
                  <a:pt x="186243" y="91760"/>
                </a:lnTo>
                <a:lnTo>
                  <a:pt x="186943" y="89059"/>
                </a:lnTo>
                <a:lnTo>
                  <a:pt x="185829" y="86475"/>
                </a:lnTo>
                <a:lnTo>
                  <a:pt x="187014" y="85192"/>
                </a:lnTo>
                <a:lnTo>
                  <a:pt x="192632" y="84833"/>
                </a:lnTo>
                <a:lnTo>
                  <a:pt x="191136" y="83945"/>
                </a:lnTo>
                <a:lnTo>
                  <a:pt x="191916" y="81980"/>
                </a:lnTo>
                <a:lnTo>
                  <a:pt x="193651" y="81828"/>
                </a:lnTo>
                <a:lnTo>
                  <a:pt x="194709" y="84698"/>
                </a:lnTo>
                <a:lnTo>
                  <a:pt x="195369" y="81164"/>
                </a:lnTo>
                <a:lnTo>
                  <a:pt x="198234" y="79738"/>
                </a:lnTo>
                <a:lnTo>
                  <a:pt x="193587" y="76859"/>
                </a:lnTo>
                <a:lnTo>
                  <a:pt x="194725" y="72663"/>
                </a:lnTo>
                <a:lnTo>
                  <a:pt x="193961" y="69920"/>
                </a:lnTo>
                <a:lnTo>
                  <a:pt x="191892" y="68863"/>
                </a:lnTo>
                <a:lnTo>
                  <a:pt x="189402" y="70476"/>
                </a:lnTo>
                <a:lnTo>
                  <a:pt x="186052" y="68334"/>
                </a:lnTo>
                <a:lnTo>
                  <a:pt x="185129" y="64650"/>
                </a:lnTo>
                <a:lnTo>
                  <a:pt x="183155" y="65367"/>
                </a:lnTo>
                <a:lnTo>
                  <a:pt x="181389" y="63414"/>
                </a:lnTo>
                <a:lnTo>
                  <a:pt x="177816" y="48036"/>
                </a:lnTo>
                <a:lnTo>
                  <a:pt x="172143" y="40482"/>
                </a:lnTo>
                <a:lnTo>
                  <a:pt x="169970" y="39802"/>
                </a:lnTo>
                <a:lnTo>
                  <a:pt x="166525" y="42656"/>
                </a:lnTo>
                <a:lnTo>
                  <a:pt x="164703" y="41421"/>
                </a:lnTo>
                <a:lnTo>
                  <a:pt x="165897" y="38334"/>
                </a:lnTo>
                <a:lnTo>
                  <a:pt x="164162" y="36938"/>
                </a:lnTo>
                <a:lnTo>
                  <a:pt x="165069" y="34764"/>
                </a:lnTo>
                <a:lnTo>
                  <a:pt x="158608" y="33297"/>
                </a:lnTo>
                <a:lnTo>
                  <a:pt x="155719" y="35095"/>
                </a:lnTo>
                <a:lnTo>
                  <a:pt x="153547" y="34666"/>
                </a:lnTo>
                <a:lnTo>
                  <a:pt x="149577" y="37520"/>
                </a:lnTo>
                <a:lnTo>
                  <a:pt x="149139" y="40052"/>
                </a:lnTo>
                <a:lnTo>
                  <a:pt x="146346" y="36616"/>
                </a:lnTo>
                <a:lnTo>
                  <a:pt x="142574" y="37726"/>
                </a:lnTo>
                <a:lnTo>
                  <a:pt x="139495" y="41072"/>
                </a:lnTo>
                <a:lnTo>
                  <a:pt x="137800" y="39453"/>
                </a:lnTo>
                <a:lnTo>
                  <a:pt x="133925" y="39900"/>
                </a:lnTo>
                <a:lnTo>
                  <a:pt x="133487" y="31732"/>
                </a:lnTo>
                <a:lnTo>
                  <a:pt x="131649" y="32394"/>
                </a:lnTo>
                <a:lnTo>
                  <a:pt x="130209" y="36035"/>
                </a:lnTo>
                <a:lnTo>
                  <a:pt x="128554" y="34899"/>
                </a:lnTo>
                <a:lnTo>
                  <a:pt x="130185" y="34317"/>
                </a:lnTo>
                <a:lnTo>
                  <a:pt x="128546" y="34067"/>
                </a:lnTo>
                <a:lnTo>
                  <a:pt x="124209" y="35731"/>
                </a:lnTo>
                <a:lnTo>
                  <a:pt x="121297" y="32707"/>
                </a:lnTo>
                <a:lnTo>
                  <a:pt x="119451" y="35319"/>
                </a:lnTo>
                <a:lnTo>
                  <a:pt x="121019" y="36777"/>
                </a:lnTo>
                <a:lnTo>
                  <a:pt x="113818" y="42486"/>
                </a:lnTo>
                <a:lnTo>
                  <a:pt x="110802" y="40562"/>
                </a:lnTo>
                <a:lnTo>
                  <a:pt x="113985" y="39694"/>
                </a:lnTo>
                <a:lnTo>
                  <a:pt x="115855" y="35400"/>
                </a:lnTo>
                <a:lnTo>
                  <a:pt x="117534" y="35274"/>
                </a:lnTo>
                <a:lnTo>
                  <a:pt x="116332" y="32975"/>
                </a:lnTo>
                <a:lnTo>
                  <a:pt x="112887" y="35024"/>
                </a:lnTo>
                <a:lnTo>
                  <a:pt x="112895" y="30578"/>
                </a:lnTo>
                <a:lnTo>
                  <a:pt x="110563" y="30274"/>
                </a:lnTo>
                <a:lnTo>
                  <a:pt x="108646" y="27672"/>
                </a:lnTo>
                <a:lnTo>
                  <a:pt x="107508" y="29630"/>
                </a:lnTo>
                <a:lnTo>
                  <a:pt x="109712" y="31079"/>
                </a:lnTo>
                <a:lnTo>
                  <a:pt x="110062" y="33253"/>
                </a:lnTo>
                <a:lnTo>
                  <a:pt x="105749" y="32161"/>
                </a:lnTo>
                <a:lnTo>
                  <a:pt x="105534" y="26098"/>
                </a:lnTo>
                <a:lnTo>
                  <a:pt x="108104" y="23577"/>
                </a:lnTo>
                <a:lnTo>
                  <a:pt x="106569" y="23192"/>
                </a:lnTo>
                <a:lnTo>
                  <a:pt x="103983" y="18643"/>
                </a:lnTo>
                <a:lnTo>
                  <a:pt x="105884" y="7251"/>
                </a:lnTo>
                <a:lnTo>
                  <a:pt x="104054" y="4920"/>
                </a:lnTo>
                <a:lnTo>
                  <a:pt x="99248" y="7671"/>
                </a:lnTo>
                <a:lnTo>
                  <a:pt x="99009" y="5134"/>
                </a:lnTo>
                <a:lnTo>
                  <a:pt x="97028" y="4277"/>
                </a:lnTo>
                <a:lnTo>
                  <a:pt x="90058" y="9055"/>
                </a:lnTo>
                <a:lnTo>
                  <a:pt x="89477" y="6206"/>
                </a:lnTo>
                <a:lnTo>
                  <a:pt x="82085" y="6269"/>
                </a:lnTo>
                <a:lnTo>
                  <a:pt x="82904" y="4634"/>
                </a:lnTo>
                <a:lnTo>
                  <a:pt x="79507" y="0"/>
                </a:lnTo>
                <a:lnTo>
                  <a:pt x="75266" y="3179"/>
                </a:lnTo>
                <a:lnTo>
                  <a:pt x="74367" y="7072"/>
                </a:lnTo>
                <a:lnTo>
                  <a:pt x="68057" y="13120"/>
                </a:lnTo>
                <a:lnTo>
                  <a:pt x="60911" y="12057"/>
                </a:lnTo>
                <a:lnTo>
                  <a:pt x="50392" y="27860"/>
                </a:lnTo>
                <a:lnTo>
                  <a:pt x="51013" y="30149"/>
                </a:lnTo>
                <a:lnTo>
                  <a:pt x="47424" y="33915"/>
                </a:lnTo>
                <a:lnTo>
                  <a:pt x="48021" y="37251"/>
                </a:lnTo>
                <a:lnTo>
                  <a:pt x="45705" y="39086"/>
                </a:lnTo>
                <a:lnTo>
                  <a:pt x="44050" y="39140"/>
                </a:lnTo>
                <a:lnTo>
                  <a:pt x="38878" y="32841"/>
                </a:lnTo>
                <a:lnTo>
                  <a:pt x="30929" y="33602"/>
                </a:lnTo>
                <a:lnTo>
                  <a:pt x="29584" y="37914"/>
                </a:lnTo>
                <a:lnTo>
                  <a:pt x="33857" y="39641"/>
                </a:lnTo>
                <a:lnTo>
                  <a:pt x="28932" y="46675"/>
                </a:lnTo>
                <a:lnTo>
                  <a:pt x="29529" y="50605"/>
                </a:lnTo>
                <a:lnTo>
                  <a:pt x="30929" y="51474"/>
                </a:lnTo>
                <a:lnTo>
                  <a:pt x="25749" y="55361"/>
                </a:lnTo>
                <a:lnTo>
                  <a:pt x="22487" y="60762"/>
                </a:lnTo>
                <a:lnTo>
                  <a:pt x="15842" y="63531"/>
                </a:lnTo>
                <a:lnTo>
                  <a:pt x="10097" y="63065"/>
                </a:lnTo>
                <a:lnTo>
                  <a:pt x="5641" y="60601"/>
                </a:lnTo>
                <a:lnTo>
                  <a:pt x="3469" y="62007"/>
                </a:lnTo>
                <a:lnTo>
                  <a:pt x="0" y="71875"/>
                </a:lnTo>
                <a:lnTo>
                  <a:pt x="2610" y="73963"/>
                </a:lnTo>
                <a:lnTo>
                  <a:pt x="4066" y="77980"/>
                </a:lnTo>
                <a:lnTo>
                  <a:pt x="6358" y="78043"/>
                </a:lnTo>
                <a:lnTo>
                  <a:pt x="10145" y="90539"/>
                </a:lnTo>
                <a:lnTo>
                  <a:pt x="14625" y="91948"/>
                </a:lnTo>
                <a:lnTo>
                  <a:pt x="14752" y="94802"/>
                </a:lnTo>
                <a:lnTo>
                  <a:pt x="31422" y="94039"/>
                </a:lnTo>
                <a:lnTo>
                  <a:pt x="33014" y="95305"/>
                </a:lnTo>
                <a:lnTo>
                  <a:pt x="32918" y="98950"/>
                </a:lnTo>
                <a:lnTo>
                  <a:pt x="42499" y="98761"/>
                </a:lnTo>
                <a:lnTo>
                  <a:pt x="44082" y="100512"/>
                </a:lnTo>
                <a:lnTo>
                  <a:pt x="44560" y="105289"/>
                </a:lnTo>
                <a:lnTo>
                  <a:pt x="49334" y="105406"/>
                </a:lnTo>
                <a:lnTo>
                  <a:pt x="50694" y="107625"/>
                </a:lnTo>
                <a:lnTo>
                  <a:pt x="55612" y="106807"/>
                </a:lnTo>
                <a:lnTo>
                  <a:pt x="62495" y="112215"/>
                </a:lnTo>
                <a:lnTo>
                  <a:pt x="65892" y="111793"/>
                </a:lnTo>
                <a:lnTo>
                  <a:pt x="66330" y="114345"/>
                </a:lnTo>
                <a:lnTo>
                  <a:pt x="69362" y="116160"/>
                </a:lnTo>
                <a:lnTo>
                  <a:pt x="71033" y="113258"/>
                </a:lnTo>
                <a:lnTo>
                  <a:pt x="73157" y="113428"/>
                </a:lnTo>
                <a:lnTo>
                  <a:pt x="77541" y="109278"/>
                </a:lnTo>
                <a:lnTo>
                  <a:pt x="80637" y="112593"/>
                </a:lnTo>
                <a:lnTo>
                  <a:pt x="84663" y="114201"/>
                </a:lnTo>
                <a:lnTo>
                  <a:pt x="85721" y="116520"/>
                </a:lnTo>
                <a:lnTo>
                  <a:pt x="87273" y="116187"/>
                </a:lnTo>
                <a:lnTo>
                  <a:pt x="88268" y="113231"/>
                </a:lnTo>
                <a:lnTo>
                  <a:pt x="92540" y="110868"/>
                </a:lnTo>
                <a:lnTo>
                  <a:pt x="98063" y="104302"/>
                </a:lnTo>
                <a:lnTo>
                  <a:pt x="103283" y="107382"/>
                </a:lnTo>
                <a:lnTo>
                  <a:pt x="104961" y="104831"/>
                </a:lnTo>
                <a:lnTo>
                  <a:pt x="112712" y="102308"/>
                </a:lnTo>
                <a:lnTo>
                  <a:pt x="115369" y="98878"/>
                </a:lnTo>
                <a:lnTo>
                  <a:pt x="123318" y="109430"/>
                </a:lnTo>
                <a:lnTo>
                  <a:pt x="124058" y="108514"/>
                </a:lnTo>
                <a:lnTo>
                  <a:pt x="122857" y="107050"/>
                </a:lnTo>
                <a:lnTo>
                  <a:pt x="127074" y="108038"/>
                </a:lnTo>
                <a:lnTo>
                  <a:pt x="124822" y="111074"/>
                </a:lnTo>
                <a:lnTo>
                  <a:pt x="126851" y="110571"/>
                </a:lnTo>
                <a:lnTo>
                  <a:pt x="128737" y="113698"/>
                </a:lnTo>
                <a:lnTo>
                  <a:pt x="126676" y="114057"/>
                </a:lnTo>
                <a:lnTo>
                  <a:pt x="127440" y="116969"/>
                </a:lnTo>
                <a:lnTo>
                  <a:pt x="128912" y="117850"/>
                </a:lnTo>
                <a:lnTo>
                  <a:pt x="131077" y="114183"/>
                </a:lnTo>
                <a:lnTo>
                  <a:pt x="134251" y="116385"/>
                </a:lnTo>
                <a:lnTo>
                  <a:pt x="134578" y="114722"/>
                </a:lnTo>
                <a:lnTo>
                  <a:pt x="138182" y="117553"/>
                </a:lnTo>
                <a:lnTo>
                  <a:pt x="140100" y="117283"/>
                </a:lnTo>
                <a:lnTo>
                  <a:pt x="142009" y="120366"/>
                </a:lnTo>
                <a:lnTo>
                  <a:pt x="148319" y="121148"/>
                </a:lnTo>
                <a:lnTo>
                  <a:pt x="148717" y="125104"/>
                </a:lnTo>
                <a:lnTo>
                  <a:pt x="151709" y="124960"/>
                </a:lnTo>
                <a:lnTo>
                  <a:pt x="152982" y="128575"/>
                </a:lnTo>
                <a:lnTo>
                  <a:pt x="155258" y="129106"/>
                </a:lnTo>
                <a:lnTo>
                  <a:pt x="158186" y="126633"/>
                </a:lnTo>
                <a:lnTo>
                  <a:pt x="166557" y="134961"/>
                </a:lnTo>
                <a:lnTo>
                  <a:pt x="166064" y="138461"/>
                </a:lnTo>
                <a:lnTo>
                  <a:pt x="177824" y="146219"/>
                </a:lnTo>
                <a:lnTo>
                  <a:pt x="177896" y="150189"/>
                </a:lnTo>
                <a:lnTo>
                  <a:pt x="181858" y="150153"/>
                </a:lnTo>
                <a:lnTo>
                  <a:pt x="185208" y="154808"/>
                </a:lnTo>
                <a:lnTo>
                  <a:pt x="188312" y="155348"/>
                </a:lnTo>
                <a:lnTo>
                  <a:pt x="189187" y="166357"/>
                </a:lnTo>
                <a:lnTo>
                  <a:pt x="192640" y="168484"/>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2" name="">
            <a:extLst xmlns:a="http://schemas.openxmlformats.org/drawingml/2006/main">
              <a:ext uri="{FF2B5EF4-FFF2-40B4-BE49-F238E27FC236}">
                <a16:creationId xmlns:a16="http://schemas.microsoft.com/office/drawing/2014/main" id="{99EE826C-D685-480B-B5A4-EF33EA222AE9}"/>
              </a:ext>
            </a:extLst>
          </p:cNvPr>
          <p:cNvSpPr>
            <a:spLocks xmlns:a="http://schemas.openxmlformats.org/drawingml/2006/main" noGrp="1"/>
          </p:cNvSpPr>
          <p:nvPr/>
        </p:nvSpPr>
        <p:spPr>
          <a:xfrm xmlns:a="http://schemas.openxmlformats.org/drawingml/2006/main">
            <a:off x="560649" y="5947868"/>
            <a:ext cx="176710" cy="313381"/>
          </a:xfrm>
          <a:custGeom xmlns:a="http://schemas.openxmlformats.org/drawingml/2006/main">
            <a:pathLst>
              <a:path w="176710" h="313381">
                <a:moveTo>
                  <a:pt x="34470" y="313381"/>
                </a:moveTo>
                <a:lnTo>
                  <a:pt x="40740" y="304870"/>
                </a:lnTo>
                <a:lnTo>
                  <a:pt x="39714" y="301337"/>
                </a:lnTo>
                <a:lnTo>
                  <a:pt x="40716" y="299939"/>
                </a:lnTo>
                <a:lnTo>
                  <a:pt x="42721" y="299724"/>
                </a:lnTo>
                <a:lnTo>
                  <a:pt x="42952" y="302350"/>
                </a:lnTo>
                <a:lnTo>
                  <a:pt x="44281" y="302485"/>
                </a:lnTo>
                <a:lnTo>
                  <a:pt x="49429" y="298451"/>
                </a:lnTo>
                <a:lnTo>
                  <a:pt x="51108" y="298612"/>
                </a:lnTo>
                <a:lnTo>
                  <a:pt x="51140" y="301176"/>
                </a:lnTo>
                <a:lnTo>
                  <a:pt x="53575" y="302763"/>
                </a:lnTo>
                <a:lnTo>
                  <a:pt x="57068" y="299042"/>
                </a:lnTo>
                <a:lnTo>
                  <a:pt x="61373" y="300799"/>
                </a:lnTo>
                <a:lnTo>
                  <a:pt x="62829" y="297940"/>
                </a:lnTo>
                <a:lnTo>
                  <a:pt x="64762" y="297698"/>
                </a:lnTo>
                <a:lnTo>
                  <a:pt x="64253" y="296138"/>
                </a:lnTo>
                <a:lnTo>
                  <a:pt x="67778" y="294767"/>
                </a:lnTo>
                <a:lnTo>
                  <a:pt x="67157" y="290359"/>
                </a:lnTo>
                <a:lnTo>
                  <a:pt x="66258" y="288048"/>
                </a:lnTo>
                <a:lnTo>
                  <a:pt x="64158" y="287582"/>
                </a:lnTo>
                <a:lnTo>
                  <a:pt x="64189" y="285226"/>
                </a:lnTo>
                <a:lnTo>
                  <a:pt x="65311" y="282486"/>
                </a:lnTo>
                <a:lnTo>
                  <a:pt x="68136" y="283471"/>
                </a:lnTo>
                <a:lnTo>
                  <a:pt x="72807" y="278233"/>
                </a:lnTo>
                <a:lnTo>
                  <a:pt x="78210" y="275493"/>
                </a:lnTo>
                <a:lnTo>
                  <a:pt x="77374" y="273059"/>
                </a:lnTo>
                <a:lnTo>
                  <a:pt x="80239" y="269801"/>
                </a:lnTo>
                <a:lnTo>
                  <a:pt x="80111" y="263869"/>
                </a:lnTo>
                <a:lnTo>
                  <a:pt x="88538" y="262867"/>
                </a:lnTo>
                <a:lnTo>
                  <a:pt x="86469" y="267886"/>
                </a:lnTo>
                <a:lnTo>
                  <a:pt x="88944" y="272011"/>
                </a:lnTo>
                <a:lnTo>
                  <a:pt x="96105" y="270293"/>
                </a:lnTo>
                <a:lnTo>
                  <a:pt x="95421" y="271833"/>
                </a:lnTo>
                <a:lnTo>
                  <a:pt x="105876" y="277991"/>
                </a:lnTo>
                <a:lnTo>
                  <a:pt x="106608" y="275726"/>
                </a:lnTo>
                <a:lnTo>
                  <a:pt x="109409" y="274410"/>
                </a:lnTo>
                <a:lnTo>
                  <a:pt x="112011" y="276201"/>
                </a:lnTo>
                <a:lnTo>
                  <a:pt x="113014" y="274097"/>
                </a:lnTo>
                <a:lnTo>
                  <a:pt x="114741" y="274804"/>
                </a:lnTo>
                <a:lnTo>
                  <a:pt x="115298" y="277875"/>
                </a:lnTo>
                <a:lnTo>
                  <a:pt x="116754" y="276594"/>
                </a:lnTo>
                <a:lnTo>
                  <a:pt x="119316" y="278197"/>
                </a:lnTo>
                <a:lnTo>
                  <a:pt x="119117" y="280883"/>
                </a:lnTo>
                <a:lnTo>
                  <a:pt x="122340" y="282808"/>
                </a:lnTo>
                <a:lnTo>
                  <a:pt x="126915" y="278689"/>
                </a:lnTo>
                <a:lnTo>
                  <a:pt x="126024" y="275923"/>
                </a:lnTo>
                <a:lnTo>
                  <a:pt x="135111" y="269613"/>
                </a:lnTo>
                <a:lnTo>
                  <a:pt x="135230" y="266830"/>
                </a:lnTo>
                <a:lnTo>
                  <a:pt x="137768" y="263672"/>
                </a:lnTo>
                <a:lnTo>
                  <a:pt x="136837" y="261186"/>
                </a:lnTo>
                <a:lnTo>
                  <a:pt x="139065" y="259996"/>
                </a:lnTo>
                <a:lnTo>
                  <a:pt x="135318" y="252843"/>
                </a:lnTo>
                <a:lnTo>
                  <a:pt x="140490" y="252637"/>
                </a:lnTo>
                <a:lnTo>
                  <a:pt x="143322" y="250849"/>
                </a:lnTo>
                <a:lnTo>
                  <a:pt x="141142" y="247935"/>
                </a:lnTo>
                <a:lnTo>
                  <a:pt x="141596" y="246371"/>
                </a:lnTo>
                <a:lnTo>
                  <a:pt x="144938" y="245790"/>
                </a:lnTo>
                <a:lnTo>
                  <a:pt x="145574" y="243869"/>
                </a:lnTo>
                <a:lnTo>
                  <a:pt x="143672" y="242252"/>
                </a:lnTo>
                <a:lnTo>
                  <a:pt x="148447" y="236964"/>
                </a:lnTo>
                <a:lnTo>
                  <a:pt x="146911" y="234775"/>
                </a:lnTo>
                <a:lnTo>
                  <a:pt x="153380" y="235356"/>
                </a:lnTo>
                <a:lnTo>
                  <a:pt x="154407" y="233793"/>
                </a:lnTo>
                <a:lnTo>
                  <a:pt x="154017" y="229927"/>
                </a:lnTo>
                <a:lnTo>
                  <a:pt x="146195" y="225249"/>
                </a:lnTo>
                <a:lnTo>
                  <a:pt x="144524" y="221786"/>
                </a:lnTo>
                <a:lnTo>
                  <a:pt x="146083" y="220938"/>
                </a:lnTo>
                <a:lnTo>
                  <a:pt x="144969" y="215906"/>
                </a:lnTo>
                <a:lnTo>
                  <a:pt x="145980" y="213167"/>
                </a:lnTo>
                <a:lnTo>
                  <a:pt x="149831" y="210902"/>
                </a:lnTo>
                <a:lnTo>
                  <a:pt x="149004" y="208342"/>
                </a:lnTo>
                <a:lnTo>
                  <a:pt x="146760" y="208235"/>
                </a:lnTo>
                <a:lnTo>
                  <a:pt x="141182" y="203572"/>
                </a:lnTo>
                <a:lnTo>
                  <a:pt x="139638" y="204945"/>
                </a:lnTo>
                <a:lnTo>
                  <a:pt x="135318" y="199606"/>
                </a:lnTo>
                <a:lnTo>
                  <a:pt x="135676" y="195248"/>
                </a:lnTo>
                <a:lnTo>
                  <a:pt x="134044" y="193582"/>
                </a:lnTo>
                <a:lnTo>
                  <a:pt x="134952" y="191791"/>
                </a:lnTo>
                <a:lnTo>
                  <a:pt x="139153" y="194401"/>
                </a:lnTo>
                <a:lnTo>
                  <a:pt x="142861" y="191149"/>
                </a:lnTo>
                <a:lnTo>
                  <a:pt x="140681" y="188513"/>
                </a:lnTo>
                <a:lnTo>
                  <a:pt x="141007" y="181282"/>
                </a:lnTo>
                <a:lnTo>
                  <a:pt x="143370" y="180098"/>
                </a:lnTo>
                <a:lnTo>
                  <a:pt x="144150" y="172034"/>
                </a:lnTo>
                <a:lnTo>
                  <a:pt x="151677" y="175469"/>
                </a:lnTo>
                <a:lnTo>
                  <a:pt x="153483" y="173814"/>
                </a:lnTo>
                <a:lnTo>
                  <a:pt x="151725" y="167478"/>
                </a:lnTo>
                <a:lnTo>
                  <a:pt x="152640" y="166847"/>
                </a:lnTo>
                <a:lnTo>
                  <a:pt x="149911" y="165245"/>
                </a:lnTo>
                <a:lnTo>
                  <a:pt x="150858" y="162221"/>
                </a:lnTo>
                <a:lnTo>
                  <a:pt x="152322" y="160754"/>
                </a:lnTo>
                <a:lnTo>
                  <a:pt x="154462" y="162123"/>
                </a:lnTo>
                <a:lnTo>
                  <a:pt x="156547" y="157597"/>
                </a:lnTo>
                <a:lnTo>
                  <a:pt x="158377" y="157757"/>
                </a:lnTo>
                <a:lnTo>
                  <a:pt x="160350" y="142800"/>
                </a:lnTo>
                <a:lnTo>
                  <a:pt x="167193" y="143235"/>
                </a:lnTo>
                <a:lnTo>
                  <a:pt x="168578" y="141636"/>
                </a:lnTo>
                <a:lnTo>
                  <a:pt x="169215" y="133297"/>
                </a:lnTo>
                <a:lnTo>
                  <a:pt x="176710" y="126178"/>
                </a:lnTo>
                <a:lnTo>
                  <a:pt x="175015" y="122700"/>
                </a:lnTo>
                <a:lnTo>
                  <a:pt x="171244" y="121750"/>
                </a:lnTo>
                <a:lnTo>
                  <a:pt x="171586" y="115816"/>
                </a:lnTo>
                <a:lnTo>
                  <a:pt x="163883" y="113057"/>
                </a:lnTo>
                <a:lnTo>
                  <a:pt x="163645" y="110770"/>
                </a:lnTo>
                <a:lnTo>
                  <a:pt x="167345" y="106993"/>
                </a:lnTo>
                <a:lnTo>
                  <a:pt x="169589" y="100753"/>
                </a:lnTo>
                <a:lnTo>
                  <a:pt x="168570" y="97165"/>
                </a:lnTo>
                <a:lnTo>
                  <a:pt x="163470" y="97608"/>
                </a:lnTo>
                <a:lnTo>
                  <a:pt x="163310" y="88972"/>
                </a:lnTo>
                <a:lnTo>
                  <a:pt x="157168" y="92541"/>
                </a:lnTo>
                <a:lnTo>
                  <a:pt x="155377" y="91336"/>
                </a:lnTo>
                <a:lnTo>
                  <a:pt x="157120" y="84341"/>
                </a:lnTo>
                <a:lnTo>
                  <a:pt x="150587" y="82783"/>
                </a:lnTo>
                <a:lnTo>
                  <a:pt x="151645" y="81579"/>
                </a:lnTo>
                <a:lnTo>
                  <a:pt x="150468" y="81641"/>
                </a:lnTo>
                <a:lnTo>
                  <a:pt x="148725" y="77552"/>
                </a:lnTo>
                <a:lnTo>
                  <a:pt x="145113" y="78711"/>
                </a:lnTo>
                <a:lnTo>
                  <a:pt x="142073" y="76871"/>
                </a:lnTo>
                <a:lnTo>
                  <a:pt x="137744" y="81588"/>
                </a:lnTo>
                <a:lnTo>
                  <a:pt x="133591" y="81066"/>
                </a:lnTo>
                <a:lnTo>
                  <a:pt x="132015" y="79154"/>
                </a:lnTo>
                <a:lnTo>
                  <a:pt x="132230" y="76526"/>
                </a:lnTo>
                <a:lnTo>
                  <a:pt x="129254" y="69227"/>
                </a:lnTo>
                <a:lnTo>
                  <a:pt x="131116" y="62780"/>
                </a:lnTo>
                <a:lnTo>
                  <a:pt x="134124" y="62418"/>
                </a:lnTo>
                <a:lnTo>
                  <a:pt x="135580" y="58227"/>
                </a:lnTo>
                <a:lnTo>
                  <a:pt x="133201" y="53340"/>
                </a:lnTo>
                <a:lnTo>
                  <a:pt x="129016" y="50893"/>
                </a:lnTo>
                <a:lnTo>
                  <a:pt x="121440" y="56707"/>
                </a:lnTo>
                <a:lnTo>
                  <a:pt x="115504" y="54931"/>
                </a:lnTo>
                <a:lnTo>
                  <a:pt x="109775" y="50672"/>
                </a:lnTo>
                <a:lnTo>
                  <a:pt x="113300" y="48030"/>
                </a:lnTo>
                <a:lnTo>
                  <a:pt x="111088" y="43340"/>
                </a:lnTo>
                <a:lnTo>
                  <a:pt x="112178" y="41115"/>
                </a:lnTo>
                <a:lnTo>
                  <a:pt x="109736" y="32773"/>
                </a:lnTo>
                <a:lnTo>
                  <a:pt x="108248" y="31131"/>
                </a:lnTo>
                <a:lnTo>
                  <a:pt x="105741" y="31572"/>
                </a:lnTo>
                <a:lnTo>
                  <a:pt x="94180" y="42784"/>
                </a:lnTo>
                <a:lnTo>
                  <a:pt x="89175" y="36497"/>
                </a:lnTo>
                <a:lnTo>
                  <a:pt x="91172" y="33973"/>
                </a:lnTo>
                <a:lnTo>
                  <a:pt x="90249" y="30407"/>
                </a:lnTo>
                <a:lnTo>
                  <a:pt x="80470" y="15316"/>
                </a:lnTo>
                <a:lnTo>
                  <a:pt x="87408" y="9480"/>
                </a:lnTo>
                <a:lnTo>
                  <a:pt x="85395" y="7727"/>
                </a:lnTo>
                <a:lnTo>
                  <a:pt x="84400" y="3162"/>
                </a:lnTo>
                <a:lnTo>
                  <a:pt x="70117" y="5700"/>
                </a:lnTo>
                <a:lnTo>
                  <a:pt x="68248" y="3753"/>
                </a:lnTo>
                <a:lnTo>
                  <a:pt x="68462" y="1753"/>
                </a:lnTo>
                <a:lnTo>
                  <a:pt x="62256" y="0"/>
                </a:lnTo>
                <a:lnTo>
                  <a:pt x="57307" y="1083"/>
                </a:lnTo>
                <a:lnTo>
                  <a:pt x="54872" y="4493"/>
                </a:lnTo>
                <a:lnTo>
                  <a:pt x="48737" y="1392"/>
                </a:lnTo>
                <a:lnTo>
                  <a:pt x="49286" y="4264"/>
                </a:lnTo>
                <a:lnTo>
                  <a:pt x="45745" y="5859"/>
                </a:lnTo>
                <a:lnTo>
                  <a:pt x="46923" y="7515"/>
                </a:lnTo>
                <a:lnTo>
                  <a:pt x="44687" y="13314"/>
                </a:lnTo>
                <a:lnTo>
                  <a:pt x="40788" y="13138"/>
                </a:lnTo>
                <a:lnTo>
                  <a:pt x="41281" y="19478"/>
                </a:lnTo>
                <a:lnTo>
                  <a:pt x="36300" y="17273"/>
                </a:lnTo>
                <a:lnTo>
                  <a:pt x="37700" y="23146"/>
                </a:lnTo>
                <a:lnTo>
                  <a:pt x="34454" y="22353"/>
                </a:lnTo>
                <a:lnTo>
                  <a:pt x="33244" y="23570"/>
                </a:lnTo>
                <a:lnTo>
                  <a:pt x="32536" y="27152"/>
                </a:lnTo>
                <a:lnTo>
                  <a:pt x="34279" y="29437"/>
                </a:lnTo>
                <a:lnTo>
                  <a:pt x="32250" y="30849"/>
                </a:lnTo>
                <a:lnTo>
                  <a:pt x="32489" y="32773"/>
                </a:lnTo>
                <a:lnTo>
                  <a:pt x="31056" y="31908"/>
                </a:lnTo>
                <a:lnTo>
                  <a:pt x="27850" y="34317"/>
                </a:lnTo>
                <a:lnTo>
                  <a:pt x="27221" y="36550"/>
                </a:lnTo>
                <a:lnTo>
                  <a:pt x="30547" y="42960"/>
                </a:lnTo>
                <a:lnTo>
                  <a:pt x="27253" y="41212"/>
                </a:lnTo>
                <a:lnTo>
                  <a:pt x="23640" y="43420"/>
                </a:lnTo>
                <a:lnTo>
                  <a:pt x="23083" y="48896"/>
                </a:lnTo>
                <a:lnTo>
                  <a:pt x="24834" y="57308"/>
                </a:lnTo>
                <a:lnTo>
                  <a:pt x="19439" y="62639"/>
                </a:lnTo>
                <a:lnTo>
                  <a:pt x="11116" y="67467"/>
                </a:lnTo>
                <a:lnTo>
                  <a:pt x="13766" y="71120"/>
                </a:lnTo>
                <a:lnTo>
                  <a:pt x="13447" y="75667"/>
                </a:lnTo>
                <a:lnTo>
                  <a:pt x="11641" y="77552"/>
                </a:lnTo>
                <a:lnTo>
                  <a:pt x="12015" y="80340"/>
                </a:lnTo>
                <a:lnTo>
                  <a:pt x="13925" y="81969"/>
                </a:lnTo>
                <a:lnTo>
                  <a:pt x="13487" y="83925"/>
                </a:lnTo>
                <a:lnTo>
                  <a:pt x="6477" y="85377"/>
                </a:lnTo>
                <a:lnTo>
                  <a:pt x="7798" y="89379"/>
                </a:lnTo>
                <a:lnTo>
                  <a:pt x="19025" y="93063"/>
                </a:lnTo>
                <a:lnTo>
                  <a:pt x="20099" y="96961"/>
                </a:lnTo>
                <a:lnTo>
                  <a:pt x="16415" y="101551"/>
                </a:lnTo>
                <a:lnTo>
                  <a:pt x="15039" y="108420"/>
                </a:lnTo>
                <a:lnTo>
                  <a:pt x="13225" y="108695"/>
                </a:lnTo>
                <a:lnTo>
                  <a:pt x="11681" y="111630"/>
                </a:lnTo>
                <a:lnTo>
                  <a:pt x="10973" y="119044"/>
                </a:lnTo>
                <a:lnTo>
                  <a:pt x="8578" y="121502"/>
                </a:lnTo>
                <a:lnTo>
                  <a:pt x="7655" y="126240"/>
                </a:lnTo>
                <a:lnTo>
                  <a:pt x="9365" y="134567"/>
                </a:lnTo>
                <a:lnTo>
                  <a:pt x="8705" y="140544"/>
                </a:lnTo>
                <a:lnTo>
                  <a:pt x="11617" y="140801"/>
                </a:lnTo>
                <a:lnTo>
                  <a:pt x="10877" y="142329"/>
                </a:lnTo>
                <a:lnTo>
                  <a:pt x="17243" y="145714"/>
                </a:lnTo>
                <a:lnTo>
                  <a:pt x="15532" y="148602"/>
                </a:lnTo>
                <a:lnTo>
                  <a:pt x="16471" y="149944"/>
                </a:lnTo>
                <a:lnTo>
                  <a:pt x="10400" y="154459"/>
                </a:lnTo>
                <a:lnTo>
                  <a:pt x="13010" y="157695"/>
                </a:lnTo>
                <a:lnTo>
                  <a:pt x="1703" y="163520"/>
                </a:lnTo>
                <a:lnTo>
                  <a:pt x="0" y="165895"/>
                </a:lnTo>
                <a:lnTo>
                  <a:pt x="2912" y="169711"/>
                </a:lnTo>
                <a:lnTo>
                  <a:pt x="7862" y="166242"/>
                </a:lnTo>
                <a:lnTo>
                  <a:pt x="11267" y="168537"/>
                </a:lnTo>
                <a:lnTo>
                  <a:pt x="14052" y="167434"/>
                </a:lnTo>
                <a:lnTo>
                  <a:pt x="15357" y="165059"/>
                </a:lnTo>
                <a:lnTo>
                  <a:pt x="17267" y="165121"/>
                </a:lnTo>
                <a:lnTo>
                  <a:pt x="20187" y="172763"/>
                </a:lnTo>
                <a:lnTo>
                  <a:pt x="17935" y="172888"/>
                </a:lnTo>
                <a:lnTo>
                  <a:pt x="15636" y="178246"/>
                </a:lnTo>
                <a:lnTo>
                  <a:pt x="13487" y="179465"/>
                </a:lnTo>
                <a:lnTo>
                  <a:pt x="14386" y="182493"/>
                </a:lnTo>
                <a:lnTo>
                  <a:pt x="13169" y="183543"/>
                </a:lnTo>
                <a:lnTo>
                  <a:pt x="13463" y="187782"/>
                </a:lnTo>
                <a:lnTo>
                  <a:pt x="11546" y="191613"/>
                </a:lnTo>
                <a:lnTo>
                  <a:pt x="11180" y="197467"/>
                </a:lnTo>
                <a:lnTo>
                  <a:pt x="12111" y="203447"/>
                </a:lnTo>
                <a:lnTo>
                  <a:pt x="15556" y="206425"/>
                </a:lnTo>
                <a:lnTo>
                  <a:pt x="12675" y="212356"/>
                </a:lnTo>
                <a:lnTo>
                  <a:pt x="13622" y="216521"/>
                </a:lnTo>
                <a:lnTo>
                  <a:pt x="16893" y="219778"/>
                </a:lnTo>
                <a:lnTo>
                  <a:pt x="16511" y="222107"/>
                </a:lnTo>
                <a:lnTo>
                  <a:pt x="19415" y="222464"/>
                </a:lnTo>
                <a:lnTo>
                  <a:pt x="23203" y="219626"/>
                </a:lnTo>
                <a:lnTo>
                  <a:pt x="26425" y="221384"/>
                </a:lnTo>
                <a:lnTo>
                  <a:pt x="24834" y="223749"/>
                </a:lnTo>
                <a:lnTo>
                  <a:pt x="28431" y="222375"/>
                </a:lnTo>
                <a:lnTo>
                  <a:pt x="31741" y="223624"/>
                </a:lnTo>
                <a:lnTo>
                  <a:pt x="27086" y="225927"/>
                </a:lnTo>
                <a:lnTo>
                  <a:pt x="27842" y="227052"/>
                </a:lnTo>
                <a:lnTo>
                  <a:pt x="25502" y="229489"/>
                </a:lnTo>
                <a:lnTo>
                  <a:pt x="25908" y="231632"/>
                </a:lnTo>
                <a:lnTo>
                  <a:pt x="23131" y="236553"/>
                </a:lnTo>
                <a:lnTo>
                  <a:pt x="22797" y="244513"/>
                </a:lnTo>
                <a:lnTo>
                  <a:pt x="19336" y="250715"/>
                </a:lnTo>
                <a:lnTo>
                  <a:pt x="17060" y="262411"/>
                </a:lnTo>
                <a:lnTo>
                  <a:pt x="20919" y="260730"/>
                </a:lnTo>
                <a:lnTo>
                  <a:pt x="22272" y="257546"/>
                </a:lnTo>
                <a:lnTo>
                  <a:pt x="27507" y="260193"/>
                </a:lnTo>
                <a:lnTo>
                  <a:pt x="28757" y="262322"/>
                </a:lnTo>
                <a:lnTo>
                  <a:pt x="26680" y="266294"/>
                </a:lnTo>
                <a:lnTo>
                  <a:pt x="20386" y="269085"/>
                </a:lnTo>
                <a:lnTo>
                  <a:pt x="20179" y="272495"/>
                </a:lnTo>
                <a:lnTo>
                  <a:pt x="17505" y="274562"/>
                </a:lnTo>
                <a:lnTo>
                  <a:pt x="19256" y="278663"/>
                </a:lnTo>
                <a:lnTo>
                  <a:pt x="20434" y="289365"/>
                </a:lnTo>
                <a:lnTo>
                  <a:pt x="22709" y="289114"/>
                </a:lnTo>
                <a:lnTo>
                  <a:pt x="21150" y="290897"/>
                </a:lnTo>
                <a:lnTo>
                  <a:pt x="23871" y="293827"/>
                </a:lnTo>
                <a:lnTo>
                  <a:pt x="23449" y="300378"/>
                </a:lnTo>
                <a:lnTo>
                  <a:pt x="21786" y="301875"/>
                </a:lnTo>
                <a:lnTo>
                  <a:pt x="23219" y="302099"/>
                </a:lnTo>
                <a:lnTo>
                  <a:pt x="22049" y="303318"/>
                </a:lnTo>
                <a:lnTo>
                  <a:pt x="28590" y="310654"/>
                </a:lnTo>
                <a:lnTo>
                  <a:pt x="26831" y="313246"/>
                </a:lnTo>
                <a:lnTo>
                  <a:pt x="34470" y="313381"/>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3" name="">
            <a:extLst xmlns:a="http://schemas.openxmlformats.org/drawingml/2006/main">
              <a:ext uri="{FF2B5EF4-FFF2-40B4-BE49-F238E27FC236}">
                <a16:creationId xmlns:a16="http://schemas.microsoft.com/office/drawing/2014/main" id="{9CB4E72A-4A0E-44A4-A5EC-A00DFB54AB41}"/>
              </a:ext>
            </a:extLst>
          </p:cNvPr>
          <p:cNvSpPr>
            <a:spLocks xmlns:a="http://schemas.openxmlformats.org/drawingml/2006/main" noGrp="1"/>
          </p:cNvSpPr>
          <p:nvPr/>
        </p:nvSpPr>
        <p:spPr>
          <a:xfrm xmlns:a="http://schemas.openxmlformats.org/drawingml/2006/main">
            <a:off x="2007059" y="6310479"/>
            <a:ext cx="160336" cy="205490"/>
          </a:xfrm>
          <a:custGeom xmlns:a="http://schemas.openxmlformats.org/drawingml/2006/main">
            <a:pathLst>
              <a:path w="160336" h="205490">
                <a:moveTo>
                  <a:pt x="89245" y="0"/>
                </a:moveTo>
                <a:lnTo>
                  <a:pt x="73097" y="5792"/>
                </a:lnTo>
                <a:lnTo>
                  <a:pt x="65266" y="17899"/>
                </a:lnTo>
                <a:lnTo>
                  <a:pt x="56440" y="39301"/>
                </a:lnTo>
                <a:lnTo>
                  <a:pt x="62525" y="46809"/>
                </a:lnTo>
                <a:lnTo>
                  <a:pt x="61588" y="51713"/>
                </a:lnTo>
                <a:lnTo>
                  <a:pt x="49411" y="54787"/>
                </a:lnTo>
                <a:lnTo>
                  <a:pt x="41287" y="75374"/>
                </a:lnTo>
                <a:lnTo>
                  <a:pt x="44681" y="80785"/>
                </a:lnTo>
                <a:lnTo>
                  <a:pt x="51141" y="75816"/>
                </a:lnTo>
                <a:lnTo>
                  <a:pt x="67255" y="89319"/>
                </a:lnTo>
                <a:lnTo>
                  <a:pt x="56674" y="95201"/>
                </a:lnTo>
                <a:lnTo>
                  <a:pt x="60335" y="99514"/>
                </a:lnTo>
                <a:lnTo>
                  <a:pt x="64973" y="95959"/>
                </a:lnTo>
                <a:lnTo>
                  <a:pt x="64614" y="101138"/>
                </a:lnTo>
                <a:lnTo>
                  <a:pt x="57869" y="106417"/>
                </a:lnTo>
                <a:lnTo>
                  <a:pt x="52905" y="102518"/>
                </a:lnTo>
                <a:lnTo>
                  <a:pt x="50464" y="107635"/>
                </a:lnTo>
                <a:lnTo>
                  <a:pt x="50723" y="99640"/>
                </a:lnTo>
                <a:lnTo>
                  <a:pt x="47389" y="100019"/>
                </a:lnTo>
                <a:lnTo>
                  <a:pt x="43770" y="113294"/>
                </a:lnTo>
                <a:lnTo>
                  <a:pt x="34618" y="97249"/>
                </a:lnTo>
                <a:lnTo>
                  <a:pt x="25307" y="104775"/>
                </a:lnTo>
                <a:lnTo>
                  <a:pt x="26578" y="117572"/>
                </a:lnTo>
                <a:lnTo>
                  <a:pt x="43920" y="118231"/>
                </a:lnTo>
                <a:lnTo>
                  <a:pt x="54702" y="132511"/>
                </a:lnTo>
                <a:lnTo>
                  <a:pt x="49612" y="145541"/>
                </a:lnTo>
                <a:lnTo>
                  <a:pt x="46135" y="145830"/>
                </a:lnTo>
                <a:lnTo>
                  <a:pt x="46218" y="139455"/>
                </a:lnTo>
                <a:lnTo>
                  <a:pt x="38897" y="147898"/>
                </a:lnTo>
                <a:lnTo>
                  <a:pt x="46419" y="155755"/>
                </a:lnTo>
                <a:lnTo>
                  <a:pt x="40259" y="156731"/>
                </a:lnTo>
                <a:lnTo>
                  <a:pt x="42441" y="152142"/>
                </a:lnTo>
                <a:lnTo>
                  <a:pt x="34768" y="155584"/>
                </a:lnTo>
                <a:lnTo>
                  <a:pt x="33924" y="151890"/>
                </a:lnTo>
                <a:lnTo>
                  <a:pt x="27288" y="153434"/>
                </a:lnTo>
                <a:lnTo>
                  <a:pt x="29144" y="134967"/>
                </a:lnTo>
                <a:lnTo>
                  <a:pt x="25667" y="130417"/>
                </a:lnTo>
                <a:lnTo>
                  <a:pt x="15495" y="132340"/>
                </a:lnTo>
                <a:lnTo>
                  <a:pt x="0" y="152116"/>
                </a:lnTo>
                <a:lnTo>
                  <a:pt x="11458" y="160958"/>
                </a:lnTo>
                <a:lnTo>
                  <a:pt x="11091" y="176966"/>
                </a:lnTo>
                <a:lnTo>
                  <a:pt x="36757" y="179316"/>
                </a:lnTo>
                <a:lnTo>
                  <a:pt x="36339" y="205490"/>
                </a:lnTo>
                <a:lnTo>
                  <a:pt x="68693" y="200590"/>
                </a:lnTo>
                <a:lnTo>
                  <a:pt x="83595" y="184105"/>
                </a:lnTo>
                <a:lnTo>
                  <a:pt x="96407" y="177870"/>
                </a:lnTo>
                <a:lnTo>
                  <a:pt x="100895" y="179786"/>
                </a:lnTo>
                <a:lnTo>
                  <a:pt x="101447" y="171455"/>
                </a:lnTo>
                <a:lnTo>
                  <a:pt x="97176" y="172783"/>
                </a:lnTo>
                <a:lnTo>
                  <a:pt x="93064" y="167769"/>
                </a:lnTo>
                <a:lnTo>
                  <a:pt x="98154" y="161617"/>
                </a:lnTo>
                <a:lnTo>
                  <a:pt x="94460" y="156514"/>
                </a:lnTo>
                <a:lnTo>
                  <a:pt x="97469" y="155349"/>
                </a:lnTo>
                <a:lnTo>
                  <a:pt x="98438" y="136692"/>
                </a:lnTo>
                <a:lnTo>
                  <a:pt x="101856" y="132358"/>
                </a:lnTo>
                <a:lnTo>
                  <a:pt x="99692" y="123656"/>
                </a:lnTo>
                <a:lnTo>
                  <a:pt x="112521" y="119584"/>
                </a:lnTo>
                <a:lnTo>
                  <a:pt x="123595" y="104260"/>
                </a:lnTo>
                <a:lnTo>
                  <a:pt x="134953" y="103457"/>
                </a:lnTo>
                <a:lnTo>
                  <a:pt x="134661" y="97321"/>
                </a:lnTo>
                <a:lnTo>
                  <a:pt x="123261" y="82166"/>
                </a:lnTo>
                <a:lnTo>
                  <a:pt x="130624" y="69900"/>
                </a:lnTo>
                <a:lnTo>
                  <a:pt x="142367" y="62605"/>
                </a:lnTo>
                <a:lnTo>
                  <a:pt x="160336" y="65896"/>
                </a:lnTo>
                <a:lnTo>
                  <a:pt x="155447" y="55139"/>
                </a:lnTo>
                <a:lnTo>
                  <a:pt x="157728" y="51659"/>
                </a:lnTo>
                <a:lnTo>
                  <a:pt x="149362" y="50740"/>
                </a:lnTo>
                <a:lnTo>
                  <a:pt x="147473" y="45331"/>
                </a:lnTo>
                <a:lnTo>
                  <a:pt x="142233" y="50830"/>
                </a:lnTo>
                <a:lnTo>
                  <a:pt x="139642" y="48882"/>
                </a:lnTo>
                <a:lnTo>
                  <a:pt x="141690" y="36011"/>
                </a:lnTo>
                <a:lnTo>
                  <a:pt x="134811" y="20197"/>
                </a:lnTo>
                <a:lnTo>
                  <a:pt x="138740" y="171"/>
                </a:lnTo>
                <a:lnTo>
                  <a:pt x="127331" y="9972"/>
                </a:lnTo>
                <a:lnTo>
                  <a:pt x="118747" y="4810"/>
                </a:lnTo>
                <a:lnTo>
                  <a:pt x="117377" y="19665"/>
                </a:lnTo>
                <a:lnTo>
                  <a:pt x="104263" y="24954"/>
                </a:lnTo>
                <a:lnTo>
                  <a:pt x="98630" y="32424"/>
                </a:lnTo>
                <a:lnTo>
                  <a:pt x="93783" y="28748"/>
                </a:lnTo>
                <a:lnTo>
                  <a:pt x="88994" y="31514"/>
                </a:lnTo>
                <a:lnTo>
                  <a:pt x="87172" y="18079"/>
                </a:lnTo>
                <a:lnTo>
                  <a:pt x="92847" y="4432"/>
                </a:lnTo>
                <a:lnTo>
                  <a:pt x="89245" y="0"/>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4" name="">
            <a:extLst xmlns:a="http://schemas.openxmlformats.org/drawingml/2006/main">
              <a:ext uri="{FF2B5EF4-FFF2-40B4-BE49-F238E27FC236}">
                <a16:creationId xmlns:a16="http://schemas.microsoft.com/office/drawing/2014/main" id="{90F2C5A1-4693-4158-9C89-B7ED08CDC30B}"/>
              </a:ext>
            </a:extLst>
          </p:cNvPr>
          <p:cNvSpPr>
            <a:spLocks xmlns:a="http://schemas.openxmlformats.org/drawingml/2006/main" noGrp="1"/>
          </p:cNvSpPr>
          <p:nvPr/>
        </p:nvSpPr>
        <p:spPr>
          <a:xfrm xmlns:a="http://schemas.openxmlformats.org/drawingml/2006/main">
            <a:off x="2094230" y="6228815"/>
            <a:ext cx="154201" cy="254447"/>
          </a:xfrm>
          <a:custGeom xmlns:a="http://schemas.openxmlformats.org/drawingml/2006/main">
            <a:pathLst>
              <a:path w="154201" h="254447">
                <a:moveTo>
                  <a:pt x="10004" y="254447"/>
                </a:moveTo>
                <a:lnTo>
                  <a:pt x="46319" y="237076"/>
                </a:lnTo>
                <a:lnTo>
                  <a:pt x="76717" y="234936"/>
                </a:lnTo>
                <a:lnTo>
                  <a:pt x="90247" y="211874"/>
                </a:lnTo>
                <a:lnTo>
                  <a:pt x="117152" y="219881"/>
                </a:lnTo>
                <a:lnTo>
                  <a:pt x="128710" y="182189"/>
                </a:lnTo>
                <a:lnTo>
                  <a:pt x="137026" y="168376"/>
                </a:lnTo>
                <a:lnTo>
                  <a:pt x="144055" y="165426"/>
                </a:lnTo>
                <a:lnTo>
                  <a:pt x="145869" y="159654"/>
                </a:lnTo>
                <a:lnTo>
                  <a:pt x="140102" y="153909"/>
                </a:lnTo>
                <a:lnTo>
                  <a:pt x="148435" y="151618"/>
                </a:lnTo>
                <a:lnTo>
                  <a:pt x="143646" y="141401"/>
                </a:lnTo>
                <a:lnTo>
                  <a:pt x="154201" y="118676"/>
                </a:lnTo>
                <a:lnTo>
                  <a:pt x="141932" y="74748"/>
                </a:lnTo>
                <a:lnTo>
                  <a:pt x="122359" y="48305"/>
                </a:lnTo>
                <a:lnTo>
                  <a:pt x="117260" y="49223"/>
                </a:lnTo>
                <a:lnTo>
                  <a:pt x="120294" y="39908"/>
                </a:lnTo>
                <a:lnTo>
                  <a:pt x="103403" y="41330"/>
                </a:lnTo>
                <a:lnTo>
                  <a:pt x="105291" y="37532"/>
                </a:lnTo>
                <a:lnTo>
                  <a:pt x="93382" y="35606"/>
                </a:lnTo>
                <a:lnTo>
                  <a:pt x="93524" y="30135"/>
                </a:lnTo>
                <a:lnTo>
                  <a:pt x="84180" y="31656"/>
                </a:lnTo>
                <a:lnTo>
                  <a:pt x="93917" y="20679"/>
                </a:lnTo>
                <a:lnTo>
                  <a:pt x="87515" y="20031"/>
                </a:lnTo>
                <a:lnTo>
                  <a:pt x="85902" y="9354"/>
                </a:lnTo>
                <a:lnTo>
                  <a:pt x="69512" y="0"/>
                </a:lnTo>
                <a:lnTo>
                  <a:pt x="62132" y="1933"/>
                </a:lnTo>
                <a:lnTo>
                  <a:pt x="61305" y="10388"/>
                </a:lnTo>
                <a:lnTo>
                  <a:pt x="51810" y="16172"/>
                </a:lnTo>
                <a:lnTo>
                  <a:pt x="43653" y="10064"/>
                </a:lnTo>
                <a:lnTo>
                  <a:pt x="34685" y="13878"/>
                </a:lnTo>
                <a:lnTo>
                  <a:pt x="27991" y="10882"/>
                </a:lnTo>
                <a:lnTo>
                  <a:pt x="8040" y="18664"/>
                </a:lnTo>
                <a:lnTo>
                  <a:pt x="2449" y="28479"/>
                </a:lnTo>
                <a:lnTo>
                  <a:pt x="12144" y="45929"/>
                </a:lnTo>
                <a:lnTo>
                  <a:pt x="385" y="69029"/>
                </a:lnTo>
                <a:lnTo>
                  <a:pt x="5675" y="86096"/>
                </a:lnTo>
                <a:lnTo>
                  <a:pt x="0" y="99743"/>
                </a:lnTo>
                <a:lnTo>
                  <a:pt x="1822" y="113178"/>
                </a:lnTo>
                <a:lnTo>
                  <a:pt x="6611" y="110412"/>
                </a:lnTo>
                <a:lnTo>
                  <a:pt x="13974" y="113809"/>
                </a:lnTo>
                <a:lnTo>
                  <a:pt x="17092" y="106618"/>
                </a:lnTo>
                <a:lnTo>
                  <a:pt x="32520" y="97914"/>
                </a:lnTo>
                <a:lnTo>
                  <a:pt x="31576" y="86474"/>
                </a:lnTo>
                <a:lnTo>
                  <a:pt x="40159" y="91636"/>
                </a:lnTo>
                <a:lnTo>
                  <a:pt x="51568" y="81835"/>
                </a:lnTo>
                <a:lnTo>
                  <a:pt x="47640" y="101861"/>
                </a:lnTo>
                <a:lnTo>
                  <a:pt x="54518" y="117675"/>
                </a:lnTo>
                <a:lnTo>
                  <a:pt x="52470" y="130546"/>
                </a:lnTo>
                <a:lnTo>
                  <a:pt x="55061" y="132494"/>
                </a:lnTo>
                <a:lnTo>
                  <a:pt x="60302" y="126995"/>
                </a:lnTo>
                <a:lnTo>
                  <a:pt x="62190" y="132404"/>
                </a:lnTo>
                <a:lnTo>
                  <a:pt x="70557" y="133323"/>
                </a:lnTo>
                <a:lnTo>
                  <a:pt x="68275" y="136803"/>
                </a:lnTo>
                <a:lnTo>
                  <a:pt x="73649" y="145540"/>
                </a:lnTo>
                <a:lnTo>
                  <a:pt x="66737" y="148741"/>
                </a:lnTo>
                <a:lnTo>
                  <a:pt x="55195" y="144269"/>
                </a:lnTo>
                <a:lnTo>
                  <a:pt x="43452" y="151564"/>
                </a:lnTo>
                <a:lnTo>
                  <a:pt x="36089" y="163830"/>
                </a:lnTo>
                <a:lnTo>
                  <a:pt x="47489" y="178985"/>
                </a:lnTo>
                <a:lnTo>
                  <a:pt x="47782" y="185121"/>
                </a:lnTo>
                <a:lnTo>
                  <a:pt x="36423" y="185924"/>
                </a:lnTo>
                <a:lnTo>
                  <a:pt x="25349" y="201248"/>
                </a:lnTo>
                <a:lnTo>
                  <a:pt x="12520" y="205320"/>
                </a:lnTo>
                <a:lnTo>
                  <a:pt x="14685" y="214022"/>
                </a:lnTo>
                <a:lnTo>
                  <a:pt x="11266" y="218356"/>
                </a:lnTo>
                <a:lnTo>
                  <a:pt x="10297" y="237013"/>
                </a:lnTo>
                <a:lnTo>
                  <a:pt x="7288" y="238178"/>
                </a:lnTo>
                <a:lnTo>
                  <a:pt x="10982" y="243281"/>
                </a:lnTo>
                <a:lnTo>
                  <a:pt x="5892" y="249433"/>
                </a:lnTo>
                <a:lnTo>
                  <a:pt x="10004" y="254447"/>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5" name="">
            <a:extLst xmlns:a="http://schemas.openxmlformats.org/drawingml/2006/main">
              <a:ext uri="{FF2B5EF4-FFF2-40B4-BE49-F238E27FC236}">
                <a16:creationId xmlns:a16="http://schemas.microsoft.com/office/drawing/2014/main" id="{6E78FC75-5897-41BC-B924-043E19C2B076}"/>
              </a:ext>
            </a:extLst>
          </p:cNvPr>
          <p:cNvSpPr>
            <a:spLocks xmlns:a="http://schemas.openxmlformats.org/drawingml/2006/main" noGrp="1"/>
          </p:cNvSpPr>
          <p:nvPr/>
        </p:nvSpPr>
        <p:spPr>
          <a:xfrm xmlns:a="http://schemas.openxmlformats.org/drawingml/2006/main">
            <a:off x="1812288" y="6151404"/>
            <a:ext cx="294086" cy="355724"/>
          </a:xfrm>
          <a:custGeom xmlns:a="http://schemas.openxmlformats.org/drawingml/2006/main">
            <a:pathLst>
              <a:path w="294086" h="355724">
                <a:moveTo>
                  <a:pt x="65417" y="199457"/>
                </a:moveTo>
                <a:lnTo>
                  <a:pt x="94644" y="223807"/>
                </a:lnTo>
                <a:lnTo>
                  <a:pt x="94811" y="215575"/>
                </a:lnTo>
                <a:lnTo>
                  <a:pt x="100862" y="209129"/>
                </a:lnTo>
                <a:lnTo>
                  <a:pt x="103629" y="217938"/>
                </a:lnTo>
                <a:lnTo>
                  <a:pt x="108668" y="220660"/>
                </a:lnTo>
                <a:lnTo>
                  <a:pt x="103462" y="229534"/>
                </a:lnTo>
                <a:lnTo>
                  <a:pt x="109086" y="233664"/>
                </a:lnTo>
                <a:lnTo>
                  <a:pt x="111777" y="227875"/>
                </a:lnTo>
                <a:lnTo>
                  <a:pt x="119333" y="226594"/>
                </a:lnTo>
                <a:lnTo>
                  <a:pt x="127222" y="233628"/>
                </a:lnTo>
                <a:lnTo>
                  <a:pt x="122693" y="242882"/>
                </a:lnTo>
                <a:lnTo>
                  <a:pt x="131427" y="231022"/>
                </a:lnTo>
                <a:lnTo>
                  <a:pt x="135873" y="239644"/>
                </a:lnTo>
                <a:lnTo>
                  <a:pt x="152196" y="250794"/>
                </a:lnTo>
                <a:lnTo>
                  <a:pt x="143738" y="264264"/>
                </a:lnTo>
                <a:lnTo>
                  <a:pt x="136717" y="263245"/>
                </a:lnTo>
                <a:lnTo>
                  <a:pt x="120929" y="272657"/>
                </a:lnTo>
                <a:lnTo>
                  <a:pt x="136516" y="298854"/>
                </a:lnTo>
                <a:lnTo>
                  <a:pt x="147424" y="295469"/>
                </a:lnTo>
                <a:lnTo>
                  <a:pt x="157119" y="320918"/>
                </a:lnTo>
                <a:lnTo>
                  <a:pt x="159634" y="322797"/>
                </a:lnTo>
                <a:lnTo>
                  <a:pt x="163939" y="315643"/>
                </a:lnTo>
                <a:lnTo>
                  <a:pt x="173550" y="319265"/>
                </a:lnTo>
                <a:lnTo>
                  <a:pt x="171694" y="332978"/>
                </a:lnTo>
                <a:lnTo>
                  <a:pt x="179877" y="337388"/>
                </a:lnTo>
                <a:lnTo>
                  <a:pt x="181206" y="355724"/>
                </a:lnTo>
                <a:lnTo>
                  <a:pt x="191277" y="355634"/>
                </a:lnTo>
                <a:lnTo>
                  <a:pt x="195330" y="350012"/>
                </a:lnTo>
                <a:lnTo>
                  <a:pt x="204156" y="354947"/>
                </a:lnTo>
                <a:lnTo>
                  <a:pt x="208602" y="349027"/>
                </a:lnTo>
                <a:lnTo>
                  <a:pt x="205368" y="347500"/>
                </a:lnTo>
                <a:lnTo>
                  <a:pt x="216208" y="336376"/>
                </a:lnTo>
                <a:lnTo>
                  <a:pt x="205861" y="336041"/>
                </a:lnTo>
                <a:lnTo>
                  <a:pt x="206229" y="320033"/>
                </a:lnTo>
                <a:lnTo>
                  <a:pt x="194771" y="311190"/>
                </a:lnTo>
                <a:lnTo>
                  <a:pt x="210266" y="291415"/>
                </a:lnTo>
                <a:lnTo>
                  <a:pt x="220437" y="289492"/>
                </a:lnTo>
                <a:lnTo>
                  <a:pt x="223914" y="294042"/>
                </a:lnTo>
                <a:lnTo>
                  <a:pt x="222059" y="312509"/>
                </a:lnTo>
                <a:lnTo>
                  <a:pt x="228695" y="310965"/>
                </a:lnTo>
                <a:lnTo>
                  <a:pt x="229539" y="314658"/>
                </a:lnTo>
                <a:lnTo>
                  <a:pt x="237211" y="311217"/>
                </a:lnTo>
                <a:lnTo>
                  <a:pt x="235030" y="315806"/>
                </a:lnTo>
                <a:lnTo>
                  <a:pt x="241190" y="314830"/>
                </a:lnTo>
                <a:lnTo>
                  <a:pt x="233667" y="306972"/>
                </a:lnTo>
                <a:lnTo>
                  <a:pt x="240989" y="298530"/>
                </a:lnTo>
                <a:lnTo>
                  <a:pt x="240905" y="304905"/>
                </a:lnTo>
                <a:lnTo>
                  <a:pt x="244382" y="304616"/>
                </a:lnTo>
                <a:lnTo>
                  <a:pt x="249472" y="291586"/>
                </a:lnTo>
                <a:lnTo>
                  <a:pt x="238691" y="277306"/>
                </a:lnTo>
                <a:lnTo>
                  <a:pt x="221348" y="276646"/>
                </a:lnTo>
                <a:lnTo>
                  <a:pt x="220078" y="263849"/>
                </a:lnTo>
                <a:lnTo>
                  <a:pt x="229388" y="256324"/>
                </a:lnTo>
                <a:lnTo>
                  <a:pt x="238540" y="272368"/>
                </a:lnTo>
                <a:lnTo>
                  <a:pt x="242159" y="259094"/>
                </a:lnTo>
                <a:lnTo>
                  <a:pt x="245494" y="258715"/>
                </a:lnTo>
                <a:lnTo>
                  <a:pt x="245235" y="266710"/>
                </a:lnTo>
                <a:lnTo>
                  <a:pt x="247675" y="261593"/>
                </a:lnTo>
                <a:lnTo>
                  <a:pt x="252640" y="265492"/>
                </a:lnTo>
                <a:lnTo>
                  <a:pt x="259385" y="260213"/>
                </a:lnTo>
                <a:lnTo>
                  <a:pt x="259744" y="255034"/>
                </a:lnTo>
                <a:lnTo>
                  <a:pt x="255106" y="258589"/>
                </a:lnTo>
                <a:lnTo>
                  <a:pt x="251445" y="254276"/>
                </a:lnTo>
                <a:lnTo>
                  <a:pt x="262025" y="248394"/>
                </a:lnTo>
                <a:lnTo>
                  <a:pt x="245912" y="234891"/>
                </a:lnTo>
                <a:lnTo>
                  <a:pt x="239451" y="239860"/>
                </a:lnTo>
                <a:lnTo>
                  <a:pt x="236058" y="234449"/>
                </a:lnTo>
                <a:lnTo>
                  <a:pt x="244182" y="213862"/>
                </a:lnTo>
                <a:lnTo>
                  <a:pt x="256359" y="210788"/>
                </a:lnTo>
                <a:lnTo>
                  <a:pt x="257295" y="205884"/>
                </a:lnTo>
                <a:lnTo>
                  <a:pt x="251211" y="198376"/>
                </a:lnTo>
                <a:lnTo>
                  <a:pt x="260037" y="176974"/>
                </a:lnTo>
                <a:lnTo>
                  <a:pt x="267868" y="164866"/>
                </a:lnTo>
                <a:lnTo>
                  <a:pt x="284015" y="159075"/>
                </a:lnTo>
                <a:lnTo>
                  <a:pt x="282327" y="146440"/>
                </a:lnTo>
                <a:lnTo>
                  <a:pt x="294086" y="123340"/>
                </a:lnTo>
                <a:lnTo>
                  <a:pt x="289673" y="119226"/>
                </a:lnTo>
                <a:lnTo>
                  <a:pt x="293702" y="117903"/>
                </a:lnTo>
                <a:lnTo>
                  <a:pt x="289155" y="112198"/>
                </a:lnTo>
                <a:lnTo>
                  <a:pt x="267876" y="110758"/>
                </a:lnTo>
                <a:lnTo>
                  <a:pt x="266238" y="101904"/>
                </a:lnTo>
                <a:lnTo>
                  <a:pt x="250885" y="100627"/>
                </a:lnTo>
                <a:lnTo>
                  <a:pt x="255665" y="80981"/>
                </a:lnTo>
                <a:lnTo>
                  <a:pt x="253492" y="75720"/>
                </a:lnTo>
                <a:lnTo>
                  <a:pt x="234085" y="90488"/>
                </a:lnTo>
                <a:lnTo>
                  <a:pt x="224207" y="84372"/>
                </a:lnTo>
                <a:lnTo>
                  <a:pt x="201323" y="39833"/>
                </a:lnTo>
                <a:lnTo>
                  <a:pt x="195406" y="47760"/>
                </a:lnTo>
                <a:lnTo>
                  <a:pt x="191001" y="49180"/>
                </a:lnTo>
                <a:lnTo>
                  <a:pt x="188226" y="43176"/>
                </a:lnTo>
                <a:lnTo>
                  <a:pt x="180010" y="53890"/>
                </a:lnTo>
                <a:lnTo>
                  <a:pt x="171745" y="52982"/>
                </a:lnTo>
                <a:lnTo>
                  <a:pt x="183554" y="42951"/>
                </a:lnTo>
                <a:lnTo>
                  <a:pt x="169672" y="37757"/>
                </a:lnTo>
                <a:lnTo>
                  <a:pt x="164682" y="14289"/>
                </a:lnTo>
                <a:lnTo>
                  <a:pt x="157879" y="10211"/>
                </a:lnTo>
                <a:lnTo>
                  <a:pt x="153232" y="0"/>
                </a:lnTo>
                <a:lnTo>
                  <a:pt x="146262" y="664"/>
                </a:lnTo>
                <a:lnTo>
                  <a:pt x="142735" y="11487"/>
                </a:lnTo>
                <a:lnTo>
                  <a:pt x="145150" y="30937"/>
                </a:lnTo>
                <a:lnTo>
                  <a:pt x="140219" y="28699"/>
                </a:lnTo>
                <a:lnTo>
                  <a:pt x="117887" y="39303"/>
                </a:lnTo>
                <a:lnTo>
                  <a:pt x="115764" y="28187"/>
                </a:lnTo>
                <a:lnTo>
                  <a:pt x="107139" y="32095"/>
                </a:lnTo>
                <a:lnTo>
                  <a:pt x="103988" y="20703"/>
                </a:lnTo>
                <a:lnTo>
                  <a:pt x="89454" y="20631"/>
                </a:lnTo>
                <a:lnTo>
                  <a:pt x="83068" y="14253"/>
                </a:lnTo>
                <a:lnTo>
                  <a:pt x="68309" y="15547"/>
                </a:lnTo>
                <a:lnTo>
                  <a:pt x="63093" y="6520"/>
                </a:lnTo>
                <a:lnTo>
                  <a:pt x="53005" y="27387"/>
                </a:lnTo>
                <a:lnTo>
                  <a:pt x="35772" y="27127"/>
                </a:lnTo>
                <a:lnTo>
                  <a:pt x="31033" y="40534"/>
                </a:lnTo>
                <a:lnTo>
                  <a:pt x="23653" y="35259"/>
                </a:lnTo>
                <a:lnTo>
                  <a:pt x="0" y="50267"/>
                </a:lnTo>
                <a:lnTo>
                  <a:pt x="9160" y="60578"/>
                </a:lnTo>
                <a:lnTo>
                  <a:pt x="17251" y="60821"/>
                </a:lnTo>
                <a:lnTo>
                  <a:pt x="22023" y="54959"/>
                </a:lnTo>
                <a:lnTo>
                  <a:pt x="29144" y="60219"/>
                </a:lnTo>
                <a:lnTo>
                  <a:pt x="35629" y="56506"/>
                </a:lnTo>
                <a:lnTo>
                  <a:pt x="44171" y="66557"/>
                </a:lnTo>
                <a:lnTo>
                  <a:pt x="41154" y="83949"/>
                </a:lnTo>
                <a:lnTo>
                  <a:pt x="26352" y="113908"/>
                </a:lnTo>
                <a:lnTo>
                  <a:pt x="34067" y="119397"/>
                </a:lnTo>
                <a:lnTo>
                  <a:pt x="28208" y="120946"/>
                </a:lnTo>
                <a:lnTo>
                  <a:pt x="33364" y="122314"/>
                </a:lnTo>
                <a:lnTo>
                  <a:pt x="35596" y="131711"/>
                </a:lnTo>
                <a:lnTo>
                  <a:pt x="27940" y="133710"/>
                </a:lnTo>
                <a:lnTo>
                  <a:pt x="15019" y="152780"/>
                </a:lnTo>
                <a:lnTo>
                  <a:pt x="44598" y="154878"/>
                </a:lnTo>
                <a:lnTo>
                  <a:pt x="53039" y="144180"/>
                </a:lnTo>
                <a:lnTo>
                  <a:pt x="58663" y="162777"/>
                </a:lnTo>
                <a:lnTo>
                  <a:pt x="66035" y="168055"/>
                </a:lnTo>
                <a:lnTo>
                  <a:pt x="62784" y="177281"/>
                </a:lnTo>
                <a:lnTo>
                  <a:pt x="51041" y="177470"/>
                </a:lnTo>
                <a:lnTo>
                  <a:pt x="54953" y="190319"/>
                </a:lnTo>
                <a:lnTo>
                  <a:pt x="64807" y="191968"/>
                </a:lnTo>
                <a:lnTo>
                  <a:pt x="65417" y="199457"/>
                </a:lnTo>
              </a:path>
            </a:pathLst>
          </a:custGeom>
          <a:solidFill xmlns:a="http://schemas.openxmlformats.org/drawingml/2006/main">
            <a:srgbClr val="81968A"/>
          </a:solidFill>
          <a:ln xmlns:a="http://schemas.openxmlformats.org/drawingml/2006/main" w="3810">
            <a:solidFill>
              <a:srgbClr val="65736D"/>
            </a:solidFill>
            <a:prstDash val="solid"/>
          </a:ln>
        </p:spPr>
      </p:sp>
      <p:sp>
        <p:nvSpPr>
          <p:cNvPr id="76" name="">
            <a:extLst xmlns:a="http://schemas.openxmlformats.org/drawingml/2006/main">
              <a:ext uri="{FF2B5EF4-FFF2-40B4-BE49-F238E27FC236}">
                <a16:creationId xmlns:a16="http://schemas.microsoft.com/office/drawing/2014/main" id="{71D36359-08CC-440E-BD0A-A4699897FEC1}"/>
              </a:ext>
            </a:extLst>
          </p:cNvPr>
          <p:cNvSpPr>
            <a:spLocks xmlns:a="http://schemas.openxmlformats.org/drawingml/2006/main" noGrp="1"/>
          </p:cNvSpPr>
          <p:nvPr/>
        </p:nvSpPr>
        <p:spPr>
          <a:xfrm xmlns:a="http://schemas.openxmlformats.org/drawingml/2006/main">
            <a:off x="1981877" y="6394241"/>
            <a:ext cx="295507" cy="372319"/>
          </a:xfrm>
          <a:custGeom xmlns:a="http://schemas.openxmlformats.org/drawingml/2006/main">
            <a:pathLst>
              <a:path w="295507" h="372319">
                <a:moveTo>
                  <a:pt x="8399" y="260059"/>
                </a:moveTo>
                <a:lnTo>
                  <a:pt x="13640" y="269476"/>
                </a:lnTo>
                <a:lnTo>
                  <a:pt x="32687" y="285512"/>
                </a:lnTo>
                <a:lnTo>
                  <a:pt x="32478" y="309717"/>
                </a:lnTo>
                <a:lnTo>
                  <a:pt x="43602" y="322425"/>
                </a:lnTo>
                <a:lnTo>
                  <a:pt x="44146" y="340129"/>
                </a:lnTo>
                <a:lnTo>
                  <a:pt x="60260" y="347453"/>
                </a:lnTo>
                <a:lnTo>
                  <a:pt x="59783" y="369277"/>
                </a:lnTo>
                <a:lnTo>
                  <a:pt x="69654" y="372319"/>
                </a:lnTo>
                <a:lnTo>
                  <a:pt x="96056" y="370003"/>
                </a:lnTo>
                <a:lnTo>
                  <a:pt x="111259" y="357928"/>
                </a:lnTo>
                <a:lnTo>
                  <a:pt x="126830" y="360661"/>
                </a:lnTo>
                <a:lnTo>
                  <a:pt x="148894" y="355368"/>
                </a:lnTo>
                <a:lnTo>
                  <a:pt x="147582" y="350675"/>
                </a:lnTo>
                <a:lnTo>
                  <a:pt x="156015" y="346699"/>
                </a:lnTo>
                <a:lnTo>
                  <a:pt x="152221" y="341608"/>
                </a:lnTo>
                <a:lnTo>
                  <a:pt x="155213" y="332234"/>
                </a:lnTo>
                <a:lnTo>
                  <a:pt x="147114" y="323886"/>
                </a:lnTo>
                <a:lnTo>
                  <a:pt x="147749" y="313463"/>
                </a:lnTo>
                <a:lnTo>
                  <a:pt x="142091" y="309517"/>
                </a:lnTo>
                <a:lnTo>
                  <a:pt x="152062" y="294843"/>
                </a:lnTo>
                <a:lnTo>
                  <a:pt x="151903" y="288867"/>
                </a:lnTo>
                <a:lnTo>
                  <a:pt x="158740" y="283310"/>
                </a:lnTo>
                <a:lnTo>
                  <a:pt x="152948" y="280517"/>
                </a:lnTo>
                <a:lnTo>
                  <a:pt x="137745" y="256254"/>
                </a:lnTo>
                <a:lnTo>
                  <a:pt x="140369" y="243931"/>
                </a:lnTo>
                <a:lnTo>
                  <a:pt x="165409" y="228603"/>
                </a:lnTo>
                <a:lnTo>
                  <a:pt x="147958" y="207413"/>
                </a:lnTo>
                <a:lnTo>
                  <a:pt x="134234" y="204226"/>
                </a:lnTo>
                <a:lnTo>
                  <a:pt x="111317" y="211469"/>
                </a:lnTo>
                <a:lnTo>
                  <a:pt x="96248" y="206670"/>
                </a:lnTo>
                <a:lnTo>
                  <a:pt x="98588" y="194884"/>
                </a:lnTo>
                <a:lnTo>
                  <a:pt x="91284" y="186882"/>
                </a:lnTo>
                <a:lnTo>
                  <a:pt x="89654" y="166151"/>
                </a:lnTo>
                <a:lnTo>
                  <a:pt x="96416" y="170114"/>
                </a:lnTo>
                <a:lnTo>
                  <a:pt x="105751" y="164550"/>
                </a:lnTo>
                <a:lnTo>
                  <a:pt x="109679" y="177742"/>
                </a:lnTo>
                <a:lnTo>
                  <a:pt x="119491" y="184574"/>
                </a:lnTo>
                <a:lnTo>
                  <a:pt x="122684" y="172430"/>
                </a:lnTo>
                <a:lnTo>
                  <a:pt x="137787" y="159936"/>
                </a:lnTo>
                <a:lnTo>
                  <a:pt x="160913" y="161727"/>
                </a:lnTo>
                <a:lnTo>
                  <a:pt x="165618" y="152274"/>
                </a:lnTo>
                <a:lnTo>
                  <a:pt x="184423" y="144432"/>
                </a:lnTo>
                <a:lnTo>
                  <a:pt x="191385" y="131772"/>
                </a:lnTo>
                <a:lnTo>
                  <a:pt x="189513" y="128644"/>
                </a:lnTo>
                <a:lnTo>
                  <a:pt x="205819" y="129901"/>
                </a:lnTo>
                <a:lnTo>
                  <a:pt x="200353" y="114858"/>
                </a:lnTo>
                <a:lnTo>
                  <a:pt x="204323" y="113737"/>
                </a:lnTo>
                <a:lnTo>
                  <a:pt x="204081" y="107537"/>
                </a:lnTo>
                <a:lnTo>
                  <a:pt x="215113" y="104202"/>
                </a:lnTo>
                <a:lnTo>
                  <a:pt x="209521" y="103298"/>
                </a:lnTo>
                <a:lnTo>
                  <a:pt x="213458" y="101319"/>
                </a:lnTo>
                <a:lnTo>
                  <a:pt x="214327" y="94063"/>
                </a:lnTo>
                <a:lnTo>
                  <a:pt x="221548" y="96006"/>
                </a:lnTo>
                <a:lnTo>
                  <a:pt x="224766" y="103624"/>
                </a:lnTo>
                <a:lnTo>
                  <a:pt x="234654" y="100000"/>
                </a:lnTo>
                <a:lnTo>
                  <a:pt x="240679" y="89699"/>
                </a:lnTo>
                <a:lnTo>
                  <a:pt x="252314" y="83239"/>
                </a:lnTo>
                <a:lnTo>
                  <a:pt x="259627" y="90720"/>
                </a:lnTo>
                <a:lnTo>
                  <a:pt x="263204" y="88036"/>
                </a:lnTo>
                <a:lnTo>
                  <a:pt x="271303" y="92075"/>
                </a:lnTo>
                <a:lnTo>
                  <a:pt x="272498" y="82896"/>
                </a:lnTo>
                <a:lnTo>
                  <a:pt x="278649" y="81541"/>
                </a:lnTo>
                <a:lnTo>
                  <a:pt x="271887" y="75949"/>
                </a:lnTo>
                <a:lnTo>
                  <a:pt x="266480" y="60126"/>
                </a:lnTo>
                <a:lnTo>
                  <a:pt x="271102" y="47801"/>
                </a:lnTo>
                <a:lnTo>
                  <a:pt x="295507" y="18134"/>
                </a:lnTo>
                <a:lnTo>
                  <a:pt x="274562" y="12549"/>
                </a:lnTo>
                <a:lnTo>
                  <a:pt x="271002" y="1651"/>
                </a:lnTo>
                <a:lnTo>
                  <a:pt x="264357" y="7614"/>
                </a:lnTo>
                <a:lnTo>
                  <a:pt x="256409" y="0"/>
                </a:lnTo>
                <a:lnTo>
                  <a:pt x="249380" y="2949"/>
                </a:lnTo>
                <a:lnTo>
                  <a:pt x="239910" y="19442"/>
                </a:lnTo>
                <a:lnTo>
                  <a:pt x="229505" y="54455"/>
                </a:lnTo>
                <a:lnTo>
                  <a:pt x="202601" y="46447"/>
                </a:lnTo>
                <a:lnTo>
                  <a:pt x="189070" y="69509"/>
                </a:lnTo>
                <a:lnTo>
                  <a:pt x="156374" y="72562"/>
                </a:lnTo>
                <a:lnTo>
                  <a:pt x="126629" y="87693"/>
                </a:lnTo>
                <a:lnTo>
                  <a:pt x="126077" y="96024"/>
                </a:lnTo>
                <a:lnTo>
                  <a:pt x="121589" y="94108"/>
                </a:lnTo>
                <a:lnTo>
                  <a:pt x="108777" y="100343"/>
                </a:lnTo>
                <a:lnTo>
                  <a:pt x="93875" y="116828"/>
                </a:lnTo>
                <a:lnTo>
                  <a:pt x="61521" y="121728"/>
                </a:lnTo>
                <a:lnTo>
                  <a:pt x="60920" y="137966"/>
                </a:lnTo>
                <a:lnTo>
                  <a:pt x="51217" y="136122"/>
                </a:lnTo>
                <a:lnTo>
                  <a:pt x="40970" y="164866"/>
                </a:lnTo>
                <a:lnTo>
                  <a:pt x="47389" y="175950"/>
                </a:lnTo>
                <a:lnTo>
                  <a:pt x="40594" y="185488"/>
                </a:lnTo>
                <a:lnTo>
                  <a:pt x="28843" y="187027"/>
                </a:lnTo>
                <a:lnTo>
                  <a:pt x="21847" y="194856"/>
                </a:lnTo>
                <a:lnTo>
                  <a:pt x="29896" y="199437"/>
                </a:lnTo>
                <a:lnTo>
                  <a:pt x="28901" y="204588"/>
                </a:lnTo>
                <a:lnTo>
                  <a:pt x="0" y="210953"/>
                </a:lnTo>
                <a:lnTo>
                  <a:pt x="451" y="227797"/>
                </a:lnTo>
                <a:lnTo>
                  <a:pt x="16699" y="235687"/>
                </a:lnTo>
                <a:lnTo>
                  <a:pt x="21471" y="244202"/>
                </a:lnTo>
                <a:lnTo>
                  <a:pt x="22156" y="250101"/>
                </a:lnTo>
                <a:lnTo>
                  <a:pt x="8399" y="260059"/>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7" name="">
            <a:extLst xmlns:a="http://schemas.openxmlformats.org/drawingml/2006/main">
              <a:ext uri="{FF2B5EF4-FFF2-40B4-BE49-F238E27FC236}">
                <a16:creationId xmlns:a16="http://schemas.microsoft.com/office/drawing/2014/main" id="{1749AFC7-AD47-4F01-B6A2-543C208587A7}"/>
              </a:ext>
            </a:extLst>
          </p:cNvPr>
          <p:cNvSpPr>
            <a:spLocks xmlns:a="http://schemas.openxmlformats.org/drawingml/2006/main" noGrp="1"/>
          </p:cNvSpPr>
          <p:nvPr/>
        </p:nvSpPr>
        <p:spPr>
          <a:xfrm xmlns:a="http://schemas.openxmlformats.org/drawingml/2006/main">
            <a:off x="2017172" y="6028383"/>
            <a:ext cx="367317" cy="235985"/>
          </a:xfrm>
          <a:custGeom xmlns:a="http://schemas.openxmlformats.org/drawingml/2006/main">
            <a:pathLst>
              <a:path w="367317" h="235985">
                <a:moveTo>
                  <a:pt x="170975" y="221111"/>
                </a:moveTo>
                <a:lnTo>
                  <a:pt x="201807" y="180552"/>
                </a:lnTo>
                <a:lnTo>
                  <a:pt x="204148" y="167483"/>
                </a:lnTo>
                <a:lnTo>
                  <a:pt x="197512" y="163565"/>
                </a:lnTo>
                <a:lnTo>
                  <a:pt x="200671" y="164176"/>
                </a:lnTo>
                <a:lnTo>
                  <a:pt x="203847" y="156222"/>
                </a:lnTo>
                <a:lnTo>
                  <a:pt x="208769" y="157229"/>
                </a:lnTo>
                <a:lnTo>
                  <a:pt x="221707" y="141389"/>
                </a:lnTo>
                <a:lnTo>
                  <a:pt x="227600" y="150967"/>
                </a:lnTo>
                <a:lnTo>
                  <a:pt x="238222" y="157157"/>
                </a:lnTo>
                <a:lnTo>
                  <a:pt x="245435" y="171923"/>
                </a:lnTo>
                <a:lnTo>
                  <a:pt x="256041" y="164176"/>
                </a:lnTo>
                <a:lnTo>
                  <a:pt x="270751" y="165658"/>
                </a:lnTo>
                <a:lnTo>
                  <a:pt x="291069" y="175069"/>
                </a:lnTo>
                <a:lnTo>
                  <a:pt x="292916" y="152611"/>
                </a:lnTo>
                <a:lnTo>
                  <a:pt x="310183" y="149143"/>
                </a:lnTo>
                <a:lnTo>
                  <a:pt x="317454" y="155459"/>
                </a:lnTo>
                <a:lnTo>
                  <a:pt x="335532" y="146555"/>
                </a:lnTo>
                <a:lnTo>
                  <a:pt x="346188" y="136215"/>
                </a:lnTo>
                <a:lnTo>
                  <a:pt x="358449" y="98278"/>
                </a:lnTo>
                <a:lnTo>
                  <a:pt x="363648" y="100073"/>
                </a:lnTo>
                <a:lnTo>
                  <a:pt x="367317" y="94078"/>
                </a:lnTo>
                <a:lnTo>
                  <a:pt x="356134" y="85560"/>
                </a:lnTo>
                <a:lnTo>
                  <a:pt x="346013" y="86772"/>
                </a:lnTo>
                <a:lnTo>
                  <a:pt x="343280" y="81782"/>
                </a:lnTo>
                <a:lnTo>
                  <a:pt x="347868" y="74075"/>
                </a:lnTo>
                <a:lnTo>
                  <a:pt x="329473" y="62915"/>
                </a:lnTo>
                <a:lnTo>
                  <a:pt x="314036" y="64351"/>
                </a:lnTo>
                <a:lnTo>
                  <a:pt x="308637" y="61040"/>
                </a:lnTo>
                <a:lnTo>
                  <a:pt x="297421" y="64440"/>
                </a:lnTo>
                <a:lnTo>
                  <a:pt x="287216" y="54206"/>
                </a:lnTo>
                <a:lnTo>
                  <a:pt x="291846" y="42449"/>
                </a:lnTo>
                <a:lnTo>
                  <a:pt x="282577" y="38585"/>
                </a:lnTo>
                <a:lnTo>
                  <a:pt x="281900" y="30587"/>
                </a:lnTo>
                <a:lnTo>
                  <a:pt x="271219" y="36630"/>
                </a:lnTo>
                <a:lnTo>
                  <a:pt x="268803" y="32147"/>
                </a:lnTo>
                <a:lnTo>
                  <a:pt x="246847" y="31296"/>
                </a:lnTo>
                <a:lnTo>
                  <a:pt x="239100" y="22009"/>
                </a:lnTo>
                <a:lnTo>
                  <a:pt x="224131" y="20719"/>
                </a:lnTo>
                <a:lnTo>
                  <a:pt x="220420" y="13548"/>
                </a:lnTo>
                <a:lnTo>
                  <a:pt x="223228" y="5591"/>
                </a:lnTo>
                <a:lnTo>
                  <a:pt x="210642" y="0"/>
                </a:lnTo>
                <a:lnTo>
                  <a:pt x="210190" y="8978"/>
                </a:lnTo>
                <a:lnTo>
                  <a:pt x="200880" y="11290"/>
                </a:lnTo>
                <a:lnTo>
                  <a:pt x="195807" y="18944"/>
                </a:lnTo>
                <a:lnTo>
                  <a:pt x="204097" y="28319"/>
                </a:lnTo>
                <a:lnTo>
                  <a:pt x="192965" y="38244"/>
                </a:lnTo>
                <a:lnTo>
                  <a:pt x="183855" y="35581"/>
                </a:lnTo>
                <a:lnTo>
                  <a:pt x="185317" y="51901"/>
                </a:lnTo>
                <a:lnTo>
                  <a:pt x="180938" y="57372"/>
                </a:lnTo>
                <a:lnTo>
                  <a:pt x="188109" y="72523"/>
                </a:lnTo>
                <a:lnTo>
                  <a:pt x="172722" y="75493"/>
                </a:lnTo>
                <a:lnTo>
                  <a:pt x="168769" y="79979"/>
                </a:lnTo>
                <a:lnTo>
                  <a:pt x="169379" y="89473"/>
                </a:lnTo>
                <a:lnTo>
                  <a:pt x="155831" y="92803"/>
                </a:lnTo>
                <a:lnTo>
                  <a:pt x="152028" y="98467"/>
                </a:lnTo>
                <a:lnTo>
                  <a:pt x="153315" y="110110"/>
                </a:lnTo>
                <a:lnTo>
                  <a:pt x="129128" y="108458"/>
                </a:lnTo>
                <a:lnTo>
                  <a:pt x="126487" y="114563"/>
                </a:lnTo>
                <a:lnTo>
                  <a:pt x="132371" y="126228"/>
                </a:lnTo>
                <a:lnTo>
                  <a:pt x="131284" y="142144"/>
                </a:lnTo>
                <a:lnTo>
                  <a:pt x="120962" y="153051"/>
                </a:lnTo>
                <a:lnTo>
                  <a:pt x="112839" y="149942"/>
                </a:lnTo>
                <a:lnTo>
                  <a:pt x="102701" y="153698"/>
                </a:lnTo>
                <a:lnTo>
                  <a:pt x="86678" y="143258"/>
                </a:lnTo>
                <a:lnTo>
                  <a:pt x="82909" y="144354"/>
                </a:lnTo>
                <a:lnTo>
                  <a:pt x="82884" y="151973"/>
                </a:lnTo>
                <a:lnTo>
                  <a:pt x="75646" y="156358"/>
                </a:lnTo>
                <a:lnTo>
                  <a:pt x="70423" y="152619"/>
                </a:lnTo>
                <a:lnTo>
                  <a:pt x="64088" y="155728"/>
                </a:lnTo>
                <a:lnTo>
                  <a:pt x="42165" y="151712"/>
                </a:lnTo>
                <a:lnTo>
                  <a:pt x="40226" y="138686"/>
                </a:lnTo>
                <a:lnTo>
                  <a:pt x="36565" y="136153"/>
                </a:lnTo>
                <a:lnTo>
                  <a:pt x="28283" y="141839"/>
                </a:lnTo>
                <a:lnTo>
                  <a:pt x="26695" y="133898"/>
                </a:lnTo>
                <a:lnTo>
                  <a:pt x="22508" y="139970"/>
                </a:lnTo>
                <a:lnTo>
                  <a:pt x="29620" y="145971"/>
                </a:lnTo>
                <a:lnTo>
                  <a:pt x="25082" y="157481"/>
                </a:lnTo>
                <a:lnTo>
                  <a:pt x="15345" y="155720"/>
                </a:lnTo>
                <a:lnTo>
                  <a:pt x="16022" y="163475"/>
                </a:lnTo>
                <a:lnTo>
                  <a:pt x="12745" y="164958"/>
                </a:lnTo>
                <a:lnTo>
                  <a:pt x="7530" y="158208"/>
                </a:lnTo>
                <a:lnTo>
                  <a:pt x="0" y="166764"/>
                </a:lnTo>
                <a:lnTo>
                  <a:pt x="17041" y="205109"/>
                </a:lnTo>
                <a:lnTo>
                  <a:pt x="29202" y="213510"/>
                </a:lnTo>
                <a:lnTo>
                  <a:pt x="48609" y="198742"/>
                </a:lnTo>
                <a:lnTo>
                  <a:pt x="50096" y="207672"/>
                </a:lnTo>
                <a:lnTo>
                  <a:pt x="44405" y="220662"/>
                </a:lnTo>
                <a:lnTo>
                  <a:pt x="61354" y="224926"/>
                </a:lnTo>
                <a:lnTo>
                  <a:pt x="62992" y="233780"/>
                </a:lnTo>
                <a:lnTo>
                  <a:pt x="81171" y="235985"/>
                </a:lnTo>
                <a:lnTo>
                  <a:pt x="79508" y="228912"/>
                </a:lnTo>
                <a:lnTo>
                  <a:pt x="85099" y="219096"/>
                </a:lnTo>
                <a:lnTo>
                  <a:pt x="105049" y="211315"/>
                </a:lnTo>
                <a:lnTo>
                  <a:pt x="111743" y="214310"/>
                </a:lnTo>
                <a:lnTo>
                  <a:pt x="120712" y="210497"/>
                </a:lnTo>
                <a:lnTo>
                  <a:pt x="128869" y="216604"/>
                </a:lnTo>
                <a:lnTo>
                  <a:pt x="136516" y="213240"/>
                </a:lnTo>
                <a:lnTo>
                  <a:pt x="139191" y="202366"/>
                </a:lnTo>
                <a:lnTo>
                  <a:pt x="143696" y="200442"/>
                </a:lnTo>
                <a:lnTo>
                  <a:pt x="160328" y="207744"/>
                </a:lnTo>
                <a:lnTo>
                  <a:pt x="164573" y="220464"/>
                </a:lnTo>
                <a:lnTo>
                  <a:pt x="170975" y="221111"/>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8" name="">
            <a:extLst xmlns:a="http://schemas.openxmlformats.org/drawingml/2006/main">
              <a:ext uri="{FF2B5EF4-FFF2-40B4-BE49-F238E27FC236}">
                <a16:creationId xmlns:a16="http://schemas.microsoft.com/office/drawing/2014/main" id="{470BE8DD-E0F9-4E9C-B3F9-A8B28551F87C}"/>
              </a:ext>
            </a:extLst>
          </p:cNvPr>
          <p:cNvSpPr>
            <a:spLocks xmlns:a="http://schemas.openxmlformats.org/drawingml/2006/main" noGrp="1"/>
          </p:cNvSpPr>
          <p:nvPr/>
        </p:nvSpPr>
        <p:spPr>
          <a:xfrm xmlns:a="http://schemas.openxmlformats.org/drawingml/2006/main">
            <a:off x="1815924" y="6350862"/>
            <a:ext cx="148978" cy="163689"/>
          </a:xfrm>
          <a:custGeom xmlns:a="http://schemas.openxmlformats.org/drawingml/2006/main">
            <a:pathLst>
              <a:path w="148978" h="163689">
                <a:moveTo>
                  <a:pt x="75847" y="163689"/>
                </a:moveTo>
                <a:lnTo>
                  <a:pt x="71200" y="146452"/>
                </a:lnTo>
                <a:lnTo>
                  <a:pt x="81063" y="141373"/>
                </a:lnTo>
                <a:lnTo>
                  <a:pt x="77076" y="129934"/>
                </a:lnTo>
                <a:lnTo>
                  <a:pt x="79082" y="125183"/>
                </a:lnTo>
                <a:lnTo>
                  <a:pt x="82859" y="124053"/>
                </a:lnTo>
                <a:lnTo>
                  <a:pt x="87189" y="130314"/>
                </a:lnTo>
                <a:lnTo>
                  <a:pt x="99115" y="130404"/>
                </a:lnTo>
                <a:lnTo>
                  <a:pt x="101004" y="113305"/>
                </a:lnTo>
                <a:lnTo>
                  <a:pt x="108568" y="105276"/>
                </a:lnTo>
                <a:lnTo>
                  <a:pt x="132355" y="111805"/>
                </a:lnTo>
                <a:lnTo>
                  <a:pt x="132881" y="99397"/>
                </a:lnTo>
                <a:lnTo>
                  <a:pt x="117812" y="70141"/>
                </a:lnTo>
                <a:lnTo>
                  <a:pt x="136324" y="62741"/>
                </a:lnTo>
                <a:lnTo>
                  <a:pt x="140102" y="64807"/>
                </a:lnTo>
                <a:lnTo>
                  <a:pt x="148978" y="53303"/>
                </a:lnTo>
                <a:lnTo>
                  <a:pt x="132237" y="40187"/>
                </a:lnTo>
                <a:lnTo>
                  <a:pt x="127791" y="31564"/>
                </a:lnTo>
                <a:lnTo>
                  <a:pt x="119057" y="43425"/>
                </a:lnTo>
                <a:lnTo>
                  <a:pt x="123587" y="34171"/>
                </a:lnTo>
                <a:lnTo>
                  <a:pt x="115697" y="27137"/>
                </a:lnTo>
                <a:lnTo>
                  <a:pt x="108142" y="28417"/>
                </a:lnTo>
                <a:lnTo>
                  <a:pt x="105450" y="34207"/>
                </a:lnTo>
                <a:lnTo>
                  <a:pt x="99826" y="30077"/>
                </a:lnTo>
                <a:lnTo>
                  <a:pt x="105033" y="21203"/>
                </a:lnTo>
                <a:lnTo>
                  <a:pt x="99993" y="18481"/>
                </a:lnTo>
                <a:lnTo>
                  <a:pt x="97226" y="9672"/>
                </a:lnTo>
                <a:lnTo>
                  <a:pt x="91175" y="16118"/>
                </a:lnTo>
                <a:lnTo>
                  <a:pt x="91008" y="24350"/>
                </a:lnTo>
                <a:lnTo>
                  <a:pt x="61781" y="0"/>
                </a:lnTo>
                <a:lnTo>
                  <a:pt x="57928" y="17849"/>
                </a:lnTo>
                <a:lnTo>
                  <a:pt x="63962" y="22682"/>
                </a:lnTo>
                <a:lnTo>
                  <a:pt x="47314" y="35596"/>
                </a:lnTo>
                <a:lnTo>
                  <a:pt x="43661" y="43975"/>
                </a:lnTo>
                <a:lnTo>
                  <a:pt x="34560" y="42045"/>
                </a:lnTo>
                <a:lnTo>
                  <a:pt x="32713" y="30573"/>
                </a:lnTo>
                <a:lnTo>
                  <a:pt x="24547" y="27335"/>
                </a:lnTo>
                <a:lnTo>
                  <a:pt x="16523" y="36155"/>
                </a:lnTo>
                <a:lnTo>
                  <a:pt x="1713" y="42279"/>
                </a:lnTo>
                <a:lnTo>
                  <a:pt x="8508" y="67614"/>
                </a:lnTo>
                <a:lnTo>
                  <a:pt x="0" y="87751"/>
                </a:lnTo>
                <a:lnTo>
                  <a:pt x="9186" y="95768"/>
                </a:lnTo>
                <a:lnTo>
                  <a:pt x="3268" y="102585"/>
                </a:lnTo>
                <a:lnTo>
                  <a:pt x="5232" y="106558"/>
                </a:lnTo>
                <a:lnTo>
                  <a:pt x="19716" y="108058"/>
                </a:lnTo>
                <a:lnTo>
                  <a:pt x="36282" y="119989"/>
                </a:lnTo>
                <a:lnTo>
                  <a:pt x="54736" y="115617"/>
                </a:lnTo>
                <a:lnTo>
                  <a:pt x="53916" y="124388"/>
                </a:lnTo>
                <a:lnTo>
                  <a:pt x="63937" y="138039"/>
                </a:lnTo>
                <a:lnTo>
                  <a:pt x="67264" y="153655"/>
                </a:lnTo>
                <a:lnTo>
                  <a:pt x="75847" y="163689"/>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79" name="">
            <a:extLst xmlns:a="http://schemas.openxmlformats.org/drawingml/2006/main">
              <a:ext uri="{FF2B5EF4-FFF2-40B4-BE49-F238E27FC236}">
                <a16:creationId xmlns:a16="http://schemas.microsoft.com/office/drawing/2014/main" id="{65FDDD4E-688B-41B0-B295-7D89DC6AB8B4}"/>
              </a:ext>
            </a:extLst>
          </p:cNvPr>
          <p:cNvSpPr>
            <a:spLocks xmlns:a="http://schemas.openxmlformats.org/drawingml/2006/main" noGrp="1"/>
          </p:cNvSpPr>
          <p:nvPr/>
        </p:nvSpPr>
        <p:spPr>
          <a:xfrm xmlns:a="http://schemas.openxmlformats.org/drawingml/2006/main">
            <a:off x="1860354" y="6445510"/>
            <a:ext cx="183462" cy="212906"/>
          </a:xfrm>
          <a:custGeom xmlns:a="http://schemas.openxmlformats.org/drawingml/2006/main">
            <a:pathLst>
              <a:path w="183462" h="212906">
                <a:moveTo>
                  <a:pt x="26770" y="51804"/>
                </a:moveTo>
                <a:lnTo>
                  <a:pt x="39883" y="85775"/>
                </a:lnTo>
                <a:lnTo>
                  <a:pt x="31634" y="87711"/>
                </a:lnTo>
                <a:lnTo>
                  <a:pt x="37702" y="94738"/>
                </a:lnTo>
                <a:lnTo>
                  <a:pt x="47146" y="96980"/>
                </a:lnTo>
                <a:lnTo>
                  <a:pt x="41338" y="102706"/>
                </a:lnTo>
                <a:lnTo>
                  <a:pt x="36507" y="100083"/>
                </a:lnTo>
                <a:lnTo>
                  <a:pt x="24146" y="122329"/>
                </a:lnTo>
                <a:lnTo>
                  <a:pt x="0" y="136691"/>
                </a:lnTo>
                <a:lnTo>
                  <a:pt x="5174" y="141606"/>
                </a:lnTo>
                <a:lnTo>
                  <a:pt x="5182" y="157502"/>
                </a:lnTo>
                <a:lnTo>
                  <a:pt x="9570" y="162854"/>
                </a:lnTo>
                <a:lnTo>
                  <a:pt x="7923" y="181809"/>
                </a:lnTo>
                <a:lnTo>
                  <a:pt x="19975" y="196422"/>
                </a:lnTo>
                <a:lnTo>
                  <a:pt x="19733" y="203290"/>
                </a:lnTo>
                <a:lnTo>
                  <a:pt x="28383" y="205121"/>
                </a:lnTo>
                <a:lnTo>
                  <a:pt x="40728" y="184636"/>
                </a:lnTo>
                <a:lnTo>
                  <a:pt x="47080" y="200146"/>
                </a:lnTo>
                <a:lnTo>
                  <a:pt x="90540" y="212906"/>
                </a:lnTo>
                <a:lnTo>
                  <a:pt x="104631" y="212090"/>
                </a:lnTo>
                <a:lnTo>
                  <a:pt x="117820" y="205456"/>
                </a:lnTo>
                <a:lnTo>
                  <a:pt x="129922" y="208791"/>
                </a:lnTo>
                <a:lnTo>
                  <a:pt x="143679" y="198832"/>
                </a:lnTo>
                <a:lnTo>
                  <a:pt x="138221" y="184418"/>
                </a:lnTo>
                <a:lnTo>
                  <a:pt x="121974" y="176529"/>
                </a:lnTo>
                <a:lnTo>
                  <a:pt x="120261" y="164167"/>
                </a:lnTo>
                <a:lnTo>
                  <a:pt x="123570" y="157530"/>
                </a:lnTo>
                <a:lnTo>
                  <a:pt x="150424" y="153320"/>
                </a:lnTo>
                <a:lnTo>
                  <a:pt x="151418" y="148168"/>
                </a:lnTo>
                <a:lnTo>
                  <a:pt x="143370" y="143588"/>
                </a:lnTo>
                <a:lnTo>
                  <a:pt x="150365" y="135758"/>
                </a:lnTo>
                <a:lnTo>
                  <a:pt x="162116" y="134220"/>
                </a:lnTo>
                <a:lnTo>
                  <a:pt x="168911" y="124682"/>
                </a:lnTo>
                <a:lnTo>
                  <a:pt x="162493" y="113598"/>
                </a:lnTo>
                <a:lnTo>
                  <a:pt x="172739" y="84853"/>
                </a:lnTo>
                <a:lnTo>
                  <a:pt x="180035" y="87801"/>
                </a:lnTo>
                <a:lnTo>
                  <a:pt x="183454" y="84320"/>
                </a:lnTo>
                <a:lnTo>
                  <a:pt x="183462" y="44285"/>
                </a:lnTo>
                <a:lnTo>
                  <a:pt x="168142" y="42270"/>
                </a:lnTo>
                <a:lnTo>
                  <a:pt x="157302" y="53394"/>
                </a:lnTo>
                <a:lnTo>
                  <a:pt x="160537" y="54922"/>
                </a:lnTo>
                <a:lnTo>
                  <a:pt x="156090" y="60841"/>
                </a:lnTo>
                <a:lnTo>
                  <a:pt x="147265" y="55906"/>
                </a:lnTo>
                <a:lnTo>
                  <a:pt x="143211" y="61528"/>
                </a:lnTo>
                <a:lnTo>
                  <a:pt x="133140" y="61619"/>
                </a:lnTo>
                <a:lnTo>
                  <a:pt x="131811" y="43282"/>
                </a:lnTo>
                <a:lnTo>
                  <a:pt x="123629" y="38873"/>
                </a:lnTo>
                <a:lnTo>
                  <a:pt x="125484" y="25159"/>
                </a:lnTo>
                <a:lnTo>
                  <a:pt x="115873" y="21537"/>
                </a:lnTo>
                <a:lnTo>
                  <a:pt x="111568" y="28691"/>
                </a:lnTo>
                <a:lnTo>
                  <a:pt x="109053" y="26813"/>
                </a:lnTo>
                <a:lnTo>
                  <a:pt x="102968" y="15125"/>
                </a:lnTo>
                <a:lnTo>
                  <a:pt x="103996" y="9454"/>
                </a:lnTo>
                <a:lnTo>
                  <a:pt x="96491" y="0"/>
                </a:lnTo>
                <a:lnTo>
                  <a:pt x="88450" y="4749"/>
                </a:lnTo>
                <a:lnTo>
                  <a:pt x="87924" y="17157"/>
                </a:lnTo>
                <a:lnTo>
                  <a:pt x="80093" y="17355"/>
                </a:lnTo>
                <a:lnTo>
                  <a:pt x="71618" y="10456"/>
                </a:lnTo>
                <a:lnTo>
                  <a:pt x="60544" y="12984"/>
                </a:lnTo>
                <a:lnTo>
                  <a:pt x="54685" y="35756"/>
                </a:lnTo>
                <a:lnTo>
                  <a:pt x="42759" y="35666"/>
                </a:lnTo>
                <a:lnTo>
                  <a:pt x="38429" y="29405"/>
                </a:lnTo>
                <a:lnTo>
                  <a:pt x="34651" y="30534"/>
                </a:lnTo>
                <a:lnTo>
                  <a:pt x="32646" y="35286"/>
                </a:lnTo>
                <a:lnTo>
                  <a:pt x="36632" y="46725"/>
                </a:lnTo>
                <a:lnTo>
                  <a:pt x="26770" y="51804"/>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80" name="">
            <a:extLst xmlns:a="http://schemas.openxmlformats.org/drawingml/2006/main">
              <a:ext uri="{FF2B5EF4-FFF2-40B4-BE49-F238E27FC236}">
                <a16:creationId xmlns:a16="http://schemas.microsoft.com/office/drawing/2014/main" id="{E97815DA-320F-4C68-B3C1-68A8691DB004}"/>
              </a:ext>
            </a:extLst>
          </p:cNvPr>
          <p:cNvSpPr>
            <a:spLocks xmlns:a="http://schemas.openxmlformats.org/drawingml/2006/main" noGrp="1"/>
          </p:cNvSpPr>
          <p:nvPr/>
        </p:nvSpPr>
        <p:spPr>
          <a:xfrm xmlns:a="http://schemas.openxmlformats.org/drawingml/2006/main">
            <a:off x="2248357" y="6306877"/>
            <a:ext cx="297864" cy="266961"/>
          </a:xfrm>
          <a:custGeom xmlns:a="http://schemas.openxmlformats.org/drawingml/2006/main">
            <a:pathLst>
              <a:path w="297864" h="266961">
                <a:moveTo>
                  <a:pt x="11810" y="171209"/>
                </a:moveTo>
                <a:lnTo>
                  <a:pt x="8141" y="173955"/>
                </a:lnTo>
                <a:lnTo>
                  <a:pt x="14183" y="182258"/>
                </a:lnTo>
                <a:lnTo>
                  <a:pt x="15253" y="204238"/>
                </a:lnTo>
                <a:lnTo>
                  <a:pt x="26144" y="201002"/>
                </a:lnTo>
                <a:lnTo>
                  <a:pt x="34326" y="206335"/>
                </a:lnTo>
                <a:lnTo>
                  <a:pt x="41305" y="223757"/>
                </a:lnTo>
                <a:lnTo>
                  <a:pt x="58755" y="224761"/>
                </a:lnTo>
                <a:lnTo>
                  <a:pt x="68676" y="242017"/>
                </a:lnTo>
                <a:lnTo>
                  <a:pt x="85969" y="235053"/>
                </a:lnTo>
                <a:lnTo>
                  <a:pt x="100369" y="237712"/>
                </a:lnTo>
                <a:lnTo>
                  <a:pt x="101347" y="245292"/>
                </a:lnTo>
                <a:lnTo>
                  <a:pt x="111159" y="239548"/>
                </a:lnTo>
                <a:lnTo>
                  <a:pt x="115413" y="246368"/>
                </a:lnTo>
                <a:lnTo>
                  <a:pt x="126604" y="250593"/>
                </a:lnTo>
                <a:lnTo>
                  <a:pt x="128510" y="266961"/>
                </a:lnTo>
                <a:lnTo>
                  <a:pt x="138815" y="257858"/>
                </a:lnTo>
                <a:lnTo>
                  <a:pt x="167257" y="254402"/>
                </a:lnTo>
                <a:lnTo>
                  <a:pt x="170608" y="246269"/>
                </a:lnTo>
                <a:lnTo>
                  <a:pt x="180545" y="245211"/>
                </a:lnTo>
                <a:lnTo>
                  <a:pt x="178690" y="242189"/>
                </a:lnTo>
                <a:lnTo>
                  <a:pt x="191929" y="247626"/>
                </a:lnTo>
                <a:lnTo>
                  <a:pt x="195957" y="239982"/>
                </a:lnTo>
                <a:lnTo>
                  <a:pt x="202660" y="252665"/>
                </a:lnTo>
                <a:lnTo>
                  <a:pt x="200144" y="256483"/>
                </a:lnTo>
                <a:lnTo>
                  <a:pt x="227224" y="255587"/>
                </a:lnTo>
                <a:lnTo>
                  <a:pt x="234136" y="240995"/>
                </a:lnTo>
                <a:lnTo>
                  <a:pt x="249606" y="233199"/>
                </a:lnTo>
                <a:lnTo>
                  <a:pt x="251637" y="220882"/>
                </a:lnTo>
                <a:lnTo>
                  <a:pt x="255916" y="218603"/>
                </a:lnTo>
                <a:lnTo>
                  <a:pt x="253751" y="207158"/>
                </a:lnTo>
                <a:lnTo>
                  <a:pt x="277320" y="206127"/>
                </a:lnTo>
                <a:lnTo>
                  <a:pt x="275841" y="196627"/>
                </a:lnTo>
                <a:lnTo>
                  <a:pt x="283764" y="185394"/>
                </a:lnTo>
                <a:lnTo>
                  <a:pt x="281650" y="177804"/>
                </a:lnTo>
                <a:lnTo>
                  <a:pt x="278298" y="178048"/>
                </a:lnTo>
                <a:lnTo>
                  <a:pt x="285377" y="164777"/>
                </a:lnTo>
                <a:lnTo>
                  <a:pt x="295716" y="163747"/>
                </a:lnTo>
                <a:lnTo>
                  <a:pt x="297864" y="149884"/>
                </a:lnTo>
                <a:lnTo>
                  <a:pt x="292297" y="143942"/>
                </a:lnTo>
                <a:lnTo>
                  <a:pt x="293794" y="131871"/>
                </a:lnTo>
                <a:lnTo>
                  <a:pt x="280187" y="121499"/>
                </a:lnTo>
                <a:lnTo>
                  <a:pt x="280546" y="114206"/>
                </a:lnTo>
                <a:lnTo>
                  <a:pt x="264876" y="84722"/>
                </a:lnTo>
                <a:lnTo>
                  <a:pt x="265544" y="71103"/>
                </a:lnTo>
                <a:lnTo>
                  <a:pt x="254721" y="54631"/>
                </a:lnTo>
                <a:lnTo>
                  <a:pt x="231620" y="53026"/>
                </a:lnTo>
                <a:lnTo>
                  <a:pt x="222869" y="63502"/>
                </a:lnTo>
                <a:lnTo>
                  <a:pt x="213609" y="65431"/>
                </a:lnTo>
                <a:lnTo>
                  <a:pt x="214311" y="53675"/>
                </a:lnTo>
                <a:lnTo>
                  <a:pt x="193216" y="34369"/>
                </a:lnTo>
                <a:lnTo>
                  <a:pt x="200362" y="21619"/>
                </a:lnTo>
                <a:lnTo>
                  <a:pt x="186563" y="24286"/>
                </a:lnTo>
                <a:lnTo>
                  <a:pt x="171736" y="13925"/>
                </a:lnTo>
                <a:lnTo>
                  <a:pt x="167449" y="3386"/>
                </a:lnTo>
                <a:lnTo>
                  <a:pt x="161857" y="0"/>
                </a:lnTo>
                <a:lnTo>
                  <a:pt x="155798" y="7034"/>
                </a:lnTo>
                <a:lnTo>
                  <a:pt x="146061" y="7016"/>
                </a:lnTo>
                <a:lnTo>
                  <a:pt x="144615" y="13502"/>
                </a:lnTo>
                <a:lnTo>
                  <a:pt x="129697" y="22087"/>
                </a:lnTo>
                <a:lnTo>
                  <a:pt x="141314" y="25168"/>
                </a:lnTo>
                <a:lnTo>
                  <a:pt x="144498" y="30620"/>
                </a:lnTo>
                <a:lnTo>
                  <a:pt x="147608" y="27043"/>
                </a:lnTo>
                <a:lnTo>
                  <a:pt x="152079" y="29574"/>
                </a:lnTo>
                <a:lnTo>
                  <a:pt x="161556" y="46391"/>
                </a:lnTo>
                <a:lnTo>
                  <a:pt x="149755" y="52061"/>
                </a:lnTo>
                <a:lnTo>
                  <a:pt x="154695" y="62041"/>
                </a:lnTo>
                <a:lnTo>
                  <a:pt x="151561" y="70193"/>
                </a:lnTo>
                <a:lnTo>
                  <a:pt x="143261" y="73592"/>
                </a:lnTo>
                <a:lnTo>
                  <a:pt x="147616" y="86968"/>
                </a:lnTo>
                <a:lnTo>
                  <a:pt x="129003" y="96223"/>
                </a:lnTo>
                <a:lnTo>
                  <a:pt x="128568" y="103089"/>
                </a:lnTo>
                <a:lnTo>
                  <a:pt x="123044" y="100274"/>
                </a:lnTo>
                <a:lnTo>
                  <a:pt x="116040" y="104045"/>
                </a:lnTo>
                <a:lnTo>
                  <a:pt x="116107" y="112817"/>
                </a:lnTo>
                <a:lnTo>
                  <a:pt x="108334" y="120615"/>
                </a:lnTo>
                <a:lnTo>
                  <a:pt x="112496" y="127601"/>
                </a:lnTo>
                <a:lnTo>
                  <a:pt x="110507" y="131609"/>
                </a:lnTo>
                <a:lnTo>
                  <a:pt x="102199" y="136385"/>
                </a:lnTo>
                <a:lnTo>
                  <a:pt x="95990" y="147283"/>
                </a:lnTo>
                <a:lnTo>
                  <a:pt x="80311" y="149188"/>
                </a:lnTo>
                <a:lnTo>
                  <a:pt x="76616" y="147229"/>
                </a:lnTo>
                <a:lnTo>
                  <a:pt x="77811" y="142109"/>
                </a:lnTo>
                <a:lnTo>
                  <a:pt x="68217" y="148366"/>
                </a:lnTo>
                <a:lnTo>
                  <a:pt x="63670" y="136313"/>
                </a:lnTo>
                <a:lnTo>
                  <a:pt x="65901" y="119649"/>
                </a:lnTo>
                <a:lnTo>
                  <a:pt x="61722" y="113467"/>
                </a:lnTo>
                <a:lnTo>
                  <a:pt x="53457" y="114865"/>
                </a:lnTo>
                <a:lnTo>
                  <a:pt x="49445" y="127447"/>
                </a:lnTo>
                <a:lnTo>
                  <a:pt x="45425" y="129063"/>
                </a:lnTo>
                <a:lnTo>
                  <a:pt x="28977" y="125958"/>
                </a:lnTo>
                <a:lnTo>
                  <a:pt x="23828" y="120903"/>
                </a:lnTo>
                <a:lnTo>
                  <a:pt x="4622" y="135166"/>
                </a:lnTo>
                <a:lnTo>
                  <a:pt x="0" y="147491"/>
                </a:lnTo>
                <a:lnTo>
                  <a:pt x="11810" y="171209"/>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81" name="">
            <a:extLst xmlns:a="http://schemas.openxmlformats.org/drawingml/2006/main">
              <a:ext uri="{FF2B5EF4-FFF2-40B4-BE49-F238E27FC236}">
                <a16:creationId xmlns:a16="http://schemas.microsoft.com/office/drawing/2014/main" id="{615353FA-CD0E-410A-8EF5-EE798E0F0962}"/>
              </a:ext>
            </a:extLst>
          </p:cNvPr>
          <p:cNvSpPr>
            <a:spLocks xmlns:a="http://schemas.openxmlformats.org/drawingml/2006/main" noGrp="1"/>
          </p:cNvSpPr>
          <p:nvPr/>
        </p:nvSpPr>
        <p:spPr>
          <a:xfrm xmlns:a="http://schemas.openxmlformats.org/drawingml/2006/main">
            <a:off x="2393732" y="6154188"/>
            <a:ext cx="254219" cy="223792"/>
          </a:xfrm>
          <a:custGeom xmlns:a="http://schemas.openxmlformats.org/drawingml/2006/main">
            <a:pathLst>
              <a:path w="254219" h="223792">
                <a:moveTo>
                  <a:pt x="120168" y="223792"/>
                </a:moveTo>
                <a:lnTo>
                  <a:pt x="139525" y="202253"/>
                </a:lnTo>
                <a:lnTo>
                  <a:pt x="143010" y="176046"/>
                </a:lnTo>
                <a:lnTo>
                  <a:pt x="167240" y="148573"/>
                </a:lnTo>
                <a:lnTo>
                  <a:pt x="164548" y="136598"/>
                </a:lnTo>
                <a:lnTo>
                  <a:pt x="168543" y="127496"/>
                </a:lnTo>
                <a:lnTo>
                  <a:pt x="163378" y="114220"/>
                </a:lnTo>
                <a:lnTo>
                  <a:pt x="166763" y="103367"/>
                </a:lnTo>
                <a:lnTo>
                  <a:pt x="158439" y="93489"/>
                </a:lnTo>
                <a:lnTo>
                  <a:pt x="167156" y="84808"/>
                </a:lnTo>
                <a:lnTo>
                  <a:pt x="173700" y="63755"/>
                </a:lnTo>
                <a:lnTo>
                  <a:pt x="199969" y="67100"/>
                </a:lnTo>
                <a:lnTo>
                  <a:pt x="205502" y="60267"/>
                </a:lnTo>
                <a:lnTo>
                  <a:pt x="200729" y="52832"/>
                </a:lnTo>
                <a:lnTo>
                  <a:pt x="226672" y="42217"/>
                </a:lnTo>
                <a:lnTo>
                  <a:pt x="234094" y="43115"/>
                </a:lnTo>
                <a:lnTo>
                  <a:pt x="254219" y="28836"/>
                </a:lnTo>
                <a:lnTo>
                  <a:pt x="246789" y="23382"/>
                </a:lnTo>
                <a:lnTo>
                  <a:pt x="252121" y="15988"/>
                </a:lnTo>
                <a:lnTo>
                  <a:pt x="245703" y="5263"/>
                </a:lnTo>
                <a:lnTo>
                  <a:pt x="233141" y="8029"/>
                </a:lnTo>
                <a:lnTo>
                  <a:pt x="230926" y="0"/>
                </a:lnTo>
                <a:lnTo>
                  <a:pt x="198255" y="12350"/>
                </a:lnTo>
                <a:lnTo>
                  <a:pt x="192338" y="21324"/>
                </a:lnTo>
                <a:lnTo>
                  <a:pt x="180069" y="22366"/>
                </a:lnTo>
                <a:lnTo>
                  <a:pt x="178506" y="15350"/>
                </a:lnTo>
                <a:lnTo>
                  <a:pt x="172513" y="17164"/>
                </a:lnTo>
                <a:lnTo>
                  <a:pt x="170599" y="12000"/>
                </a:lnTo>
                <a:lnTo>
                  <a:pt x="167081" y="15943"/>
                </a:lnTo>
                <a:lnTo>
                  <a:pt x="161030" y="14084"/>
                </a:lnTo>
                <a:lnTo>
                  <a:pt x="139926" y="29447"/>
                </a:lnTo>
                <a:lnTo>
                  <a:pt x="132362" y="23481"/>
                </a:lnTo>
                <a:lnTo>
                  <a:pt x="135396" y="16949"/>
                </a:lnTo>
                <a:lnTo>
                  <a:pt x="133031" y="13868"/>
                </a:lnTo>
                <a:lnTo>
                  <a:pt x="120887" y="19977"/>
                </a:lnTo>
                <a:lnTo>
                  <a:pt x="112362" y="36546"/>
                </a:lnTo>
                <a:lnTo>
                  <a:pt x="97293" y="44023"/>
                </a:lnTo>
                <a:lnTo>
                  <a:pt x="90975" y="54953"/>
                </a:lnTo>
                <a:lnTo>
                  <a:pt x="78054" y="60393"/>
                </a:lnTo>
                <a:lnTo>
                  <a:pt x="74618" y="52967"/>
                </a:lnTo>
                <a:lnTo>
                  <a:pt x="68718" y="50971"/>
                </a:lnTo>
                <a:lnTo>
                  <a:pt x="64205" y="55880"/>
                </a:lnTo>
                <a:lnTo>
                  <a:pt x="64271" y="68629"/>
                </a:lnTo>
                <a:lnTo>
                  <a:pt x="56198" y="77073"/>
                </a:lnTo>
                <a:lnTo>
                  <a:pt x="45759" y="80203"/>
                </a:lnTo>
                <a:lnTo>
                  <a:pt x="38864" y="73314"/>
                </a:lnTo>
                <a:lnTo>
                  <a:pt x="28015" y="87371"/>
                </a:lnTo>
                <a:lnTo>
                  <a:pt x="21438" y="132384"/>
                </a:lnTo>
                <a:lnTo>
                  <a:pt x="0" y="137975"/>
                </a:lnTo>
                <a:lnTo>
                  <a:pt x="685" y="159705"/>
                </a:lnTo>
                <a:lnTo>
                  <a:pt x="10422" y="159723"/>
                </a:lnTo>
                <a:lnTo>
                  <a:pt x="16481" y="152689"/>
                </a:lnTo>
                <a:lnTo>
                  <a:pt x="22073" y="156075"/>
                </a:lnTo>
                <a:lnTo>
                  <a:pt x="26360" y="166614"/>
                </a:lnTo>
                <a:lnTo>
                  <a:pt x="41187" y="176974"/>
                </a:lnTo>
                <a:lnTo>
                  <a:pt x="54986" y="174307"/>
                </a:lnTo>
                <a:lnTo>
                  <a:pt x="47840" y="187057"/>
                </a:lnTo>
                <a:lnTo>
                  <a:pt x="68935" y="206364"/>
                </a:lnTo>
                <a:lnTo>
                  <a:pt x="68233" y="218120"/>
                </a:lnTo>
                <a:lnTo>
                  <a:pt x="77493" y="216190"/>
                </a:lnTo>
                <a:lnTo>
                  <a:pt x="86244" y="205715"/>
                </a:lnTo>
                <a:lnTo>
                  <a:pt x="107155" y="206436"/>
                </a:lnTo>
                <a:lnTo>
                  <a:pt x="120168" y="223792"/>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82" name="">
            <a:extLst xmlns:a="http://schemas.openxmlformats.org/drawingml/2006/main">
              <a:ext uri="{FF2B5EF4-FFF2-40B4-BE49-F238E27FC236}">
                <a16:creationId xmlns:a16="http://schemas.microsoft.com/office/drawing/2014/main" id="{CA1C6FAA-D7CB-4FCA-9B9B-A7C54E5631FA}"/>
              </a:ext>
            </a:extLst>
          </p:cNvPr>
          <p:cNvSpPr>
            <a:spLocks xmlns:a="http://schemas.openxmlformats.org/drawingml/2006/main" noGrp="1"/>
          </p:cNvSpPr>
          <p:nvPr/>
        </p:nvSpPr>
        <p:spPr>
          <a:xfrm xmlns:a="http://schemas.openxmlformats.org/drawingml/2006/main">
            <a:off x="2172727" y="5867400"/>
            <a:ext cx="217061" cy="254369"/>
          </a:xfrm>
          <a:custGeom xmlns:a="http://schemas.openxmlformats.org/drawingml/2006/main">
            <a:pathLst>
              <a:path w="217061" h="254369">
                <a:moveTo>
                  <a:pt x="216058" y="254369"/>
                </a:moveTo>
                <a:lnTo>
                  <a:pt x="217061" y="243420"/>
                </a:lnTo>
                <a:lnTo>
                  <a:pt x="209530" y="234914"/>
                </a:lnTo>
                <a:lnTo>
                  <a:pt x="202727" y="211233"/>
                </a:lnTo>
                <a:lnTo>
                  <a:pt x="202978" y="203459"/>
                </a:lnTo>
                <a:lnTo>
                  <a:pt x="213174" y="192162"/>
                </a:lnTo>
                <a:lnTo>
                  <a:pt x="211319" y="178627"/>
                </a:lnTo>
                <a:lnTo>
                  <a:pt x="205393" y="169934"/>
                </a:lnTo>
                <a:lnTo>
                  <a:pt x="211469" y="151172"/>
                </a:lnTo>
                <a:lnTo>
                  <a:pt x="205452" y="149444"/>
                </a:lnTo>
                <a:lnTo>
                  <a:pt x="206229" y="145144"/>
                </a:lnTo>
                <a:lnTo>
                  <a:pt x="197311" y="143738"/>
                </a:lnTo>
                <a:lnTo>
                  <a:pt x="192781" y="131827"/>
                </a:lnTo>
                <a:lnTo>
                  <a:pt x="194236" y="119946"/>
                </a:lnTo>
                <a:lnTo>
                  <a:pt x="178113" y="110546"/>
                </a:lnTo>
                <a:lnTo>
                  <a:pt x="166571" y="115774"/>
                </a:lnTo>
                <a:lnTo>
                  <a:pt x="157394" y="126562"/>
                </a:lnTo>
                <a:lnTo>
                  <a:pt x="138991" y="127556"/>
                </a:lnTo>
                <a:lnTo>
                  <a:pt x="132789" y="114306"/>
                </a:lnTo>
                <a:lnTo>
                  <a:pt x="126345" y="109866"/>
                </a:lnTo>
                <a:lnTo>
                  <a:pt x="134368" y="92441"/>
                </a:lnTo>
                <a:lnTo>
                  <a:pt x="119232" y="62599"/>
                </a:lnTo>
                <a:lnTo>
                  <a:pt x="127039" y="58986"/>
                </a:lnTo>
                <a:lnTo>
                  <a:pt x="138422" y="29923"/>
                </a:lnTo>
                <a:lnTo>
                  <a:pt x="128677" y="17046"/>
                </a:lnTo>
                <a:lnTo>
                  <a:pt x="96031" y="12444"/>
                </a:lnTo>
                <a:lnTo>
                  <a:pt x="84782" y="30710"/>
                </a:lnTo>
                <a:lnTo>
                  <a:pt x="75964" y="26259"/>
                </a:lnTo>
                <a:lnTo>
                  <a:pt x="79031" y="20558"/>
                </a:lnTo>
                <a:lnTo>
                  <a:pt x="74176" y="9907"/>
                </a:lnTo>
                <a:lnTo>
                  <a:pt x="75947" y="3502"/>
                </a:lnTo>
                <a:lnTo>
                  <a:pt x="68350" y="3091"/>
                </a:lnTo>
                <a:lnTo>
                  <a:pt x="67815" y="8781"/>
                </a:lnTo>
                <a:lnTo>
                  <a:pt x="59307" y="13534"/>
                </a:lnTo>
                <a:lnTo>
                  <a:pt x="46420" y="2215"/>
                </a:lnTo>
                <a:lnTo>
                  <a:pt x="32796" y="4217"/>
                </a:lnTo>
                <a:lnTo>
                  <a:pt x="20201" y="0"/>
                </a:lnTo>
                <a:lnTo>
                  <a:pt x="22257" y="19583"/>
                </a:lnTo>
                <a:lnTo>
                  <a:pt x="694" y="24445"/>
                </a:lnTo>
                <a:lnTo>
                  <a:pt x="0" y="34490"/>
                </a:lnTo>
                <a:lnTo>
                  <a:pt x="15236" y="42553"/>
                </a:lnTo>
                <a:lnTo>
                  <a:pt x="10205" y="50698"/>
                </a:lnTo>
                <a:lnTo>
                  <a:pt x="18145" y="53898"/>
                </a:lnTo>
                <a:lnTo>
                  <a:pt x="16323" y="56375"/>
                </a:lnTo>
                <a:lnTo>
                  <a:pt x="27180" y="67804"/>
                </a:lnTo>
                <a:lnTo>
                  <a:pt x="36381" y="67858"/>
                </a:lnTo>
                <a:lnTo>
                  <a:pt x="38530" y="79567"/>
                </a:lnTo>
                <a:lnTo>
                  <a:pt x="34952" y="94508"/>
                </a:lnTo>
                <a:lnTo>
                  <a:pt x="37911" y="104719"/>
                </a:lnTo>
                <a:lnTo>
                  <a:pt x="34777" y="124914"/>
                </a:lnTo>
                <a:lnTo>
                  <a:pt x="26812" y="138892"/>
                </a:lnTo>
                <a:lnTo>
                  <a:pt x="39148" y="151880"/>
                </a:lnTo>
                <a:lnTo>
                  <a:pt x="63745" y="161986"/>
                </a:lnTo>
                <a:lnTo>
                  <a:pt x="67673" y="166573"/>
                </a:lnTo>
                <a:lnTo>
                  <a:pt x="64865" y="174531"/>
                </a:lnTo>
                <a:lnTo>
                  <a:pt x="68576" y="181701"/>
                </a:lnTo>
                <a:lnTo>
                  <a:pt x="83545" y="182992"/>
                </a:lnTo>
                <a:lnTo>
                  <a:pt x="91292" y="192278"/>
                </a:lnTo>
                <a:lnTo>
                  <a:pt x="113248" y="193130"/>
                </a:lnTo>
                <a:lnTo>
                  <a:pt x="115664" y="197613"/>
                </a:lnTo>
                <a:lnTo>
                  <a:pt x="126345" y="191570"/>
                </a:lnTo>
                <a:lnTo>
                  <a:pt x="127022" y="199567"/>
                </a:lnTo>
                <a:lnTo>
                  <a:pt x="136291" y="203432"/>
                </a:lnTo>
                <a:lnTo>
                  <a:pt x="131661" y="215188"/>
                </a:lnTo>
                <a:lnTo>
                  <a:pt x="141866" y="225422"/>
                </a:lnTo>
                <a:lnTo>
                  <a:pt x="153082" y="222023"/>
                </a:lnTo>
                <a:lnTo>
                  <a:pt x="158481" y="225333"/>
                </a:lnTo>
                <a:lnTo>
                  <a:pt x="173918" y="223898"/>
                </a:lnTo>
                <a:lnTo>
                  <a:pt x="192313" y="235058"/>
                </a:lnTo>
                <a:lnTo>
                  <a:pt x="187725" y="242765"/>
                </a:lnTo>
                <a:lnTo>
                  <a:pt x="190458" y="247754"/>
                </a:lnTo>
                <a:lnTo>
                  <a:pt x="200579" y="246543"/>
                </a:lnTo>
                <a:lnTo>
                  <a:pt x="216058" y="254369"/>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83" name="">
            <a:extLst xmlns:a="http://schemas.openxmlformats.org/drawingml/2006/main">
              <a:ext uri="{FF2B5EF4-FFF2-40B4-BE49-F238E27FC236}">
                <a16:creationId xmlns:a16="http://schemas.microsoft.com/office/drawing/2014/main" id="{73F589E3-E399-48E8-AA4F-33BE64A5185D}"/>
              </a:ext>
            </a:extLst>
          </p:cNvPr>
          <p:cNvSpPr>
            <a:spLocks xmlns:a="http://schemas.openxmlformats.org/drawingml/2006/main" noGrp="1"/>
          </p:cNvSpPr>
          <p:nvPr/>
        </p:nvSpPr>
        <p:spPr>
          <a:xfrm xmlns:a="http://schemas.openxmlformats.org/drawingml/2006/main">
            <a:off x="2178327" y="6121769"/>
            <a:ext cx="262117" cy="334296"/>
          </a:xfrm>
          <a:custGeom xmlns:a="http://schemas.openxmlformats.org/drawingml/2006/main">
            <a:pathLst>
              <a:path w="262117" h="334296">
                <a:moveTo>
                  <a:pt x="210458" y="0"/>
                </a:moveTo>
                <a:lnTo>
                  <a:pt x="202493" y="6687"/>
                </a:lnTo>
                <a:lnTo>
                  <a:pt x="197294" y="4891"/>
                </a:lnTo>
                <a:lnTo>
                  <a:pt x="185033" y="42829"/>
                </a:lnTo>
                <a:lnTo>
                  <a:pt x="174377" y="53168"/>
                </a:lnTo>
                <a:lnTo>
                  <a:pt x="156299" y="62072"/>
                </a:lnTo>
                <a:lnTo>
                  <a:pt x="149028" y="55756"/>
                </a:lnTo>
                <a:lnTo>
                  <a:pt x="131761" y="59224"/>
                </a:lnTo>
                <a:lnTo>
                  <a:pt x="129914" y="81682"/>
                </a:lnTo>
                <a:lnTo>
                  <a:pt x="109596" y="72272"/>
                </a:lnTo>
                <a:lnTo>
                  <a:pt x="94886" y="70789"/>
                </a:lnTo>
                <a:lnTo>
                  <a:pt x="84280" y="78536"/>
                </a:lnTo>
                <a:lnTo>
                  <a:pt x="77067" y="63771"/>
                </a:lnTo>
                <a:lnTo>
                  <a:pt x="66445" y="57580"/>
                </a:lnTo>
                <a:lnTo>
                  <a:pt x="60552" y="48003"/>
                </a:lnTo>
                <a:lnTo>
                  <a:pt x="47614" y="63843"/>
                </a:lnTo>
                <a:lnTo>
                  <a:pt x="42692" y="62836"/>
                </a:lnTo>
                <a:lnTo>
                  <a:pt x="39515" y="70789"/>
                </a:lnTo>
                <a:lnTo>
                  <a:pt x="36356" y="70178"/>
                </a:lnTo>
                <a:lnTo>
                  <a:pt x="42992" y="74096"/>
                </a:lnTo>
                <a:lnTo>
                  <a:pt x="40652" y="87166"/>
                </a:lnTo>
                <a:lnTo>
                  <a:pt x="24513" y="105958"/>
                </a:lnTo>
                <a:lnTo>
                  <a:pt x="16607" y="123056"/>
                </a:lnTo>
                <a:lnTo>
                  <a:pt x="0" y="137433"/>
                </a:lnTo>
                <a:lnTo>
                  <a:pt x="9427" y="137181"/>
                </a:lnTo>
                <a:lnTo>
                  <a:pt x="9285" y="142652"/>
                </a:lnTo>
                <a:lnTo>
                  <a:pt x="21195" y="144578"/>
                </a:lnTo>
                <a:lnTo>
                  <a:pt x="19307" y="148376"/>
                </a:lnTo>
                <a:lnTo>
                  <a:pt x="36197" y="146954"/>
                </a:lnTo>
                <a:lnTo>
                  <a:pt x="33164" y="156269"/>
                </a:lnTo>
                <a:lnTo>
                  <a:pt x="38262" y="155351"/>
                </a:lnTo>
                <a:lnTo>
                  <a:pt x="57836" y="181794"/>
                </a:lnTo>
                <a:lnTo>
                  <a:pt x="70105" y="225722"/>
                </a:lnTo>
                <a:lnTo>
                  <a:pt x="59549" y="248447"/>
                </a:lnTo>
                <a:lnTo>
                  <a:pt x="64338" y="258664"/>
                </a:lnTo>
                <a:lnTo>
                  <a:pt x="56006" y="260955"/>
                </a:lnTo>
                <a:lnTo>
                  <a:pt x="61772" y="266700"/>
                </a:lnTo>
                <a:lnTo>
                  <a:pt x="59959" y="272472"/>
                </a:lnTo>
                <a:lnTo>
                  <a:pt x="67907" y="280086"/>
                </a:lnTo>
                <a:lnTo>
                  <a:pt x="74552" y="274123"/>
                </a:lnTo>
                <a:lnTo>
                  <a:pt x="78112" y="285021"/>
                </a:lnTo>
                <a:lnTo>
                  <a:pt x="99057" y="290606"/>
                </a:lnTo>
                <a:lnTo>
                  <a:pt x="86662" y="309784"/>
                </a:lnTo>
                <a:lnTo>
                  <a:pt x="90264" y="311761"/>
                </a:lnTo>
                <a:lnTo>
                  <a:pt x="96374" y="305019"/>
                </a:lnTo>
                <a:lnTo>
                  <a:pt x="99006" y="311066"/>
                </a:lnTo>
                <a:lnTo>
                  <a:pt x="115454" y="314171"/>
                </a:lnTo>
                <a:lnTo>
                  <a:pt x="119475" y="312556"/>
                </a:lnTo>
                <a:lnTo>
                  <a:pt x="123487" y="299973"/>
                </a:lnTo>
                <a:lnTo>
                  <a:pt x="131752" y="298575"/>
                </a:lnTo>
                <a:lnTo>
                  <a:pt x="135931" y="304757"/>
                </a:lnTo>
                <a:lnTo>
                  <a:pt x="133699" y="321421"/>
                </a:lnTo>
                <a:lnTo>
                  <a:pt x="138246" y="333474"/>
                </a:lnTo>
                <a:lnTo>
                  <a:pt x="147841" y="327217"/>
                </a:lnTo>
                <a:lnTo>
                  <a:pt x="146646" y="332337"/>
                </a:lnTo>
                <a:lnTo>
                  <a:pt x="150340" y="334296"/>
                </a:lnTo>
                <a:lnTo>
                  <a:pt x="169062" y="329447"/>
                </a:lnTo>
                <a:lnTo>
                  <a:pt x="182526" y="312709"/>
                </a:lnTo>
                <a:lnTo>
                  <a:pt x="178364" y="305723"/>
                </a:lnTo>
                <a:lnTo>
                  <a:pt x="186136" y="297925"/>
                </a:lnTo>
                <a:lnTo>
                  <a:pt x="187466" y="287223"/>
                </a:lnTo>
                <a:lnTo>
                  <a:pt x="198598" y="288197"/>
                </a:lnTo>
                <a:lnTo>
                  <a:pt x="199033" y="281331"/>
                </a:lnTo>
                <a:lnTo>
                  <a:pt x="217646" y="272076"/>
                </a:lnTo>
                <a:lnTo>
                  <a:pt x="213291" y="258700"/>
                </a:lnTo>
                <a:lnTo>
                  <a:pt x="221590" y="255301"/>
                </a:lnTo>
                <a:lnTo>
                  <a:pt x="224724" y="247149"/>
                </a:lnTo>
                <a:lnTo>
                  <a:pt x="219785" y="237169"/>
                </a:lnTo>
                <a:lnTo>
                  <a:pt x="231586" y="231499"/>
                </a:lnTo>
                <a:lnTo>
                  <a:pt x="222108" y="214682"/>
                </a:lnTo>
                <a:lnTo>
                  <a:pt x="217637" y="212151"/>
                </a:lnTo>
                <a:lnTo>
                  <a:pt x="214528" y="215728"/>
                </a:lnTo>
                <a:lnTo>
                  <a:pt x="211344" y="210276"/>
                </a:lnTo>
                <a:lnTo>
                  <a:pt x="199726" y="207195"/>
                </a:lnTo>
                <a:lnTo>
                  <a:pt x="214645" y="198610"/>
                </a:lnTo>
                <a:lnTo>
                  <a:pt x="215406" y="170394"/>
                </a:lnTo>
                <a:lnTo>
                  <a:pt x="236843" y="164803"/>
                </a:lnTo>
                <a:lnTo>
                  <a:pt x="241824" y="123920"/>
                </a:lnTo>
                <a:lnTo>
                  <a:pt x="254269" y="105733"/>
                </a:lnTo>
                <a:lnTo>
                  <a:pt x="243195" y="87328"/>
                </a:lnTo>
                <a:lnTo>
                  <a:pt x="247023" y="74096"/>
                </a:lnTo>
                <a:lnTo>
                  <a:pt x="258181" y="67248"/>
                </a:lnTo>
                <a:lnTo>
                  <a:pt x="262117" y="46916"/>
                </a:lnTo>
                <a:lnTo>
                  <a:pt x="256468" y="28144"/>
                </a:lnTo>
                <a:lnTo>
                  <a:pt x="238958" y="18779"/>
                </a:lnTo>
                <a:lnTo>
                  <a:pt x="227458" y="6471"/>
                </a:lnTo>
                <a:lnTo>
                  <a:pt x="222735" y="7692"/>
                </a:lnTo>
                <a:lnTo>
                  <a:pt x="210458" y="0"/>
                </a:lnTo>
              </a:path>
            </a:pathLst>
          </a:custGeom>
          <a:solidFill xmlns:a="http://schemas.openxmlformats.org/drawingml/2006/main">
            <a:srgbClr val="EEF1EF"/>
          </a:solidFill>
          <a:ln xmlns:a="http://schemas.openxmlformats.org/drawingml/2006/main" w="3810">
            <a:solidFill>
              <a:srgbClr val="65736D"/>
            </a:solidFill>
            <a:prstDash val="solid"/>
          </a:ln>
        </p:spPr>
      </p:sp>
      <p:sp>
        <p:nvSpPr>
          <p:cNvPr id="84" name="">
            <a:extLst xmlns:a="http://schemas.openxmlformats.org/drawingml/2006/main">
              <a:ext uri="{FF2B5EF4-FFF2-40B4-BE49-F238E27FC236}">
                <a16:creationId xmlns:a16="http://schemas.microsoft.com/office/drawing/2014/main" id="{F783574B-710B-4C63-9DED-B16DF1C462C4}"/>
              </a:ext>
            </a:extLst>
          </p:cNvPr>
          <p:cNvSpPr>
            <a:spLocks xmlns:a="http://schemas.openxmlformats.org/drawingml/2006/main" noGrp="1"/>
          </p:cNvSpPr>
          <p:nvPr/>
        </p:nvSpPr>
        <p:spPr>
          <a:xfrm xmlns:a="http://schemas.openxmlformats.org/drawingml/2006/main">
            <a:off x="3219798" y="5867400"/>
            <a:ext cx="743525" cy="899160"/>
          </a:xfrm>
          <a:custGeom xmlns:a="http://schemas.openxmlformats.org/drawingml/2006/main">
            <a:pathLst>
              <a:path w="743525" h="899160">
                <a:moveTo>
                  <a:pt x="165390" y="504165"/>
                </a:moveTo>
                <a:lnTo>
                  <a:pt x="239284" y="565715"/>
                </a:lnTo>
                <a:lnTo>
                  <a:pt x="239706" y="544907"/>
                </a:lnTo>
                <a:lnTo>
                  <a:pt x="255005" y="528614"/>
                </a:lnTo>
                <a:lnTo>
                  <a:pt x="261999" y="550878"/>
                </a:lnTo>
                <a:lnTo>
                  <a:pt x="274741" y="557760"/>
                </a:lnTo>
                <a:lnTo>
                  <a:pt x="261577" y="580190"/>
                </a:lnTo>
                <a:lnTo>
                  <a:pt x="275797" y="590630"/>
                </a:lnTo>
                <a:lnTo>
                  <a:pt x="282601" y="575995"/>
                </a:lnTo>
                <a:lnTo>
                  <a:pt x="301703" y="572758"/>
                </a:lnTo>
                <a:lnTo>
                  <a:pt x="321651" y="590539"/>
                </a:lnTo>
                <a:lnTo>
                  <a:pt x="310198" y="613929"/>
                </a:lnTo>
                <a:lnTo>
                  <a:pt x="332280" y="583950"/>
                </a:lnTo>
                <a:lnTo>
                  <a:pt x="343521" y="605744"/>
                </a:lnTo>
                <a:lnTo>
                  <a:pt x="384790" y="633928"/>
                </a:lnTo>
                <a:lnTo>
                  <a:pt x="363405" y="667977"/>
                </a:lnTo>
                <a:lnTo>
                  <a:pt x="345655" y="665400"/>
                </a:lnTo>
                <a:lnTo>
                  <a:pt x="305739" y="689192"/>
                </a:lnTo>
                <a:lnTo>
                  <a:pt x="345148" y="755410"/>
                </a:lnTo>
                <a:lnTo>
                  <a:pt x="372724" y="746852"/>
                </a:lnTo>
                <a:lnTo>
                  <a:pt x="397236" y="811181"/>
                </a:lnTo>
                <a:lnTo>
                  <a:pt x="403596" y="815929"/>
                </a:lnTo>
                <a:lnTo>
                  <a:pt x="414479" y="797846"/>
                </a:lnTo>
                <a:lnTo>
                  <a:pt x="438779" y="807002"/>
                </a:lnTo>
                <a:lnTo>
                  <a:pt x="434087" y="841665"/>
                </a:lnTo>
                <a:lnTo>
                  <a:pt x="454774" y="852811"/>
                </a:lnTo>
                <a:lnTo>
                  <a:pt x="458135" y="899160"/>
                </a:lnTo>
                <a:lnTo>
                  <a:pt x="483596" y="898931"/>
                </a:lnTo>
                <a:lnTo>
                  <a:pt x="493845" y="884721"/>
                </a:lnTo>
                <a:lnTo>
                  <a:pt x="516159" y="897194"/>
                </a:lnTo>
                <a:lnTo>
                  <a:pt x="527400" y="882231"/>
                </a:lnTo>
                <a:lnTo>
                  <a:pt x="519223" y="878370"/>
                </a:lnTo>
                <a:lnTo>
                  <a:pt x="546629" y="850252"/>
                </a:lnTo>
                <a:lnTo>
                  <a:pt x="520470" y="849407"/>
                </a:lnTo>
                <a:lnTo>
                  <a:pt x="521399" y="808943"/>
                </a:lnTo>
                <a:lnTo>
                  <a:pt x="492429" y="786592"/>
                </a:lnTo>
                <a:lnTo>
                  <a:pt x="531605" y="736605"/>
                </a:lnTo>
                <a:lnTo>
                  <a:pt x="557321" y="731744"/>
                </a:lnTo>
                <a:lnTo>
                  <a:pt x="566112" y="743246"/>
                </a:lnTo>
                <a:lnTo>
                  <a:pt x="561421" y="789924"/>
                </a:lnTo>
                <a:lnTo>
                  <a:pt x="578199" y="786021"/>
                </a:lnTo>
                <a:lnTo>
                  <a:pt x="580333" y="795358"/>
                </a:lnTo>
                <a:lnTo>
                  <a:pt x="599731" y="786660"/>
                </a:lnTo>
                <a:lnTo>
                  <a:pt x="594215" y="798258"/>
                </a:lnTo>
                <a:lnTo>
                  <a:pt x="609789" y="795792"/>
                </a:lnTo>
                <a:lnTo>
                  <a:pt x="590771" y="775930"/>
                </a:lnTo>
                <a:lnTo>
                  <a:pt x="609281" y="754590"/>
                </a:lnTo>
                <a:lnTo>
                  <a:pt x="609070" y="770704"/>
                </a:lnTo>
                <a:lnTo>
                  <a:pt x="617861" y="769973"/>
                </a:lnTo>
                <a:lnTo>
                  <a:pt x="630730" y="737039"/>
                </a:lnTo>
                <a:lnTo>
                  <a:pt x="603471" y="700942"/>
                </a:lnTo>
                <a:lnTo>
                  <a:pt x="559625" y="699275"/>
                </a:lnTo>
                <a:lnTo>
                  <a:pt x="556413" y="666928"/>
                </a:lnTo>
                <a:lnTo>
                  <a:pt x="579952" y="647906"/>
                </a:lnTo>
                <a:lnTo>
                  <a:pt x="603090" y="688462"/>
                </a:lnTo>
                <a:lnTo>
                  <a:pt x="612240" y="654908"/>
                </a:lnTo>
                <a:lnTo>
                  <a:pt x="620671" y="653950"/>
                </a:lnTo>
                <a:lnTo>
                  <a:pt x="620016" y="674159"/>
                </a:lnTo>
                <a:lnTo>
                  <a:pt x="626186" y="661226"/>
                </a:lnTo>
                <a:lnTo>
                  <a:pt x="638737" y="671079"/>
                </a:lnTo>
                <a:lnTo>
                  <a:pt x="655791" y="657737"/>
                </a:lnTo>
                <a:lnTo>
                  <a:pt x="656699" y="644645"/>
                </a:lnTo>
                <a:lnTo>
                  <a:pt x="644972" y="653631"/>
                </a:lnTo>
                <a:lnTo>
                  <a:pt x="635716" y="642730"/>
                </a:lnTo>
                <a:lnTo>
                  <a:pt x="662467" y="627861"/>
                </a:lnTo>
                <a:lnTo>
                  <a:pt x="621727" y="593730"/>
                </a:lnTo>
                <a:lnTo>
                  <a:pt x="605394" y="606292"/>
                </a:lnTo>
                <a:lnTo>
                  <a:pt x="596815" y="592613"/>
                </a:lnTo>
                <a:lnTo>
                  <a:pt x="617353" y="540577"/>
                </a:lnTo>
                <a:lnTo>
                  <a:pt x="648141" y="532807"/>
                </a:lnTo>
                <a:lnTo>
                  <a:pt x="650507" y="520410"/>
                </a:lnTo>
                <a:lnTo>
                  <a:pt x="635124" y="501431"/>
                </a:lnTo>
                <a:lnTo>
                  <a:pt x="657439" y="447334"/>
                </a:lnTo>
                <a:lnTo>
                  <a:pt x="677238" y="416731"/>
                </a:lnTo>
                <a:lnTo>
                  <a:pt x="718063" y="402091"/>
                </a:lnTo>
                <a:lnTo>
                  <a:pt x="713794" y="370155"/>
                </a:lnTo>
                <a:lnTo>
                  <a:pt x="743525" y="311764"/>
                </a:lnTo>
                <a:lnTo>
                  <a:pt x="732368" y="301367"/>
                </a:lnTo>
                <a:lnTo>
                  <a:pt x="742552" y="298023"/>
                </a:lnTo>
                <a:lnTo>
                  <a:pt x="731058" y="283602"/>
                </a:lnTo>
                <a:lnTo>
                  <a:pt x="677259" y="279962"/>
                </a:lnTo>
                <a:lnTo>
                  <a:pt x="673117" y="257582"/>
                </a:lnTo>
                <a:lnTo>
                  <a:pt x="634300" y="254353"/>
                </a:lnTo>
                <a:lnTo>
                  <a:pt x="646387" y="204695"/>
                </a:lnTo>
                <a:lnTo>
                  <a:pt x="640893" y="191397"/>
                </a:lnTo>
                <a:lnTo>
                  <a:pt x="591827" y="228726"/>
                </a:lnTo>
                <a:lnTo>
                  <a:pt x="566851" y="213266"/>
                </a:lnTo>
                <a:lnTo>
                  <a:pt x="508995" y="100685"/>
                </a:lnTo>
                <a:lnTo>
                  <a:pt x="494035" y="120722"/>
                </a:lnTo>
                <a:lnTo>
                  <a:pt x="482899" y="124311"/>
                </a:lnTo>
                <a:lnTo>
                  <a:pt x="475883" y="109135"/>
                </a:lnTo>
                <a:lnTo>
                  <a:pt x="455112" y="136217"/>
                </a:lnTo>
                <a:lnTo>
                  <a:pt x="434214" y="133922"/>
                </a:lnTo>
                <a:lnTo>
                  <a:pt x="464072" y="108567"/>
                </a:lnTo>
                <a:lnTo>
                  <a:pt x="428973" y="95437"/>
                </a:lnTo>
                <a:lnTo>
                  <a:pt x="416359" y="36119"/>
                </a:lnTo>
                <a:lnTo>
                  <a:pt x="399159" y="25811"/>
                </a:lnTo>
                <a:lnTo>
                  <a:pt x="387410" y="0"/>
                </a:lnTo>
                <a:lnTo>
                  <a:pt x="369787" y="1679"/>
                </a:lnTo>
                <a:lnTo>
                  <a:pt x="360870" y="29035"/>
                </a:lnTo>
                <a:lnTo>
                  <a:pt x="366976" y="78198"/>
                </a:lnTo>
                <a:lnTo>
                  <a:pt x="354509" y="72542"/>
                </a:lnTo>
                <a:lnTo>
                  <a:pt x="298048" y="99345"/>
                </a:lnTo>
                <a:lnTo>
                  <a:pt x="292681" y="71248"/>
                </a:lnTo>
                <a:lnTo>
                  <a:pt x="270874" y="81127"/>
                </a:lnTo>
                <a:lnTo>
                  <a:pt x="262907" y="52331"/>
                </a:lnTo>
                <a:lnTo>
                  <a:pt x="226162" y="52149"/>
                </a:lnTo>
                <a:lnTo>
                  <a:pt x="210018" y="36028"/>
                </a:lnTo>
                <a:lnTo>
                  <a:pt x="172701" y="39297"/>
                </a:lnTo>
                <a:lnTo>
                  <a:pt x="159516" y="16480"/>
                </a:lnTo>
                <a:lnTo>
                  <a:pt x="134011" y="69226"/>
                </a:lnTo>
                <a:lnTo>
                  <a:pt x="90440" y="68568"/>
                </a:lnTo>
                <a:lnTo>
                  <a:pt x="78458" y="102456"/>
                </a:lnTo>
                <a:lnTo>
                  <a:pt x="59800" y="89123"/>
                </a:lnTo>
                <a:lnTo>
                  <a:pt x="0" y="127060"/>
                </a:lnTo>
                <a:lnTo>
                  <a:pt x="23159" y="153122"/>
                </a:lnTo>
                <a:lnTo>
                  <a:pt x="43614" y="153736"/>
                </a:lnTo>
                <a:lnTo>
                  <a:pt x="55680" y="138920"/>
                </a:lnTo>
                <a:lnTo>
                  <a:pt x="73683" y="152214"/>
                </a:lnTo>
                <a:lnTo>
                  <a:pt x="90080" y="142829"/>
                </a:lnTo>
                <a:lnTo>
                  <a:pt x="111676" y="168236"/>
                </a:lnTo>
                <a:lnTo>
                  <a:pt x="104047" y="212197"/>
                </a:lnTo>
                <a:lnTo>
                  <a:pt x="66625" y="287923"/>
                </a:lnTo>
                <a:lnTo>
                  <a:pt x="86129" y="301799"/>
                </a:lnTo>
                <a:lnTo>
                  <a:pt x="71316" y="305713"/>
                </a:lnTo>
                <a:lnTo>
                  <a:pt x="84354" y="309171"/>
                </a:lnTo>
                <a:lnTo>
                  <a:pt x="89996" y="332923"/>
                </a:lnTo>
                <a:lnTo>
                  <a:pt x="70640" y="337976"/>
                </a:lnTo>
                <a:lnTo>
                  <a:pt x="37972" y="386180"/>
                </a:lnTo>
                <a:lnTo>
                  <a:pt x="112754" y="391484"/>
                </a:lnTo>
                <a:lnTo>
                  <a:pt x="134096" y="364443"/>
                </a:lnTo>
                <a:lnTo>
                  <a:pt x="148316" y="411449"/>
                </a:lnTo>
                <a:lnTo>
                  <a:pt x="166954" y="424791"/>
                </a:lnTo>
                <a:lnTo>
                  <a:pt x="158734" y="448110"/>
                </a:lnTo>
                <a:lnTo>
                  <a:pt x="129045" y="448588"/>
                </a:lnTo>
                <a:lnTo>
                  <a:pt x="138935" y="481066"/>
                </a:lnTo>
                <a:lnTo>
                  <a:pt x="163847" y="485234"/>
                </a:lnTo>
                <a:lnTo>
                  <a:pt x="165390" y="504165"/>
                </a:lnTo>
              </a:path>
            </a:pathLst>
          </a:custGeom>
          <a:solidFill xmlns:a="http://schemas.openxmlformats.org/drawingml/2006/main">
            <a:srgbClr val="81968A"/>
          </a:solidFill>
          <a:ln xmlns:a="http://schemas.openxmlformats.org/drawingml/2006/main" w="3810">
            <a:solidFill>
              <a:srgbClr val="65736D"/>
            </a:solidFill>
            <a:prstDash val="solid"/>
          </a:ln>
        </p:spPr>
      </p:sp>
      <p:sp>
        <p:nvSpPr>
          <p:cNvPr id="85" name="">
            <a:extLst xmlns:a="http://schemas.openxmlformats.org/drawingml/2006/main">
              <a:ext uri="{FF2B5EF4-FFF2-40B4-BE49-F238E27FC236}">
                <a16:creationId xmlns:a16="http://schemas.microsoft.com/office/drawing/2014/main" id="{80B3D214-BAB5-435B-AEFF-542AA7021FC7}"/>
              </a:ext>
            </a:extLst>
          </p:cNvPr>
          <p:cNvSpPr>
            <a:spLocks xmlns:a="http://schemas.openxmlformats.org/drawingml/2006/main" noGrp="1"/>
          </p:cNvSpPr>
          <p:nvPr/>
        </p:nvSpPr>
        <p:spPr>
          <a:xfrm xmlns:a="http://schemas.openxmlformats.org/drawingml/2006/main">
            <a:off x="3518449" y="6312590"/>
            <a:ext cx="30480" cy="30480"/>
          </a:xfrm>
          <a:prstGeom xmlns:a="http://schemas.openxmlformats.org/drawingml/2006/main" prst="ellipse">
            <a:avLst/>
          </a:prstGeom>
          <a:solidFill xmlns:a="http://schemas.openxmlformats.org/drawingml/2006/main">
            <a:srgbClr val="345A60"/>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E43343F8-CDBE-46DA-BF6D-3E57ED13C76A}"/>
              </a:ext>
            </a:extLst>
          </p:cNvPr>
          <p:cNvSpPr>
            <a:spLocks xmlns:a="http://schemas.openxmlformats.org/drawingml/2006/main" noGrp="1"/>
          </p:cNvSpPr>
          <p:nvPr/>
        </p:nvSpPr>
        <p:spPr>
          <a:xfrm xmlns:a="http://schemas.openxmlformats.org/drawingml/2006/main">
            <a:off x="3533689" y="6236390"/>
            <a:ext cx="116840" cy="91440"/>
          </a:xfrm>
          <a:custGeom xmlns:a="http://schemas.openxmlformats.org/drawingml/2006/main">
            <a:pathLst>
              <a:path w="116840" h="91440">
                <a:moveTo>
                  <a:pt x="0" y="91440"/>
                </a:moveTo>
                <a:lnTo>
                  <a:pt x="116840" y="0"/>
                </a:lnTo>
              </a:path>
            </a:pathLst>
          </a:custGeom>
          <a:noFill xmlns:a="http://schemas.openxmlformats.org/drawingml/2006/main"/>
          <a:ln xmlns:a="http://schemas.openxmlformats.org/drawingml/2006/main" w="5080">
            <a:solidFill>
              <a:srgbClr val="345A60"/>
            </a:solidFill>
            <a:prstDash val="solid"/>
          </a:ln>
        </p:spPr>
      </p:sp>
      <p:sp>
        <p:nvSpPr>
          <p:cNvPr id="87" name="Editable paragraph">
            <a:extLst xmlns:a="http://schemas.openxmlformats.org/drawingml/2006/main">
              <a:ext uri="{FF2B5EF4-FFF2-40B4-BE49-F238E27FC236}">
                <a16:creationId xmlns:a16="http://schemas.microsoft.com/office/drawing/2014/main" id="{E5876255-64CC-4164-8B53-ADD933244204}"/>
              </a:ext>
            </a:extLst>
          </p:cNvPr>
          <p:cNvSpPr>
            <a:spLocks xmlns:a="http://schemas.openxmlformats.org/drawingml/2006/main" noGrp="1"/>
          </p:cNvSpPr>
          <p:nvPr/>
        </p:nvSpPr>
        <p:spPr>
          <a:xfrm xmlns:a="http://schemas.openxmlformats.org/drawingml/2006/main">
            <a:off x="3655609" y="6190670"/>
            <a:ext cx="406400" cy="1211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1" i="0">
                <a:solidFill>
                  <a:srgbClr val="345A60"/>
                </a:solidFill>
                <a:latin typeface="Arial"/>
                <a:ea typeface="Arial"/>
                <a:cs typeface="Arial"/>
              </a:defRPr>
            </a:defPPr>
          </a:lstStyle>
          <a:p xmlns:a="http://schemas.openxmlformats.org/drawingml/2006/main">
            <a:pPr>
              <a:buNone/>
              <a:defRPr sz="650" b="1" i="0">
                <a:solidFill>
                  <a:srgbClr val="345A60"/>
                </a:solidFill>
                <a:latin typeface="Arial"/>
                <a:ea typeface="Arial"/>
                <a:cs typeface="Arial"/>
              </a:defRPr>
              <a:lnSpc>
                <a:spcPts val="754"/>
              </a:lnSpc>
              <a:spcBef>
                <a:spcPts val="0"/>
              </a:spcBef>
              <a:spcAft>
                <a:spcPts val="0"/>
              </a:spcAft>
            </a:pPr>
            <a:r>
              <a:rPr sz="650" b="1" i="0">
                <a:solidFill>
                  <a:srgbClr val="345A60"/>
                </a:solidFill>
                <a:latin typeface="Arial"/>
                <a:ea typeface="Arial"/>
                <a:cs typeface="Arial"/>
              </a:rPr>
              <a:t>School</a:t>
            </a:r>
          </a:p>
        </p:txBody>
      </p:sp>
      <p:sp>
        <p:nvSpPr>
          <p:cNvPr id="88" name="Editable paragraph">
            <a:extLst xmlns:a="http://schemas.openxmlformats.org/drawingml/2006/main">
              <a:ext uri="{FF2B5EF4-FFF2-40B4-BE49-F238E27FC236}">
                <a16:creationId xmlns:a16="http://schemas.microsoft.com/office/drawing/2014/main" id="{39707D5A-4DAB-49AF-A879-3911A107BDF2}"/>
              </a:ext>
            </a:extLst>
          </p:cNvPr>
          <p:cNvSpPr>
            <a:spLocks xmlns:a="http://schemas.openxmlformats.org/drawingml/2006/main" noGrp="1"/>
          </p:cNvSpPr>
          <p:nvPr/>
        </p:nvSpPr>
        <p:spPr>
          <a:xfrm xmlns:a="http://schemas.openxmlformats.org/drawingml/2006/main">
            <a:off x="304800" y="5562600"/>
            <a:ext cx="1308100" cy="1284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60" b="1" i="0">
                <a:solidFill>
                  <a:srgbClr val="345A60"/>
                </a:solidFill>
                <a:latin typeface="Arial"/>
                <a:ea typeface="Arial"/>
                <a:cs typeface="Arial"/>
              </a:defRPr>
            </a:defPPr>
          </a:lstStyle>
          <a:p xmlns:a="http://schemas.openxmlformats.org/drawingml/2006/main">
            <a:pPr>
              <a:buNone/>
              <a:defRPr sz="660" b="1" i="0">
                <a:solidFill>
                  <a:srgbClr val="345A60"/>
                </a:solidFill>
                <a:latin typeface="Arial"/>
                <a:ea typeface="Arial"/>
                <a:cs typeface="Arial"/>
              </a:defRPr>
              <a:lnSpc>
                <a:spcPts val="812"/>
              </a:lnSpc>
              <a:spcBef>
                <a:spcPts val="0"/>
              </a:spcBef>
              <a:spcAft>
                <a:spcPts val="0"/>
              </a:spcAft>
            </a:pPr>
            <a:r>
              <a:rPr sz="660" b="1" i="0">
                <a:solidFill>
                  <a:srgbClr val="345A60"/>
                </a:solidFill>
                <a:latin typeface="Arial"/>
                <a:ea typeface="Arial"/>
                <a:cs typeface="Arial"/>
              </a:rPr>
              <a:t>01 HUNAN / CHENZHOU</a:t>
            </a:r>
          </a:p>
        </p:txBody>
      </p:sp>
      <p:sp>
        <p:nvSpPr>
          <p:cNvPr id="89" name="Editable paragraph">
            <a:extLst xmlns:a="http://schemas.openxmlformats.org/drawingml/2006/main">
              <a:ext uri="{FF2B5EF4-FFF2-40B4-BE49-F238E27FC236}">
                <a16:creationId xmlns:a16="http://schemas.microsoft.com/office/drawing/2014/main" id="{F067819C-B79A-46CC-A6F1-162ED6F5E8C0}"/>
              </a:ext>
            </a:extLst>
          </p:cNvPr>
          <p:cNvSpPr>
            <a:spLocks xmlns:a="http://schemas.openxmlformats.org/drawingml/2006/main" noGrp="1"/>
          </p:cNvSpPr>
          <p:nvPr/>
        </p:nvSpPr>
        <p:spPr>
          <a:xfrm xmlns:a="http://schemas.openxmlformats.org/drawingml/2006/main">
            <a:off x="1638300" y="5562600"/>
            <a:ext cx="1308100" cy="1284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60" b="1" i="0">
                <a:solidFill>
                  <a:srgbClr val="345A60"/>
                </a:solidFill>
                <a:latin typeface="Arial"/>
                <a:ea typeface="Arial"/>
                <a:cs typeface="Arial"/>
              </a:defRPr>
            </a:defPPr>
          </a:lstStyle>
          <a:p xmlns:a="http://schemas.openxmlformats.org/drawingml/2006/main">
            <a:pPr>
              <a:buNone/>
              <a:defRPr sz="660" b="1" i="0">
                <a:solidFill>
                  <a:srgbClr val="345A60"/>
                </a:solidFill>
                <a:latin typeface="Arial"/>
                <a:ea typeface="Arial"/>
                <a:cs typeface="Arial"/>
              </a:defRPr>
              <a:lnSpc>
                <a:spcPts val="812"/>
              </a:lnSpc>
              <a:spcBef>
                <a:spcPts val="0"/>
              </a:spcBef>
              <a:spcAft>
                <a:spcPts val="0"/>
              </a:spcAft>
            </a:pPr>
            <a:r>
              <a:rPr sz="660" b="1" i="0">
                <a:solidFill>
                  <a:srgbClr val="345A60"/>
                </a:solidFill>
                <a:latin typeface="Arial"/>
                <a:ea typeface="Arial"/>
                <a:cs typeface="Arial"/>
              </a:rPr>
              <a:t>02 CHENZHOU / GUIYANG</a:t>
            </a:r>
          </a:p>
        </p:txBody>
      </p:sp>
      <p:sp>
        <p:nvSpPr>
          <p:cNvPr id="90" name="Editable paragraph">
            <a:extLst xmlns:a="http://schemas.openxmlformats.org/drawingml/2006/main">
              <a:ext uri="{FF2B5EF4-FFF2-40B4-BE49-F238E27FC236}">
                <a16:creationId xmlns:a16="http://schemas.microsoft.com/office/drawing/2014/main" id="{E00A971F-DFA7-48FA-8A89-557077ECA95E}"/>
              </a:ext>
            </a:extLst>
          </p:cNvPr>
          <p:cNvSpPr>
            <a:spLocks xmlns:a="http://schemas.openxmlformats.org/drawingml/2006/main" noGrp="1"/>
          </p:cNvSpPr>
          <p:nvPr/>
        </p:nvSpPr>
        <p:spPr>
          <a:xfrm xmlns:a="http://schemas.openxmlformats.org/drawingml/2006/main">
            <a:off x="2971800" y="5562600"/>
            <a:ext cx="1308100" cy="1284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60" b="1" i="0">
                <a:solidFill>
                  <a:srgbClr val="345A60"/>
                </a:solidFill>
                <a:latin typeface="Arial"/>
                <a:ea typeface="Arial"/>
                <a:cs typeface="Arial"/>
              </a:defRPr>
            </a:defPPr>
          </a:lstStyle>
          <a:p xmlns:a="http://schemas.openxmlformats.org/drawingml/2006/main">
            <a:pPr>
              <a:buNone/>
              <a:defRPr sz="660" b="1" i="0">
                <a:solidFill>
                  <a:srgbClr val="345A60"/>
                </a:solidFill>
                <a:latin typeface="Arial"/>
                <a:ea typeface="Arial"/>
                <a:cs typeface="Arial"/>
              </a:defRPr>
              <a:lnSpc>
                <a:spcPts val="812"/>
              </a:lnSpc>
              <a:spcBef>
                <a:spcPts val="0"/>
              </a:spcBef>
              <a:spcAft>
                <a:spcPts val="0"/>
              </a:spcAft>
            </a:pPr>
            <a:r>
              <a:rPr sz="660" b="1" i="0">
                <a:solidFill>
                  <a:srgbClr val="345A60"/>
                </a:solidFill>
                <a:latin typeface="Arial"/>
                <a:ea typeface="Arial"/>
                <a:cs typeface="Arial"/>
              </a:rPr>
              <a:t>03 GUIYANG / SCHOOL</a:t>
            </a:r>
          </a:p>
        </p:txBody>
      </p:sp>
      <p:sp>
        <p:nvSpPr>
          <p:cNvPr id="91" name="Editable paragraph">
            <a:extLst xmlns:a="http://schemas.openxmlformats.org/drawingml/2006/main">
              <a:ext uri="{FF2B5EF4-FFF2-40B4-BE49-F238E27FC236}">
                <a16:creationId xmlns:a16="http://schemas.microsoft.com/office/drawing/2014/main" id="{B2D9A1B6-A30B-4CCD-A91E-7E75FBE3A263}"/>
              </a:ext>
            </a:extLst>
          </p:cNvPr>
          <p:cNvSpPr>
            <a:spLocks xmlns:a="http://schemas.openxmlformats.org/drawingml/2006/main" noGrp="1"/>
          </p:cNvSpPr>
          <p:nvPr/>
        </p:nvSpPr>
        <p:spPr>
          <a:xfrm xmlns:a="http://schemas.openxmlformats.org/drawingml/2006/main">
            <a:off x="304800" y="6934200"/>
            <a:ext cx="4013200" cy="121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0" b="0" i="0">
                <a:solidFill>
                  <a:srgbClr val="252D2C"/>
                </a:solidFill>
                <a:latin typeface="Arial"/>
                <a:ea typeface="Arial"/>
                <a:cs typeface="Arial"/>
              </a:defRPr>
            </a:defPPr>
          </a:lstStyle>
          <a:p xmlns:a="http://schemas.openxmlformats.org/drawingml/2006/main">
            <a:pPr>
              <a:buNone/>
              <a:defRPr sz="640" b="0" i="0">
                <a:solidFill>
                  <a:srgbClr val="252D2C"/>
                </a:solidFill>
                <a:latin typeface="Arial"/>
                <a:ea typeface="Arial"/>
                <a:cs typeface="Arial"/>
              </a:defRPr>
              <a:lnSpc>
                <a:spcPts val="760"/>
              </a:lnSpc>
              <a:spcBef>
                <a:spcPts val="0"/>
              </a:spcBef>
              <a:spcAft>
                <a:spcPts val="0"/>
              </a:spcAft>
            </a:pPr>
            <a:r>
              <a:rPr sz="640" b="0" i="0">
                <a:solidFill>
                  <a:srgbClr val="252D2C"/>
                </a:solidFill>
                <a:latin typeface="Arial"/>
                <a:ea typeface="Arial"/>
                <a:cs typeface="Arial"/>
              </a:rPr>
              <a:t>Regional boundaries: Alibaba Cloud DataV GeoAtlas. Location: Guiyang County, Chenzhou, Hunan.</a:t>
            </a:r>
          </a:p>
        </p:txBody>
      </p:sp>
      <p:pic>
        <p:nvPicPr>
          <p:cNvPr id="92" name="">
            <a:extLst xmlns:a="http://schemas.openxmlformats.org/drawingml/2006/main">
              <a:ext uri="{FF2B5EF4-FFF2-40B4-BE49-F238E27FC236}">
                <a16:creationId xmlns:a16="http://schemas.microsoft.com/office/drawing/2014/main" id="{593C7831-4DC7-48BE-ACC6-3652FE9D9A5B}"/>
              </a:ext>
            </a:extLst>
          </p:cNvPr>
          <p:cNvPicPr>
            <a:picLocks xmlns:a="http://schemas.openxmlformats.org/drawingml/2006/main" noChangeAspect="1"/>
          </p:cNvPicPr>
          <p:nvPr/>
        </p:nvPicPr>
        <p:blipFill>
          <a:blip xmlns:r="http://schemas.openxmlformats.org/officeDocument/2006/relationships" xmlns:a="http://schemas.openxmlformats.org/drawingml/2006/main" r:embed="Rfca75c36601546e6"/>
          <a:stretch xmlns:a="http://schemas.openxmlformats.org/drawingml/2006/main"/>
        </p:blipFill>
        <p:spPr>
          <a:xfrm xmlns:a="http://schemas.openxmlformats.org/drawingml/2006/main">
            <a:off x="4457729" y="5577542"/>
            <a:ext cx="1790643" cy="1532217"/>
          </a:xfrm>
          <a:prstGeom xmlns:a="http://schemas.openxmlformats.org/drawingml/2006/main" prst="rect">
            <a:avLst/>
          </a:prstGeom>
        </p:spPr>
      </p:pic>
      <p:sp>
        <p:nvSpPr>
          <p:cNvPr id="93" name="Editable paragraph">
            <a:extLst xmlns:a="http://schemas.openxmlformats.org/drawingml/2006/main">
              <a:ext uri="{FF2B5EF4-FFF2-40B4-BE49-F238E27FC236}">
                <a16:creationId xmlns:a16="http://schemas.microsoft.com/office/drawing/2014/main" id="{A277D8CB-7E4A-4198-B8EC-6907623C322A}"/>
              </a:ext>
            </a:extLst>
          </p:cNvPr>
          <p:cNvSpPr>
            <a:spLocks xmlns:a="http://schemas.openxmlformats.org/drawingml/2006/main" noGrp="1"/>
          </p:cNvSpPr>
          <p:nvPr/>
        </p:nvSpPr>
        <p:spPr>
          <a:xfrm xmlns:a="http://schemas.openxmlformats.org/drawingml/2006/main">
            <a:off x="4457700" y="7150100"/>
            <a:ext cx="2070100" cy="12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20" b="0" i="0">
                <a:solidFill>
                  <a:srgbClr val="252D2C"/>
                </a:solidFill>
                <a:latin typeface="Arial"/>
                <a:ea typeface="Arial"/>
                <a:cs typeface="Arial"/>
              </a:defRPr>
            </a:defPPr>
          </a:lstStyle>
          <a:p xmlns:a="http://schemas.openxmlformats.org/drawingml/2006/main">
            <a:pPr>
              <a:buNone/>
              <a:defRPr sz="620" b="0" i="0">
                <a:solidFill>
                  <a:srgbClr val="252D2C"/>
                </a:solidFill>
                <a:latin typeface="Arial"/>
                <a:ea typeface="Arial"/>
                <a:cs typeface="Arial"/>
              </a:defRPr>
              <a:lnSpc>
                <a:spcPts val="763"/>
              </a:lnSpc>
              <a:spcBef>
                <a:spcPts val="0"/>
              </a:spcBef>
              <a:spcAft>
                <a:spcPts val="0"/>
              </a:spcAft>
            </a:pPr>
            <a:r>
              <a:rPr sz="620" b="0" i="0">
                <a:solidFill>
                  <a:srgbClr val="252D2C"/>
                </a:solidFill>
                <a:latin typeface="Arial"/>
                <a:ea typeface="Arial"/>
                <a:cs typeface="Arial"/>
              </a:rPr>
              <a:t>Campus boundary, village buildings, and local roads.</a:t>
            </a:r>
          </a:p>
        </p:txBody>
      </p:sp>
      <p:sp>
        <p:nvSpPr>
          <p:cNvPr id="94" name="Editable paragraph">
            <a:extLst xmlns:a="http://schemas.openxmlformats.org/drawingml/2006/main">
              <a:ext uri="{FF2B5EF4-FFF2-40B4-BE49-F238E27FC236}">
                <a16:creationId xmlns:a16="http://schemas.microsoft.com/office/drawing/2014/main" id="{81740810-3F91-4B2B-8A2A-034F8E0E62C8}"/>
              </a:ext>
            </a:extLst>
          </p:cNvPr>
          <p:cNvSpPr>
            <a:spLocks xmlns:a="http://schemas.openxmlformats.org/drawingml/2006/main" noGrp="1"/>
          </p:cNvSpPr>
          <p:nvPr/>
        </p:nvSpPr>
        <p:spPr>
          <a:xfrm xmlns:a="http://schemas.openxmlformats.org/drawingml/2006/main">
            <a:off x="6527800" y="5562600"/>
            <a:ext cx="38608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2.94 ha · campus site</a:t>
            </a:r>
          </a:p>
        </p:txBody>
      </p:sp>
      <p:sp>
        <p:nvSpPr>
          <p:cNvPr id="95" name="Editable paragraph">
            <a:extLst xmlns:a="http://schemas.openxmlformats.org/drawingml/2006/main">
              <a:ext uri="{FF2B5EF4-FFF2-40B4-BE49-F238E27FC236}">
                <a16:creationId xmlns:a16="http://schemas.microsoft.com/office/drawing/2014/main" id="{2BAD285F-F732-44A6-8E59-7AB3420FD5B4}"/>
              </a:ext>
            </a:extLst>
          </p:cNvPr>
          <p:cNvSpPr>
            <a:spLocks xmlns:a="http://schemas.openxmlformats.org/drawingml/2006/main" noGrp="1"/>
          </p:cNvSpPr>
          <p:nvPr/>
        </p:nvSpPr>
        <p:spPr>
          <a:xfrm xmlns:a="http://schemas.openxmlformats.org/drawingml/2006/main">
            <a:off x="6527800" y="5791200"/>
            <a:ext cx="38608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0" i="0">
                <a:solidFill>
                  <a:srgbClr val="252D2C"/>
                </a:solidFill>
                <a:latin typeface="Arial"/>
                <a:ea typeface="Arial"/>
                <a:cs typeface="Arial"/>
              </a:defRPr>
            </a:defPPr>
          </a:lstStyle>
          <a:p xmlns:a="http://schemas.openxmlformats.org/drawingml/2006/main">
            <a:pPr>
              <a:buNone/>
              <a:defRPr sz="850" b="0" i="0">
                <a:solidFill>
                  <a:srgbClr val="252D2C"/>
                </a:solidFill>
                <a:latin typeface="Arial"/>
                <a:ea typeface="Arial"/>
                <a:cs typeface="Arial"/>
              </a:defRPr>
              <a:lnSpc>
                <a:spcPts val="1046"/>
              </a:lnSpc>
              <a:spcBef>
                <a:spcPts val="0"/>
              </a:spcBef>
              <a:spcAft>
                <a:spcPts val="0"/>
              </a:spcAft>
            </a:pPr>
            <a:r>
              <a:rPr sz="850" b="0" i="0">
                <a:solidFill>
                  <a:srgbClr val="252D2C"/>
                </a:solidFill>
                <a:latin typeface="Arial"/>
                <a:ea typeface="Arial"/>
                <a:cs typeface="Arial"/>
              </a:rPr>
              <a:t>A rural school within a dispersed village landscape.</a:t>
            </a:r>
          </a:p>
        </p:txBody>
      </p:sp>
      <p:sp>
        <p:nvSpPr>
          <p:cNvPr id="96" name="Editable paragraph">
            <a:extLst xmlns:a="http://schemas.openxmlformats.org/drawingml/2006/main">
              <a:ext uri="{FF2B5EF4-FFF2-40B4-BE49-F238E27FC236}">
                <a16:creationId xmlns:a16="http://schemas.microsoft.com/office/drawing/2014/main" id="{68906A6B-94B3-4B66-AAE5-C9E3F897A28D}"/>
              </a:ext>
            </a:extLst>
          </p:cNvPr>
          <p:cNvSpPr>
            <a:spLocks xmlns:a="http://schemas.openxmlformats.org/drawingml/2006/main" noGrp="1"/>
          </p:cNvSpPr>
          <p:nvPr/>
        </p:nvSpPr>
        <p:spPr>
          <a:xfrm xmlns:a="http://schemas.openxmlformats.org/drawingml/2006/main">
            <a:off x="6527800" y="6019800"/>
            <a:ext cx="3860800" cy="2768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0" i="0">
                <a:solidFill>
                  <a:srgbClr val="252D2C"/>
                </a:solidFill>
                <a:latin typeface="Arial"/>
                <a:ea typeface="Arial"/>
                <a:cs typeface="Arial"/>
              </a:defRPr>
            </a:defPPr>
          </a:lstStyle>
          <a:p xmlns:a="http://schemas.openxmlformats.org/drawingml/2006/main">
            <a:pPr>
              <a:buNone/>
              <a:defRPr sz="810" b="0" i="0">
                <a:solidFill>
                  <a:srgbClr val="252D2C"/>
                </a:solidFill>
                <a:latin typeface="Arial"/>
                <a:ea typeface="Arial"/>
                <a:cs typeface="Arial"/>
              </a:defRPr>
              <a:lnSpc>
                <a:spcPts val="990"/>
              </a:lnSpc>
              <a:spcBef>
                <a:spcPts val="0"/>
              </a:spcBef>
              <a:spcAft>
                <a:spcPts val="0"/>
              </a:spcAft>
            </a:pPr>
            <a:r>
              <a:rPr sz="810" b="0" i="0">
                <a:solidFill>
                  <a:srgbClr val="252D2C"/>
                </a:solidFill>
                <a:latin typeface="Arial"/>
                <a:ea typeface="Arial"/>
                <a:cs typeface="Arial"/>
              </a:rPr>
              <a:t>The school sits among local roads and dispersed village buildings. A clear entrance connects this setting with the compact teaching and shared-activity areas.</a:t>
            </a:r>
          </a:p>
        </p:txBody>
      </p:sp>
      <p:sp>
        <p:nvSpPr>
          <p:cNvPr id="97" name="">
            <a:extLst xmlns:a="http://schemas.openxmlformats.org/drawingml/2006/main">
              <a:ext uri="{FF2B5EF4-FFF2-40B4-BE49-F238E27FC236}">
                <a16:creationId xmlns:a16="http://schemas.microsoft.com/office/drawing/2014/main" id="{DACE70CF-9B6F-405A-BB3E-04AE0691354D}"/>
              </a:ext>
            </a:extLst>
          </p:cNvPr>
          <p:cNvSpPr>
            <a:spLocks xmlns:a="http://schemas.openxmlformats.org/drawingml/2006/main" noGrp="1"/>
          </p:cNvSpPr>
          <p:nvPr/>
        </p:nvSpPr>
        <p:spPr>
          <a:xfrm xmlns:a="http://schemas.openxmlformats.org/drawingml/2006/main">
            <a:off x="6527800" y="6527800"/>
            <a:ext cx="63500" cy="63500"/>
          </a:xfrm>
          <a:prstGeom xmlns:a="http://schemas.openxmlformats.org/drawingml/2006/main" prst="rect">
            <a:avLst/>
          </a:prstGeom>
          <a:solidFill xmlns:a="http://schemas.openxmlformats.org/drawingml/2006/main">
            <a:srgbClr val="8D9D8E"/>
          </a:solidFill>
          <a:ln xmlns:a="http://schemas.openxmlformats.org/drawingml/2006/main" w="0">
            <a:noFill/>
            <a:prstDash val="solid"/>
          </a:ln>
        </p:spPr>
      </p:sp>
      <p:sp>
        <p:nvSpPr>
          <p:cNvPr id="98" name="Editable paragraph">
            <a:extLst xmlns:a="http://schemas.openxmlformats.org/drawingml/2006/main">
              <a:ext uri="{FF2B5EF4-FFF2-40B4-BE49-F238E27FC236}">
                <a16:creationId xmlns:a16="http://schemas.microsoft.com/office/drawing/2014/main" id="{BDFF2DAD-85F9-492D-8FAF-B90F76DD002E}"/>
              </a:ext>
            </a:extLst>
          </p:cNvPr>
          <p:cNvSpPr>
            <a:spLocks xmlns:a="http://schemas.openxmlformats.org/drawingml/2006/main" noGrp="1"/>
          </p:cNvSpPr>
          <p:nvPr/>
        </p:nvSpPr>
        <p:spPr>
          <a:xfrm xmlns:a="http://schemas.openxmlformats.org/drawingml/2006/main">
            <a:off x="6629400" y="6502400"/>
            <a:ext cx="12192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61"/>
              </a:lnSpc>
              <a:spcBef>
                <a:spcPts val="0"/>
              </a:spcBef>
              <a:spcAft>
                <a:spcPts val="0"/>
              </a:spcAft>
            </a:pPr>
            <a:r>
              <a:rPr sz="700" b="0" i="0">
                <a:solidFill>
                  <a:srgbClr val="252D2C"/>
                </a:solidFill>
                <a:latin typeface="Arial"/>
                <a:ea typeface="Arial"/>
                <a:cs typeface="Arial"/>
              </a:rPr>
              <a:t>Campus site</a:t>
            </a:r>
          </a:p>
        </p:txBody>
      </p:sp>
      <p:sp>
        <p:nvSpPr>
          <p:cNvPr id="99" name="">
            <a:extLst xmlns:a="http://schemas.openxmlformats.org/drawingml/2006/main">
              <a:ext uri="{FF2B5EF4-FFF2-40B4-BE49-F238E27FC236}">
                <a16:creationId xmlns:a16="http://schemas.microsoft.com/office/drawing/2014/main" id="{009D35D1-F5E9-4F90-88F2-3D3D1B81256C}"/>
              </a:ext>
            </a:extLst>
          </p:cNvPr>
          <p:cNvSpPr>
            <a:spLocks xmlns:a="http://schemas.openxmlformats.org/drawingml/2006/main" noGrp="1"/>
          </p:cNvSpPr>
          <p:nvPr/>
        </p:nvSpPr>
        <p:spPr>
          <a:xfrm xmlns:a="http://schemas.openxmlformats.org/drawingml/2006/main">
            <a:off x="7823200" y="6527800"/>
            <a:ext cx="63500" cy="63500"/>
          </a:xfrm>
          <a:prstGeom xmlns:a="http://schemas.openxmlformats.org/drawingml/2006/main" prst="rect">
            <a:avLst/>
          </a:prstGeom>
          <a:solidFill xmlns:a="http://schemas.openxmlformats.org/drawingml/2006/main">
            <a:srgbClr val="C8CCC7"/>
          </a:solidFill>
          <a:ln xmlns:a="http://schemas.openxmlformats.org/drawingml/2006/main" w="0">
            <a:noFill/>
            <a:prstDash val="solid"/>
          </a:ln>
        </p:spPr>
      </p:sp>
      <p:sp>
        <p:nvSpPr>
          <p:cNvPr id="100" name="Editable paragraph">
            <a:extLst xmlns:a="http://schemas.openxmlformats.org/drawingml/2006/main">
              <a:ext uri="{FF2B5EF4-FFF2-40B4-BE49-F238E27FC236}">
                <a16:creationId xmlns:a16="http://schemas.microsoft.com/office/drawing/2014/main" id="{A2EF6576-F713-4FAA-8E99-0535B85A8666}"/>
              </a:ext>
            </a:extLst>
          </p:cNvPr>
          <p:cNvSpPr>
            <a:spLocks xmlns:a="http://schemas.openxmlformats.org/drawingml/2006/main" noGrp="1"/>
          </p:cNvSpPr>
          <p:nvPr/>
        </p:nvSpPr>
        <p:spPr>
          <a:xfrm xmlns:a="http://schemas.openxmlformats.org/drawingml/2006/main">
            <a:off x="7924800" y="6502400"/>
            <a:ext cx="12192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61"/>
              </a:lnSpc>
              <a:spcBef>
                <a:spcPts val="0"/>
              </a:spcBef>
              <a:spcAft>
                <a:spcPts val="0"/>
              </a:spcAft>
            </a:pPr>
            <a:r>
              <a:rPr sz="700" b="0" i="0">
                <a:solidFill>
                  <a:srgbClr val="252D2C"/>
                </a:solidFill>
                <a:latin typeface="Arial"/>
                <a:ea typeface="Arial"/>
                <a:cs typeface="Arial"/>
              </a:rPr>
              <a:t>Settlement fabric</a:t>
            </a:r>
          </a:p>
        </p:txBody>
      </p:sp>
      <p:sp>
        <p:nvSpPr>
          <p:cNvPr id="101" name="">
            <a:extLst xmlns:a="http://schemas.openxmlformats.org/drawingml/2006/main">
              <a:ext uri="{FF2B5EF4-FFF2-40B4-BE49-F238E27FC236}">
                <a16:creationId xmlns:a16="http://schemas.microsoft.com/office/drawing/2014/main" id="{589E9779-524A-449D-BD26-9383CC79D7AD}"/>
              </a:ext>
            </a:extLst>
          </p:cNvPr>
          <p:cNvSpPr>
            <a:spLocks xmlns:a="http://schemas.openxmlformats.org/drawingml/2006/main" noGrp="1"/>
          </p:cNvSpPr>
          <p:nvPr/>
        </p:nvSpPr>
        <p:spPr>
          <a:xfrm xmlns:a="http://schemas.openxmlformats.org/drawingml/2006/main">
            <a:off x="9118600" y="6527800"/>
            <a:ext cx="63500" cy="63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 name="Editable paragraph">
            <a:extLst xmlns:a="http://schemas.openxmlformats.org/drawingml/2006/main">
              <a:ext uri="{FF2B5EF4-FFF2-40B4-BE49-F238E27FC236}">
                <a16:creationId xmlns:a16="http://schemas.microsoft.com/office/drawing/2014/main" id="{0732BADD-E559-4622-8291-60468CA3868F}"/>
              </a:ext>
            </a:extLst>
          </p:cNvPr>
          <p:cNvSpPr>
            <a:spLocks xmlns:a="http://schemas.openxmlformats.org/drawingml/2006/main" noGrp="1"/>
          </p:cNvSpPr>
          <p:nvPr/>
        </p:nvSpPr>
        <p:spPr>
          <a:xfrm xmlns:a="http://schemas.openxmlformats.org/drawingml/2006/main">
            <a:off x="9220200" y="6502400"/>
            <a:ext cx="12192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61"/>
              </a:lnSpc>
              <a:spcBef>
                <a:spcPts val="0"/>
              </a:spcBef>
              <a:spcAft>
                <a:spcPts val="0"/>
              </a:spcAft>
            </a:pPr>
            <a:r>
              <a:rPr sz="700" b="0" i="0">
                <a:solidFill>
                  <a:srgbClr val="252D2C"/>
                </a:solidFill>
                <a:latin typeface="Arial"/>
                <a:ea typeface="Arial"/>
                <a:cs typeface="Arial"/>
              </a:rPr>
              <a:t>Road surfaces</a:t>
            </a:r>
          </a:p>
        </p:txBody>
      </p:sp>
      <p:sp>
        <p:nvSpPr>
          <p:cNvPr id="103" name="Editable paragraph">
            <a:extLst xmlns:a="http://schemas.openxmlformats.org/drawingml/2006/main">
              <a:ext uri="{FF2B5EF4-FFF2-40B4-BE49-F238E27FC236}">
                <a16:creationId xmlns:a16="http://schemas.microsoft.com/office/drawing/2014/main" id="{4AFBC4AE-C75E-4690-8E24-098EA0A7C942}"/>
              </a:ext>
            </a:extLst>
          </p:cNvPr>
          <p:cNvSpPr>
            <a:spLocks xmlns:a="http://schemas.openxmlformats.org/drawingml/2006/main" noGrp="1"/>
          </p:cNvSpPr>
          <p:nvPr/>
        </p:nvSpPr>
        <p:spPr>
          <a:xfrm xmlns:a="http://schemas.openxmlformats.org/drawingml/2006/main">
            <a:off x="6527800" y="6718300"/>
            <a:ext cx="3860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252D2C"/>
                </a:solidFill>
                <a:latin typeface="Arial"/>
                <a:ea typeface="Arial"/>
                <a:cs typeface="Arial"/>
              </a:defRPr>
            </a:defPPr>
          </a:lstStyle>
          <a:p xmlns:a="http://schemas.openxmlformats.org/drawingml/2006/main">
            <a:pPr>
              <a:buNone/>
              <a:defRPr sz="750" b="0" i="0">
                <a:solidFill>
                  <a:srgbClr val="252D2C"/>
                </a:solidFill>
                <a:latin typeface="Arial"/>
                <a:ea typeface="Arial"/>
                <a:cs typeface="Arial"/>
              </a:defRPr>
              <a:lnSpc>
                <a:spcPts val="900"/>
              </a:lnSpc>
              <a:spcBef>
                <a:spcPts val="0"/>
              </a:spcBef>
              <a:spcAft>
                <a:spcPts val="0"/>
              </a:spcAft>
            </a:pPr>
            <a:r>
              <a:rPr sz="750" b="0" i="0">
                <a:solidFill>
                  <a:srgbClr val="252D2C"/>
                </a:solidFill>
                <a:latin typeface="Arial"/>
                <a:ea typeface="Arial"/>
                <a:cs typeface="Arial"/>
              </a:rPr>
              <a:t>35 km / county center</a:t>
            </a:r>
          </a:p>
          <a:p xmlns:a="http://schemas.openxmlformats.org/drawingml/2006/main">
            <a:pPr>
              <a:buNone/>
              <a:defRPr sz="750" b="0" i="0">
                <a:solidFill>
                  <a:srgbClr val="252D2C"/>
                </a:solidFill>
                <a:latin typeface="Arial"/>
                <a:ea typeface="Arial"/>
                <a:cs typeface="Arial"/>
              </a:defRPr>
              <a:lnSpc>
                <a:spcPts val="900"/>
              </a:lnSpc>
              <a:spcBef>
                <a:spcPts val="0"/>
              </a:spcBef>
              <a:spcAft>
                <a:spcPts val="0"/>
              </a:spcAft>
            </a:pPr>
            <a:r>
              <a:rPr sz="750" b="0" i="0">
                <a:solidFill>
                  <a:srgbClr val="252D2C"/>
                </a:solidFill>
                <a:latin typeface="Arial"/>
                <a:ea typeface="Arial"/>
                <a:cs typeface="Arial"/>
              </a:rPr>
              <a:t>3.5 km / town or transport</a:t>
            </a:r>
          </a:p>
          <a:p xmlns:a="http://schemas.openxmlformats.org/drawingml/2006/main">
            <a:pPr>
              <a:buNone/>
              <a:defRPr sz="750" b="0" i="0">
                <a:solidFill>
                  <a:srgbClr val="252D2C"/>
                </a:solidFill>
                <a:latin typeface="Arial"/>
                <a:ea typeface="Arial"/>
                <a:cs typeface="Arial"/>
              </a:defRPr>
              <a:lnSpc>
                <a:spcPts val="900"/>
              </a:lnSpc>
              <a:spcBef>
                <a:spcPts val="0"/>
              </a:spcBef>
              <a:spcAft>
                <a:spcPts val="0"/>
              </a:spcAft>
            </a:pPr>
            <a:r>
              <a:rPr sz="750" b="0" i="0">
                <a:solidFill>
                  <a:srgbClr val="252D2C"/>
                </a:solidFill>
                <a:latin typeface="Arial"/>
                <a:ea typeface="Arial"/>
                <a:cs typeface="Arial"/>
              </a:rPr>
              <a:t>4 km / health clinic</a:t>
            </a:r>
          </a:p>
        </p:txBody>
      </p:sp>
      <p:sp>
        <p:nvSpPr>
          <p:cNvPr id="104" name="Editable paragraph">
            <a:extLst xmlns:a="http://schemas.openxmlformats.org/drawingml/2006/main">
              <a:ext uri="{FF2B5EF4-FFF2-40B4-BE49-F238E27FC236}">
                <a16:creationId xmlns:a16="http://schemas.microsoft.com/office/drawing/2014/main" id="{3908A091-7C29-428B-B0FA-C834C3A06472}"/>
              </a:ext>
            </a:extLst>
          </p:cNvPr>
          <p:cNvSpPr>
            <a:spLocks xmlns:a="http://schemas.openxmlformats.org/drawingml/2006/main" noGrp="1"/>
          </p:cNvSpPr>
          <p:nvPr/>
        </p:nvSpPr>
        <p:spPr>
          <a:xfrm xmlns:a="http://schemas.openxmlformats.org/drawingml/2006/main">
            <a:off x="6527800" y="7162800"/>
            <a:ext cx="3860800" cy="1253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0" b="0" i="0">
                <a:solidFill>
                  <a:srgbClr val="252D2C"/>
                </a:solidFill>
                <a:latin typeface="Arial"/>
                <a:ea typeface="Arial"/>
                <a:cs typeface="Arial"/>
              </a:defRPr>
            </a:defPPr>
          </a:lstStyle>
          <a:p xmlns:a="http://schemas.openxmlformats.org/drawingml/2006/main">
            <a:pPr>
              <a:buNone/>
              <a:defRPr sz="640" b="0" i="0">
                <a:solidFill>
                  <a:srgbClr val="252D2C"/>
                </a:solidFill>
                <a:latin typeface="Arial"/>
                <a:ea typeface="Arial"/>
                <a:cs typeface="Arial"/>
              </a:defRPr>
              <a:lnSpc>
                <a:spcPts val="787"/>
              </a:lnSpc>
              <a:spcBef>
                <a:spcPts val="0"/>
              </a:spcBef>
              <a:spcAft>
                <a:spcPts val="0"/>
              </a:spcAft>
            </a:pPr>
            <a:r>
              <a:rPr sz="640" b="0" i="0">
                <a:solidFill>
                  <a:srgbClr val="252D2C"/>
                </a:solidFill>
                <a:latin typeface="Arial"/>
                <a:ea typeface="Arial"/>
                <a:cs typeface="Arial"/>
              </a:rPr>
              <a:t>Figure 7. Regional location and links to nearby services.</a:t>
            </a:r>
          </a:p>
        </p:txBody>
      </p:sp>
    </p:spTree>
    <p:extLst>
      <p:ext uri="{BB962C8B-B14F-4D97-AF65-F5344CB8AC3E}">
        <p14:creationId xmlns:p14="http://schemas.microsoft.com/office/powerpoint/2010/main" val="313654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Editable paragraph">
            <a:extLst xmlns:a="http://schemas.openxmlformats.org/drawingml/2006/main">
              <a:ext uri="{FF2B5EF4-FFF2-40B4-BE49-F238E27FC236}">
                <a16:creationId xmlns:a16="http://schemas.microsoft.com/office/drawing/2014/main" id="{FA08A4D3-B735-4FE1-BE1E-6D259E48696D}"/>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3AA478A4-D6D4-411B-8AAB-9D99678F9EA3}"/>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5A61E2A1-0255-42E3-8C95-507C009069CD}"/>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60973B19-C2EB-4D8E-9511-C4B7B402163E}"/>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9559763A-9FD5-4372-91D4-F2299AC4DC12}"/>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Questionnaire findings &amp; environmental assessment</a:t>
            </a:r>
          </a:p>
        </p:txBody>
      </p:sp>
      <p:sp>
        <p:nvSpPr>
          <p:cNvPr id="6" name="">
            <a:extLst xmlns:a="http://schemas.openxmlformats.org/drawingml/2006/main">
              <a:ext uri="{FF2B5EF4-FFF2-40B4-BE49-F238E27FC236}">
                <a16:creationId xmlns:a16="http://schemas.microsoft.com/office/drawing/2014/main" id="{F4987960-FCB0-4612-A89F-82AC3920D21D}"/>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59FF1444-DA03-4E2F-92CC-015A1D94CAC0}"/>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316614A4-B54F-4A1D-9553-B19183F1ACB8}"/>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03 / 15</a:t>
            </a:r>
          </a:p>
        </p:txBody>
      </p:sp>
      <p:sp>
        <p:nvSpPr>
          <p:cNvPr id="9" name="Editable paragraph">
            <a:extLst xmlns:a="http://schemas.openxmlformats.org/drawingml/2006/main">
              <a:ext uri="{FF2B5EF4-FFF2-40B4-BE49-F238E27FC236}">
                <a16:creationId xmlns:a16="http://schemas.microsoft.com/office/drawing/2014/main" id="{362039D6-84D9-42A7-BF51-B26A004A273D}"/>
              </a:ext>
            </a:extLst>
          </p:cNvPr>
          <p:cNvSpPr>
            <a:spLocks xmlns:a="http://schemas.openxmlformats.org/drawingml/2006/main" noGrp="1"/>
          </p:cNvSpPr>
          <p:nvPr/>
        </p:nvSpPr>
        <p:spPr>
          <a:xfrm xmlns:a="http://schemas.openxmlformats.org/drawingml/2006/main">
            <a:off x="304800" y="1016000"/>
            <a:ext cx="3162300" cy="1878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40" b="1" i="0">
                <a:solidFill>
                  <a:srgbClr val="345A60"/>
                </a:solidFill>
                <a:latin typeface="Arial"/>
                <a:ea typeface="Arial"/>
                <a:cs typeface="Arial"/>
              </a:defRPr>
            </a:defPPr>
          </a:lstStyle>
          <a:p xmlns:a="http://schemas.openxmlformats.org/drawingml/2006/main">
            <a:pPr>
              <a:buNone/>
              <a:defRPr sz="1040" b="1" i="0">
                <a:solidFill>
                  <a:srgbClr val="345A60"/>
                </a:solidFill>
                <a:latin typeface="Arial"/>
                <a:ea typeface="Arial"/>
                <a:cs typeface="Arial"/>
              </a:defRPr>
              <a:lnSpc>
                <a:spcPts val="1279"/>
              </a:lnSpc>
              <a:spcBef>
                <a:spcPts val="0"/>
              </a:spcBef>
              <a:spcAft>
                <a:spcPts val="0"/>
              </a:spcAft>
            </a:pPr>
            <a:r>
              <a:rPr sz="1040" b="1" i="0">
                <a:solidFill>
                  <a:srgbClr val="345A60"/>
                </a:solidFill>
                <a:latin typeface="Arial"/>
                <a:ea typeface="Arial"/>
                <a:cs typeface="Arial"/>
              </a:rPr>
              <a:t>03 / Questionnaire findings</a:t>
            </a:r>
          </a:p>
        </p:txBody>
      </p:sp>
      <p:sp>
        <p:nvSpPr>
          <p:cNvPr id="10" name="Editable paragraph">
            <a:extLst xmlns:a="http://schemas.openxmlformats.org/drawingml/2006/main">
              <a:ext uri="{FF2B5EF4-FFF2-40B4-BE49-F238E27FC236}">
                <a16:creationId xmlns:a16="http://schemas.microsoft.com/office/drawing/2014/main" id="{2CD56E4F-784D-4B10-9339-3D0564AC0E5D}"/>
              </a:ext>
            </a:extLst>
          </p:cNvPr>
          <p:cNvSpPr>
            <a:spLocks xmlns:a="http://schemas.openxmlformats.org/drawingml/2006/main" noGrp="1"/>
          </p:cNvSpPr>
          <p:nvPr/>
        </p:nvSpPr>
        <p:spPr>
          <a:xfrm xmlns:a="http://schemas.openxmlformats.org/drawingml/2006/main">
            <a:off x="304800" y="1409700"/>
            <a:ext cx="3162300" cy="13428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037"/>
              </a:lnSpc>
              <a:spcBef>
                <a:spcPts val="0"/>
              </a:spcBef>
              <a:spcAft>
                <a:spcPts val="0"/>
              </a:spcAft>
            </a:pPr>
            <a:r>
              <a:rPr sz="910" b="0" i="0">
                <a:solidFill>
                  <a:srgbClr val="252D2C"/>
                </a:solidFill>
                <a:latin typeface="Arial"/>
                <a:ea typeface="Arial"/>
                <a:cs typeface="Arial"/>
              </a:rPr>
              <a:t>Questionnaire feedback places classrooms and the teaching block at the center of daily use, while the playground is associated with enjoyment and free activity. These places contribute to school life in different ways. The classroom establishes a regular setting for learning; the playground allows movement and a change of pace. Their connection deserves particular attention during short breaks, when children need to move easily between structured lessons and more independent activities without a complicated journey across the campus.</a:t>
            </a:r>
          </a:p>
        </p:txBody>
      </p:sp>
      <p:sp>
        <p:nvSpPr>
          <p:cNvPr id="11" name="Editable paragraph">
            <a:extLst xmlns:a="http://schemas.openxmlformats.org/drawingml/2006/main">
              <a:ext uri="{FF2B5EF4-FFF2-40B4-BE49-F238E27FC236}">
                <a16:creationId xmlns:a16="http://schemas.microsoft.com/office/drawing/2014/main" id="{71B04595-3CB1-4BAF-93A9-64730FAF0D01}"/>
              </a:ext>
            </a:extLst>
          </p:cNvPr>
          <p:cNvSpPr>
            <a:spLocks xmlns:a="http://schemas.openxmlformats.org/drawingml/2006/main" noGrp="1"/>
          </p:cNvSpPr>
          <p:nvPr/>
        </p:nvSpPr>
        <p:spPr>
          <a:xfrm xmlns:a="http://schemas.openxmlformats.org/drawingml/2006/main">
            <a:off x="304800" y="2828798"/>
            <a:ext cx="3162300" cy="12111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037"/>
              </a:lnSpc>
              <a:spcBef>
                <a:spcPts val="0"/>
              </a:spcBef>
              <a:spcAft>
                <a:spcPts val="0"/>
              </a:spcAft>
            </a:pPr>
            <a:r>
              <a:rPr sz="910" b="0" i="0">
                <a:solidFill>
                  <a:srgbClr val="252D2C"/>
                </a:solidFill>
                <a:latin typeface="Arial"/>
                <a:ea typeface="Arial"/>
                <a:cs typeface="Arial"/>
              </a:rPr>
              <a:t>The keyword count makes these priorities visible. Classroom occurs seven times, funding five times, teaching building four times, and playground three times. School clinic, toilet, play, and space each occur twice. The prominence of teaching spaces reflects their role in the daily routine, while funding connects spatial aspirations with the resources available to sustain them. Reading the terms together suggests that improvements should strengthen useful existing places while addressing the facilities and support needed around them.</a:t>
            </a:r>
          </a:p>
        </p:txBody>
      </p:sp>
      <p:sp>
        <p:nvSpPr>
          <p:cNvPr id="12" name="Editable paragraph">
            <a:extLst xmlns:a="http://schemas.openxmlformats.org/drawingml/2006/main">
              <a:ext uri="{FF2B5EF4-FFF2-40B4-BE49-F238E27FC236}">
                <a16:creationId xmlns:a16="http://schemas.microsoft.com/office/drawing/2014/main" id="{966AEF5C-1F34-4568-AC2D-4087BC461CF2}"/>
              </a:ext>
            </a:extLst>
          </p:cNvPr>
          <p:cNvSpPr>
            <a:spLocks xmlns:a="http://schemas.openxmlformats.org/drawingml/2006/main" noGrp="1"/>
          </p:cNvSpPr>
          <p:nvPr/>
        </p:nvSpPr>
        <p:spPr>
          <a:xfrm xmlns:a="http://schemas.openxmlformats.org/drawingml/2006/main">
            <a:off x="304800" y="4116146"/>
            <a:ext cx="3162300" cy="14746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037"/>
              </a:lnSpc>
              <a:spcBef>
                <a:spcPts val="0"/>
              </a:spcBef>
              <a:spcAft>
                <a:spcPts val="0"/>
              </a:spcAft>
            </a:pPr>
            <a:r>
              <a:rPr sz="910" b="0" i="0">
                <a:solidFill>
                  <a:srgbClr val="252D2C"/>
                </a:solidFill>
                <a:latin typeface="Arial"/>
                <a:ea typeface="Arial"/>
                <a:cs typeface="Arial"/>
              </a:rPr>
              <a:t>Specific comments explain what improvement could mean in practice. Feedback describes an inconvenient toilet outside the teaching building and a back area largely occupied by soil, with a small vegetable patch. It also raises the need for more children's activity space. Other comments describe empty classrooms and unused furniture following a suspension of junior-school teaching associated with funding difficulties. The school clinic and reliable professional support emerge as another priority. These concerns connect the physical condition of space with the people and resources needed to use it.</a:t>
            </a:r>
          </a:p>
        </p:txBody>
      </p:sp>
      <p:sp>
        <p:nvSpPr>
          <p:cNvPr id="13" name="Editable paragraph">
            <a:extLst xmlns:a="http://schemas.openxmlformats.org/drawingml/2006/main">
              <a:ext uri="{FF2B5EF4-FFF2-40B4-BE49-F238E27FC236}">
                <a16:creationId xmlns:a16="http://schemas.microsoft.com/office/drawing/2014/main" id="{4E0B4D9E-2917-4E49-9CFE-9FF6344DA0F3}"/>
              </a:ext>
            </a:extLst>
          </p:cNvPr>
          <p:cNvSpPr>
            <a:spLocks xmlns:a="http://schemas.openxmlformats.org/drawingml/2006/main" noGrp="1"/>
          </p:cNvSpPr>
          <p:nvPr/>
        </p:nvSpPr>
        <p:spPr>
          <a:xfrm xmlns:a="http://schemas.openxmlformats.org/drawingml/2006/main">
            <a:off x="304800" y="5666994"/>
            <a:ext cx="3162300" cy="13428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037"/>
              </a:lnSpc>
              <a:spcBef>
                <a:spcPts val="0"/>
              </a:spcBef>
              <a:spcAft>
                <a:spcPts val="0"/>
              </a:spcAft>
            </a:pPr>
            <a:r>
              <a:rPr sz="910" b="0" i="0">
                <a:solidFill>
                  <a:srgbClr val="252D2C"/>
                </a:solidFill>
                <a:latin typeface="Arial"/>
                <a:ea typeface="Arial"/>
                <a:cs typeface="Arial"/>
              </a:rPr>
              <a:t>Comments on underused space reveal a distinction between an empty room and an unnecessary function. Alongside references to vacant classrooms, the feedback also stresses the continuing value of the school's facilities. The design task is therefore to make rooms available for activities that the school can organize and maintain. A flexible classroom, for example, needs accessible storage, an opening schedule, and a responsible adult. Decisions about reuse should begin with these practical arrangements and the needs expressed in school life.</a:t>
            </a:r>
          </a:p>
        </p:txBody>
      </p:sp>
      <p:sp>
        <p:nvSpPr>
          <p:cNvPr id="14" name="Editable paragraph">
            <a:extLst xmlns:a="http://schemas.openxmlformats.org/drawingml/2006/main">
              <a:ext uri="{FF2B5EF4-FFF2-40B4-BE49-F238E27FC236}">
                <a16:creationId xmlns:a16="http://schemas.microsoft.com/office/drawing/2014/main" id="{53EC1436-7084-428E-9E1A-8211DC845961}"/>
              </a:ext>
            </a:extLst>
          </p:cNvPr>
          <p:cNvSpPr>
            <a:spLocks xmlns:a="http://schemas.openxmlformats.org/drawingml/2006/main" noGrp="1"/>
          </p:cNvSpPr>
          <p:nvPr/>
        </p:nvSpPr>
        <p:spPr>
          <a:xfrm xmlns:a="http://schemas.openxmlformats.org/drawingml/2006/main">
            <a:off x="3695700" y="1016000"/>
            <a:ext cx="3162300" cy="1878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40" b="1" i="0">
                <a:solidFill>
                  <a:srgbClr val="345A60"/>
                </a:solidFill>
                <a:latin typeface="Arial"/>
                <a:ea typeface="Arial"/>
                <a:cs typeface="Arial"/>
              </a:defRPr>
            </a:defPPr>
          </a:lstStyle>
          <a:p xmlns:a="http://schemas.openxmlformats.org/drawingml/2006/main">
            <a:pPr>
              <a:buNone/>
              <a:defRPr sz="1040" b="1" i="0">
                <a:solidFill>
                  <a:srgbClr val="345A60"/>
                </a:solidFill>
                <a:latin typeface="Arial"/>
                <a:ea typeface="Arial"/>
                <a:cs typeface="Arial"/>
              </a:defRPr>
              <a:lnSpc>
                <a:spcPts val="1279"/>
              </a:lnSpc>
              <a:spcBef>
                <a:spcPts val="0"/>
              </a:spcBef>
              <a:spcAft>
                <a:spcPts val="0"/>
              </a:spcAft>
            </a:pPr>
            <a:r>
              <a:rPr sz="1040" b="1" i="0">
                <a:solidFill>
                  <a:srgbClr val="345A60"/>
                </a:solidFill>
                <a:latin typeface="Arial"/>
                <a:ea typeface="Arial"/>
                <a:cs typeface="Arial"/>
              </a:rPr>
              <a:t>04 / Environmental assessment</a:t>
            </a:r>
          </a:p>
        </p:txBody>
      </p:sp>
      <p:sp>
        <p:nvSpPr>
          <p:cNvPr id="15" name="Editable paragraph">
            <a:extLst xmlns:a="http://schemas.openxmlformats.org/drawingml/2006/main">
              <a:ext uri="{FF2B5EF4-FFF2-40B4-BE49-F238E27FC236}">
                <a16:creationId xmlns:a16="http://schemas.microsoft.com/office/drawing/2014/main" id="{D71E57EE-4761-4195-A38A-7A83ACCBEBDA}"/>
              </a:ext>
            </a:extLst>
          </p:cNvPr>
          <p:cNvSpPr>
            <a:spLocks xmlns:a="http://schemas.openxmlformats.org/drawingml/2006/main" noGrp="1"/>
          </p:cNvSpPr>
          <p:nvPr/>
        </p:nvSpPr>
        <p:spPr>
          <a:xfrm xmlns:a="http://schemas.openxmlformats.org/drawingml/2006/main">
            <a:off x="3695700" y="1409700"/>
            <a:ext cx="3162300" cy="12502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0" i="0">
                <a:solidFill>
                  <a:srgbClr val="252D2C"/>
                </a:solidFill>
                <a:latin typeface="Arial"/>
                <a:ea typeface="Arial"/>
                <a:cs typeface="Arial"/>
              </a:defRPr>
            </a:defPPr>
          </a:lstStyle>
          <a:p xmlns:a="http://schemas.openxmlformats.org/drawingml/2006/main">
            <a:pPr>
              <a:buNone/>
              <a:defRPr sz="940" b="0" i="0">
                <a:solidFill>
                  <a:srgbClr val="252D2C"/>
                </a:solidFill>
                <a:latin typeface="Arial"/>
                <a:ea typeface="Arial"/>
                <a:cs typeface="Arial"/>
              </a:defRPr>
              <a:lnSpc>
                <a:spcPts val="1072"/>
              </a:lnSpc>
              <a:spcBef>
                <a:spcPts val="0"/>
              </a:spcBef>
              <a:spcAft>
                <a:spcPts val="0"/>
              </a:spcAft>
            </a:pPr>
            <a:r>
              <a:rPr sz="940" b="0" i="0">
                <a:solidFill>
                  <a:srgbClr val="252D2C"/>
                </a:solidFill>
                <a:latin typeface="Arial"/>
                <a:ea typeface="Arial"/>
                <a:cs typeface="Arial"/>
              </a:rPr>
              <a:t>The environmental audit records 118 points across thirty-five items, with an overall mean of 3.37 out of 5. Domain means are 3.83 for care support, 3.75 for basic safety, 3.44 for comfort, 3.00 for spatial connections, and 2.71 for activity support. Nineteen items received scores of 4 or 5, while ten received 1 or 2. The distribution shows a campus with useful existing provision and a set of concentrated weaknesses that can guide targeted improvement.</a:t>
            </a:r>
          </a:p>
        </p:txBody>
      </p:sp>
      <p:sp>
        <p:nvSpPr>
          <p:cNvPr id="16" name="Editable paragraph">
            <a:extLst xmlns:a="http://schemas.openxmlformats.org/drawingml/2006/main">
              <a:ext uri="{FF2B5EF4-FFF2-40B4-BE49-F238E27FC236}">
                <a16:creationId xmlns:a16="http://schemas.microsoft.com/office/drawing/2014/main" id="{17FA6455-95C6-4303-9A33-9A6DD8575F70}"/>
              </a:ext>
            </a:extLst>
          </p:cNvPr>
          <p:cNvSpPr>
            <a:spLocks xmlns:a="http://schemas.openxmlformats.org/drawingml/2006/main" noGrp="1"/>
          </p:cNvSpPr>
          <p:nvPr/>
        </p:nvSpPr>
        <p:spPr>
          <a:xfrm xmlns:a="http://schemas.openxmlformats.org/drawingml/2006/main">
            <a:off x="3695700" y="2736139"/>
            <a:ext cx="3162300" cy="1386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0" i="0">
                <a:solidFill>
                  <a:srgbClr val="252D2C"/>
                </a:solidFill>
                <a:latin typeface="Arial"/>
                <a:ea typeface="Arial"/>
                <a:cs typeface="Arial"/>
              </a:defRPr>
            </a:defPPr>
          </a:lstStyle>
          <a:p xmlns:a="http://schemas.openxmlformats.org/drawingml/2006/main">
            <a:pPr>
              <a:buNone/>
              <a:defRPr sz="940" b="0" i="0">
                <a:solidFill>
                  <a:srgbClr val="252D2C"/>
                </a:solidFill>
                <a:latin typeface="Arial"/>
                <a:ea typeface="Arial"/>
                <a:cs typeface="Arial"/>
              </a:defRPr>
              <a:lnSpc>
                <a:spcPts val="1072"/>
              </a:lnSpc>
              <a:spcBef>
                <a:spcPts val="0"/>
              </a:spcBef>
              <a:spcAft>
                <a:spcPts val="0"/>
              </a:spcAft>
            </a:pPr>
            <a:r>
              <a:rPr sz="940" b="0" i="0">
                <a:solidFill>
                  <a:srgbClr val="252D2C"/>
                </a:solidFill>
                <a:latin typeface="Arial"/>
                <a:ea typeface="Arial"/>
                <a:cs typeface="Arial"/>
              </a:rPr>
              <a:t>Activity support is particularly uneven. Open activity ground received 5, reading space 4, and a place for being alone 4. Small-group space, movable furniture, and opportunities for children to arrange their surroundings each received 1. Children therefore have access to a large outdoor setting, while smaller and more adaptable settings need development. A table for a few children, a seat beside a classroom, or furniture that can be rearranged would introduce choices within the familiar structure of the school day.</a:t>
            </a:r>
          </a:p>
        </p:txBody>
      </p:sp>
      <p:sp>
        <p:nvSpPr>
          <p:cNvPr id="17" name="Editable paragraph">
            <a:extLst xmlns:a="http://schemas.openxmlformats.org/drawingml/2006/main">
              <a:ext uri="{FF2B5EF4-FFF2-40B4-BE49-F238E27FC236}">
                <a16:creationId xmlns:a16="http://schemas.microsoft.com/office/drawing/2014/main" id="{81A51725-790F-49D4-B886-BE68BB5BA0AD}"/>
              </a:ext>
            </a:extLst>
          </p:cNvPr>
          <p:cNvSpPr>
            <a:spLocks xmlns:a="http://schemas.openxmlformats.org/drawingml/2006/main" noGrp="1"/>
          </p:cNvSpPr>
          <p:nvPr/>
        </p:nvSpPr>
        <p:spPr>
          <a:xfrm xmlns:a="http://schemas.openxmlformats.org/drawingml/2006/main">
            <a:off x="3695700" y="4198671"/>
            <a:ext cx="3162300" cy="1386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0" i="0">
                <a:solidFill>
                  <a:srgbClr val="252D2C"/>
                </a:solidFill>
                <a:latin typeface="Arial"/>
                <a:ea typeface="Arial"/>
                <a:cs typeface="Arial"/>
              </a:defRPr>
            </a:defPPr>
          </a:lstStyle>
          <a:p xmlns:a="http://schemas.openxmlformats.org/drawingml/2006/main">
            <a:pPr>
              <a:buNone/>
              <a:defRPr sz="940" b="0" i="0">
                <a:solidFill>
                  <a:srgbClr val="252D2C"/>
                </a:solidFill>
                <a:latin typeface="Arial"/>
                <a:ea typeface="Arial"/>
                <a:cs typeface="Arial"/>
              </a:defRPr>
              <a:lnSpc>
                <a:spcPts val="1072"/>
              </a:lnSpc>
              <a:spcBef>
                <a:spcPts val="0"/>
              </a:spcBef>
              <a:spcAft>
                <a:spcPts val="0"/>
              </a:spcAft>
            </a:pPr>
            <a:r>
              <a:rPr sz="940" b="0" i="0">
                <a:solidFill>
                  <a:srgbClr val="252D2C"/>
                </a:solidFill>
                <a:latin typeface="Arial"/>
                <a:ea typeface="Arial"/>
                <a:cs typeface="Arial"/>
              </a:rPr>
              <a:t>Comfort and care show a similar contrast. Shade, shelter, ventilation, and drinking-water provision received high marks; toilets, handwashing, and quiet areas each received 1. Visibility of children and the ability to find adults received 5, as did a psychological conversation space. Waiting space received 1 and medical or temporary-rest provision 3. These scores direct attention to the journey between facilities: the place to pause before a conversation, the route to washing, and the distance between a classroom and everyday assistance.</a:t>
            </a:r>
          </a:p>
        </p:txBody>
      </p:sp>
      <p:sp>
        <p:nvSpPr>
          <p:cNvPr id="18" name="Editable paragraph">
            <a:extLst xmlns:a="http://schemas.openxmlformats.org/drawingml/2006/main">
              <a:ext uri="{FF2B5EF4-FFF2-40B4-BE49-F238E27FC236}">
                <a16:creationId xmlns:a16="http://schemas.microsoft.com/office/drawing/2014/main" id="{57DE1607-9D2A-4546-8E3A-7AD6B0FE82E9}"/>
              </a:ext>
            </a:extLst>
          </p:cNvPr>
          <p:cNvSpPr>
            <a:spLocks xmlns:a="http://schemas.openxmlformats.org/drawingml/2006/main" noGrp="1"/>
          </p:cNvSpPr>
          <p:nvPr/>
        </p:nvSpPr>
        <p:spPr>
          <a:xfrm xmlns:a="http://schemas.openxmlformats.org/drawingml/2006/main">
            <a:off x="3695700" y="5661203"/>
            <a:ext cx="3162300" cy="1386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0" i="0">
                <a:solidFill>
                  <a:srgbClr val="252D2C"/>
                </a:solidFill>
                <a:latin typeface="Arial"/>
                <a:ea typeface="Arial"/>
                <a:cs typeface="Arial"/>
              </a:defRPr>
            </a:defPPr>
          </a:lstStyle>
          <a:p xmlns:a="http://schemas.openxmlformats.org/drawingml/2006/main">
            <a:pPr>
              <a:buNone/>
              <a:defRPr sz="940" b="0" i="0">
                <a:solidFill>
                  <a:srgbClr val="252D2C"/>
                </a:solidFill>
                <a:latin typeface="Arial"/>
                <a:ea typeface="Arial"/>
                <a:cs typeface="Arial"/>
              </a:defRPr>
              <a:lnSpc>
                <a:spcPts val="1072"/>
              </a:lnSpc>
              <a:spcBef>
                <a:spcPts val="0"/>
              </a:spcBef>
              <a:spcAft>
                <a:spcPts val="0"/>
              </a:spcAft>
            </a:pPr>
            <a:r>
              <a:rPr sz="940" b="0" i="0">
                <a:solidFill>
                  <a:srgbClr val="252D2C"/>
                </a:solidFill>
                <a:latin typeface="Arial"/>
                <a:ea typeface="Arial"/>
                <a:cs typeface="Arial"/>
              </a:rPr>
              <a:t>The priority is to connect these needs through specific spatial improvements. Toilets and handwashing should be planned together, with clear access from teaching and activity areas. Small-group seating can occupy usable edges beside normal circulation. Waiting should have a recognizable place near staff, and quieter conversation should be supported by a suitable room or sheltered position. Each intervention can be assessed through ordinary use: whether it is easy to reach, comfortable to occupy, and manageable for the adults responsible for it.</a:t>
            </a:r>
          </a:p>
        </p:txBody>
      </p:sp>
      <p:sp>
        <p:nvSpPr>
          <p:cNvPr id="19" name="">
            <a:extLst xmlns:a="http://schemas.openxmlformats.org/drawingml/2006/main">
              <a:ext uri="{FF2B5EF4-FFF2-40B4-BE49-F238E27FC236}">
                <a16:creationId xmlns:a16="http://schemas.microsoft.com/office/drawing/2014/main" id="{0CBEB7EA-05F4-4A95-AFEC-89D1413951C8}"/>
              </a:ext>
            </a:extLst>
          </p:cNvPr>
          <p:cNvSpPr>
            <a:spLocks xmlns:a="http://schemas.openxmlformats.org/drawingml/2006/main" noGrp="1"/>
          </p:cNvSpPr>
          <p:nvPr/>
        </p:nvSpPr>
        <p:spPr>
          <a:xfrm xmlns:a="http://schemas.openxmlformats.org/drawingml/2006/main">
            <a:off x="6985000" y="1028700"/>
            <a:ext cx="953" cy="6134100"/>
          </a:xfrm>
          <a:custGeom xmlns:a="http://schemas.openxmlformats.org/drawingml/2006/main">
            <a:pathLst>
              <a:path w="953" h="6134100">
                <a:moveTo>
                  <a:pt x="0" y="0"/>
                </a:moveTo>
                <a:lnTo>
                  <a:pt x="0" y="6134100"/>
                </a:lnTo>
              </a:path>
            </a:pathLst>
          </a:custGeom>
          <a:noFill xmlns:a="http://schemas.openxmlformats.org/drawingml/2006/main"/>
          <a:ln xmlns:a="http://schemas.openxmlformats.org/drawingml/2006/main" w="6985">
            <a:solidFill>
              <a:srgbClr val="CAD3CF"/>
            </a:solidFill>
            <a:prstDash val="solid"/>
          </a:ln>
        </p:spPr>
      </p:sp>
      <p:sp>
        <p:nvSpPr>
          <p:cNvPr id="20" name="Editable paragraph">
            <a:extLst xmlns:a="http://schemas.openxmlformats.org/drawingml/2006/main">
              <a:ext uri="{FF2B5EF4-FFF2-40B4-BE49-F238E27FC236}">
                <a16:creationId xmlns:a16="http://schemas.microsoft.com/office/drawing/2014/main" id="{A774EE48-6FA9-4648-86C9-CE22BF0E2AE2}"/>
              </a:ext>
            </a:extLst>
          </p:cNvPr>
          <p:cNvSpPr>
            <a:spLocks xmlns:a="http://schemas.openxmlformats.org/drawingml/2006/main" noGrp="1"/>
          </p:cNvSpPr>
          <p:nvPr/>
        </p:nvSpPr>
        <p:spPr>
          <a:xfrm xmlns:a="http://schemas.openxmlformats.org/drawingml/2006/main">
            <a:off x="7188200" y="1016000"/>
            <a:ext cx="3200400" cy="1842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60" b="1" i="0">
                <a:solidFill>
                  <a:srgbClr val="345A60"/>
                </a:solidFill>
                <a:latin typeface="Arial"/>
                <a:ea typeface="Arial"/>
                <a:cs typeface="Arial"/>
              </a:defRPr>
            </a:defPPr>
          </a:lstStyle>
          <a:p xmlns:a="http://schemas.openxmlformats.org/drawingml/2006/main">
            <a:pPr>
              <a:buNone/>
              <a:defRPr sz="1060" b="1" i="0">
                <a:solidFill>
                  <a:srgbClr val="345A60"/>
                </a:solidFill>
                <a:latin typeface="Arial"/>
                <a:ea typeface="Arial"/>
                <a:cs typeface="Arial"/>
              </a:defRPr>
              <a:lnSpc>
                <a:spcPts val="1251"/>
              </a:lnSpc>
              <a:spcBef>
                <a:spcPts val="0"/>
              </a:spcBef>
              <a:spcAft>
                <a:spcPts val="0"/>
              </a:spcAft>
            </a:pPr>
            <a:r>
              <a:rPr sz="1060" b="1" i="0">
                <a:solidFill>
                  <a:srgbClr val="345A60"/>
                </a:solidFill>
                <a:latin typeface="Arial"/>
                <a:ea typeface="Arial"/>
                <a:cs typeface="Arial"/>
              </a:rPr>
              <a:t>01 / Recurring terms</a:t>
            </a:r>
          </a:p>
        </p:txBody>
      </p:sp>
      <p:sp>
        <p:nvSpPr>
          <p:cNvPr id="21" name="Label">
            <a:extLst xmlns:a="http://schemas.openxmlformats.org/drawingml/2006/main">
              <a:ext uri="{FF2B5EF4-FFF2-40B4-BE49-F238E27FC236}">
                <a16:creationId xmlns:a16="http://schemas.microsoft.com/office/drawing/2014/main" id="{3AE872E3-7C1B-4C18-ADEF-C1BE8890B100}"/>
              </a:ext>
            </a:extLst>
          </p:cNvPr>
          <p:cNvSpPr>
            <a:spLocks xmlns:a="http://schemas.openxmlformats.org/drawingml/2006/main" noGrp="1"/>
          </p:cNvSpPr>
          <p:nvPr/>
        </p:nvSpPr>
        <p:spPr>
          <a:xfrm xmlns:a="http://schemas.openxmlformats.org/drawingml/2006/main">
            <a:off x="8103516" y="2005986"/>
            <a:ext cx="1429227" cy="3347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00" b="1" i="0">
                <a:solidFill>
                  <a:srgbClr val="345A60"/>
                </a:solidFill>
                <a:latin typeface="Arial"/>
                <a:ea typeface="Arial"/>
                <a:cs typeface="Arial"/>
              </a:defRPr>
            </a:defPPr>
          </a:lstStyle>
          <a:p xmlns:a="http://schemas.openxmlformats.org/drawingml/2006/main">
            <a:pPr>
              <a:buNone/>
              <a:defRPr sz="2100" b="1" i="0">
                <a:solidFill>
                  <a:srgbClr val="345A60"/>
                </a:solidFill>
                <a:latin typeface="Arial"/>
                <a:ea typeface="Arial"/>
                <a:cs typeface="Arial"/>
              </a:defRPr>
              <a:lnSpc>
                <a:spcPts val="2436"/>
              </a:lnSpc>
              <a:spcBef>
                <a:spcPts val="0"/>
              </a:spcBef>
              <a:spcAft>
                <a:spcPts val="0"/>
              </a:spcAft>
            </a:pPr>
            <a:r>
              <a:rPr sz="2100" b="1" i="0">
                <a:solidFill>
                  <a:srgbClr val="345A60"/>
                </a:solidFill>
                <a:latin typeface="Arial"/>
                <a:ea typeface="Arial"/>
                <a:cs typeface="Arial"/>
              </a:rPr>
              <a:t>Classroom</a:t>
            </a:r>
          </a:p>
        </p:txBody>
      </p:sp>
      <p:sp>
        <p:nvSpPr>
          <p:cNvPr id="22" name="Label">
            <a:extLst xmlns:a="http://schemas.openxmlformats.org/drawingml/2006/main">
              <a:ext uri="{FF2B5EF4-FFF2-40B4-BE49-F238E27FC236}">
                <a16:creationId xmlns:a16="http://schemas.microsoft.com/office/drawing/2014/main" id="{EF5F6581-5DD2-497A-873F-2E01B3DEA314}"/>
              </a:ext>
            </a:extLst>
          </p:cNvPr>
          <p:cNvSpPr>
            <a:spLocks xmlns:a="http://schemas.openxmlformats.org/drawingml/2006/main" noGrp="1"/>
          </p:cNvSpPr>
          <p:nvPr/>
        </p:nvSpPr>
        <p:spPr>
          <a:xfrm xmlns:a="http://schemas.openxmlformats.org/drawingml/2006/main">
            <a:off x="8346953" y="2354286"/>
            <a:ext cx="939534" cy="2868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775" b="1" i="0">
                <a:solidFill>
                  <a:srgbClr val="506D62"/>
                </a:solidFill>
                <a:latin typeface="Arial"/>
                <a:ea typeface="Arial"/>
                <a:cs typeface="Arial"/>
              </a:defRPr>
            </a:defPPr>
          </a:lstStyle>
          <a:p xmlns:a="http://schemas.openxmlformats.org/drawingml/2006/main">
            <a:pPr>
              <a:buNone/>
              <a:defRPr sz="1775" b="1" i="0">
                <a:solidFill>
                  <a:srgbClr val="506D62"/>
                </a:solidFill>
                <a:latin typeface="Arial"/>
                <a:ea typeface="Arial"/>
                <a:cs typeface="Arial"/>
              </a:defRPr>
              <a:lnSpc>
                <a:spcPts val="2059"/>
              </a:lnSpc>
              <a:spcBef>
                <a:spcPts val="0"/>
              </a:spcBef>
              <a:spcAft>
                <a:spcPts val="0"/>
              </a:spcAft>
            </a:pPr>
            <a:r>
              <a:rPr sz="1775" b="1" i="0">
                <a:solidFill>
                  <a:srgbClr val="506D62"/>
                </a:solidFill>
                <a:latin typeface="Arial"/>
                <a:ea typeface="Arial"/>
                <a:cs typeface="Arial"/>
              </a:rPr>
              <a:t>Funding</a:t>
            </a:r>
          </a:p>
        </p:txBody>
      </p:sp>
      <p:sp>
        <p:nvSpPr>
          <p:cNvPr id="23" name="Label">
            <a:extLst xmlns:a="http://schemas.openxmlformats.org/drawingml/2006/main">
              <a:ext uri="{FF2B5EF4-FFF2-40B4-BE49-F238E27FC236}">
                <a16:creationId xmlns:a16="http://schemas.microsoft.com/office/drawing/2014/main" id="{AAB3FD31-E46C-4017-A498-22E5FA7ADAE7}"/>
              </a:ext>
            </a:extLst>
          </p:cNvPr>
          <p:cNvSpPr>
            <a:spLocks xmlns:a="http://schemas.openxmlformats.org/drawingml/2006/main" noGrp="1"/>
          </p:cNvSpPr>
          <p:nvPr/>
        </p:nvSpPr>
        <p:spPr>
          <a:xfrm xmlns:a="http://schemas.openxmlformats.org/drawingml/2006/main">
            <a:off x="7863906" y="1731879"/>
            <a:ext cx="1775577" cy="25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587" b="1" i="0">
                <a:solidFill>
                  <a:srgbClr val="687F72"/>
                </a:solidFill>
                <a:latin typeface="Arial"/>
                <a:ea typeface="Arial"/>
                <a:cs typeface="Arial"/>
              </a:defRPr>
            </a:defPPr>
          </a:lstStyle>
          <a:p xmlns:a="http://schemas.openxmlformats.org/drawingml/2006/main">
            <a:pPr>
              <a:buNone/>
              <a:defRPr sz="1587" b="1" i="0">
                <a:solidFill>
                  <a:srgbClr val="687F72"/>
                </a:solidFill>
                <a:latin typeface="Arial"/>
                <a:ea typeface="Arial"/>
                <a:cs typeface="Arial"/>
              </a:defRPr>
              <a:lnSpc>
                <a:spcPts val="1841"/>
              </a:lnSpc>
              <a:spcBef>
                <a:spcPts val="0"/>
              </a:spcBef>
              <a:spcAft>
                <a:spcPts val="0"/>
              </a:spcAft>
            </a:pPr>
            <a:r>
              <a:rPr sz="1587" b="1" i="0">
                <a:solidFill>
                  <a:srgbClr val="687F72"/>
                </a:solidFill>
                <a:latin typeface="Arial"/>
                <a:ea typeface="Arial"/>
                <a:cs typeface="Arial"/>
              </a:rPr>
              <a:t>Teaching building</a:t>
            </a:r>
          </a:p>
        </p:txBody>
      </p:sp>
      <p:sp>
        <p:nvSpPr>
          <p:cNvPr id="24" name="Label">
            <a:extLst xmlns:a="http://schemas.openxmlformats.org/drawingml/2006/main">
              <a:ext uri="{FF2B5EF4-FFF2-40B4-BE49-F238E27FC236}">
                <a16:creationId xmlns:a16="http://schemas.microsoft.com/office/drawing/2014/main" id="{28FD6090-ECC0-42A7-8EAE-FE5712CAA673}"/>
              </a:ext>
            </a:extLst>
          </p:cNvPr>
          <p:cNvSpPr>
            <a:spLocks xmlns:a="http://schemas.openxmlformats.org/drawingml/2006/main" noGrp="1"/>
          </p:cNvSpPr>
          <p:nvPr/>
        </p:nvSpPr>
        <p:spPr>
          <a:xfrm xmlns:a="http://schemas.openxmlformats.org/drawingml/2006/main">
            <a:off x="8506555" y="1457329"/>
            <a:ext cx="779063" cy="25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587" b="1" i="0">
                <a:solidFill>
                  <a:srgbClr val="738C82"/>
                </a:solidFill>
                <a:latin typeface="Arial"/>
                <a:ea typeface="Arial"/>
                <a:cs typeface="Arial"/>
              </a:defRPr>
            </a:defPPr>
          </a:lstStyle>
          <a:p xmlns:a="http://schemas.openxmlformats.org/drawingml/2006/main">
            <a:pPr>
              <a:buNone/>
              <a:defRPr sz="1587" b="1" i="0">
                <a:solidFill>
                  <a:srgbClr val="738C82"/>
                </a:solidFill>
                <a:latin typeface="Arial"/>
                <a:ea typeface="Arial"/>
                <a:cs typeface="Arial"/>
              </a:defRPr>
              <a:lnSpc>
                <a:spcPts val="1841"/>
              </a:lnSpc>
              <a:spcBef>
                <a:spcPts val="0"/>
              </a:spcBef>
              <a:spcAft>
                <a:spcPts val="0"/>
              </a:spcAft>
            </a:pPr>
            <a:r>
              <a:rPr sz="1587" b="1" i="0">
                <a:solidFill>
                  <a:srgbClr val="738C82"/>
                </a:solidFill>
                <a:latin typeface="Arial"/>
                <a:ea typeface="Arial"/>
                <a:cs typeface="Arial"/>
              </a:rPr>
              <a:t>Activity</a:t>
            </a:r>
          </a:p>
        </p:txBody>
      </p:sp>
      <p:sp>
        <p:nvSpPr>
          <p:cNvPr id="25" name="Label">
            <a:extLst xmlns:a="http://schemas.openxmlformats.org/drawingml/2006/main">
              <a:ext uri="{FF2B5EF4-FFF2-40B4-BE49-F238E27FC236}">
                <a16:creationId xmlns:a16="http://schemas.microsoft.com/office/drawing/2014/main" id="{077369E6-EDE7-4A22-910F-460C6BCEE435}"/>
              </a:ext>
            </a:extLst>
          </p:cNvPr>
          <p:cNvSpPr>
            <a:spLocks xmlns:a="http://schemas.openxmlformats.org/drawingml/2006/main" noGrp="1"/>
          </p:cNvSpPr>
          <p:nvPr/>
        </p:nvSpPr>
        <p:spPr>
          <a:xfrm xmlns:a="http://schemas.openxmlformats.org/drawingml/2006/main">
            <a:off x="8304050" y="2656500"/>
            <a:ext cx="1011164" cy="2279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375" b="1" i="0">
                <a:solidFill>
                  <a:srgbClr val="42646A"/>
                </a:solidFill>
                <a:latin typeface="Arial"/>
                <a:ea typeface="Arial"/>
                <a:cs typeface="Arial"/>
              </a:defRPr>
            </a:defPPr>
          </a:lstStyle>
          <a:p xmlns:a="http://schemas.openxmlformats.org/drawingml/2006/main">
            <a:pPr>
              <a:buNone/>
              <a:defRPr sz="1375" b="1" i="0">
                <a:solidFill>
                  <a:srgbClr val="42646A"/>
                </a:solidFill>
                <a:latin typeface="Arial"/>
                <a:ea typeface="Arial"/>
                <a:cs typeface="Arial"/>
              </a:defRPr>
              <a:lnSpc>
                <a:spcPts val="1595"/>
              </a:lnSpc>
              <a:spcBef>
                <a:spcPts val="0"/>
              </a:spcBef>
              <a:spcAft>
                <a:spcPts val="0"/>
              </a:spcAft>
            </a:pPr>
            <a:r>
              <a:rPr sz="1375" b="1" i="0">
                <a:solidFill>
                  <a:srgbClr val="42646A"/>
                </a:solidFill>
                <a:latin typeface="Arial"/>
                <a:ea typeface="Arial"/>
                <a:cs typeface="Arial"/>
              </a:rPr>
              <a:t>Playground</a:t>
            </a:r>
          </a:p>
        </p:txBody>
      </p:sp>
      <p:sp>
        <p:nvSpPr>
          <p:cNvPr id="26" name="Label">
            <a:extLst xmlns:a="http://schemas.openxmlformats.org/drawingml/2006/main">
              <a:ext uri="{FF2B5EF4-FFF2-40B4-BE49-F238E27FC236}">
                <a16:creationId xmlns:a16="http://schemas.microsoft.com/office/drawing/2014/main" id="{3B13109A-A961-4A57-9BB0-F945D7F2E7AC}"/>
              </a:ext>
            </a:extLst>
          </p:cNvPr>
          <p:cNvSpPr>
            <a:spLocks xmlns:a="http://schemas.openxmlformats.org/drawingml/2006/main" noGrp="1"/>
          </p:cNvSpPr>
          <p:nvPr/>
        </p:nvSpPr>
        <p:spPr>
          <a:xfrm xmlns:a="http://schemas.openxmlformats.org/drawingml/2006/main">
            <a:off x="9318470" y="2361582"/>
            <a:ext cx="930088" cy="1907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122" b="1" i="0">
                <a:solidFill>
                  <a:srgbClr val="345A60"/>
                </a:solidFill>
                <a:latin typeface="Arial"/>
                <a:ea typeface="Arial"/>
                <a:cs typeface="Arial"/>
              </a:defRPr>
            </a:defPPr>
          </a:lstStyle>
          <a:p xmlns:a="http://schemas.openxmlformats.org/drawingml/2006/main">
            <a:pPr>
              <a:buNone/>
              <a:defRPr sz="1122" b="1" i="0">
                <a:solidFill>
                  <a:srgbClr val="345A60"/>
                </a:solidFill>
                <a:latin typeface="Arial"/>
                <a:ea typeface="Arial"/>
                <a:cs typeface="Arial"/>
              </a:defRPr>
              <a:lnSpc>
                <a:spcPts val="1302"/>
              </a:lnSpc>
              <a:spcBef>
                <a:spcPts val="0"/>
              </a:spcBef>
              <a:spcAft>
                <a:spcPts val="0"/>
              </a:spcAft>
            </a:pPr>
            <a:r>
              <a:rPr sz="1122" b="1" i="0">
                <a:solidFill>
                  <a:srgbClr val="345A60"/>
                </a:solidFill>
                <a:latin typeface="Arial"/>
                <a:ea typeface="Arial"/>
                <a:cs typeface="Arial"/>
              </a:rPr>
              <a:t>School clinic</a:t>
            </a:r>
          </a:p>
        </p:txBody>
      </p:sp>
      <p:sp>
        <p:nvSpPr>
          <p:cNvPr id="27" name="Label">
            <a:extLst xmlns:a="http://schemas.openxmlformats.org/drawingml/2006/main">
              <a:ext uri="{FF2B5EF4-FFF2-40B4-BE49-F238E27FC236}">
                <a16:creationId xmlns:a16="http://schemas.microsoft.com/office/drawing/2014/main" id="{67553A2D-685F-4BDF-9E46-C079AEA316D3}"/>
              </a:ext>
            </a:extLst>
          </p:cNvPr>
          <p:cNvSpPr>
            <a:spLocks xmlns:a="http://schemas.openxmlformats.org/drawingml/2006/main" noGrp="1"/>
          </p:cNvSpPr>
          <p:nvPr/>
        </p:nvSpPr>
        <p:spPr>
          <a:xfrm xmlns:a="http://schemas.openxmlformats.org/drawingml/2006/main">
            <a:off x="7879542" y="2359062"/>
            <a:ext cx="430929" cy="1907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122" b="1" i="0">
                <a:solidFill>
                  <a:srgbClr val="506D62"/>
                </a:solidFill>
                <a:latin typeface="Arial"/>
                <a:ea typeface="Arial"/>
                <a:cs typeface="Arial"/>
              </a:defRPr>
            </a:defPPr>
          </a:lstStyle>
          <a:p xmlns:a="http://schemas.openxmlformats.org/drawingml/2006/main">
            <a:pPr>
              <a:buNone/>
              <a:defRPr sz="1122" b="1" i="0">
                <a:solidFill>
                  <a:srgbClr val="506D62"/>
                </a:solidFill>
                <a:latin typeface="Arial"/>
                <a:ea typeface="Arial"/>
                <a:cs typeface="Arial"/>
              </a:defRPr>
              <a:lnSpc>
                <a:spcPts val="1302"/>
              </a:lnSpc>
              <a:spcBef>
                <a:spcPts val="0"/>
              </a:spcBef>
              <a:spcAft>
                <a:spcPts val="0"/>
              </a:spcAft>
            </a:pPr>
            <a:r>
              <a:rPr sz="1122" b="1" i="0">
                <a:solidFill>
                  <a:srgbClr val="506D62"/>
                </a:solidFill>
                <a:latin typeface="Arial"/>
                <a:ea typeface="Arial"/>
                <a:cs typeface="Arial"/>
              </a:rPr>
              <a:t>Toilet</a:t>
            </a:r>
          </a:p>
        </p:txBody>
      </p:sp>
      <p:sp>
        <p:nvSpPr>
          <p:cNvPr id="28" name="Label">
            <a:extLst xmlns:a="http://schemas.openxmlformats.org/drawingml/2006/main">
              <a:ext uri="{FF2B5EF4-FFF2-40B4-BE49-F238E27FC236}">
                <a16:creationId xmlns:a16="http://schemas.microsoft.com/office/drawing/2014/main" id="{4607DCB0-9FCF-4819-A5C1-6A627BC204F3}"/>
              </a:ext>
            </a:extLst>
          </p:cNvPr>
          <p:cNvSpPr>
            <a:spLocks xmlns:a="http://schemas.openxmlformats.org/drawingml/2006/main" noGrp="1"/>
          </p:cNvSpPr>
          <p:nvPr/>
        </p:nvSpPr>
        <p:spPr>
          <a:xfrm xmlns:a="http://schemas.openxmlformats.org/drawingml/2006/main">
            <a:off x="9546020" y="2124679"/>
            <a:ext cx="344058" cy="1907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122" b="1" i="0">
                <a:solidFill>
                  <a:srgbClr val="687F72"/>
                </a:solidFill>
                <a:latin typeface="Arial"/>
                <a:ea typeface="Arial"/>
                <a:cs typeface="Arial"/>
              </a:defRPr>
            </a:defPPr>
          </a:lstStyle>
          <a:p xmlns:a="http://schemas.openxmlformats.org/drawingml/2006/main">
            <a:pPr>
              <a:buNone/>
              <a:defRPr sz="1122" b="1" i="0">
                <a:solidFill>
                  <a:srgbClr val="687F72"/>
                </a:solidFill>
                <a:latin typeface="Arial"/>
                <a:ea typeface="Arial"/>
                <a:cs typeface="Arial"/>
              </a:defRPr>
              <a:lnSpc>
                <a:spcPts val="1302"/>
              </a:lnSpc>
              <a:spcBef>
                <a:spcPts val="0"/>
              </a:spcBef>
              <a:spcAft>
                <a:spcPts val="0"/>
              </a:spcAft>
            </a:pPr>
            <a:r>
              <a:rPr sz="1122" b="1" i="0">
                <a:solidFill>
                  <a:srgbClr val="687F72"/>
                </a:solidFill>
                <a:latin typeface="Arial"/>
                <a:ea typeface="Arial"/>
                <a:cs typeface="Arial"/>
              </a:rPr>
              <a:t>Play</a:t>
            </a:r>
          </a:p>
        </p:txBody>
      </p:sp>
      <p:sp>
        <p:nvSpPr>
          <p:cNvPr id="29" name="Label">
            <a:extLst xmlns:a="http://schemas.openxmlformats.org/drawingml/2006/main">
              <a:ext uri="{FF2B5EF4-FFF2-40B4-BE49-F238E27FC236}">
                <a16:creationId xmlns:a16="http://schemas.microsoft.com/office/drawing/2014/main" id="{E04B978C-FC3E-4C5D-8AD8-23EE4B2EC7A0}"/>
              </a:ext>
            </a:extLst>
          </p:cNvPr>
          <p:cNvSpPr>
            <a:spLocks xmlns:a="http://schemas.openxmlformats.org/drawingml/2006/main" noGrp="1"/>
          </p:cNvSpPr>
          <p:nvPr/>
        </p:nvSpPr>
        <p:spPr>
          <a:xfrm xmlns:a="http://schemas.openxmlformats.org/drawingml/2006/main">
            <a:off x="7611286" y="2019622"/>
            <a:ext cx="470815" cy="1907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122" b="1" i="0">
                <a:solidFill>
                  <a:srgbClr val="738C82"/>
                </a:solidFill>
                <a:latin typeface="Arial"/>
                <a:ea typeface="Arial"/>
                <a:cs typeface="Arial"/>
              </a:defRPr>
            </a:defPPr>
          </a:lstStyle>
          <a:p xmlns:a="http://schemas.openxmlformats.org/drawingml/2006/main">
            <a:pPr>
              <a:buNone/>
              <a:defRPr sz="1122" b="1" i="0">
                <a:solidFill>
                  <a:srgbClr val="738C82"/>
                </a:solidFill>
                <a:latin typeface="Arial"/>
                <a:ea typeface="Arial"/>
                <a:cs typeface="Arial"/>
              </a:defRPr>
              <a:lnSpc>
                <a:spcPts val="1302"/>
              </a:lnSpc>
              <a:spcBef>
                <a:spcPts val="0"/>
              </a:spcBef>
              <a:spcAft>
                <a:spcPts val="0"/>
              </a:spcAft>
            </a:pPr>
            <a:r>
              <a:rPr sz="1122" b="1" i="0">
                <a:solidFill>
                  <a:srgbClr val="738C82"/>
                </a:solidFill>
                <a:latin typeface="Arial"/>
                <a:ea typeface="Arial"/>
                <a:cs typeface="Arial"/>
              </a:rPr>
              <a:t>Space</a:t>
            </a:r>
          </a:p>
        </p:txBody>
      </p:sp>
      <p:sp>
        <p:nvSpPr>
          <p:cNvPr id="30" name="Label">
            <a:extLst xmlns:a="http://schemas.openxmlformats.org/drawingml/2006/main">
              <a:ext uri="{FF2B5EF4-FFF2-40B4-BE49-F238E27FC236}">
                <a16:creationId xmlns:a16="http://schemas.microsoft.com/office/drawing/2014/main" id="{4F9E8BCF-9A80-454C-8616-93B8441A8BF4}"/>
              </a:ext>
            </a:extLst>
          </p:cNvPr>
          <p:cNvSpPr>
            <a:spLocks xmlns:a="http://schemas.openxmlformats.org/drawingml/2006/main" noGrp="1"/>
          </p:cNvSpPr>
          <p:nvPr/>
        </p:nvSpPr>
        <p:spPr>
          <a:xfrm xmlns:a="http://schemas.openxmlformats.org/drawingml/2006/main">
            <a:off x="7901731" y="1523815"/>
            <a:ext cx="541954" cy="1907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122" b="1" i="0">
                <a:solidFill>
                  <a:srgbClr val="42646A"/>
                </a:solidFill>
                <a:latin typeface="Arial"/>
                <a:ea typeface="Arial"/>
                <a:cs typeface="Arial"/>
              </a:defRPr>
            </a:defPPr>
          </a:lstStyle>
          <a:p xmlns:a="http://schemas.openxmlformats.org/drawingml/2006/main">
            <a:pPr>
              <a:buNone/>
              <a:defRPr sz="1122" b="1" i="0">
                <a:solidFill>
                  <a:srgbClr val="42646A"/>
                </a:solidFill>
                <a:latin typeface="Arial"/>
                <a:ea typeface="Arial"/>
                <a:cs typeface="Arial"/>
              </a:defRPr>
              <a:lnSpc>
                <a:spcPts val="1302"/>
              </a:lnSpc>
              <a:spcBef>
                <a:spcPts val="0"/>
              </a:spcBef>
              <a:spcAft>
                <a:spcPts val="0"/>
              </a:spcAft>
            </a:pPr>
            <a:r>
              <a:rPr sz="1122" b="1" i="0">
                <a:solidFill>
                  <a:srgbClr val="42646A"/>
                </a:solidFill>
                <a:latin typeface="Arial"/>
                <a:ea typeface="Arial"/>
                <a:cs typeface="Arial"/>
              </a:rPr>
              <a:t>Charity</a:t>
            </a:r>
          </a:p>
        </p:txBody>
      </p:sp>
      <p:sp>
        <p:nvSpPr>
          <p:cNvPr id="31" name="Label">
            <a:extLst xmlns:a="http://schemas.openxmlformats.org/drawingml/2006/main">
              <a:ext uri="{FF2B5EF4-FFF2-40B4-BE49-F238E27FC236}">
                <a16:creationId xmlns:a16="http://schemas.microsoft.com/office/drawing/2014/main" id="{4B005A1F-A61B-4751-82EF-D19A28FC97B7}"/>
              </a:ext>
            </a:extLst>
          </p:cNvPr>
          <p:cNvSpPr>
            <a:spLocks xmlns:a="http://schemas.openxmlformats.org/drawingml/2006/main" noGrp="1"/>
          </p:cNvSpPr>
          <p:nvPr/>
        </p:nvSpPr>
        <p:spPr>
          <a:xfrm xmlns:a="http://schemas.openxmlformats.org/drawingml/2006/main">
            <a:off x="9343474" y="2587765"/>
            <a:ext cx="922013" cy="1907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122" b="1" i="0">
                <a:solidFill>
                  <a:srgbClr val="345A60"/>
                </a:solidFill>
                <a:latin typeface="Arial"/>
                <a:ea typeface="Arial"/>
                <a:cs typeface="Arial"/>
              </a:defRPr>
            </a:defPPr>
          </a:lstStyle>
          <a:p xmlns:a="http://schemas.openxmlformats.org/drawingml/2006/main">
            <a:pPr>
              <a:buNone/>
              <a:defRPr sz="1122" b="1" i="0">
                <a:solidFill>
                  <a:srgbClr val="345A60"/>
                </a:solidFill>
                <a:latin typeface="Arial"/>
                <a:ea typeface="Arial"/>
                <a:cs typeface="Arial"/>
              </a:defRPr>
              <a:lnSpc>
                <a:spcPts val="1302"/>
              </a:lnSpc>
              <a:spcBef>
                <a:spcPts val="0"/>
              </a:spcBef>
              <a:spcAft>
                <a:spcPts val="0"/>
              </a:spcAft>
            </a:pPr>
            <a:r>
              <a:rPr sz="1122" b="1" i="0">
                <a:solidFill>
                  <a:srgbClr val="345A60"/>
                </a:solidFill>
                <a:latin typeface="Arial"/>
                <a:ea typeface="Arial"/>
                <a:cs typeface="Arial"/>
              </a:rPr>
              <a:t>Volunteering</a:t>
            </a:r>
          </a:p>
        </p:txBody>
      </p:sp>
      <p:sp>
        <p:nvSpPr>
          <p:cNvPr id="32" name="Label">
            <a:extLst xmlns:a="http://schemas.openxmlformats.org/drawingml/2006/main">
              <a:ext uri="{FF2B5EF4-FFF2-40B4-BE49-F238E27FC236}">
                <a16:creationId xmlns:a16="http://schemas.microsoft.com/office/drawing/2014/main" id="{4077F6F8-72A5-4E1E-A4D7-66D06F5CA155}"/>
              </a:ext>
            </a:extLst>
          </p:cNvPr>
          <p:cNvSpPr>
            <a:spLocks xmlns:a="http://schemas.openxmlformats.org/drawingml/2006/main" noGrp="1"/>
          </p:cNvSpPr>
          <p:nvPr/>
        </p:nvSpPr>
        <p:spPr>
          <a:xfrm xmlns:a="http://schemas.openxmlformats.org/drawingml/2006/main">
            <a:off x="7763619" y="2601430"/>
            <a:ext cx="527154"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506D62"/>
                </a:solidFill>
                <a:latin typeface="Arial"/>
                <a:ea typeface="Arial"/>
                <a:cs typeface="Arial"/>
              </a:defRPr>
            </a:defPPr>
          </a:lstStyle>
          <a:p xmlns:a="http://schemas.openxmlformats.org/drawingml/2006/main">
            <a:pPr>
              <a:buNone/>
              <a:defRPr sz="794" b="1" i="0">
                <a:solidFill>
                  <a:srgbClr val="506D62"/>
                </a:solidFill>
                <a:latin typeface="Arial"/>
                <a:ea typeface="Arial"/>
                <a:cs typeface="Arial"/>
              </a:defRPr>
              <a:lnSpc>
                <a:spcPts val="921"/>
              </a:lnSpc>
              <a:spcBef>
                <a:spcPts val="0"/>
              </a:spcBef>
              <a:spcAft>
                <a:spcPts val="0"/>
              </a:spcAft>
            </a:pPr>
            <a:r>
              <a:rPr sz="794" b="1" i="0">
                <a:solidFill>
                  <a:srgbClr val="506D62"/>
                </a:solidFill>
                <a:latin typeface="Arial"/>
                <a:ea typeface="Arial"/>
                <a:cs typeface="Arial"/>
              </a:rPr>
              <a:t>Daily care</a:t>
            </a:r>
          </a:p>
        </p:txBody>
      </p:sp>
      <p:sp>
        <p:nvSpPr>
          <p:cNvPr id="33" name="Label">
            <a:extLst xmlns:a="http://schemas.openxmlformats.org/drawingml/2006/main">
              <a:ext uri="{FF2B5EF4-FFF2-40B4-BE49-F238E27FC236}">
                <a16:creationId xmlns:a16="http://schemas.microsoft.com/office/drawing/2014/main" id="{7D6C9766-ED57-42F9-86B1-B1911C681C7E}"/>
              </a:ext>
            </a:extLst>
          </p:cNvPr>
          <p:cNvSpPr>
            <a:spLocks xmlns:a="http://schemas.openxmlformats.org/drawingml/2006/main" noGrp="1"/>
          </p:cNvSpPr>
          <p:nvPr/>
        </p:nvSpPr>
        <p:spPr>
          <a:xfrm xmlns:a="http://schemas.openxmlformats.org/drawingml/2006/main">
            <a:off x="8212572" y="2899316"/>
            <a:ext cx="941195"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687F72"/>
                </a:solidFill>
                <a:latin typeface="Arial"/>
                <a:ea typeface="Arial"/>
                <a:cs typeface="Arial"/>
              </a:defRPr>
            </a:defPPr>
          </a:lstStyle>
          <a:p xmlns:a="http://schemas.openxmlformats.org/drawingml/2006/main">
            <a:pPr>
              <a:buNone/>
              <a:defRPr sz="794" b="1" i="0">
                <a:solidFill>
                  <a:srgbClr val="687F72"/>
                </a:solidFill>
                <a:latin typeface="Arial"/>
                <a:ea typeface="Arial"/>
                <a:cs typeface="Arial"/>
              </a:defRPr>
              <a:lnSpc>
                <a:spcPts val="921"/>
              </a:lnSpc>
              <a:spcBef>
                <a:spcPts val="0"/>
              </a:spcBef>
              <a:spcAft>
                <a:spcPts val="0"/>
              </a:spcAft>
            </a:pPr>
            <a:r>
              <a:rPr sz="794" b="1" i="0">
                <a:solidFill>
                  <a:srgbClr val="687F72"/>
                </a:solidFill>
                <a:latin typeface="Arial"/>
                <a:ea typeface="Arial"/>
                <a:cs typeface="Arial"/>
              </a:rPr>
              <a:t>Emotional support</a:t>
            </a:r>
          </a:p>
        </p:txBody>
      </p:sp>
      <p:sp>
        <p:nvSpPr>
          <p:cNvPr id="34" name="Label">
            <a:extLst xmlns:a="http://schemas.openxmlformats.org/drawingml/2006/main">
              <a:ext uri="{FF2B5EF4-FFF2-40B4-BE49-F238E27FC236}">
                <a16:creationId xmlns:a16="http://schemas.microsoft.com/office/drawing/2014/main" id="{1F3AC68C-80EC-4641-A757-D65F8E25EF21}"/>
              </a:ext>
            </a:extLst>
          </p:cNvPr>
          <p:cNvSpPr>
            <a:spLocks xmlns:a="http://schemas.openxmlformats.org/drawingml/2006/main" noGrp="1"/>
          </p:cNvSpPr>
          <p:nvPr/>
        </p:nvSpPr>
        <p:spPr>
          <a:xfrm xmlns:a="http://schemas.openxmlformats.org/drawingml/2006/main">
            <a:off x="9314371" y="1563412"/>
            <a:ext cx="706119"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738C82"/>
                </a:solidFill>
                <a:latin typeface="Arial"/>
                <a:ea typeface="Arial"/>
                <a:cs typeface="Arial"/>
              </a:defRPr>
            </a:defPPr>
          </a:lstStyle>
          <a:p xmlns:a="http://schemas.openxmlformats.org/drawingml/2006/main">
            <a:pPr>
              <a:buNone/>
              <a:defRPr sz="794" b="1" i="0">
                <a:solidFill>
                  <a:srgbClr val="738C82"/>
                </a:solidFill>
                <a:latin typeface="Arial"/>
                <a:ea typeface="Arial"/>
                <a:cs typeface="Arial"/>
              </a:defRPr>
              <a:lnSpc>
                <a:spcPts val="921"/>
              </a:lnSpc>
              <a:spcBef>
                <a:spcPts val="0"/>
              </a:spcBef>
              <a:spcAft>
                <a:spcPts val="0"/>
              </a:spcAft>
            </a:pPr>
            <a:r>
              <a:rPr sz="794" b="1" i="0">
                <a:solidFill>
                  <a:srgbClr val="738C82"/>
                </a:solidFill>
                <a:latin typeface="Arial"/>
                <a:ea typeface="Arial"/>
                <a:cs typeface="Arial"/>
              </a:rPr>
              <a:t>Rear grounds</a:t>
            </a:r>
          </a:p>
        </p:txBody>
      </p:sp>
      <p:sp>
        <p:nvSpPr>
          <p:cNvPr id="35" name="Label">
            <a:extLst xmlns:a="http://schemas.openxmlformats.org/drawingml/2006/main">
              <a:ext uri="{FF2B5EF4-FFF2-40B4-BE49-F238E27FC236}">
                <a16:creationId xmlns:a16="http://schemas.microsoft.com/office/drawing/2014/main" id="{05C359C5-8C31-4B87-A25A-8F47A9244731}"/>
              </a:ext>
            </a:extLst>
          </p:cNvPr>
          <p:cNvSpPr>
            <a:spLocks xmlns:a="http://schemas.openxmlformats.org/drawingml/2006/main" noGrp="1"/>
          </p:cNvSpPr>
          <p:nvPr/>
        </p:nvSpPr>
        <p:spPr>
          <a:xfrm xmlns:a="http://schemas.openxmlformats.org/drawingml/2006/main">
            <a:off x="9666030" y="1946455"/>
            <a:ext cx="504709"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42646A"/>
                </a:solidFill>
                <a:latin typeface="Arial"/>
                <a:ea typeface="Arial"/>
                <a:cs typeface="Arial"/>
              </a:defRPr>
            </a:defPPr>
          </a:lstStyle>
          <a:p xmlns:a="http://schemas.openxmlformats.org/drawingml/2006/main">
            <a:pPr>
              <a:buNone/>
              <a:defRPr sz="794" b="1" i="0">
                <a:solidFill>
                  <a:srgbClr val="42646A"/>
                </a:solidFill>
                <a:latin typeface="Arial"/>
                <a:ea typeface="Arial"/>
                <a:cs typeface="Arial"/>
              </a:defRPr>
              <a:lnSpc>
                <a:spcPts val="921"/>
              </a:lnSpc>
              <a:spcBef>
                <a:spcPts val="0"/>
              </a:spcBef>
              <a:spcAft>
                <a:spcPts val="0"/>
              </a:spcAft>
            </a:pPr>
            <a:r>
              <a:rPr sz="794" b="1" i="0">
                <a:solidFill>
                  <a:srgbClr val="42646A"/>
                </a:solidFill>
                <a:latin typeface="Arial"/>
                <a:ea typeface="Arial"/>
                <a:cs typeface="Arial"/>
              </a:rPr>
              <a:t>Backyard</a:t>
            </a:r>
          </a:p>
        </p:txBody>
      </p:sp>
      <p:sp>
        <p:nvSpPr>
          <p:cNvPr id="36" name="Label">
            <a:extLst xmlns:a="http://schemas.openxmlformats.org/drawingml/2006/main">
              <a:ext uri="{FF2B5EF4-FFF2-40B4-BE49-F238E27FC236}">
                <a16:creationId xmlns:a16="http://schemas.microsoft.com/office/drawing/2014/main" id="{B78A4B41-D989-4C8A-B969-43037B630790}"/>
              </a:ext>
            </a:extLst>
          </p:cNvPr>
          <p:cNvSpPr>
            <a:spLocks xmlns:a="http://schemas.openxmlformats.org/drawingml/2006/main" noGrp="1"/>
          </p:cNvSpPr>
          <p:nvPr/>
        </p:nvSpPr>
        <p:spPr>
          <a:xfrm xmlns:a="http://schemas.openxmlformats.org/drawingml/2006/main">
            <a:off x="8505533" y="1301753"/>
            <a:ext cx="734125"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345A60"/>
                </a:solidFill>
                <a:latin typeface="Arial"/>
                <a:ea typeface="Arial"/>
                <a:cs typeface="Arial"/>
              </a:defRPr>
            </a:defPPr>
          </a:lstStyle>
          <a:p xmlns:a="http://schemas.openxmlformats.org/drawingml/2006/main">
            <a:pPr>
              <a:buNone/>
              <a:defRPr sz="794" b="1" i="0">
                <a:solidFill>
                  <a:srgbClr val="345A60"/>
                </a:solidFill>
                <a:latin typeface="Arial"/>
                <a:ea typeface="Arial"/>
                <a:cs typeface="Arial"/>
              </a:defRPr>
              <a:lnSpc>
                <a:spcPts val="921"/>
              </a:lnSpc>
              <a:spcBef>
                <a:spcPts val="0"/>
              </a:spcBef>
              <a:spcAft>
                <a:spcPts val="0"/>
              </a:spcAft>
            </a:pPr>
            <a:r>
              <a:rPr sz="794" b="1" i="0">
                <a:solidFill>
                  <a:srgbClr val="345A60"/>
                </a:solidFill>
                <a:latin typeface="Arial"/>
                <a:ea typeface="Arial"/>
                <a:cs typeface="Arial"/>
              </a:rPr>
              <a:t>Teaching staff</a:t>
            </a:r>
          </a:p>
        </p:txBody>
      </p:sp>
      <p:sp>
        <p:nvSpPr>
          <p:cNvPr id="37" name="Label">
            <a:extLst xmlns:a="http://schemas.openxmlformats.org/drawingml/2006/main">
              <a:ext uri="{FF2B5EF4-FFF2-40B4-BE49-F238E27FC236}">
                <a16:creationId xmlns:a16="http://schemas.microsoft.com/office/drawing/2014/main" id="{964D19A2-6F7C-4F71-B104-4C9B31C8B8E0}"/>
              </a:ext>
            </a:extLst>
          </p:cNvPr>
          <p:cNvSpPr>
            <a:spLocks xmlns:a="http://schemas.openxmlformats.org/drawingml/2006/main" noGrp="1"/>
          </p:cNvSpPr>
          <p:nvPr/>
        </p:nvSpPr>
        <p:spPr>
          <a:xfrm xmlns:a="http://schemas.openxmlformats.org/drawingml/2006/main">
            <a:off x="9659111" y="1759698"/>
            <a:ext cx="543593"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506D62"/>
                </a:solidFill>
                <a:latin typeface="Arial"/>
                <a:ea typeface="Arial"/>
                <a:cs typeface="Arial"/>
              </a:defRPr>
            </a:defPPr>
          </a:lstStyle>
          <a:p xmlns:a="http://schemas.openxmlformats.org/drawingml/2006/main">
            <a:pPr>
              <a:buNone/>
              <a:defRPr sz="794" b="1" i="0">
                <a:solidFill>
                  <a:srgbClr val="506D62"/>
                </a:solidFill>
                <a:latin typeface="Arial"/>
                <a:ea typeface="Arial"/>
                <a:cs typeface="Arial"/>
              </a:defRPr>
              <a:lnSpc>
                <a:spcPts val="921"/>
              </a:lnSpc>
              <a:spcBef>
                <a:spcPts val="0"/>
              </a:spcBef>
              <a:spcAft>
                <a:spcPts val="0"/>
              </a:spcAft>
            </a:pPr>
            <a:r>
              <a:rPr sz="794" b="1" i="0">
                <a:solidFill>
                  <a:srgbClr val="506D62"/>
                </a:solidFill>
                <a:latin typeface="Arial"/>
                <a:ea typeface="Arial"/>
                <a:cs typeface="Arial"/>
              </a:rPr>
              <a:t>Donations</a:t>
            </a:r>
          </a:p>
        </p:txBody>
      </p:sp>
      <p:sp>
        <p:nvSpPr>
          <p:cNvPr id="38" name="Label">
            <a:extLst xmlns:a="http://schemas.openxmlformats.org/drawingml/2006/main">
              <a:ext uri="{FF2B5EF4-FFF2-40B4-BE49-F238E27FC236}">
                <a16:creationId xmlns:a16="http://schemas.microsoft.com/office/drawing/2014/main" id="{35D23448-5841-424A-AD26-6F5AEBC58C1F}"/>
              </a:ext>
            </a:extLst>
          </p:cNvPr>
          <p:cNvSpPr>
            <a:spLocks xmlns:a="http://schemas.openxmlformats.org/drawingml/2006/main" noGrp="1"/>
          </p:cNvSpPr>
          <p:nvPr/>
        </p:nvSpPr>
        <p:spPr>
          <a:xfrm xmlns:a="http://schemas.openxmlformats.org/drawingml/2006/main">
            <a:off x="7285168" y="2286506"/>
            <a:ext cx="571747"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687F72"/>
                </a:solidFill>
                <a:latin typeface="Arial"/>
                <a:ea typeface="Arial"/>
                <a:cs typeface="Arial"/>
              </a:defRPr>
            </a:defPPr>
          </a:lstStyle>
          <a:p xmlns:a="http://schemas.openxmlformats.org/drawingml/2006/main">
            <a:pPr>
              <a:buNone/>
              <a:defRPr sz="794" b="1" i="0">
                <a:solidFill>
                  <a:srgbClr val="687F72"/>
                </a:solidFill>
                <a:latin typeface="Arial"/>
                <a:ea typeface="Arial"/>
                <a:cs typeface="Arial"/>
              </a:defRPr>
              <a:lnSpc>
                <a:spcPts val="921"/>
              </a:lnSpc>
              <a:spcBef>
                <a:spcPts val="0"/>
              </a:spcBef>
              <a:spcAft>
                <a:spcPts val="0"/>
              </a:spcAft>
            </a:pPr>
            <a:r>
              <a:rPr sz="794" b="1" i="0">
                <a:solidFill>
                  <a:srgbClr val="687F72"/>
                </a:solidFill>
                <a:latin typeface="Arial"/>
                <a:ea typeface="Arial"/>
                <a:cs typeface="Arial"/>
              </a:rPr>
              <a:t>Volunteers</a:t>
            </a:r>
          </a:p>
        </p:txBody>
      </p:sp>
      <p:sp>
        <p:nvSpPr>
          <p:cNvPr id="39" name="Label">
            <a:extLst xmlns:a="http://schemas.openxmlformats.org/drawingml/2006/main">
              <a:ext uri="{FF2B5EF4-FFF2-40B4-BE49-F238E27FC236}">
                <a16:creationId xmlns:a16="http://schemas.microsoft.com/office/drawing/2014/main" id="{A068AC72-F35C-433B-A5FC-4C93C152A939}"/>
              </a:ext>
            </a:extLst>
          </p:cNvPr>
          <p:cNvSpPr>
            <a:spLocks xmlns:a="http://schemas.openxmlformats.org/drawingml/2006/main" noGrp="1"/>
          </p:cNvSpPr>
          <p:nvPr/>
        </p:nvSpPr>
        <p:spPr>
          <a:xfrm xmlns:a="http://schemas.openxmlformats.org/drawingml/2006/main">
            <a:off x="7765051" y="1367857"/>
            <a:ext cx="655963"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738C82"/>
                </a:solidFill>
                <a:latin typeface="Arial"/>
                <a:ea typeface="Arial"/>
                <a:cs typeface="Arial"/>
              </a:defRPr>
            </a:defPPr>
          </a:lstStyle>
          <a:p xmlns:a="http://schemas.openxmlformats.org/drawingml/2006/main">
            <a:pPr>
              <a:buNone/>
              <a:defRPr sz="794" b="1" i="0">
                <a:solidFill>
                  <a:srgbClr val="738C82"/>
                </a:solidFill>
                <a:latin typeface="Arial"/>
                <a:ea typeface="Arial"/>
                <a:cs typeface="Arial"/>
              </a:defRPr>
              <a:lnSpc>
                <a:spcPts val="921"/>
              </a:lnSpc>
              <a:spcBef>
                <a:spcPts val="0"/>
              </a:spcBef>
              <a:spcAft>
                <a:spcPts val="0"/>
              </a:spcAft>
            </a:pPr>
            <a:r>
              <a:rPr sz="794" b="1" i="0">
                <a:solidFill>
                  <a:srgbClr val="738C82"/>
                </a:solidFill>
                <a:latin typeface="Arial"/>
                <a:ea typeface="Arial"/>
                <a:cs typeface="Arial"/>
              </a:rPr>
              <a:t>Medical care</a:t>
            </a:r>
          </a:p>
        </p:txBody>
      </p:sp>
      <p:sp>
        <p:nvSpPr>
          <p:cNvPr id="40" name="Label">
            <a:extLst xmlns:a="http://schemas.openxmlformats.org/drawingml/2006/main">
              <a:ext uri="{FF2B5EF4-FFF2-40B4-BE49-F238E27FC236}">
                <a16:creationId xmlns:a16="http://schemas.microsoft.com/office/drawing/2014/main" id="{6D1AD561-D8E2-44A0-B646-A07AA02601CF}"/>
              </a:ext>
            </a:extLst>
          </p:cNvPr>
          <p:cNvSpPr>
            <a:spLocks xmlns:a="http://schemas.openxmlformats.org/drawingml/2006/main" noGrp="1"/>
          </p:cNvSpPr>
          <p:nvPr/>
        </p:nvSpPr>
        <p:spPr>
          <a:xfrm xmlns:a="http://schemas.openxmlformats.org/drawingml/2006/main">
            <a:off x="7462862" y="1861045"/>
            <a:ext cx="347844"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42646A"/>
                </a:solidFill>
                <a:latin typeface="Arial"/>
                <a:ea typeface="Arial"/>
                <a:cs typeface="Arial"/>
              </a:defRPr>
            </a:defPPr>
          </a:lstStyle>
          <a:p xmlns:a="http://schemas.openxmlformats.org/drawingml/2006/main">
            <a:pPr>
              <a:buNone/>
              <a:defRPr sz="794" b="1" i="0">
                <a:solidFill>
                  <a:srgbClr val="42646A"/>
                </a:solidFill>
                <a:latin typeface="Arial"/>
                <a:ea typeface="Arial"/>
                <a:cs typeface="Arial"/>
              </a:defRPr>
              <a:lnSpc>
                <a:spcPts val="921"/>
              </a:lnSpc>
              <a:spcBef>
                <a:spcPts val="0"/>
              </a:spcBef>
              <a:spcAft>
                <a:spcPts val="0"/>
              </a:spcAft>
            </a:pPr>
            <a:r>
              <a:rPr sz="794" b="1" i="0">
                <a:solidFill>
                  <a:srgbClr val="42646A"/>
                </a:solidFill>
                <a:latin typeface="Arial"/>
                <a:ea typeface="Arial"/>
                <a:cs typeface="Arial"/>
              </a:rPr>
              <a:t>Desks</a:t>
            </a:r>
          </a:p>
        </p:txBody>
      </p:sp>
      <p:sp>
        <p:nvSpPr>
          <p:cNvPr id="41" name="Label">
            <a:extLst xmlns:a="http://schemas.openxmlformats.org/drawingml/2006/main">
              <a:ext uri="{FF2B5EF4-FFF2-40B4-BE49-F238E27FC236}">
                <a16:creationId xmlns:a16="http://schemas.microsoft.com/office/drawing/2014/main" id="{89C4288E-91C9-4390-9BA0-E549C344DB91}"/>
              </a:ext>
            </a:extLst>
          </p:cNvPr>
          <p:cNvSpPr>
            <a:spLocks xmlns:a="http://schemas.openxmlformats.org/drawingml/2006/main" noGrp="1"/>
          </p:cNvSpPr>
          <p:nvPr/>
        </p:nvSpPr>
        <p:spPr>
          <a:xfrm xmlns:a="http://schemas.openxmlformats.org/drawingml/2006/main">
            <a:off x="9331926" y="2812102"/>
            <a:ext cx="532470"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345A60"/>
                </a:solidFill>
                <a:latin typeface="Arial"/>
                <a:ea typeface="Arial"/>
                <a:cs typeface="Arial"/>
              </a:defRPr>
            </a:defPPr>
          </a:lstStyle>
          <a:p xmlns:a="http://schemas.openxmlformats.org/drawingml/2006/main">
            <a:pPr>
              <a:buNone/>
              <a:defRPr sz="794" b="1" i="0">
                <a:solidFill>
                  <a:srgbClr val="345A60"/>
                </a:solidFill>
                <a:latin typeface="Arial"/>
                <a:ea typeface="Arial"/>
                <a:cs typeface="Arial"/>
              </a:defRPr>
              <a:lnSpc>
                <a:spcPts val="921"/>
              </a:lnSpc>
              <a:spcBef>
                <a:spcPts val="0"/>
              </a:spcBef>
              <a:spcAft>
                <a:spcPts val="0"/>
              </a:spcAft>
            </a:pPr>
            <a:r>
              <a:rPr sz="794" b="1" i="0">
                <a:solidFill>
                  <a:srgbClr val="345A60"/>
                </a:solidFill>
                <a:latin typeface="Arial"/>
                <a:ea typeface="Arial"/>
                <a:cs typeface="Arial"/>
              </a:rPr>
              <a:t>Dormitory</a:t>
            </a:r>
          </a:p>
        </p:txBody>
      </p:sp>
      <p:sp>
        <p:nvSpPr>
          <p:cNvPr id="42" name="Label">
            <a:extLst xmlns:a="http://schemas.openxmlformats.org/drawingml/2006/main">
              <a:ext uri="{FF2B5EF4-FFF2-40B4-BE49-F238E27FC236}">
                <a16:creationId xmlns:a16="http://schemas.microsoft.com/office/drawing/2014/main" id="{32DF7927-532C-42DC-A102-F944F13340CD}"/>
              </a:ext>
            </a:extLst>
          </p:cNvPr>
          <p:cNvSpPr>
            <a:spLocks xmlns:a="http://schemas.openxmlformats.org/drawingml/2006/main" noGrp="1"/>
          </p:cNvSpPr>
          <p:nvPr/>
        </p:nvSpPr>
        <p:spPr>
          <a:xfrm xmlns:a="http://schemas.openxmlformats.org/drawingml/2006/main">
            <a:off x="9338808" y="1406823"/>
            <a:ext cx="565989"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506D62"/>
                </a:solidFill>
                <a:latin typeface="Arial"/>
                <a:ea typeface="Arial"/>
                <a:cs typeface="Arial"/>
              </a:defRPr>
            </a:defPPr>
          </a:lstStyle>
          <a:p xmlns:a="http://schemas.openxmlformats.org/drawingml/2006/main">
            <a:pPr>
              <a:buNone/>
              <a:defRPr sz="794" b="1" i="0">
                <a:solidFill>
                  <a:srgbClr val="506D62"/>
                </a:solidFill>
                <a:latin typeface="Arial"/>
                <a:ea typeface="Arial"/>
                <a:cs typeface="Arial"/>
              </a:defRPr>
              <a:lnSpc>
                <a:spcPts val="921"/>
              </a:lnSpc>
              <a:spcBef>
                <a:spcPts val="0"/>
              </a:spcBef>
              <a:spcAft>
                <a:spcPts val="0"/>
              </a:spcAft>
            </a:pPr>
            <a:r>
              <a:rPr sz="794" b="1" i="0">
                <a:solidFill>
                  <a:srgbClr val="506D62"/>
                </a:solidFill>
                <a:latin typeface="Arial"/>
                <a:ea typeface="Arial"/>
                <a:cs typeface="Arial"/>
              </a:rPr>
              <a:t>Dining hall</a:t>
            </a:r>
          </a:p>
        </p:txBody>
      </p:sp>
      <p:sp>
        <p:nvSpPr>
          <p:cNvPr id="43" name="Label">
            <a:extLst xmlns:a="http://schemas.openxmlformats.org/drawingml/2006/main">
              <a:ext uri="{FF2B5EF4-FFF2-40B4-BE49-F238E27FC236}">
                <a16:creationId xmlns:a16="http://schemas.microsoft.com/office/drawing/2014/main" id="{ECBD6E5A-0A2A-43A1-9242-77265DF0BFD3}"/>
              </a:ext>
            </a:extLst>
          </p:cNvPr>
          <p:cNvSpPr>
            <a:spLocks xmlns:a="http://schemas.openxmlformats.org/drawingml/2006/main" noGrp="1"/>
          </p:cNvSpPr>
          <p:nvPr/>
        </p:nvSpPr>
        <p:spPr>
          <a:xfrm xmlns:a="http://schemas.openxmlformats.org/drawingml/2006/main">
            <a:off x="7438474" y="2771345"/>
            <a:ext cx="739736"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687F72"/>
                </a:solidFill>
                <a:latin typeface="Arial"/>
                <a:ea typeface="Arial"/>
                <a:cs typeface="Arial"/>
              </a:defRPr>
            </a:defPPr>
          </a:lstStyle>
          <a:p xmlns:a="http://schemas.openxmlformats.org/drawingml/2006/main">
            <a:pPr>
              <a:buNone/>
              <a:defRPr sz="794" b="1" i="0">
                <a:solidFill>
                  <a:srgbClr val="687F72"/>
                </a:solidFill>
                <a:latin typeface="Arial"/>
                <a:ea typeface="Arial"/>
                <a:cs typeface="Arial"/>
              </a:defRPr>
              <a:lnSpc>
                <a:spcPts val="921"/>
              </a:lnSpc>
              <a:spcBef>
                <a:spcPts val="0"/>
              </a:spcBef>
              <a:spcAft>
                <a:spcPts val="0"/>
              </a:spcAft>
            </a:pPr>
            <a:r>
              <a:rPr sz="794" b="1" i="0">
                <a:solidFill>
                  <a:srgbClr val="687F72"/>
                </a:solidFill>
                <a:latin typeface="Arial"/>
                <a:ea typeface="Arial"/>
                <a:cs typeface="Arial"/>
              </a:rPr>
              <a:t>Vegetable plot</a:t>
            </a:r>
          </a:p>
        </p:txBody>
      </p:sp>
      <p:sp>
        <p:nvSpPr>
          <p:cNvPr id="44" name="Label">
            <a:extLst xmlns:a="http://schemas.openxmlformats.org/drawingml/2006/main">
              <a:ext uri="{FF2B5EF4-FFF2-40B4-BE49-F238E27FC236}">
                <a16:creationId xmlns:a16="http://schemas.microsoft.com/office/drawing/2014/main" id="{7449AE6E-F3DB-4D46-94E7-8DECF68A218A}"/>
              </a:ext>
            </a:extLst>
          </p:cNvPr>
          <p:cNvSpPr>
            <a:spLocks xmlns:a="http://schemas.openxmlformats.org/drawingml/2006/main" noGrp="1"/>
          </p:cNvSpPr>
          <p:nvPr/>
        </p:nvSpPr>
        <p:spPr>
          <a:xfrm xmlns:a="http://schemas.openxmlformats.org/drawingml/2006/main">
            <a:off x="7382664" y="2445203"/>
            <a:ext cx="482216"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738C82"/>
                </a:solidFill>
                <a:latin typeface="Arial"/>
                <a:ea typeface="Arial"/>
                <a:cs typeface="Arial"/>
              </a:defRPr>
            </a:defPPr>
          </a:lstStyle>
          <a:p xmlns:a="http://schemas.openxmlformats.org/drawingml/2006/main">
            <a:pPr>
              <a:buNone/>
              <a:defRPr sz="794" b="1" i="0">
                <a:solidFill>
                  <a:srgbClr val="738C82"/>
                </a:solidFill>
                <a:latin typeface="Arial"/>
                <a:ea typeface="Arial"/>
                <a:cs typeface="Arial"/>
              </a:defRPr>
              <a:lnSpc>
                <a:spcPts val="921"/>
              </a:lnSpc>
              <a:spcBef>
                <a:spcPts val="0"/>
              </a:spcBef>
              <a:spcAft>
                <a:spcPts val="0"/>
              </a:spcAft>
            </a:pPr>
            <a:r>
              <a:rPr sz="794" b="1" i="0">
                <a:solidFill>
                  <a:srgbClr val="738C82"/>
                </a:solidFill>
                <a:latin typeface="Arial"/>
                <a:ea typeface="Arial"/>
                <a:cs typeface="Arial"/>
              </a:rPr>
              <a:t>Facilities</a:t>
            </a:r>
          </a:p>
        </p:txBody>
      </p:sp>
      <p:sp>
        <p:nvSpPr>
          <p:cNvPr id="45" name="Label">
            <a:extLst xmlns:a="http://schemas.openxmlformats.org/drawingml/2006/main">
              <a:ext uri="{FF2B5EF4-FFF2-40B4-BE49-F238E27FC236}">
                <a16:creationId xmlns:a16="http://schemas.microsoft.com/office/drawing/2014/main" id="{1C45A94D-9EA6-4D91-BC37-0824821B3EDF}"/>
              </a:ext>
            </a:extLst>
          </p:cNvPr>
          <p:cNvSpPr>
            <a:spLocks xmlns:a="http://schemas.openxmlformats.org/drawingml/2006/main" noGrp="1"/>
          </p:cNvSpPr>
          <p:nvPr/>
        </p:nvSpPr>
        <p:spPr>
          <a:xfrm xmlns:a="http://schemas.openxmlformats.org/drawingml/2006/main">
            <a:off x="7260513" y="1674283"/>
            <a:ext cx="566087" cy="142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794" b="1" i="0">
                <a:solidFill>
                  <a:srgbClr val="42646A"/>
                </a:solidFill>
                <a:latin typeface="Arial"/>
                <a:ea typeface="Arial"/>
                <a:cs typeface="Arial"/>
              </a:defRPr>
            </a:defPPr>
          </a:lstStyle>
          <a:p xmlns:a="http://schemas.openxmlformats.org/drawingml/2006/main">
            <a:pPr>
              <a:buNone/>
              <a:defRPr sz="794" b="1" i="0">
                <a:solidFill>
                  <a:srgbClr val="42646A"/>
                </a:solidFill>
                <a:latin typeface="Arial"/>
                <a:ea typeface="Arial"/>
                <a:cs typeface="Arial"/>
              </a:defRPr>
              <a:lnSpc>
                <a:spcPts val="921"/>
              </a:lnSpc>
              <a:spcBef>
                <a:spcPts val="0"/>
              </a:spcBef>
              <a:spcAft>
                <a:spcPts val="0"/>
              </a:spcAft>
            </a:pPr>
            <a:r>
              <a:rPr sz="794" b="1" i="0">
                <a:solidFill>
                  <a:srgbClr val="42646A"/>
                </a:solidFill>
                <a:latin typeface="Arial"/>
                <a:ea typeface="Arial"/>
                <a:cs typeface="Arial"/>
              </a:rPr>
              <a:t>Interaction</a:t>
            </a:r>
          </a:p>
        </p:txBody>
      </p:sp>
      <p:sp>
        <p:nvSpPr>
          <p:cNvPr id="46" name="Editable paragraph">
            <a:extLst xmlns:a="http://schemas.openxmlformats.org/drawingml/2006/main">
              <a:ext uri="{FF2B5EF4-FFF2-40B4-BE49-F238E27FC236}">
                <a16:creationId xmlns:a16="http://schemas.microsoft.com/office/drawing/2014/main" id="{29B51158-6D46-4700-905D-C86BE3708682}"/>
              </a:ext>
            </a:extLst>
          </p:cNvPr>
          <p:cNvSpPr>
            <a:spLocks xmlns:a="http://schemas.openxmlformats.org/drawingml/2006/main" noGrp="1"/>
          </p:cNvSpPr>
          <p:nvPr/>
        </p:nvSpPr>
        <p:spPr>
          <a:xfrm xmlns:a="http://schemas.openxmlformats.org/drawingml/2006/main">
            <a:off x="7188200" y="3086100"/>
            <a:ext cx="3200400" cy="1243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60" b="0" i="0">
                <a:solidFill>
                  <a:srgbClr val="252D2C"/>
                </a:solidFill>
                <a:latin typeface="Arial"/>
                <a:ea typeface="Arial"/>
                <a:cs typeface="Arial"/>
              </a:defRPr>
            </a:defPPr>
          </a:lstStyle>
          <a:p xmlns:a="http://schemas.openxmlformats.org/drawingml/2006/main">
            <a:pPr>
              <a:buNone/>
              <a:defRPr sz="660" b="0" i="0">
                <a:solidFill>
                  <a:srgbClr val="252D2C"/>
                </a:solidFill>
                <a:latin typeface="Arial"/>
                <a:ea typeface="Arial"/>
                <a:cs typeface="Arial"/>
              </a:defRPr>
              <a:lnSpc>
                <a:spcPts val="779"/>
              </a:lnSpc>
              <a:spcBef>
                <a:spcPts val="0"/>
              </a:spcBef>
              <a:spcAft>
                <a:spcPts val="0"/>
              </a:spcAft>
            </a:pPr>
            <a:r>
              <a:rPr sz="660" b="0" i="0">
                <a:solidFill>
                  <a:srgbClr val="252D2C"/>
                </a:solidFill>
                <a:latin typeface="Arial"/>
                <a:ea typeface="Arial"/>
                <a:cs typeface="Arial"/>
              </a:rPr>
              <a:t>Figure 3. Word clouds of questionnaire themes.</a:t>
            </a:r>
          </a:p>
        </p:txBody>
      </p:sp>
      <p:sp>
        <p:nvSpPr>
          <p:cNvPr id="47" name="Editable paragraph">
            <a:extLst xmlns:a="http://schemas.openxmlformats.org/drawingml/2006/main">
              <a:ext uri="{FF2B5EF4-FFF2-40B4-BE49-F238E27FC236}">
                <a16:creationId xmlns:a16="http://schemas.microsoft.com/office/drawing/2014/main" id="{5D3D3E33-4CC1-424F-9EA7-E37FE66131C2}"/>
              </a:ext>
            </a:extLst>
          </p:cNvPr>
          <p:cNvSpPr>
            <a:spLocks xmlns:a="http://schemas.openxmlformats.org/drawingml/2006/main" noGrp="1"/>
          </p:cNvSpPr>
          <p:nvPr/>
        </p:nvSpPr>
        <p:spPr>
          <a:xfrm xmlns:a="http://schemas.openxmlformats.org/drawingml/2006/main">
            <a:off x="7188200" y="3314700"/>
            <a:ext cx="3200400" cy="186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60" b="1" i="0">
                <a:solidFill>
                  <a:srgbClr val="345A60"/>
                </a:solidFill>
                <a:latin typeface="Arial"/>
                <a:ea typeface="Arial"/>
                <a:cs typeface="Arial"/>
              </a:defRPr>
            </a:defPPr>
          </a:lstStyle>
          <a:p xmlns:a="http://schemas.openxmlformats.org/drawingml/2006/main">
            <a:pPr>
              <a:buNone/>
              <a:defRPr sz="1060" b="1" i="0">
                <a:solidFill>
                  <a:srgbClr val="345A60"/>
                </a:solidFill>
                <a:latin typeface="Arial"/>
                <a:ea typeface="Arial"/>
                <a:cs typeface="Arial"/>
              </a:defRPr>
              <a:lnSpc>
                <a:spcPts val="1272"/>
              </a:lnSpc>
              <a:spcBef>
                <a:spcPts val="0"/>
              </a:spcBef>
              <a:spcAft>
                <a:spcPts val="0"/>
              </a:spcAft>
            </a:pPr>
            <a:r>
              <a:rPr sz="1060" b="1" i="0">
                <a:solidFill>
                  <a:srgbClr val="345A60"/>
                </a:solidFill>
                <a:latin typeface="Arial"/>
                <a:ea typeface="Arial"/>
                <a:cs typeface="Arial"/>
              </a:rPr>
              <a:t>02 / Campus spaces</a:t>
            </a:r>
          </a:p>
        </p:txBody>
      </p:sp>
      <p:sp>
        <p:nvSpPr>
          <p:cNvPr id="48" name="Label">
            <a:extLst xmlns:a="http://schemas.openxmlformats.org/drawingml/2006/main">
              <a:ext uri="{FF2B5EF4-FFF2-40B4-BE49-F238E27FC236}">
                <a16:creationId xmlns:a16="http://schemas.microsoft.com/office/drawing/2014/main" id="{B6BD5F4B-FCC3-4F68-9D06-63A3744CC539}"/>
              </a:ext>
            </a:extLst>
          </p:cNvPr>
          <p:cNvSpPr>
            <a:spLocks xmlns:a="http://schemas.openxmlformats.org/drawingml/2006/main" noGrp="1"/>
          </p:cNvSpPr>
          <p:nvPr/>
        </p:nvSpPr>
        <p:spPr>
          <a:xfrm xmlns:a="http://schemas.openxmlformats.org/drawingml/2006/main">
            <a:off x="7872547" y="4122435"/>
            <a:ext cx="1796808" cy="41727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660" b="1" i="0">
                <a:solidFill>
                  <a:srgbClr val="345A60"/>
                </a:solidFill>
                <a:latin typeface="Arial"/>
                <a:ea typeface="Arial"/>
                <a:cs typeface="Arial"/>
              </a:defRPr>
            </a:defPPr>
          </a:lstStyle>
          <a:p xmlns:a="http://schemas.openxmlformats.org/drawingml/2006/main">
            <a:pPr>
              <a:buNone/>
              <a:defRPr sz="2660" b="1" i="0">
                <a:solidFill>
                  <a:srgbClr val="345A60"/>
                </a:solidFill>
                <a:latin typeface="Arial"/>
                <a:ea typeface="Arial"/>
                <a:cs typeface="Arial"/>
              </a:defRPr>
              <a:lnSpc>
                <a:spcPts val="3086"/>
              </a:lnSpc>
              <a:spcBef>
                <a:spcPts val="0"/>
              </a:spcBef>
              <a:spcAft>
                <a:spcPts val="0"/>
              </a:spcAft>
            </a:pPr>
            <a:r>
              <a:rPr sz="2660" b="1" i="0">
                <a:solidFill>
                  <a:srgbClr val="345A60"/>
                </a:solidFill>
                <a:latin typeface="Arial"/>
                <a:ea typeface="Arial"/>
                <a:cs typeface="Arial"/>
              </a:rPr>
              <a:t>Classroom</a:t>
            </a:r>
          </a:p>
        </p:txBody>
      </p:sp>
      <p:sp>
        <p:nvSpPr>
          <p:cNvPr id="49" name="Label">
            <a:extLst xmlns:a="http://schemas.openxmlformats.org/drawingml/2006/main">
              <a:ext uri="{FF2B5EF4-FFF2-40B4-BE49-F238E27FC236}">
                <a16:creationId xmlns:a16="http://schemas.microsoft.com/office/drawing/2014/main" id="{69ED021E-386D-4EAE-B7D8-7E72F2DEDE31}"/>
              </a:ext>
            </a:extLst>
          </p:cNvPr>
          <p:cNvSpPr>
            <a:spLocks xmlns:a="http://schemas.openxmlformats.org/drawingml/2006/main" noGrp="1"/>
          </p:cNvSpPr>
          <p:nvPr/>
        </p:nvSpPr>
        <p:spPr>
          <a:xfrm xmlns:a="http://schemas.openxmlformats.org/drawingml/2006/main">
            <a:off x="7654129" y="3787723"/>
            <a:ext cx="2235517" cy="3216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011" b="1" i="0">
                <a:solidFill>
                  <a:srgbClr val="506D62"/>
                </a:solidFill>
                <a:latin typeface="Arial"/>
                <a:ea typeface="Arial"/>
                <a:cs typeface="Arial"/>
              </a:defRPr>
            </a:defPPr>
          </a:lstStyle>
          <a:p xmlns:a="http://schemas.openxmlformats.org/drawingml/2006/main">
            <a:pPr>
              <a:buNone/>
              <a:defRPr sz="2011" b="1" i="0">
                <a:solidFill>
                  <a:srgbClr val="506D62"/>
                </a:solidFill>
                <a:latin typeface="Arial"/>
                <a:ea typeface="Arial"/>
                <a:cs typeface="Arial"/>
              </a:defRPr>
              <a:lnSpc>
                <a:spcPts val="2332"/>
              </a:lnSpc>
              <a:spcBef>
                <a:spcPts val="0"/>
              </a:spcBef>
              <a:spcAft>
                <a:spcPts val="0"/>
              </a:spcAft>
            </a:pPr>
            <a:r>
              <a:rPr sz="2011" b="1" i="0">
                <a:solidFill>
                  <a:srgbClr val="506D62"/>
                </a:solidFill>
                <a:latin typeface="Arial"/>
                <a:ea typeface="Arial"/>
                <a:cs typeface="Arial"/>
              </a:rPr>
              <a:t>Teaching building</a:t>
            </a:r>
          </a:p>
        </p:txBody>
      </p:sp>
      <p:sp>
        <p:nvSpPr>
          <p:cNvPr id="50" name="Label">
            <a:extLst xmlns:a="http://schemas.openxmlformats.org/drawingml/2006/main">
              <a:ext uri="{FF2B5EF4-FFF2-40B4-BE49-F238E27FC236}">
                <a16:creationId xmlns:a16="http://schemas.microsoft.com/office/drawing/2014/main" id="{4C880BF3-C2EA-4BCC-BF33-2531B4962E8D}"/>
              </a:ext>
            </a:extLst>
          </p:cNvPr>
          <p:cNvSpPr>
            <a:spLocks xmlns:a="http://schemas.openxmlformats.org/drawingml/2006/main" noGrp="1"/>
          </p:cNvSpPr>
          <p:nvPr/>
        </p:nvSpPr>
        <p:spPr>
          <a:xfrm xmlns:a="http://schemas.openxmlformats.org/drawingml/2006/main">
            <a:off x="8178024" y="4556006"/>
            <a:ext cx="1267261" cy="281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741" b="1" i="0">
                <a:solidFill>
                  <a:srgbClr val="687F72"/>
                </a:solidFill>
                <a:latin typeface="Arial"/>
                <a:ea typeface="Arial"/>
                <a:cs typeface="Arial"/>
              </a:defRPr>
            </a:defPPr>
          </a:lstStyle>
          <a:p xmlns:a="http://schemas.openxmlformats.org/drawingml/2006/main">
            <a:pPr>
              <a:buNone/>
              <a:defRPr sz="1741" b="1" i="0">
                <a:solidFill>
                  <a:srgbClr val="687F72"/>
                </a:solidFill>
                <a:latin typeface="Arial"/>
                <a:ea typeface="Arial"/>
                <a:cs typeface="Arial"/>
              </a:defRPr>
              <a:lnSpc>
                <a:spcPts val="2020"/>
              </a:lnSpc>
              <a:spcBef>
                <a:spcPts val="0"/>
              </a:spcBef>
              <a:spcAft>
                <a:spcPts val="0"/>
              </a:spcAft>
            </a:pPr>
            <a:r>
              <a:rPr sz="1741" b="1" i="0">
                <a:solidFill>
                  <a:srgbClr val="687F72"/>
                </a:solidFill>
                <a:latin typeface="Arial"/>
                <a:ea typeface="Arial"/>
                <a:cs typeface="Arial"/>
              </a:rPr>
              <a:t>Playground</a:t>
            </a:r>
          </a:p>
        </p:txBody>
      </p:sp>
      <p:sp>
        <p:nvSpPr>
          <p:cNvPr id="51" name="Label">
            <a:extLst xmlns:a="http://schemas.openxmlformats.org/drawingml/2006/main">
              <a:ext uri="{FF2B5EF4-FFF2-40B4-BE49-F238E27FC236}">
                <a16:creationId xmlns:a16="http://schemas.microsoft.com/office/drawing/2014/main" id="{923A6BF6-1150-4F48-A6C7-73DB5C1B92B0}"/>
              </a:ext>
            </a:extLst>
          </p:cNvPr>
          <p:cNvSpPr>
            <a:spLocks xmlns:a="http://schemas.openxmlformats.org/drawingml/2006/main" noGrp="1"/>
          </p:cNvSpPr>
          <p:nvPr/>
        </p:nvSpPr>
        <p:spPr>
          <a:xfrm xmlns:a="http://schemas.openxmlformats.org/drawingml/2006/main">
            <a:off x="8148557" y="4851424"/>
            <a:ext cx="1164565" cy="2348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422" b="1" i="0">
                <a:solidFill>
                  <a:srgbClr val="738C82"/>
                </a:solidFill>
                <a:latin typeface="Arial"/>
                <a:ea typeface="Arial"/>
                <a:cs typeface="Arial"/>
              </a:defRPr>
            </a:defPPr>
          </a:lstStyle>
          <a:p xmlns:a="http://schemas.openxmlformats.org/drawingml/2006/main">
            <a:pPr>
              <a:buNone/>
              <a:defRPr sz="1422" b="1" i="0">
                <a:solidFill>
                  <a:srgbClr val="738C82"/>
                </a:solidFill>
                <a:latin typeface="Arial"/>
                <a:ea typeface="Arial"/>
                <a:cs typeface="Arial"/>
              </a:defRPr>
              <a:lnSpc>
                <a:spcPts val="1649"/>
              </a:lnSpc>
              <a:spcBef>
                <a:spcPts val="0"/>
              </a:spcBef>
              <a:spcAft>
                <a:spcPts val="0"/>
              </a:spcAft>
            </a:pPr>
            <a:r>
              <a:rPr sz="1422" b="1" i="0">
                <a:solidFill>
                  <a:srgbClr val="738C82"/>
                </a:solidFill>
                <a:latin typeface="Arial"/>
                <a:ea typeface="Arial"/>
                <a:cs typeface="Arial"/>
              </a:rPr>
              <a:t>School clinic</a:t>
            </a:r>
          </a:p>
        </p:txBody>
      </p:sp>
      <p:sp>
        <p:nvSpPr>
          <p:cNvPr id="52" name="Label">
            <a:extLst xmlns:a="http://schemas.openxmlformats.org/drawingml/2006/main">
              <a:ext uri="{FF2B5EF4-FFF2-40B4-BE49-F238E27FC236}">
                <a16:creationId xmlns:a16="http://schemas.microsoft.com/office/drawing/2014/main" id="{AC6359D6-1B93-4043-888E-741CC87E5CC7}"/>
              </a:ext>
            </a:extLst>
          </p:cNvPr>
          <p:cNvSpPr>
            <a:spLocks xmlns:a="http://schemas.openxmlformats.org/drawingml/2006/main" noGrp="1"/>
          </p:cNvSpPr>
          <p:nvPr/>
        </p:nvSpPr>
        <p:spPr>
          <a:xfrm xmlns:a="http://schemas.openxmlformats.org/drawingml/2006/main">
            <a:off x="7595941" y="4567435"/>
            <a:ext cx="532297" cy="2348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422" b="1" i="0">
                <a:solidFill>
                  <a:srgbClr val="42646A"/>
                </a:solidFill>
                <a:latin typeface="Arial"/>
                <a:ea typeface="Arial"/>
                <a:cs typeface="Arial"/>
              </a:defRPr>
            </a:defPPr>
          </a:lstStyle>
          <a:p xmlns:a="http://schemas.openxmlformats.org/drawingml/2006/main">
            <a:pPr>
              <a:buNone/>
              <a:defRPr sz="1422" b="1" i="0">
                <a:solidFill>
                  <a:srgbClr val="42646A"/>
                </a:solidFill>
                <a:latin typeface="Arial"/>
                <a:ea typeface="Arial"/>
                <a:cs typeface="Arial"/>
              </a:defRPr>
              <a:lnSpc>
                <a:spcPts val="1649"/>
              </a:lnSpc>
              <a:spcBef>
                <a:spcPts val="0"/>
              </a:spcBef>
              <a:spcAft>
                <a:spcPts val="0"/>
              </a:spcAft>
            </a:pPr>
            <a:r>
              <a:rPr sz="1422" b="1" i="0">
                <a:solidFill>
                  <a:srgbClr val="42646A"/>
                </a:solidFill>
                <a:latin typeface="Arial"/>
                <a:ea typeface="Arial"/>
                <a:cs typeface="Arial"/>
              </a:rPr>
              <a:t>Toilet</a:t>
            </a:r>
          </a:p>
        </p:txBody>
      </p:sp>
      <p:sp>
        <p:nvSpPr>
          <p:cNvPr id="53" name="Label">
            <a:extLst xmlns:a="http://schemas.openxmlformats.org/drawingml/2006/main">
              <a:ext uri="{FF2B5EF4-FFF2-40B4-BE49-F238E27FC236}">
                <a16:creationId xmlns:a16="http://schemas.microsoft.com/office/drawing/2014/main" id="{62BB5F23-D502-456C-BE99-9F2448527C0C}"/>
              </a:ext>
            </a:extLst>
          </p:cNvPr>
          <p:cNvSpPr>
            <a:spLocks xmlns:a="http://schemas.openxmlformats.org/drawingml/2006/main" noGrp="1"/>
          </p:cNvSpPr>
          <p:nvPr/>
        </p:nvSpPr>
        <p:spPr>
          <a:xfrm xmlns:a="http://schemas.openxmlformats.org/drawingml/2006/main">
            <a:off x="7272131" y="4168765"/>
            <a:ext cx="582818" cy="2348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422" b="1" i="0">
                <a:solidFill>
                  <a:srgbClr val="345A60"/>
                </a:solidFill>
                <a:latin typeface="Arial"/>
                <a:ea typeface="Arial"/>
                <a:cs typeface="Arial"/>
              </a:defRPr>
            </a:defPPr>
          </a:lstStyle>
          <a:p xmlns:a="http://schemas.openxmlformats.org/drawingml/2006/main">
            <a:pPr>
              <a:buNone/>
              <a:defRPr sz="1422" b="1" i="0">
                <a:solidFill>
                  <a:srgbClr val="345A60"/>
                </a:solidFill>
                <a:latin typeface="Arial"/>
                <a:ea typeface="Arial"/>
                <a:cs typeface="Arial"/>
              </a:defRPr>
              <a:lnSpc>
                <a:spcPts val="1649"/>
              </a:lnSpc>
              <a:spcBef>
                <a:spcPts val="0"/>
              </a:spcBef>
              <a:spcAft>
                <a:spcPts val="0"/>
              </a:spcAft>
            </a:pPr>
            <a:r>
              <a:rPr sz="1422" b="1" i="0">
                <a:solidFill>
                  <a:srgbClr val="345A60"/>
                </a:solidFill>
                <a:latin typeface="Arial"/>
                <a:ea typeface="Arial"/>
                <a:cs typeface="Arial"/>
              </a:rPr>
              <a:t>Space</a:t>
            </a:r>
          </a:p>
        </p:txBody>
      </p:sp>
      <p:sp>
        <p:nvSpPr>
          <p:cNvPr id="54" name="Label">
            <a:extLst xmlns:a="http://schemas.openxmlformats.org/drawingml/2006/main">
              <a:ext uri="{FF2B5EF4-FFF2-40B4-BE49-F238E27FC236}">
                <a16:creationId xmlns:a16="http://schemas.microsoft.com/office/drawing/2014/main" id="{E447BD44-4DF9-4D8A-BC7A-AD5DABBDE032}"/>
              </a:ext>
            </a:extLst>
          </p:cNvPr>
          <p:cNvSpPr>
            <a:spLocks xmlns:a="http://schemas.openxmlformats.org/drawingml/2006/main" noGrp="1"/>
          </p:cNvSpPr>
          <p:nvPr/>
        </p:nvSpPr>
        <p:spPr>
          <a:xfrm xmlns:a="http://schemas.openxmlformats.org/drawingml/2006/main">
            <a:off x="8351070" y="3600362"/>
            <a:ext cx="660915" cy="1735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005" b="1" i="0">
                <a:solidFill>
                  <a:srgbClr val="506D62"/>
                </a:solidFill>
                <a:latin typeface="Arial"/>
                <a:ea typeface="Arial"/>
                <a:cs typeface="Arial"/>
              </a:defRPr>
            </a:defPPr>
          </a:lstStyle>
          <a:p xmlns:a="http://schemas.openxmlformats.org/drawingml/2006/main">
            <a:pPr>
              <a:buNone/>
              <a:defRPr sz="1005" b="1" i="0">
                <a:solidFill>
                  <a:srgbClr val="506D62"/>
                </a:solidFill>
                <a:latin typeface="Arial"/>
                <a:ea typeface="Arial"/>
                <a:cs typeface="Arial"/>
              </a:defRPr>
              <a:lnSpc>
                <a:spcPts val="1166"/>
              </a:lnSpc>
              <a:spcBef>
                <a:spcPts val="0"/>
              </a:spcBef>
              <a:spcAft>
                <a:spcPts val="0"/>
              </a:spcAft>
            </a:pPr>
            <a:r>
              <a:rPr sz="1005" b="1" i="0">
                <a:solidFill>
                  <a:srgbClr val="506D62"/>
                </a:solidFill>
                <a:latin typeface="Arial"/>
                <a:ea typeface="Arial"/>
                <a:cs typeface="Arial"/>
              </a:rPr>
              <a:t>Dormitory</a:t>
            </a:r>
          </a:p>
        </p:txBody>
      </p:sp>
      <p:sp>
        <p:nvSpPr>
          <p:cNvPr id="55" name="Label">
            <a:extLst xmlns:a="http://schemas.openxmlformats.org/drawingml/2006/main">
              <a:ext uri="{FF2B5EF4-FFF2-40B4-BE49-F238E27FC236}">
                <a16:creationId xmlns:a16="http://schemas.microsoft.com/office/drawing/2014/main" id="{DBB54624-9526-4633-8121-6394F1590F56}"/>
              </a:ext>
            </a:extLst>
          </p:cNvPr>
          <p:cNvSpPr>
            <a:spLocks xmlns:a="http://schemas.openxmlformats.org/drawingml/2006/main" noGrp="1"/>
          </p:cNvSpPr>
          <p:nvPr/>
        </p:nvSpPr>
        <p:spPr>
          <a:xfrm xmlns:a="http://schemas.openxmlformats.org/drawingml/2006/main">
            <a:off x="9463967" y="4593600"/>
            <a:ext cx="703372" cy="1735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005" b="1" i="0">
                <a:solidFill>
                  <a:srgbClr val="687F72"/>
                </a:solidFill>
                <a:latin typeface="Arial"/>
                <a:ea typeface="Arial"/>
                <a:cs typeface="Arial"/>
              </a:defRPr>
            </a:defPPr>
          </a:lstStyle>
          <a:p xmlns:a="http://schemas.openxmlformats.org/drawingml/2006/main">
            <a:pPr>
              <a:buNone/>
              <a:defRPr sz="1005" b="1" i="0">
                <a:solidFill>
                  <a:srgbClr val="687F72"/>
                </a:solidFill>
                <a:latin typeface="Arial"/>
                <a:ea typeface="Arial"/>
                <a:cs typeface="Arial"/>
              </a:defRPr>
              <a:lnSpc>
                <a:spcPts val="1166"/>
              </a:lnSpc>
              <a:spcBef>
                <a:spcPts val="0"/>
              </a:spcBef>
              <a:spcAft>
                <a:spcPts val="0"/>
              </a:spcAft>
            </a:pPr>
            <a:r>
              <a:rPr sz="1005" b="1" i="0">
                <a:solidFill>
                  <a:srgbClr val="687F72"/>
                </a:solidFill>
                <a:latin typeface="Arial"/>
                <a:ea typeface="Arial"/>
                <a:cs typeface="Arial"/>
              </a:rPr>
              <a:t>Dining hall</a:t>
            </a:r>
          </a:p>
        </p:txBody>
      </p:sp>
      <p:sp>
        <p:nvSpPr>
          <p:cNvPr id="56" name="Label">
            <a:extLst xmlns:a="http://schemas.openxmlformats.org/drawingml/2006/main">
              <a:ext uri="{FF2B5EF4-FFF2-40B4-BE49-F238E27FC236}">
                <a16:creationId xmlns:a16="http://schemas.microsoft.com/office/drawing/2014/main" id="{73781BDA-5BC5-496F-B094-E4BA7D1A1657}"/>
              </a:ext>
            </a:extLst>
          </p:cNvPr>
          <p:cNvSpPr>
            <a:spLocks xmlns:a="http://schemas.openxmlformats.org/drawingml/2006/main" noGrp="1"/>
          </p:cNvSpPr>
          <p:nvPr/>
        </p:nvSpPr>
        <p:spPr>
          <a:xfrm xmlns:a="http://schemas.openxmlformats.org/drawingml/2006/main">
            <a:off x="9093697" y="3587812"/>
            <a:ext cx="880870" cy="1735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005" b="1" i="0">
                <a:solidFill>
                  <a:srgbClr val="738C82"/>
                </a:solidFill>
                <a:latin typeface="Arial"/>
                <a:ea typeface="Arial"/>
                <a:cs typeface="Arial"/>
              </a:defRPr>
            </a:defPPr>
          </a:lstStyle>
          <a:p xmlns:a="http://schemas.openxmlformats.org/drawingml/2006/main">
            <a:pPr>
              <a:buNone/>
              <a:defRPr sz="1005" b="1" i="0">
                <a:solidFill>
                  <a:srgbClr val="738C82"/>
                </a:solidFill>
                <a:latin typeface="Arial"/>
                <a:ea typeface="Arial"/>
                <a:cs typeface="Arial"/>
              </a:defRPr>
              <a:lnSpc>
                <a:spcPts val="1166"/>
              </a:lnSpc>
              <a:spcBef>
                <a:spcPts val="0"/>
              </a:spcBef>
              <a:spcAft>
                <a:spcPts val="0"/>
              </a:spcAft>
            </a:pPr>
            <a:r>
              <a:rPr sz="1005" b="1" i="0">
                <a:solidFill>
                  <a:srgbClr val="738C82"/>
                </a:solidFill>
                <a:latin typeface="Arial"/>
                <a:ea typeface="Arial"/>
                <a:cs typeface="Arial"/>
              </a:rPr>
              <a:t>Rear grounds</a:t>
            </a:r>
          </a:p>
        </p:txBody>
      </p:sp>
      <p:sp>
        <p:nvSpPr>
          <p:cNvPr id="57" name="Label">
            <a:extLst xmlns:a="http://schemas.openxmlformats.org/drawingml/2006/main">
              <a:ext uri="{FF2B5EF4-FFF2-40B4-BE49-F238E27FC236}">
                <a16:creationId xmlns:a16="http://schemas.microsoft.com/office/drawing/2014/main" id="{E3721CDE-71E0-41CA-8A28-6CE073691704}"/>
              </a:ext>
            </a:extLst>
          </p:cNvPr>
          <p:cNvSpPr>
            <a:spLocks xmlns:a="http://schemas.openxmlformats.org/drawingml/2006/main" noGrp="1"/>
          </p:cNvSpPr>
          <p:nvPr/>
        </p:nvSpPr>
        <p:spPr>
          <a:xfrm xmlns:a="http://schemas.openxmlformats.org/drawingml/2006/main">
            <a:off x="9689778" y="4197808"/>
            <a:ext cx="625752" cy="1735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005" b="1" i="0">
                <a:solidFill>
                  <a:srgbClr val="42646A"/>
                </a:solidFill>
                <a:latin typeface="Arial"/>
                <a:ea typeface="Arial"/>
                <a:cs typeface="Arial"/>
              </a:defRPr>
            </a:defPPr>
          </a:lstStyle>
          <a:p xmlns:a="http://schemas.openxmlformats.org/drawingml/2006/main">
            <a:pPr>
              <a:buNone/>
              <a:defRPr sz="1005" b="1" i="0">
                <a:solidFill>
                  <a:srgbClr val="42646A"/>
                </a:solidFill>
                <a:latin typeface="Arial"/>
                <a:ea typeface="Arial"/>
                <a:cs typeface="Arial"/>
              </a:defRPr>
              <a:lnSpc>
                <a:spcPts val="1166"/>
              </a:lnSpc>
              <a:spcBef>
                <a:spcPts val="0"/>
              </a:spcBef>
              <a:spcAft>
                <a:spcPts val="0"/>
              </a:spcAft>
            </a:pPr>
            <a:r>
              <a:rPr sz="1005" b="1" i="0">
                <a:solidFill>
                  <a:srgbClr val="42646A"/>
                </a:solidFill>
                <a:latin typeface="Arial"/>
                <a:ea typeface="Arial"/>
                <a:cs typeface="Arial"/>
              </a:rPr>
              <a:t>Backyard</a:t>
            </a:r>
          </a:p>
        </p:txBody>
      </p:sp>
      <p:sp>
        <p:nvSpPr>
          <p:cNvPr id="58" name="Label">
            <a:extLst xmlns:a="http://schemas.openxmlformats.org/drawingml/2006/main">
              <a:ext uri="{FF2B5EF4-FFF2-40B4-BE49-F238E27FC236}">
                <a16:creationId xmlns:a16="http://schemas.microsoft.com/office/drawing/2014/main" id="{7E05C826-BAC4-4C23-9721-0626564480EA}"/>
              </a:ext>
            </a:extLst>
          </p:cNvPr>
          <p:cNvSpPr>
            <a:spLocks xmlns:a="http://schemas.openxmlformats.org/drawingml/2006/main" noGrp="1"/>
          </p:cNvSpPr>
          <p:nvPr/>
        </p:nvSpPr>
        <p:spPr>
          <a:xfrm xmlns:a="http://schemas.openxmlformats.org/drawingml/2006/main">
            <a:off x="7210470" y="4824194"/>
            <a:ext cx="923453" cy="1735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005" b="1" i="0">
                <a:solidFill>
                  <a:srgbClr val="345A60"/>
                </a:solidFill>
                <a:latin typeface="Arial"/>
                <a:ea typeface="Arial"/>
                <a:cs typeface="Arial"/>
              </a:defRPr>
            </a:defPPr>
          </a:lstStyle>
          <a:p xmlns:a="http://schemas.openxmlformats.org/drawingml/2006/main">
            <a:pPr>
              <a:buNone/>
              <a:defRPr sz="1005" b="1" i="0">
                <a:solidFill>
                  <a:srgbClr val="345A60"/>
                </a:solidFill>
                <a:latin typeface="Arial"/>
                <a:ea typeface="Arial"/>
                <a:cs typeface="Arial"/>
              </a:defRPr>
              <a:lnSpc>
                <a:spcPts val="1166"/>
              </a:lnSpc>
              <a:spcBef>
                <a:spcPts val="0"/>
              </a:spcBef>
              <a:spcAft>
                <a:spcPts val="0"/>
              </a:spcAft>
            </a:pPr>
            <a:r>
              <a:rPr sz="1005" b="1" i="0">
                <a:solidFill>
                  <a:srgbClr val="345A60"/>
                </a:solidFill>
                <a:latin typeface="Arial"/>
                <a:ea typeface="Arial"/>
                <a:cs typeface="Arial"/>
              </a:rPr>
              <a:t>Vegetable plot</a:t>
            </a:r>
          </a:p>
        </p:txBody>
      </p:sp>
      <p:sp>
        <p:nvSpPr>
          <p:cNvPr id="59" name="Editable paragraph">
            <a:extLst xmlns:a="http://schemas.openxmlformats.org/drawingml/2006/main">
              <a:ext uri="{FF2B5EF4-FFF2-40B4-BE49-F238E27FC236}">
                <a16:creationId xmlns:a16="http://schemas.microsoft.com/office/drawing/2014/main" id="{D1CAEC02-37D2-4A00-8C1E-21B08E9B01DC}"/>
              </a:ext>
            </a:extLst>
          </p:cNvPr>
          <p:cNvSpPr>
            <a:spLocks xmlns:a="http://schemas.openxmlformats.org/drawingml/2006/main" noGrp="1"/>
          </p:cNvSpPr>
          <p:nvPr/>
        </p:nvSpPr>
        <p:spPr>
          <a:xfrm xmlns:a="http://schemas.openxmlformats.org/drawingml/2006/main">
            <a:off x="7188200" y="5118100"/>
            <a:ext cx="3200400" cy="1244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345A60"/>
                </a:solidFill>
                <a:latin typeface="Arial"/>
                <a:ea typeface="Arial"/>
                <a:cs typeface="Arial"/>
              </a:defRPr>
            </a:defPPr>
          </a:lstStyle>
          <a:p xmlns:a="http://schemas.openxmlformats.org/drawingml/2006/main">
            <a:pPr>
              <a:buNone/>
              <a:defRPr sz="650" b="0" i="0">
                <a:solidFill>
                  <a:srgbClr val="345A60"/>
                </a:solidFill>
                <a:latin typeface="Arial"/>
                <a:ea typeface="Arial"/>
                <a:cs typeface="Arial"/>
              </a:defRPr>
              <a:lnSpc>
                <a:spcPts val="780"/>
              </a:lnSpc>
              <a:spcBef>
                <a:spcPts val="0"/>
              </a:spcBef>
              <a:spcAft>
                <a:spcPts val="0"/>
              </a:spcAft>
            </a:pPr>
            <a:r>
              <a:rPr sz="650" b="0" i="0">
                <a:solidFill>
                  <a:srgbClr val="345A60"/>
                </a:solidFill>
                <a:latin typeface="Arial"/>
                <a:ea typeface="Arial"/>
                <a:cs typeface="Arial"/>
              </a:rPr>
              <a:t>Word size reflects frequency in questionnaire responses.</a:t>
            </a:r>
          </a:p>
        </p:txBody>
      </p:sp>
      <p:sp>
        <p:nvSpPr>
          <p:cNvPr id="60" name="Editable paragraph">
            <a:extLst xmlns:a="http://schemas.openxmlformats.org/drawingml/2006/main">
              <a:ext uri="{FF2B5EF4-FFF2-40B4-BE49-F238E27FC236}">
                <a16:creationId xmlns:a16="http://schemas.microsoft.com/office/drawing/2014/main" id="{67324B46-568C-4E6F-B99B-94786E36C526}"/>
              </a:ext>
            </a:extLst>
          </p:cNvPr>
          <p:cNvSpPr>
            <a:spLocks xmlns:a="http://schemas.openxmlformats.org/drawingml/2006/main" noGrp="1"/>
          </p:cNvSpPr>
          <p:nvPr/>
        </p:nvSpPr>
        <p:spPr>
          <a:xfrm xmlns:a="http://schemas.openxmlformats.org/drawingml/2006/main">
            <a:off x="7188200" y="5308600"/>
            <a:ext cx="3200400" cy="186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60" b="1" i="0">
                <a:solidFill>
                  <a:srgbClr val="345A60"/>
                </a:solidFill>
                <a:latin typeface="Arial"/>
                <a:ea typeface="Arial"/>
                <a:cs typeface="Arial"/>
              </a:defRPr>
            </a:defPPr>
          </a:lstStyle>
          <a:p xmlns:a="http://schemas.openxmlformats.org/drawingml/2006/main">
            <a:pPr>
              <a:buNone/>
              <a:defRPr sz="1060" b="1" i="0">
                <a:solidFill>
                  <a:srgbClr val="345A60"/>
                </a:solidFill>
                <a:latin typeface="Arial"/>
                <a:ea typeface="Arial"/>
                <a:cs typeface="Arial"/>
              </a:defRPr>
              <a:lnSpc>
                <a:spcPts val="1272"/>
              </a:lnSpc>
              <a:spcBef>
                <a:spcPts val="0"/>
              </a:spcBef>
              <a:spcAft>
                <a:spcPts val="0"/>
              </a:spcAft>
            </a:pPr>
            <a:r>
              <a:rPr sz="1060" b="1" i="0">
                <a:solidFill>
                  <a:srgbClr val="345A60"/>
                </a:solidFill>
                <a:latin typeface="Arial"/>
                <a:ea typeface="Arial"/>
                <a:cs typeface="Arial"/>
              </a:rPr>
              <a:t>03 / Care &amp; resources</a:t>
            </a:r>
          </a:p>
        </p:txBody>
      </p:sp>
      <p:sp>
        <p:nvSpPr>
          <p:cNvPr id="61" name="Label">
            <a:extLst xmlns:a="http://schemas.openxmlformats.org/drawingml/2006/main">
              <a:ext uri="{FF2B5EF4-FFF2-40B4-BE49-F238E27FC236}">
                <a16:creationId xmlns:a16="http://schemas.microsoft.com/office/drawing/2014/main" id="{9BAF6673-4EB7-4BF1-A0DC-A9E10BCC65AC}"/>
              </a:ext>
            </a:extLst>
          </p:cNvPr>
          <p:cNvSpPr>
            <a:spLocks xmlns:a="http://schemas.openxmlformats.org/drawingml/2006/main" noGrp="1"/>
          </p:cNvSpPr>
          <p:nvPr/>
        </p:nvSpPr>
        <p:spPr>
          <a:xfrm xmlns:a="http://schemas.openxmlformats.org/drawingml/2006/main">
            <a:off x="8014755" y="6113839"/>
            <a:ext cx="1482930" cy="446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860" b="1" i="0">
                <a:solidFill>
                  <a:srgbClr val="345A60"/>
                </a:solidFill>
                <a:latin typeface="Arial"/>
                <a:ea typeface="Arial"/>
                <a:cs typeface="Arial"/>
              </a:defRPr>
            </a:defPPr>
          </a:lstStyle>
          <a:p xmlns:a="http://schemas.openxmlformats.org/drawingml/2006/main">
            <a:pPr>
              <a:buNone/>
              <a:defRPr sz="2860" b="1" i="0">
                <a:solidFill>
                  <a:srgbClr val="345A60"/>
                </a:solidFill>
                <a:latin typeface="Arial"/>
                <a:ea typeface="Arial"/>
                <a:cs typeface="Arial"/>
              </a:defRPr>
              <a:lnSpc>
                <a:spcPts val="3318"/>
              </a:lnSpc>
              <a:spcBef>
                <a:spcPts val="0"/>
              </a:spcBef>
              <a:spcAft>
                <a:spcPts val="0"/>
              </a:spcAft>
            </a:pPr>
            <a:r>
              <a:rPr sz="2860" b="1" i="0">
                <a:solidFill>
                  <a:srgbClr val="345A60"/>
                </a:solidFill>
                <a:latin typeface="Arial"/>
                <a:ea typeface="Arial"/>
                <a:cs typeface="Arial"/>
              </a:rPr>
              <a:t>Funding</a:t>
            </a:r>
          </a:p>
        </p:txBody>
      </p:sp>
      <p:sp>
        <p:nvSpPr>
          <p:cNvPr id="62" name="Label">
            <a:extLst xmlns:a="http://schemas.openxmlformats.org/drawingml/2006/main">
              <a:ext uri="{FF2B5EF4-FFF2-40B4-BE49-F238E27FC236}">
                <a16:creationId xmlns:a16="http://schemas.microsoft.com/office/drawing/2014/main" id="{F7202AE4-9DDD-4C52-9118-4C19220497FD}"/>
              </a:ext>
            </a:extLst>
          </p:cNvPr>
          <p:cNvSpPr>
            <a:spLocks xmlns:a="http://schemas.openxmlformats.org/drawingml/2006/main" noGrp="1"/>
          </p:cNvSpPr>
          <p:nvPr/>
        </p:nvSpPr>
        <p:spPr>
          <a:xfrm xmlns:a="http://schemas.openxmlformats.org/drawingml/2006/main">
            <a:off x="8343570" y="5808616"/>
            <a:ext cx="842259" cy="29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9" b="1" i="0">
                <a:solidFill>
                  <a:srgbClr val="506D62"/>
                </a:solidFill>
                <a:latin typeface="Arial"/>
                <a:ea typeface="Arial"/>
                <a:cs typeface="Arial"/>
              </a:defRPr>
            </a:defPPr>
          </a:lstStyle>
          <a:p xmlns:a="http://schemas.openxmlformats.org/drawingml/2006/main">
            <a:pPr>
              <a:buNone/>
              <a:defRPr sz="1809" b="1" i="0">
                <a:solidFill>
                  <a:srgbClr val="506D62"/>
                </a:solidFill>
                <a:latin typeface="Arial"/>
                <a:ea typeface="Arial"/>
                <a:cs typeface="Arial"/>
              </a:defRPr>
              <a:lnSpc>
                <a:spcPts val="2098"/>
              </a:lnSpc>
              <a:spcBef>
                <a:spcPts val="0"/>
              </a:spcBef>
              <a:spcAft>
                <a:spcPts val="0"/>
              </a:spcAft>
            </a:pPr>
            <a:r>
              <a:rPr sz="1809" b="1" i="0">
                <a:solidFill>
                  <a:srgbClr val="506D62"/>
                </a:solidFill>
                <a:latin typeface="Arial"/>
                <a:ea typeface="Arial"/>
                <a:cs typeface="Arial"/>
              </a:rPr>
              <a:t>Charity</a:t>
            </a:r>
          </a:p>
        </p:txBody>
      </p:sp>
      <p:sp>
        <p:nvSpPr>
          <p:cNvPr id="63" name="Label">
            <a:extLst xmlns:a="http://schemas.openxmlformats.org/drawingml/2006/main">
              <a:ext uri="{FF2B5EF4-FFF2-40B4-BE49-F238E27FC236}">
                <a16:creationId xmlns:a16="http://schemas.microsoft.com/office/drawing/2014/main" id="{88C04BFA-3BE1-495B-B44F-7A03FC3F9D1F}"/>
              </a:ext>
            </a:extLst>
          </p:cNvPr>
          <p:cNvSpPr>
            <a:spLocks xmlns:a="http://schemas.openxmlformats.org/drawingml/2006/main" noGrp="1"/>
          </p:cNvSpPr>
          <p:nvPr/>
        </p:nvSpPr>
        <p:spPr>
          <a:xfrm xmlns:a="http://schemas.openxmlformats.org/drawingml/2006/main">
            <a:off x="8127303" y="6573713"/>
            <a:ext cx="1454697" cy="29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9" b="1" i="0">
                <a:solidFill>
                  <a:srgbClr val="687F72"/>
                </a:solidFill>
                <a:latin typeface="Arial"/>
                <a:ea typeface="Arial"/>
                <a:cs typeface="Arial"/>
              </a:defRPr>
            </a:defPPr>
          </a:lstStyle>
          <a:p xmlns:a="http://schemas.openxmlformats.org/drawingml/2006/main">
            <a:pPr>
              <a:buNone/>
              <a:defRPr sz="1809" b="1" i="0">
                <a:solidFill>
                  <a:srgbClr val="687F72"/>
                </a:solidFill>
                <a:latin typeface="Arial"/>
                <a:ea typeface="Arial"/>
                <a:cs typeface="Arial"/>
              </a:defRPr>
              <a:lnSpc>
                <a:spcPts val="2098"/>
              </a:lnSpc>
              <a:spcBef>
                <a:spcPts val="0"/>
              </a:spcBef>
              <a:spcAft>
                <a:spcPts val="0"/>
              </a:spcAft>
            </a:pPr>
            <a:r>
              <a:rPr sz="1809" b="1" i="0">
                <a:solidFill>
                  <a:srgbClr val="687F72"/>
                </a:solidFill>
                <a:latin typeface="Arial"/>
                <a:ea typeface="Arial"/>
                <a:cs typeface="Arial"/>
              </a:rPr>
              <a:t>Volunteering</a:t>
            </a:r>
          </a:p>
        </p:txBody>
      </p:sp>
      <p:sp>
        <p:nvSpPr>
          <p:cNvPr id="64" name="Label">
            <a:extLst xmlns:a="http://schemas.openxmlformats.org/drawingml/2006/main">
              <a:ext uri="{FF2B5EF4-FFF2-40B4-BE49-F238E27FC236}">
                <a16:creationId xmlns:a16="http://schemas.microsoft.com/office/drawing/2014/main" id="{71D8226C-BB5D-48AF-87EB-F3A3D01F7D36}"/>
              </a:ext>
            </a:extLst>
          </p:cNvPr>
          <p:cNvSpPr>
            <a:spLocks xmlns:a="http://schemas.openxmlformats.org/drawingml/2006/main" noGrp="1"/>
          </p:cNvSpPr>
          <p:nvPr/>
        </p:nvSpPr>
        <p:spPr>
          <a:xfrm xmlns:a="http://schemas.openxmlformats.org/drawingml/2006/main">
            <a:off x="9201255" y="5870795"/>
            <a:ext cx="818410" cy="2138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279" b="1" i="0">
                <a:solidFill>
                  <a:srgbClr val="738C82"/>
                </a:solidFill>
                <a:latin typeface="Arial"/>
                <a:ea typeface="Arial"/>
                <a:cs typeface="Arial"/>
              </a:defRPr>
            </a:defPPr>
          </a:lstStyle>
          <a:p xmlns:a="http://schemas.openxmlformats.org/drawingml/2006/main">
            <a:pPr>
              <a:buNone/>
              <a:defRPr sz="1279" b="1" i="0">
                <a:solidFill>
                  <a:srgbClr val="738C82"/>
                </a:solidFill>
                <a:latin typeface="Arial"/>
                <a:ea typeface="Arial"/>
                <a:cs typeface="Arial"/>
              </a:defRPr>
              <a:lnSpc>
                <a:spcPts val="1484"/>
              </a:lnSpc>
              <a:spcBef>
                <a:spcPts val="0"/>
              </a:spcBef>
              <a:spcAft>
                <a:spcPts val="0"/>
              </a:spcAft>
            </a:pPr>
            <a:r>
              <a:rPr sz="1279" b="1" i="0">
                <a:solidFill>
                  <a:srgbClr val="738C82"/>
                </a:solidFill>
                <a:latin typeface="Arial"/>
                <a:ea typeface="Arial"/>
                <a:cs typeface="Arial"/>
              </a:rPr>
              <a:t>Daily care</a:t>
            </a:r>
          </a:p>
        </p:txBody>
      </p:sp>
      <p:sp>
        <p:nvSpPr>
          <p:cNvPr id="65" name="Label">
            <a:extLst xmlns:a="http://schemas.openxmlformats.org/drawingml/2006/main">
              <a:ext uri="{FF2B5EF4-FFF2-40B4-BE49-F238E27FC236}">
                <a16:creationId xmlns:a16="http://schemas.microsoft.com/office/drawing/2014/main" id="{31CCFF7F-BA08-46E6-8A82-E741F0AAB724}"/>
              </a:ext>
            </a:extLst>
          </p:cNvPr>
          <p:cNvSpPr>
            <a:spLocks xmlns:a="http://schemas.openxmlformats.org/drawingml/2006/main" noGrp="1"/>
          </p:cNvSpPr>
          <p:nvPr/>
        </p:nvSpPr>
        <p:spPr>
          <a:xfrm xmlns:a="http://schemas.openxmlformats.org/drawingml/2006/main">
            <a:off x="8039875" y="6879693"/>
            <a:ext cx="1485607" cy="2138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279" b="1" i="0">
                <a:solidFill>
                  <a:srgbClr val="42646A"/>
                </a:solidFill>
                <a:latin typeface="Arial"/>
                <a:ea typeface="Arial"/>
                <a:cs typeface="Arial"/>
              </a:defRPr>
            </a:defPPr>
          </a:lstStyle>
          <a:p xmlns:a="http://schemas.openxmlformats.org/drawingml/2006/main">
            <a:pPr>
              <a:buNone/>
              <a:defRPr sz="1279" b="1" i="0">
                <a:solidFill>
                  <a:srgbClr val="42646A"/>
                </a:solidFill>
                <a:latin typeface="Arial"/>
                <a:ea typeface="Arial"/>
                <a:cs typeface="Arial"/>
              </a:defRPr>
              <a:lnSpc>
                <a:spcPts val="1484"/>
              </a:lnSpc>
              <a:spcBef>
                <a:spcPts val="0"/>
              </a:spcBef>
              <a:spcAft>
                <a:spcPts val="0"/>
              </a:spcAft>
            </a:pPr>
            <a:r>
              <a:rPr sz="1279" b="1" i="0">
                <a:solidFill>
                  <a:srgbClr val="42646A"/>
                </a:solidFill>
                <a:latin typeface="Arial"/>
                <a:ea typeface="Arial"/>
                <a:cs typeface="Arial"/>
              </a:rPr>
              <a:t>Emotional support</a:t>
            </a:r>
          </a:p>
        </p:txBody>
      </p:sp>
      <p:sp>
        <p:nvSpPr>
          <p:cNvPr id="66" name="Label">
            <a:extLst xmlns:a="http://schemas.openxmlformats.org/drawingml/2006/main">
              <a:ext uri="{FF2B5EF4-FFF2-40B4-BE49-F238E27FC236}">
                <a16:creationId xmlns:a16="http://schemas.microsoft.com/office/drawing/2014/main" id="{64A605AB-AF72-42E7-BF80-16BEF4934987}"/>
              </a:ext>
            </a:extLst>
          </p:cNvPr>
          <p:cNvSpPr>
            <a:spLocks xmlns:a="http://schemas.openxmlformats.org/drawingml/2006/main" noGrp="1"/>
          </p:cNvSpPr>
          <p:nvPr/>
        </p:nvSpPr>
        <p:spPr>
          <a:xfrm xmlns:a="http://schemas.openxmlformats.org/drawingml/2006/main">
            <a:off x="8122031" y="5581080"/>
            <a:ext cx="1151929" cy="2138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279" b="1" i="0">
                <a:solidFill>
                  <a:srgbClr val="345A60"/>
                </a:solidFill>
                <a:latin typeface="Arial"/>
                <a:ea typeface="Arial"/>
                <a:cs typeface="Arial"/>
              </a:defRPr>
            </a:defPPr>
          </a:lstStyle>
          <a:p xmlns:a="http://schemas.openxmlformats.org/drawingml/2006/main">
            <a:pPr>
              <a:buNone/>
              <a:defRPr sz="1279" b="1" i="0">
                <a:solidFill>
                  <a:srgbClr val="345A60"/>
                </a:solidFill>
                <a:latin typeface="Arial"/>
                <a:ea typeface="Arial"/>
                <a:cs typeface="Arial"/>
              </a:defRPr>
              <a:lnSpc>
                <a:spcPts val="1484"/>
              </a:lnSpc>
              <a:spcBef>
                <a:spcPts val="0"/>
              </a:spcBef>
              <a:spcAft>
                <a:spcPts val="0"/>
              </a:spcAft>
            </a:pPr>
            <a:r>
              <a:rPr sz="1279" b="1" i="0">
                <a:solidFill>
                  <a:srgbClr val="345A60"/>
                </a:solidFill>
                <a:latin typeface="Arial"/>
                <a:ea typeface="Arial"/>
                <a:cs typeface="Arial"/>
              </a:rPr>
              <a:t>Teaching staff</a:t>
            </a:r>
          </a:p>
        </p:txBody>
      </p:sp>
      <p:sp>
        <p:nvSpPr>
          <p:cNvPr id="67" name="Label">
            <a:extLst xmlns:a="http://schemas.openxmlformats.org/drawingml/2006/main">
              <a:ext uri="{FF2B5EF4-FFF2-40B4-BE49-F238E27FC236}">
                <a16:creationId xmlns:a16="http://schemas.microsoft.com/office/drawing/2014/main" id="{B5596C9F-1813-42F2-8433-23E771428F85}"/>
              </a:ext>
            </a:extLst>
          </p:cNvPr>
          <p:cNvSpPr>
            <a:spLocks xmlns:a="http://schemas.openxmlformats.org/drawingml/2006/main" noGrp="1"/>
          </p:cNvSpPr>
          <p:nvPr/>
        </p:nvSpPr>
        <p:spPr>
          <a:xfrm xmlns:a="http://schemas.openxmlformats.org/drawingml/2006/main">
            <a:off x="7476513" y="5879821"/>
            <a:ext cx="844901" cy="2138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279" b="1" i="0">
                <a:solidFill>
                  <a:srgbClr val="506D62"/>
                </a:solidFill>
                <a:latin typeface="Arial"/>
                <a:ea typeface="Arial"/>
                <a:cs typeface="Arial"/>
              </a:defRPr>
            </a:defPPr>
          </a:lstStyle>
          <a:p xmlns:a="http://schemas.openxmlformats.org/drawingml/2006/main">
            <a:pPr>
              <a:buNone/>
              <a:defRPr sz="1279" b="1" i="0">
                <a:solidFill>
                  <a:srgbClr val="506D62"/>
                </a:solidFill>
                <a:latin typeface="Arial"/>
                <a:ea typeface="Arial"/>
                <a:cs typeface="Arial"/>
              </a:defRPr>
              <a:lnSpc>
                <a:spcPts val="1484"/>
              </a:lnSpc>
              <a:spcBef>
                <a:spcPts val="0"/>
              </a:spcBef>
              <a:spcAft>
                <a:spcPts val="0"/>
              </a:spcAft>
            </a:pPr>
            <a:r>
              <a:rPr sz="1279" b="1" i="0">
                <a:solidFill>
                  <a:srgbClr val="506D62"/>
                </a:solidFill>
                <a:latin typeface="Arial"/>
                <a:ea typeface="Arial"/>
                <a:cs typeface="Arial"/>
              </a:rPr>
              <a:t>Donations</a:t>
            </a:r>
          </a:p>
        </p:txBody>
      </p:sp>
      <p:sp>
        <p:nvSpPr>
          <p:cNvPr id="68" name="Label">
            <a:extLst xmlns:a="http://schemas.openxmlformats.org/drawingml/2006/main">
              <a:ext uri="{FF2B5EF4-FFF2-40B4-BE49-F238E27FC236}">
                <a16:creationId xmlns:a16="http://schemas.microsoft.com/office/drawing/2014/main" id="{E8DEFD7C-473A-4B4F-8C97-9DD4A4B848E0}"/>
              </a:ext>
            </a:extLst>
          </p:cNvPr>
          <p:cNvSpPr>
            <a:spLocks xmlns:a="http://schemas.openxmlformats.org/drawingml/2006/main" noGrp="1"/>
          </p:cNvSpPr>
          <p:nvPr/>
        </p:nvSpPr>
        <p:spPr>
          <a:xfrm xmlns:a="http://schemas.openxmlformats.org/drawingml/2006/main">
            <a:off x="7215347" y="6596620"/>
            <a:ext cx="890269" cy="2138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279" b="1" i="0">
                <a:solidFill>
                  <a:srgbClr val="687F72"/>
                </a:solidFill>
                <a:latin typeface="Arial"/>
                <a:ea typeface="Arial"/>
                <a:cs typeface="Arial"/>
              </a:defRPr>
            </a:defPPr>
          </a:lstStyle>
          <a:p xmlns:a="http://schemas.openxmlformats.org/drawingml/2006/main">
            <a:pPr>
              <a:buNone/>
              <a:defRPr sz="1279" b="1" i="0">
                <a:solidFill>
                  <a:srgbClr val="687F72"/>
                </a:solidFill>
                <a:latin typeface="Arial"/>
                <a:ea typeface="Arial"/>
                <a:cs typeface="Arial"/>
              </a:defRPr>
              <a:lnSpc>
                <a:spcPts val="1484"/>
              </a:lnSpc>
              <a:spcBef>
                <a:spcPts val="0"/>
              </a:spcBef>
              <a:spcAft>
                <a:spcPts val="0"/>
              </a:spcAft>
            </a:pPr>
            <a:r>
              <a:rPr sz="1279" b="1" i="0">
                <a:solidFill>
                  <a:srgbClr val="687F72"/>
                </a:solidFill>
                <a:latin typeface="Arial"/>
                <a:ea typeface="Arial"/>
                <a:cs typeface="Arial"/>
              </a:rPr>
              <a:t>Volunteers</a:t>
            </a:r>
          </a:p>
        </p:txBody>
      </p:sp>
      <p:sp>
        <p:nvSpPr>
          <p:cNvPr id="69" name="Label">
            <a:extLst xmlns:a="http://schemas.openxmlformats.org/drawingml/2006/main">
              <a:ext uri="{FF2B5EF4-FFF2-40B4-BE49-F238E27FC236}">
                <a16:creationId xmlns:a16="http://schemas.microsoft.com/office/drawing/2014/main" id="{62D17162-6811-464E-B143-7BD62FDDA6ED}"/>
              </a:ext>
            </a:extLst>
          </p:cNvPr>
          <p:cNvSpPr>
            <a:spLocks xmlns:a="http://schemas.openxmlformats.org/drawingml/2006/main" noGrp="1"/>
          </p:cNvSpPr>
          <p:nvPr/>
        </p:nvSpPr>
        <p:spPr>
          <a:xfrm xmlns:a="http://schemas.openxmlformats.org/drawingml/2006/main">
            <a:off x="9318063" y="5632128"/>
            <a:ext cx="1025977" cy="2138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279" b="1" i="0">
                <a:solidFill>
                  <a:srgbClr val="738C82"/>
                </a:solidFill>
                <a:latin typeface="Arial"/>
                <a:ea typeface="Arial"/>
                <a:cs typeface="Arial"/>
              </a:defRPr>
            </a:defPPr>
          </a:lstStyle>
          <a:p xmlns:a="http://schemas.openxmlformats.org/drawingml/2006/main">
            <a:pPr>
              <a:buNone/>
              <a:defRPr sz="1279" b="1" i="0">
                <a:solidFill>
                  <a:srgbClr val="738C82"/>
                </a:solidFill>
                <a:latin typeface="Arial"/>
                <a:ea typeface="Arial"/>
                <a:cs typeface="Arial"/>
              </a:defRPr>
              <a:lnSpc>
                <a:spcPts val="1484"/>
              </a:lnSpc>
              <a:spcBef>
                <a:spcPts val="0"/>
              </a:spcBef>
              <a:spcAft>
                <a:spcPts val="0"/>
              </a:spcAft>
            </a:pPr>
            <a:r>
              <a:rPr sz="1279" b="1" i="0">
                <a:solidFill>
                  <a:srgbClr val="738C82"/>
                </a:solidFill>
                <a:latin typeface="Arial"/>
                <a:ea typeface="Arial"/>
                <a:cs typeface="Arial"/>
              </a:rPr>
              <a:t>Medical care</a:t>
            </a:r>
          </a:p>
        </p:txBody>
      </p:sp>
      <p:sp>
        <p:nvSpPr>
          <p:cNvPr id="70" name="Label">
            <a:extLst xmlns:a="http://schemas.openxmlformats.org/drawingml/2006/main">
              <a:ext uri="{FF2B5EF4-FFF2-40B4-BE49-F238E27FC236}">
                <a16:creationId xmlns:a16="http://schemas.microsoft.com/office/drawing/2014/main" id="{743B8E2B-07FF-4B81-8857-888B515D375C}"/>
              </a:ext>
            </a:extLst>
          </p:cNvPr>
          <p:cNvSpPr>
            <a:spLocks xmlns:a="http://schemas.openxmlformats.org/drawingml/2006/main" noGrp="1"/>
          </p:cNvSpPr>
          <p:nvPr/>
        </p:nvSpPr>
        <p:spPr>
          <a:xfrm xmlns:a="http://schemas.openxmlformats.org/drawingml/2006/main">
            <a:off x="7181960" y="5633806"/>
            <a:ext cx="881148" cy="2138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279" b="1" i="0">
                <a:solidFill>
                  <a:srgbClr val="42646A"/>
                </a:solidFill>
                <a:latin typeface="Arial"/>
                <a:ea typeface="Arial"/>
                <a:cs typeface="Arial"/>
              </a:defRPr>
            </a:defPPr>
          </a:lstStyle>
          <a:p xmlns:a="http://schemas.openxmlformats.org/drawingml/2006/main">
            <a:pPr>
              <a:buNone/>
              <a:defRPr sz="1279" b="1" i="0">
                <a:solidFill>
                  <a:srgbClr val="42646A"/>
                </a:solidFill>
                <a:latin typeface="Arial"/>
                <a:ea typeface="Arial"/>
                <a:cs typeface="Arial"/>
              </a:defRPr>
              <a:lnSpc>
                <a:spcPts val="1484"/>
              </a:lnSpc>
              <a:spcBef>
                <a:spcPts val="0"/>
              </a:spcBef>
              <a:spcAft>
                <a:spcPts val="0"/>
              </a:spcAft>
            </a:pPr>
            <a:r>
              <a:rPr sz="1279" b="1" i="0">
                <a:solidFill>
                  <a:srgbClr val="42646A"/>
                </a:solidFill>
                <a:latin typeface="Arial"/>
                <a:ea typeface="Arial"/>
                <a:cs typeface="Arial"/>
              </a:rPr>
              <a:t>Interaction</a:t>
            </a:r>
          </a:p>
        </p:txBody>
      </p:sp>
      <p:sp>
        <p:nvSpPr>
          <p:cNvPr id="71" name="Editable paragraph">
            <a:extLst xmlns:a="http://schemas.openxmlformats.org/drawingml/2006/main">
              <a:ext uri="{FF2B5EF4-FFF2-40B4-BE49-F238E27FC236}">
                <a16:creationId xmlns:a16="http://schemas.microsoft.com/office/drawing/2014/main" id="{3E816C0A-EF1B-450A-88D4-C3A5C834977E}"/>
              </a:ext>
            </a:extLst>
          </p:cNvPr>
          <p:cNvSpPr>
            <a:spLocks xmlns:a="http://schemas.openxmlformats.org/drawingml/2006/main" noGrp="1"/>
          </p:cNvSpPr>
          <p:nvPr/>
        </p:nvSpPr>
        <p:spPr>
          <a:xfrm xmlns:a="http://schemas.openxmlformats.org/drawingml/2006/main">
            <a:off x="7188200" y="7124700"/>
            <a:ext cx="3200400" cy="1244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345A60"/>
                </a:solidFill>
                <a:latin typeface="Arial"/>
                <a:ea typeface="Arial"/>
                <a:cs typeface="Arial"/>
              </a:defRPr>
            </a:defPPr>
          </a:lstStyle>
          <a:p xmlns:a="http://schemas.openxmlformats.org/drawingml/2006/main">
            <a:pPr>
              <a:buNone/>
              <a:defRPr sz="650" b="0" i="0">
                <a:solidFill>
                  <a:srgbClr val="345A60"/>
                </a:solidFill>
                <a:latin typeface="Arial"/>
                <a:ea typeface="Arial"/>
                <a:cs typeface="Arial"/>
              </a:defRPr>
              <a:lnSpc>
                <a:spcPts val="780"/>
              </a:lnSpc>
              <a:spcBef>
                <a:spcPts val="0"/>
              </a:spcBef>
              <a:spcAft>
                <a:spcPts val="0"/>
              </a:spcAft>
            </a:pPr>
            <a:r>
              <a:rPr sz="650" b="0" i="0">
                <a:solidFill>
                  <a:srgbClr val="345A60"/>
                </a:solidFill>
                <a:latin typeface="Arial"/>
                <a:ea typeface="Arial"/>
                <a:cs typeface="Arial"/>
              </a:rPr>
              <a:t>Word size reflects frequency in questionnaire responses.</a:t>
            </a:r>
          </a:p>
        </p:txBody>
      </p:sp>
    </p:spTree>
    <p:extLst>
      <p:ext uri="{BB962C8B-B14F-4D97-AF65-F5344CB8AC3E}">
        <p14:creationId xmlns:p14="http://schemas.microsoft.com/office/powerpoint/2010/main" val="12045833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ditable paragraph">
            <a:extLst xmlns:a="http://schemas.openxmlformats.org/drawingml/2006/main">
              <a:ext uri="{FF2B5EF4-FFF2-40B4-BE49-F238E27FC236}">
                <a16:creationId xmlns:a16="http://schemas.microsoft.com/office/drawing/2014/main" id="{5F1CBFFC-1A2F-4513-B8E5-D7D1670DDEC1}"/>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C27EE0F1-0C17-4C22-96F8-5CD019834003}"/>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0E41C944-2618-48BB-9FF2-81B9CD357B42}"/>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F2113ADF-43D8-4081-BDAF-AF89A92252C1}"/>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5B0A3655-8B93-4AA9-BADD-0483F63101EF}"/>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Daily rhythms &amp; care</a:t>
            </a:r>
          </a:p>
        </p:txBody>
      </p:sp>
      <p:sp>
        <p:nvSpPr>
          <p:cNvPr id="6" name="">
            <a:extLst xmlns:a="http://schemas.openxmlformats.org/drawingml/2006/main">
              <a:ext uri="{FF2B5EF4-FFF2-40B4-BE49-F238E27FC236}">
                <a16:creationId xmlns:a16="http://schemas.microsoft.com/office/drawing/2014/main" id="{5B35E1EF-B842-41B7-BA56-946BE655B09F}"/>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61983815-15FC-4E0A-9E7C-8D15D37FD62D}"/>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BF351A20-9FFC-43AD-87FB-25C19A60826E}"/>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04 / 15</a:t>
            </a:r>
          </a:p>
        </p:txBody>
      </p:sp>
      <p:sp>
        <p:nvSpPr>
          <p:cNvPr id="9" name="Editable paragraph">
            <a:extLst xmlns:a="http://schemas.openxmlformats.org/drawingml/2006/main">
              <a:ext uri="{FF2B5EF4-FFF2-40B4-BE49-F238E27FC236}">
                <a16:creationId xmlns:a16="http://schemas.microsoft.com/office/drawing/2014/main" id="{6E328C00-296A-4CD6-8A49-498A8D5591BB}"/>
              </a:ext>
            </a:extLst>
          </p:cNvPr>
          <p:cNvSpPr>
            <a:spLocks xmlns:a="http://schemas.openxmlformats.org/drawingml/2006/main" noGrp="1"/>
          </p:cNvSpPr>
          <p:nvPr/>
        </p:nvSpPr>
        <p:spPr>
          <a:xfrm xmlns:a="http://schemas.openxmlformats.org/drawingml/2006/main">
            <a:off x="304800" y="1016000"/>
            <a:ext cx="49657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05 / Daily rhythms and space use</a:t>
            </a:r>
          </a:p>
        </p:txBody>
      </p:sp>
      <p:sp>
        <p:nvSpPr>
          <p:cNvPr id="10" name="Editable paragraph">
            <a:extLst xmlns:a="http://schemas.openxmlformats.org/drawingml/2006/main">
              <a:ext uri="{FF2B5EF4-FFF2-40B4-BE49-F238E27FC236}">
                <a16:creationId xmlns:a16="http://schemas.microsoft.com/office/drawing/2014/main" id="{AACED082-DD8A-49D7-867C-BA8E0CD330B9}"/>
              </a:ext>
            </a:extLst>
          </p:cNvPr>
          <p:cNvSpPr>
            <a:spLocks xmlns:a="http://schemas.openxmlformats.org/drawingml/2006/main" noGrp="1"/>
          </p:cNvSpPr>
          <p:nvPr/>
        </p:nvSpPr>
        <p:spPr>
          <a:xfrm xmlns:a="http://schemas.openxmlformats.org/drawingml/2006/main">
            <a:off x="304800" y="1308100"/>
            <a:ext cx="4965700" cy="894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0" i="0">
                <a:solidFill>
                  <a:srgbClr val="252D2C"/>
                </a:solidFill>
                <a:latin typeface="Arial"/>
                <a:ea typeface="Arial"/>
                <a:cs typeface="Arial"/>
              </a:defRPr>
            </a:defPPr>
          </a:lstStyle>
          <a:p xmlns:a="http://schemas.openxmlformats.org/drawingml/2006/main">
            <a:pPr>
              <a:buNone/>
              <a:defRPr sz="950" b="0" i="0">
                <a:solidFill>
                  <a:srgbClr val="252D2C"/>
                </a:solidFill>
                <a:latin typeface="Arial"/>
                <a:ea typeface="Arial"/>
                <a:cs typeface="Arial"/>
              </a:defRPr>
              <a:lnSpc>
                <a:spcPts val="1140"/>
              </a:lnSpc>
              <a:spcBef>
                <a:spcPts val="0"/>
              </a:spcBef>
              <a:spcAft>
                <a:spcPts val="0"/>
              </a:spcAft>
            </a:pPr>
            <a:r>
              <a:rPr sz="950" b="0" i="0">
                <a:solidFill>
                  <a:srgbClr val="252D2C"/>
                </a:solidFill>
                <a:latin typeface="Arial"/>
                <a:ea typeface="Arial"/>
                <a:cs typeface="Arial"/>
              </a:rPr>
              <a:t>The school timetable runs from rising at 06:30 to lights out at 21:00, covering 870 minutes. Lessons, morning reading, and evening study occupy 390 minutes, or 44.8 percent of that period. Meals account for 160 minutes, organized activity 90, midday rest 80, and eye exercises 30. The remaining 120 minutes fall between listed activities. These transitions accommodate movement, preparation, informal contact, and waiting, making the spaces between scheduled destinations an important part of daily campus use.</a:t>
            </a:r>
          </a:p>
        </p:txBody>
      </p:sp>
      <p:sp>
        <p:nvSpPr>
          <p:cNvPr id="11" name="Editable paragraph">
            <a:extLst xmlns:a="http://schemas.openxmlformats.org/drawingml/2006/main">
              <a:ext uri="{FF2B5EF4-FFF2-40B4-BE49-F238E27FC236}">
                <a16:creationId xmlns:a16="http://schemas.microsoft.com/office/drawing/2014/main" id="{8F96B463-FB76-4A08-B2B7-406A5F49D5FD}"/>
              </a:ext>
            </a:extLst>
          </p:cNvPr>
          <p:cNvSpPr>
            <a:spLocks xmlns:a="http://schemas.openxmlformats.org/drawingml/2006/main" noGrp="1"/>
          </p:cNvSpPr>
          <p:nvPr/>
        </p:nvSpPr>
        <p:spPr>
          <a:xfrm xmlns:a="http://schemas.openxmlformats.org/drawingml/2006/main">
            <a:off x="304800" y="2278380"/>
            <a:ext cx="4965700" cy="10388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0" i="0">
                <a:solidFill>
                  <a:srgbClr val="252D2C"/>
                </a:solidFill>
                <a:latin typeface="Arial"/>
                <a:ea typeface="Arial"/>
                <a:cs typeface="Arial"/>
              </a:defRPr>
            </a:defPPr>
          </a:lstStyle>
          <a:p xmlns:a="http://schemas.openxmlformats.org/drawingml/2006/main">
            <a:pPr>
              <a:buNone/>
              <a:defRPr sz="950" b="0" i="0">
                <a:solidFill>
                  <a:srgbClr val="252D2C"/>
                </a:solidFill>
                <a:latin typeface="Arial"/>
                <a:ea typeface="Arial"/>
                <a:cs typeface="Arial"/>
              </a:defRPr>
              <a:lnSpc>
                <a:spcPts val="1140"/>
              </a:lnSpc>
              <a:spcBef>
                <a:spcPts val="0"/>
              </a:spcBef>
              <a:spcAft>
                <a:spcPts val="0"/>
              </a:spcAft>
            </a:pPr>
            <a:r>
              <a:rPr sz="950" b="0" i="0">
                <a:solidFill>
                  <a:srgbClr val="252D2C"/>
                </a:solidFill>
                <a:latin typeface="Arial"/>
                <a:ea typeface="Arial"/>
                <a:cs typeface="Arial"/>
              </a:rPr>
              <a:t>Afternoon observations show how quickly the pattern of use changes. Around 14:00, approximately twenty children joined a teacher-led outdoor activity while corridors were relatively quiet. Around 15:00, the field was empty and each observed corridor floor held roughly twenty to twenty-five children talking or playing in small groups. An office was also used for contact between students and teachers. The movement from field to corridor reflects the changing opportunities available around lessons, rather than a fixed preference for one location.</a:t>
            </a:r>
          </a:p>
        </p:txBody>
      </p:sp>
      <p:sp>
        <p:nvSpPr>
          <p:cNvPr id="12" name="Editable paragraph">
            <a:extLst xmlns:a="http://schemas.openxmlformats.org/drawingml/2006/main">
              <a:ext uri="{FF2B5EF4-FFF2-40B4-BE49-F238E27FC236}">
                <a16:creationId xmlns:a16="http://schemas.microsoft.com/office/drawing/2014/main" id="{43709B72-2AF2-47AE-854B-B4325F2C4CE6}"/>
              </a:ext>
            </a:extLst>
          </p:cNvPr>
          <p:cNvSpPr>
            <a:spLocks xmlns:a="http://schemas.openxmlformats.org/drawingml/2006/main" noGrp="1"/>
          </p:cNvSpPr>
          <p:nvPr/>
        </p:nvSpPr>
        <p:spPr>
          <a:xfrm xmlns:a="http://schemas.openxmlformats.org/drawingml/2006/main">
            <a:off x="304800" y="3393440"/>
            <a:ext cx="4965700" cy="894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0" i="0">
                <a:solidFill>
                  <a:srgbClr val="252D2C"/>
                </a:solidFill>
                <a:latin typeface="Arial"/>
                <a:ea typeface="Arial"/>
                <a:cs typeface="Arial"/>
              </a:defRPr>
            </a:defPPr>
          </a:lstStyle>
          <a:p xmlns:a="http://schemas.openxmlformats.org/drawingml/2006/main">
            <a:pPr>
              <a:buNone/>
              <a:defRPr sz="950" b="0" i="0">
                <a:solidFill>
                  <a:srgbClr val="252D2C"/>
                </a:solidFill>
                <a:latin typeface="Arial"/>
                <a:ea typeface="Arial"/>
                <a:cs typeface="Arial"/>
              </a:defRPr>
              <a:lnSpc>
                <a:spcPts val="1140"/>
              </a:lnSpc>
              <a:spcBef>
                <a:spcPts val="0"/>
              </a:spcBef>
              <a:spcAft>
                <a:spcPts val="0"/>
              </a:spcAft>
            </a:pPr>
            <a:r>
              <a:rPr sz="950" b="0" i="0">
                <a:solidFill>
                  <a:srgbClr val="252D2C"/>
                </a:solidFill>
                <a:latin typeface="Arial"/>
                <a:ea typeface="Arial"/>
                <a:cs typeface="Arial"/>
              </a:rPr>
              <a:t>Around 16:00, outdoor grounds and corridors were again quiet during lessons. Activity gathered near corridors and the front or side play areas around 17:00, including table tennis. Uneven surfaces, aging equipment, and limited supervision were noted in these locations. A place that works during a quiet teaching period can become difficult to manage when several activities occur together. The design needs to anticipate these shifts through clear sightlines, usable edges, and surfaces that can support everyday movement and play.</a:t>
            </a:r>
          </a:p>
        </p:txBody>
      </p:sp>
      <p:sp>
        <p:nvSpPr>
          <p:cNvPr id="13" name="Editable paragraph">
            <a:extLst xmlns:a="http://schemas.openxmlformats.org/drawingml/2006/main">
              <a:ext uri="{FF2B5EF4-FFF2-40B4-BE49-F238E27FC236}">
                <a16:creationId xmlns:a16="http://schemas.microsoft.com/office/drawing/2014/main" id="{41B56C07-2676-43B0-A327-EB747A1D6FEE}"/>
              </a:ext>
            </a:extLst>
          </p:cNvPr>
          <p:cNvSpPr>
            <a:spLocks xmlns:a="http://schemas.openxmlformats.org/drawingml/2006/main" noGrp="1"/>
          </p:cNvSpPr>
          <p:nvPr/>
        </p:nvSpPr>
        <p:spPr>
          <a:xfrm xmlns:a="http://schemas.openxmlformats.org/drawingml/2006/main">
            <a:off x="304800" y="4363720"/>
            <a:ext cx="4965700" cy="894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0" i="0">
                <a:solidFill>
                  <a:srgbClr val="252D2C"/>
                </a:solidFill>
                <a:latin typeface="Arial"/>
                <a:ea typeface="Arial"/>
                <a:cs typeface="Arial"/>
              </a:defRPr>
            </a:defPPr>
          </a:lstStyle>
          <a:p xmlns:a="http://schemas.openxmlformats.org/drawingml/2006/main">
            <a:pPr>
              <a:buNone/>
              <a:defRPr sz="950" b="0" i="0">
                <a:solidFill>
                  <a:srgbClr val="252D2C"/>
                </a:solidFill>
                <a:latin typeface="Arial"/>
                <a:ea typeface="Arial"/>
                <a:cs typeface="Arial"/>
              </a:defRPr>
              <a:lnSpc>
                <a:spcPts val="1140"/>
              </a:lnSpc>
              <a:spcBef>
                <a:spcPts val="0"/>
              </a:spcBef>
              <a:spcAft>
                <a:spcPts val="0"/>
              </a:spcAft>
            </a:pPr>
            <a:r>
              <a:rPr sz="950" b="0" i="0">
                <a:solidFill>
                  <a:srgbClr val="252D2C"/>
                </a:solidFill>
                <a:latin typeface="Arial"/>
                <a:ea typeface="Arial"/>
                <a:cs typeface="Arial"/>
              </a:rPr>
              <a:t>Short breaks favor nearby choices. A reading seat beside a classroom or a small table along a sheltered edge can be used within a few minutes. The 17:00–17:50 activity period creates more opportunity for longer outdoor sessions. The proposal combines a larger sports setting with modest places near teaching areas, linked by clear routes to toilets and washing. This distribution lets different parts of the timetable find suitable places while keeping return journeys to lessons straightforward and familiar.</a:t>
            </a:r>
          </a:p>
        </p:txBody>
      </p:sp>
      <p:sp>
        <p:nvSpPr>
          <p:cNvPr id="14" name="Editable paragraph">
            <a:extLst xmlns:a="http://schemas.openxmlformats.org/drawingml/2006/main">
              <a:ext uri="{FF2B5EF4-FFF2-40B4-BE49-F238E27FC236}">
                <a16:creationId xmlns:a16="http://schemas.microsoft.com/office/drawing/2014/main" id="{02416DDA-D664-4DBA-985F-0CD2AE5413CB}"/>
              </a:ext>
            </a:extLst>
          </p:cNvPr>
          <p:cNvSpPr>
            <a:spLocks xmlns:a="http://schemas.openxmlformats.org/drawingml/2006/main" noGrp="1"/>
          </p:cNvSpPr>
          <p:nvPr/>
        </p:nvSpPr>
        <p:spPr>
          <a:xfrm xmlns:a="http://schemas.openxmlformats.org/drawingml/2006/main">
            <a:off x="5422900" y="1016000"/>
            <a:ext cx="49657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06 / Care and school operations</a:t>
            </a:r>
          </a:p>
        </p:txBody>
      </p:sp>
      <p:sp>
        <p:nvSpPr>
          <p:cNvPr id="15" name="Editable paragraph">
            <a:extLst xmlns:a="http://schemas.openxmlformats.org/drawingml/2006/main">
              <a:ext uri="{FF2B5EF4-FFF2-40B4-BE49-F238E27FC236}">
                <a16:creationId xmlns:a16="http://schemas.microsoft.com/office/drawing/2014/main" id="{C1FD46B0-EA07-470D-9B7F-CE92CF537E31}"/>
              </a:ext>
            </a:extLst>
          </p:cNvPr>
          <p:cNvSpPr>
            <a:spLocks xmlns:a="http://schemas.openxmlformats.org/drawingml/2006/main" noGrp="1"/>
          </p:cNvSpPr>
          <p:nvPr/>
        </p:nvSpPr>
        <p:spPr>
          <a:xfrm xmlns:a="http://schemas.openxmlformats.org/drawingml/2006/main">
            <a:off x="5422900" y="1308100"/>
            <a:ext cx="4965700" cy="8757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30" b="0" i="0">
                <a:solidFill>
                  <a:srgbClr val="252D2C"/>
                </a:solidFill>
                <a:latin typeface="Arial"/>
                <a:ea typeface="Arial"/>
                <a:cs typeface="Arial"/>
              </a:defRPr>
            </a:defPPr>
          </a:lstStyle>
          <a:p xmlns:a="http://schemas.openxmlformats.org/drawingml/2006/main">
            <a:pPr>
              <a:buNone/>
              <a:defRPr sz="930" b="0" i="0">
                <a:solidFill>
                  <a:srgbClr val="252D2C"/>
                </a:solidFill>
                <a:latin typeface="Arial"/>
                <a:ea typeface="Arial"/>
                <a:cs typeface="Arial"/>
              </a:defRPr>
              <a:lnSpc>
                <a:spcPts val="1116"/>
              </a:lnSpc>
              <a:spcBef>
                <a:spcPts val="0"/>
              </a:spcBef>
              <a:spcAft>
                <a:spcPts val="0"/>
              </a:spcAft>
            </a:pPr>
            <a:r>
              <a:rPr sz="930" b="0" i="0">
                <a:solidFill>
                  <a:srgbClr val="252D2C"/>
                </a:solidFill>
                <a:latin typeface="Arial"/>
                <a:ea typeface="Arial"/>
                <a:cs typeface="Arial"/>
              </a:rPr>
              <a:t>Interviews describe the relationships that keep everyday support available: regular donations, companionship, daily habits, contact with former pupils, holiday arrangements, and supervision at night. These routines give continuity to a child's experience of school. They also have spatial consequences. A place for conversation needs someone who can listen; a room for shared activity needs an adult who can organize its use. The value of a support space develops through the relationship between its location and the people associated with it.</a:t>
            </a:r>
          </a:p>
        </p:txBody>
      </p:sp>
      <p:sp>
        <p:nvSpPr>
          <p:cNvPr id="16" name="Editable paragraph">
            <a:extLst xmlns:a="http://schemas.openxmlformats.org/drawingml/2006/main">
              <a:ext uri="{FF2B5EF4-FFF2-40B4-BE49-F238E27FC236}">
                <a16:creationId xmlns:a16="http://schemas.microsoft.com/office/drawing/2014/main" id="{4C5E6430-D396-46DC-B87B-E7B30BA993BB}"/>
              </a:ext>
            </a:extLst>
          </p:cNvPr>
          <p:cNvSpPr>
            <a:spLocks xmlns:a="http://schemas.openxmlformats.org/drawingml/2006/main" noGrp="1"/>
          </p:cNvSpPr>
          <p:nvPr/>
        </p:nvSpPr>
        <p:spPr>
          <a:xfrm xmlns:a="http://schemas.openxmlformats.org/drawingml/2006/main">
            <a:off x="5422900" y="2260092"/>
            <a:ext cx="4965700" cy="10175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30" b="0" i="0">
                <a:solidFill>
                  <a:srgbClr val="252D2C"/>
                </a:solidFill>
                <a:latin typeface="Arial"/>
                <a:ea typeface="Arial"/>
                <a:cs typeface="Arial"/>
              </a:defRPr>
            </a:defPPr>
          </a:lstStyle>
          <a:p xmlns:a="http://schemas.openxmlformats.org/drawingml/2006/main">
            <a:pPr>
              <a:buNone/>
              <a:defRPr sz="930" b="0" i="0">
                <a:solidFill>
                  <a:srgbClr val="252D2C"/>
                </a:solidFill>
                <a:latin typeface="Arial"/>
                <a:ea typeface="Arial"/>
                <a:cs typeface="Arial"/>
              </a:defRPr>
              <a:lnSpc>
                <a:spcPts val="1116"/>
              </a:lnSpc>
              <a:spcBef>
                <a:spcPts val="0"/>
              </a:spcBef>
              <a:spcAft>
                <a:spcPts val="0"/>
              </a:spcAft>
            </a:pPr>
            <a:r>
              <a:rPr sz="930" b="0" i="0">
                <a:solidFill>
                  <a:srgbClr val="252D2C"/>
                </a:solidFill>
                <a:latin typeface="Arial"/>
                <a:ea typeface="Arial"/>
                <a:cs typeface="Arial"/>
              </a:rPr>
              <a:t>Funding appears as a continuing concern in the questionnaire and interviews. Efforts to maintain monthly giving show the importance of predictable resources for everyday operation. Conversations about dance, science, art, and music also point to demand for teachers who can lead these activities. Flexible rooms should therefore be planned alongside teaching availability, materials, storage, and a workable schedule. Making these arrangements visible helps the school connect a proposed improvement with the recurring support that allows it to stay in use.</a:t>
            </a:r>
          </a:p>
        </p:txBody>
      </p:sp>
      <p:sp>
        <p:nvSpPr>
          <p:cNvPr id="17" name="Editable paragraph">
            <a:extLst xmlns:a="http://schemas.openxmlformats.org/drawingml/2006/main">
              <a:ext uri="{FF2B5EF4-FFF2-40B4-BE49-F238E27FC236}">
                <a16:creationId xmlns:a16="http://schemas.microsoft.com/office/drawing/2014/main" id="{D920826F-19D2-4E6B-B055-FA2439D9CC86}"/>
              </a:ext>
            </a:extLst>
          </p:cNvPr>
          <p:cNvSpPr>
            <a:spLocks xmlns:a="http://schemas.openxmlformats.org/drawingml/2006/main" noGrp="1"/>
          </p:cNvSpPr>
          <p:nvPr/>
        </p:nvSpPr>
        <p:spPr>
          <a:xfrm xmlns:a="http://schemas.openxmlformats.org/drawingml/2006/main">
            <a:off x="5422900" y="3353816"/>
            <a:ext cx="4965700" cy="8757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30" b="0" i="0">
                <a:solidFill>
                  <a:srgbClr val="252D2C"/>
                </a:solidFill>
                <a:latin typeface="Arial"/>
                <a:ea typeface="Arial"/>
                <a:cs typeface="Arial"/>
              </a:defRPr>
            </a:defPPr>
          </a:lstStyle>
          <a:p xmlns:a="http://schemas.openxmlformats.org/drawingml/2006/main">
            <a:pPr>
              <a:buNone/>
              <a:defRPr sz="930" b="0" i="0">
                <a:solidFill>
                  <a:srgbClr val="252D2C"/>
                </a:solidFill>
                <a:latin typeface="Arial"/>
                <a:ea typeface="Arial"/>
                <a:cs typeface="Arial"/>
              </a:defRPr>
              <a:lnSpc>
                <a:spcPts val="1116"/>
              </a:lnSpc>
              <a:spcBef>
                <a:spcPts val="0"/>
              </a:spcBef>
              <a:spcAft>
                <a:spcPts val="0"/>
              </a:spcAft>
            </a:pPr>
            <a:r>
              <a:rPr sz="930" b="0" i="0">
                <a:solidFill>
                  <a:srgbClr val="252D2C"/>
                </a:solidFill>
                <a:latin typeface="Arial"/>
                <a:ea typeface="Arial"/>
                <a:cs typeface="Arial"/>
              </a:rPr>
              <a:t>Emotional support often grows through ordinary contact. Interviews describe a home-like atmosphere, communication after students leave, teacher learning, and outside assistance. A familiar adult along an everyday route can offer reassurance before a child needs a formal appointment. Privacy remains important when a conversation becomes personal. The campus can support both kinds of contact through staff presence near shared areas, a small waiting place, and access to a quieter setting where a child can speak without attracting attention.</a:t>
            </a:r>
          </a:p>
        </p:txBody>
      </p:sp>
      <p:sp>
        <p:nvSpPr>
          <p:cNvPr id="18" name="Editable paragraph">
            <a:extLst xmlns:a="http://schemas.openxmlformats.org/drawingml/2006/main">
              <a:ext uri="{FF2B5EF4-FFF2-40B4-BE49-F238E27FC236}">
                <a16:creationId xmlns:a16="http://schemas.microsoft.com/office/drawing/2014/main" id="{F6A476A3-B478-4320-A542-BB57903C2E2D}"/>
              </a:ext>
            </a:extLst>
          </p:cNvPr>
          <p:cNvSpPr>
            <a:spLocks xmlns:a="http://schemas.openxmlformats.org/drawingml/2006/main" noGrp="1"/>
          </p:cNvSpPr>
          <p:nvPr/>
        </p:nvSpPr>
        <p:spPr>
          <a:xfrm xmlns:a="http://schemas.openxmlformats.org/drawingml/2006/main">
            <a:off x="5422900" y="4305808"/>
            <a:ext cx="4965700" cy="8757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30" b="0" i="0">
                <a:solidFill>
                  <a:srgbClr val="252D2C"/>
                </a:solidFill>
                <a:latin typeface="Arial"/>
                <a:ea typeface="Arial"/>
                <a:cs typeface="Arial"/>
              </a:defRPr>
            </a:defPPr>
          </a:lstStyle>
          <a:p xmlns:a="http://schemas.openxmlformats.org/drawingml/2006/main">
            <a:pPr>
              <a:buNone/>
              <a:defRPr sz="930" b="0" i="0">
                <a:solidFill>
                  <a:srgbClr val="252D2C"/>
                </a:solidFill>
                <a:latin typeface="Arial"/>
                <a:ea typeface="Arial"/>
                <a:cs typeface="Arial"/>
              </a:defRPr>
              <a:lnSpc>
                <a:spcPts val="1116"/>
              </a:lnSpc>
              <a:spcBef>
                <a:spcPts val="0"/>
              </a:spcBef>
              <a:spcAft>
                <a:spcPts val="0"/>
              </a:spcAft>
            </a:pPr>
            <a:r>
              <a:rPr sz="930" b="0" i="0">
                <a:solidFill>
                  <a:srgbClr val="252D2C"/>
                </a:solidFill>
                <a:latin typeface="Arial"/>
                <a:ea typeface="Arial"/>
                <a:cs typeface="Arial"/>
              </a:rPr>
              <a:t>These findings lead to concrete arrangements within the proposal. A temporary-rest room is paired with a staff contact and a route to outside assistance. Shared activity rooms have nearby storage and a weekly program. Entrance waiting is connected to reception, while busy courtyard periods are visible from staffed areas. Such arrangements bring care into daily movement through the school. They also give each space a clear purpose, helping teachers and other adults coordinate their work around familiar locations.</a:t>
            </a:r>
          </a:p>
        </p:txBody>
      </p:sp>
      <p:graphicFrame>
        <p:nvGraphicFramePr>
          <p:cNvPr id="19" name="Chart">
            <a:extLst xmlns:a="http://schemas.openxmlformats.org/drawingml/2006/main">
              <a:ext uri="{FF2B5EF4-FFF2-40B4-BE49-F238E27FC236}">
                <a16:creationId xmlns:a16="http://schemas.microsoft.com/office/drawing/2014/main" id="{DCF413A5-0954-435A-907E-78C227D1F352}"/>
              </a:ext>
            </a:extLst>
          </p:cNvPr>
          <p:cNvGraphicFramePr/>
          <p:nvPr/>
        </p:nvGraphicFramePr>
        <p:xfrm>
          <a:off xmlns:a="http://schemas.openxmlformats.org/drawingml/2006/main" x="304800" y="5384800"/>
          <a:ext xmlns:a="http://schemas.openxmlformats.org/drawingml/2006/main" cx="10083800" cy="1206500"/>
        </p:xfrm>
        <a:graphic xmlns:a="http://schemas.openxmlformats.org/drawingml/2006/main">
          <a:graphicData uri="http://schemas.openxmlformats.org/drawingml/2006/chart">
            <c:chart xmlns:r="http://schemas.openxmlformats.org/officeDocument/2006/relationships" xmlns:c="http://schemas.openxmlformats.org/drawingml/2006/chart" r:id="R5b08c886d4e94110"/>
          </a:graphicData>
        </a:graphic>
      </p:graphicFrame>
      <p:sp>
        <p:nvSpPr>
          <p:cNvPr id="20" name="Editable paragraph">
            <a:extLst xmlns:a="http://schemas.openxmlformats.org/drawingml/2006/main">
              <a:ext uri="{FF2B5EF4-FFF2-40B4-BE49-F238E27FC236}">
                <a16:creationId xmlns:a16="http://schemas.microsoft.com/office/drawing/2014/main" id="{CEDB8AFC-0EE6-48E2-B1DC-FA224DC58761}"/>
              </a:ext>
            </a:extLst>
          </p:cNvPr>
          <p:cNvSpPr>
            <a:spLocks xmlns:a="http://schemas.openxmlformats.org/drawingml/2006/main" noGrp="1"/>
          </p:cNvSpPr>
          <p:nvPr/>
        </p:nvSpPr>
        <p:spPr>
          <a:xfrm xmlns:a="http://schemas.openxmlformats.org/drawingml/2006/main">
            <a:off x="304800" y="6477000"/>
            <a:ext cx="100838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61"/>
              </a:lnSpc>
              <a:spcBef>
                <a:spcPts val="0"/>
              </a:spcBef>
              <a:spcAft>
                <a:spcPts val="0"/>
              </a:spcAft>
            </a:pPr>
            <a:r>
              <a:rPr sz="700" b="0" i="0">
                <a:solidFill>
                  <a:srgbClr val="252D2C"/>
                </a:solidFill>
                <a:latin typeface="Arial"/>
                <a:ea typeface="Arial"/>
                <a:cs typeface="Arial"/>
              </a:rPr>
              <a:t>Figure 5. Time allocated to daily activities, 06:30–21:00 (minutes).</a:t>
            </a:r>
          </a:p>
        </p:txBody>
      </p:sp>
      <p:sp>
        <p:nvSpPr>
          <p:cNvPr id="21" name="Editable paragraph">
            <a:extLst xmlns:a="http://schemas.openxmlformats.org/drawingml/2006/main">
              <a:ext uri="{FF2B5EF4-FFF2-40B4-BE49-F238E27FC236}">
                <a16:creationId xmlns:a16="http://schemas.microsoft.com/office/drawing/2014/main" id="{B7EECF52-1F1D-4590-8DE8-864F2AC6D997}"/>
              </a:ext>
            </a:extLst>
          </p:cNvPr>
          <p:cNvSpPr>
            <a:spLocks xmlns:a="http://schemas.openxmlformats.org/drawingml/2006/main" noGrp="1"/>
          </p:cNvSpPr>
          <p:nvPr/>
        </p:nvSpPr>
        <p:spPr>
          <a:xfrm xmlns:a="http://schemas.openxmlformats.org/drawingml/2006/main">
            <a:off x="304800" y="6705600"/>
            <a:ext cx="3175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01</a:t>
            </a:r>
          </a:p>
        </p:txBody>
      </p:sp>
      <p:sp>
        <p:nvSpPr>
          <p:cNvPr id="22" name="Editable paragraph">
            <a:extLst xmlns:a="http://schemas.openxmlformats.org/drawingml/2006/main">
              <a:ext uri="{FF2B5EF4-FFF2-40B4-BE49-F238E27FC236}">
                <a16:creationId xmlns:a16="http://schemas.microsoft.com/office/drawing/2014/main" id="{E60555F6-45F7-4A53-986D-0011A58D4C28}"/>
              </a:ext>
            </a:extLst>
          </p:cNvPr>
          <p:cNvSpPr>
            <a:spLocks xmlns:a="http://schemas.openxmlformats.org/drawingml/2006/main" noGrp="1"/>
          </p:cNvSpPr>
          <p:nvPr/>
        </p:nvSpPr>
        <p:spPr>
          <a:xfrm xmlns:a="http://schemas.openxmlformats.org/drawingml/2006/main">
            <a:off x="698500" y="6692900"/>
            <a:ext cx="2882900" cy="15974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60" b="1" i="0">
                <a:solidFill>
                  <a:srgbClr val="345A60"/>
                </a:solidFill>
                <a:latin typeface="Arial"/>
                <a:ea typeface="Arial"/>
                <a:cs typeface="Arial"/>
              </a:defRPr>
            </a:defPPr>
          </a:lstStyle>
          <a:p xmlns:a="http://schemas.openxmlformats.org/drawingml/2006/main">
            <a:pPr>
              <a:buNone/>
              <a:defRPr sz="860" b="1" i="0">
                <a:solidFill>
                  <a:srgbClr val="345A60"/>
                </a:solidFill>
                <a:latin typeface="Arial"/>
                <a:ea typeface="Arial"/>
                <a:cs typeface="Arial"/>
              </a:defRPr>
              <a:lnSpc>
                <a:spcPts val="1058"/>
              </a:lnSpc>
              <a:spcBef>
                <a:spcPts val="0"/>
              </a:spcBef>
              <a:spcAft>
                <a:spcPts val="0"/>
              </a:spcAft>
            </a:pPr>
            <a:r>
              <a:rPr sz="860" b="1" i="0">
                <a:solidFill>
                  <a:srgbClr val="345A60"/>
                </a:solidFill>
                <a:latin typeface="Arial"/>
                <a:ea typeface="Arial"/>
                <a:cs typeface="Arial"/>
              </a:rPr>
              <a:t>Continuing support</a:t>
            </a:r>
          </a:p>
        </p:txBody>
      </p:sp>
      <p:sp>
        <p:nvSpPr>
          <p:cNvPr id="23" name="Editable paragraph">
            <a:extLst xmlns:a="http://schemas.openxmlformats.org/drawingml/2006/main">
              <a:ext uri="{FF2B5EF4-FFF2-40B4-BE49-F238E27FC236}">
                <a16:creationId xmlns:a16="http://schemas.microsoft.com/office/drawing/2014/main" id="{20F406D4-A3F7-4227-AE8B-D2743E9D99C0}"/>
              </a:ext>
            </a:extLst>
          </p:cNvPr>
          <p:cNvSpPr>
            <a:spLocks xmlns:a="http://schemas.openxmlformats.org/drawingml/2006/main" noGrp="1"/>
          </p:cNvSpPr>
          <p:nvPr/>
        </p:nvSpPr>
        <p:spPr>
          <a:xfrm xmlns:a="http://schemas.openxmlformats.org/drawingml/2006/main">
            <a:off x="698500" y="6883400"/>
            <a:ext cx="2882900" cy="14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00" b="0" i="0">
                <a:solidFill>
                  <a:srgbClr val="252D2C"/>
                </a:solidFill>
                <a:latin typeface="Arial"/>
                <a:ea typeface="Arial"/>
                <a:cs typeface="Arial"/>
              </a:defRPr>
            </a:defPPr>
          </a:lstStyle>
          <a:p xmlns:a="http://schemas.openxmlformats.org/drawingml/2006/main">
            <a:pPr>
              <a:buNone/>
              <a:defRPr sz="800" b="0" i="0">
                <a:solidFill>
                  <a:srgbClr val="252D2C"/>
                </a:solidFill>
                <a:latin typeface="Arial"/>
                <a:ea typeface="Arial"/>
                <a:cs typeface="Arial"/>
              </a:defRPr>
              <a:lnSpc>
                <a:spcPts val="950"/>
              </a:lnSpc>
              <a:spcBef>
                <a:spcPts val="0"/>
              </a:spcBef>
              <a:spcAft>
                <a:spcPts val="0"/>
              </a:spcAft>
            </a:pPr>
            <a:r>
              <a:rPr sz="800" b="0" i="0">
                <a:solidFill>
                  <a:srgbClr val="252D2C"/>
                </a:solidFill>
                <a:latin typeface="Arial"/>
                <a:ea typeface="Arial"/>
                <a:cs typeface="Arial"/>
              </a:rPr>
              <a:t>Monthly giving and reliable everyday resources.</a:t>
            </a:r>
          </a:p>
        </p:txBody>
      </p:sp>
      <p:sp>
        <p:nvSpPr>
          <p:cNvPr id="24" name="Editable paragraph">
            <a:extLst xmlns:a="http://schemas.openxmlformats.org/drawingml/2006/main">
              <a:ext uri="{FF2B5EF4-FFF2-40B4-BE49-F238E27FC236}">
                <a16:creationId xmlns:a16="http://schemas.microsoft.com/office/drawing/2014/main" id="{1DC593FB-3701-4E3E-B194-77E8A7B80E93}"/>
              </a:ext>
            </a:extLst>
          </p:cNvPr>
          <p:cNvSpPr>
            <a:spLocks xmlns:a="http://schemas.openxmlformats.org/drawingml/2006/main" noGrp="1"/>
          </p:cNvSpPr>
          <p:nvPr/>
        </p:nvSpPr>
        <p:spPr>
          <a:xfrm xmlns:a="http://schemas.openxmlformats.org/drawingml/2006/main">
            <a:off x="3733800" y="6705600"/>
            <a:ext cx="3175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02</a:t>
            </a:r>
          </a:p>
        </p:txBody>
      </p:sp>
      <p:sp>
        <p:nvSpPr>
          <p:cNvPr id="25" name="Editable paragraph">
            <a:extLst xmlns:a="http://schemas.openxmlformats.org/drawingml/2006/main">
              <a:ext uri="{FF2B5EF4-FFF2-40B4-BE49-F238E27FC236}">
                <a16:creationId xmlns:a16="http://schemas.microsoft.com/office/drawing/2014/main" id="{845C34EF-8BDA-43C9-AF53-8F97FA68FF0E}"/>
              </a:ext>
            </a:extLst>
          </p:cNvPr>
          <p:cNvSpPr>
            <a:spLocks xmlns:a="http://schemas.openxmlformats.org/drawingml/2006/main" noGrp="1"/>
          </p:cNvSpPr>
          <p:nvPr/>
        </p:nvSpPr>
        <p:spPr>
          <a:xfrm xmlns:a="http://schemas.openxmlformats.org/drawingml/2006/main">
            <a:off x="4127500" y="6692900"/>
            <a:ext cx="2882900" cy="15974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60" b="1" i="0">
                <a:solidFill>
                  <a:srgbClr val="345A60"/>
                </a:solidFill>
                <a:latin typeface="Arial"/>
                <a:ea typeface="Arial"/>
                <a:cs typeface="Arial"/>
              </a:defRPr>
            </a:defPPr>
          </a:lstStyle>
          <a:p xmlns:a="http://schemas.openxmlformats.org/drawingml/2006/main">
            <a:pPr>
              <a:buNone/>
              <a:defRPr sz="860" b="1" i="0">
                <a:solidFill>
                  <a:srgbClr val="345A60"/>
                </a:solidFill>
                <a:latin typeface="Arial"/>
                <a:ea typeface="Arial"/>
                <a:cs typeface="Arial"/>
              </a:defRPr>
              <a:lnSpc>
                <a:spcPts val="1058"/>
              </a:lnSpc>
              <a:spcBef>
                <a:spcPts val="0"/>
              </a:spcBef>
              <a:spcAft>
                <a:spcPts val="0"/>
              </a:spcAft>
            </a:pPr>
            <a:r>
              <a:rPr sz="860" b="1" i="0">
                <a:solidFill>
                  <a:srgbClr val="345A60"/>
                </a:solidFill>
                <a:latin typeface="Arial"/>
                <a:ea typeface="Arial"/>
                <a:cs typeface="Arial"/>
              </a:rPr>
              <a:t>A familiar adult</a:t>
            </a:r>
          </a:p>
        </p:txBody>
      </p:sp>
      <p:sp>
        <p:nvSpPr>
          <p:cNvPr id="26" name="Editable paragraph">
            <a:extLst xmlns:a="http://schemas.openxmlformats.org/drawingml/2006/main">
              <a:ext uri="{FF2B5EF4-FFF2-40B4-BE49-F238E27FC236}">
                <a16:creationId xmlns:a16="http://schemas.microsoft.com/office/drawing/2014/main" id="{A0A3C953-89DC-43CB-A1EC-FE96CCEFB573}"/>
              </a:ext>
            </a:extLst>
          </p:cNvPr>
          <p:cNvSpPr>
            <a:spLocks xmlns:a="http://schemas.openxmlformats.org/drawingml/2006/main" noGrp="1"/>
          </p:cNvSpPr>
          <p:nvPr/>
        </p:nvSpPr>
        <p:spPr>
          <a:xfrm xmlns:a="http://schemas.openxmlformats.org/drawingml/2006/main">
            <a:off x="4127500" y="6883400"/>
            <a:ext cx="2882900" cy="14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00" b="0" i="0">
                <a:solidFill>
                  <a:srgbClr val="252D2C"/>
                </a:solidFill>
                <a:latin typeface="Arial"/>
                <a:ea typeface="Arial"/>
                <a:cs typeface="Arial"/>
              </a:defRPr>
            </a:defPPr>
          </a:lstStyle>
          <a:p xmlns:a="http://schemas.openxmlformats.org/drawingml/2006/main">
            <a:pPr>
              <a:buNone/>
              <a:defRPr sz="800" b="0" i="0">
                <a:solidFill>
                  <a:srgbClr val="252D2C"/>
                </a:solidFill>
                <a:latin typeface="Arial"/>
                <a:ea typeface="Arial"/>
                <a:cs typeface="Arial"/>
              </a:defRPr>
              <a:lnSpc>
                <a:spcPts val="950"/>
              </a:lnSpc>
              <a:spcBef>
                <a:spcPts val="0"/>
              </a:spcBef>
              <a:spcAft>
                <a:spcPts val="0"/>
              </a:spcAft>
            </a:pPr>
            <a:r>
              <a:rPr sz="800" b="0" i="0">
                <a:solidFill>
                  <a:srgbClr val="252D2C"/>
                </a:solidFill>
                <a:latin typeface="Arial"/>
                <a:ea typeface="Arial"/>
                <a:cs typeface="Arial"/>
              </a:rPr>
              <a:t>Companionship, teacher learning and a clear contact.</a:t>
            </a:r>
          </a:p>
        </p:txBody>
      </p:sp>
      <p:sp>
        <p:nvSpPr>
          <p:cNvPr id="27" name="Editable paragraph">
            <a:extLst xmlns:a="http://schemas.openxmlformats.org/drawingml/2006/main">
              <a:ext uri="{FF2B5EF4-FFF2-40B4-BE49-F238E27FC236}">
                <a16:creationId xmlns:a16="http://schemas.microsoft.com/office/drawing/2014/main" id="{013F16A9-B641-448F-8591-C1C2C57D9F75}"/>
              </a:ext>
            </a:extLst>
          </p:cNvPr>
          <p:cNvSpPr>
            <a:spLocks xmlns:a="http://schemas.openxmlformats.org/drawingml/2006/main" noGrp="1"/>
          </p:cNvSpPr>
          <p:nvPr/>
        </p:nvSpPr>
        <p:spPr>
          <a:xfrm xmlns:a="http://schemas.openxmlformats.org/drawingml/2006/main">
            <a:off x="7162800" y="6705600"/>
            <a:ext cx="3175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03</a:t>
            </a:r>
          </a:p>
        </p:txBody>
      </p:sp>
      <p:sp>
        <p:nvSpPr>
          <p:cNvPr id="28" name="Editable paragraph">
            <a:extLst xmlns:a="http://schemas.openxmlformats.org/drawingml/2006/main">
              <a:ext uri="{FF2B5EF4-FFF2-40B4-BE49-F238E27FC236}">
                <a16:creationId xmlns:a16="http://schemas.microsoft.com/office/drawing/2014/main" id="{1F37A8FF-66C2-4074-8BC8-FA9CD0F3EC6A}"/>
              </a:ext>
            </a:extLst>
          </p:cNvPr>
          <p:cNvSpPr>
            <a:spLocks xmlns:a="http://schemas.openxmlformats.org/drawingml/2006/main" noGrp="1"/>
          </p:cNvSpPr>
          <p:nvPr/>
        </p:nvSpPr>
        <p:spPr>
          <a:xfrm xmlns:a="http://schemas.openxmlformats.org/drawingml/2006/main">
            <a:off x="7556500" y="6692900"/>
            <a:ext cx="2882900" cy="15974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60" b="1" i="0">
                <a:solidFill>
                  <a:srgbClr val="345A60"/>
                </a:solidFill>
                <a:latin typeface="Arial"/>
                <a:ea typeface="Arial"/>
                <a:cs typeface="Arial"/>
              </a:defRPr>
            </a:defPPr>
          </a:lstStyle>
          <a:p xmlns:a="http://schemas.openxmlformats.org/drawingml/2006/main">
            <a:pPr>
              <a:buNone/>
              <a:defRPr sz="860" b="1" i="0">
                <a:solidFill>
                  <a:srgbClr val="345A60"/>
                </a:solidFill>
                <a:latin typeface="Arial"/>
                <a:ea typeface="Arial"/>
                <a:cs typeface="Arial"/>
              </a:defRPr>
              <a:lnSpc>
                <a:spcPts val="1058"/>
              </a:lnSpc>
              <a:spcBef>
                <a:spcPts val="0"/>
              </a:spcBef>
              <a:spcAft>
                <a:spcPts val="0"/>
              </a:spcAft>
            </a:pPr>
            <a:r>
              <a:rPr sz="860" b="1" i="0">
                <a:solidFill>
                  <a:srgbClr val="345A60"/>
                </a:solidFill>
                <a:latin typeface="Arial"/>
                <a:ea typeface="Arial"/>
                <a:cs typeface="Arial"/>
              </a:rPr>
              <a:t>Rooms in use</a:t>
            </a:r>
          </a:p>
        </p:txBody>
      </p:sp>
      <p:sp>
        <p:nvSpPr>
          <p:cNvPr id="29" name="Editable paragraph">
            <a:extLst xmlns:a="http://schemas.openxmlformats.org/drawingml/2006/main">
              <a:ext uri="{FF2B5EF4-FFF2-40B4-BE49-F238E27FC236}">
                <a16:creationId xmlns:a16="http://schemas.microsoft.com/office/drawing/2014/main" id="{3B29E9D8-E5C6-4383-919F-FFCC6B4E439B}"/>
              </a:ext>
            </a:extLst>
          </p:cNvPr>
          <p:cNvSpPr>
            <a:spLocks xmlns:a="http://schemas.openxmlformats.org/drawingml/2006/main" noGrp="1"/>
          </p:cNvSpPr>
          <p:nvPr/>
        </p:nvSpPr>
        <p:spPr>
          <a:xfrm xmlns:a="http://schemas.openxmlformats.org/drawingml/2006/main">
            <a:off x="7556500" y="6883400"/>
            <a:ext cx="2882900" cy="14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00" b="0" i="0">
                <a:solidFill>
                  <a:srgbClr val="252D2C"/>
                </a:solidFill>
                <a:latin typeface="Arial"/>
                <a:ea typeface="Arial"/>
                <a:cs typeface="Arial"/>
              </a:defRPr>
            </a:defPPr>
          </a:lstStyle>
          <a:p xmlns:a="http://schemas.openxmlformats.org/drawingml/2006/main">
            <a:pPr>
              <a:buNone/>
              <a:defRPr sz="800" b="0" i="0">
                <a:solidFill>
                  <a:srgbClr val="252D2C"/>
                </a:solidFill>
                <a:latin typeface="Arial"/>
                <a:ea typeface="Arial"/>
                <a:cs typeface="Arial"/>
              </a:defRPr>
              <a:lnSpc>
                <a:spcPts val="950"/>
              </a:lnSpc>
              <a:spcBef>
                <a:spcPts val="0"/>
              </a:spcBef>
              <a:spcAft>
                <a:spcPts val="0"/>
              </a:spcAft>
            </a:pPr>
            <a:r>
              <a:rPr sz="800" b="0" i="0">
                <a:solidFill>
                  <a:srgbClr val="252D2C"/>
                </a:solidFill>
                <a:latin typeface="Arial"/>
                <a:ea typeface="Arial"/>
                <a:cs typeface="Arial"/>
              </a:rPr>
              <a:t>A weekly program, storage and someone to lead it.</a:t>
            </a:r>
          </a:p>
        </p:txBody>
      </p:sp>
      <p:sp>
        <p:nvSpPr>
          <p:cNvPr id="30" name="Editable paragraph">
            <a:extLst xmlns:a="http://schemas.openxmlformats.org/drawingml/2006/main">
              <a:ext uri="{FF2B5EF4-FFF2-40B4-BE49-F238E27FC236}">
                <a16:creationId xmlns:a16="http://schemas.microsoft.com/office/drawing/2014/main" id="{478EBD8F-DABD-4A59-890C-086E7A625E6B}"/>
              </a:ext>
            </a:extLst>
          </p:cNvPr>
          <p:cNvSpPr>
            <a:spLocks xmlns:a="http://schemas.openxmlformats.org/drawingml/2006/main" noGrp="1"/>
          </p:cNvSpPr>
          <p:nvPr/>
        </p:nvSpPr>
        <p:spPr>
          <a:xfrm xmlns:a="http://schemas.openxmlformats.org/drawingml/2006/main">
            <a:off x="304800" y="7188200"/>
            <a:ext cx="10083800" cy="1316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80" b="0" i="0">
                <a:solidFill>
                  <a:srgbClr val="252D2C"/>
                </a:solidFill>
                <a:latin typeface="Arial"/>
                <a:ea typeface="Arial"/>
                <a:cs typeface="Arial"/>
              </a:defRPr>
            </a:defPPr>
          </a:lstStyle>
          <a:p xmlns:a="http://schemas.openxmlformats.org/drawingml/2006/main">
            <a:pPr>
              <a:buNone/>
              <a:defRPr sz="680" b="0" i="0">
                <a:solidFill>
                  <a:srgbClr val="252D2C"/>
                </a:solidFill>
                <a:latin typeface="Arial"/>
                <a:ea typeface="Arial"/>
                <a:cs typeface="Arial"/>
              </a:defRPr>
              <a:lnSpc>
                <a:spcPts val="836"/>
              </a:lnSpc>
              <a:spcBef>
                <a:spcPts val="0"/>
              </a:spcBef>
              <a:spcAft>
                <a:spcPts val="0"/>
              </a:spcAft>
            </a:pPr>
            <a:r>
              <a:rPr sz="680" b="0" i="0">
                <a:solidFill>
                  <a:srgbClr val="252D2C"/>
                </a:solidFill>
                <a:latin typeface="Arial"/>
                <a:ea typeface="Arial"/>
                <a:cs typeface="Arial"/>
              </a:rPr>
              <a:t>Figure 6. Continuing resources, familiar adults, and organized activities support everyday care.</a:t>
            </a:r>
          </a:p>
        </p:txBody>
      </p:sp>
    </p:spTree>
    <p:extLst>
      <p:ext uri="{BB962C8B-B14F-4D97-AF65-F5344CB8AC3E}">
        <p14:creationId xmlns:p14="http://schemas.microsoft.com/office/powerpoint/2010/main" val="7236387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Editable paragraph">
            <a:extLst xmlns:a="http://schemas.openxmlformats.org/drawingml/2006/main">
              <a:ext uri="{FF2B5EF4-FFF2-40B4-BE49-F238E27FC236}">
                <a16:creationId xmlns:a16="http://schemas.microsoft.com/office/drawing/2014/main" id="{60DEEAB4-7A61-4810-BE30-5549D4D8F991}"/>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51168718-048B-4229-BD39-5965449E89D1}"/>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9EA51697-0D36-450B-8524-38222181623B}"/>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5069F1BC-CFBD-4593-81F9-8485C785F263}"/>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504E78DB-39B0-4715-959A-0C01A6B56CD2}"/>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Site relationships &amp; design priorities</a:t>
            </a:r>
          </a:p>
        </p:txBody>
      </p:sp>
      <p:sp>
        <p:nvSpPr>
          <p:cNvPr id="6" name="">
            <a:extLst xmlns:a="http://schemas.openxmlformats.org/drawingml/2006/main">
              <a:ext uri="{FF2B5EF4-FFF2-40B4-BE49-F238E27FC236}">
                <a16:creationId xmlns:a16="http://schemas.microsoft.com/office/drawing/2014/main" id="{903819DD-6F85-48DE-B74F-963D75FE3050}"/>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6D099C81-3049-4561-BD13-1CCEF2F2FD99}"/>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2DE84092-2041-4FD2-A8FF-F340C476DAA0}"/>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05 / 15</a:t>
            </a:r>
          </a:p>
        </p:txBody>
      </p:sp>
      <p:sp>
        <p:nvSpPr>
          <p:cNvPr id="9" name="Editable paragraph">
            <a:extLst xmlns:a="http://schemas.openxmlformats.org/drawingml/2006/main">
              <a:ext uri="{FF2B5EF4-FFF2-40B4-BE49-F238E27FC236}">
                <a16:creationId xmlns:a16="http://schemas.microsoft.com/office/drawing/2014/main" id="{C437062B-9340-41CC-989B-DDD3E7CC1CA5}"/>
              </a:ext>
            </a:extLst>
          </p:cNvPr>
          <p:cNvSpPr>
            <a:spLocks xmlns:a="http://schemas.openxmlformats.org/drawingml/2006/main" noGrp="1"/>
          </p:cNvSpPr>
          <p:nvPr/>
        </p:nvSpPr>
        <p:spPr>
          <a:xfrm xmlns:a="http://schemas.openxmlformats.org/drawingml/2006/main">
            <a:off x="304800" y="1016000"/>
            <a:ext cx="49657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07 / Location and site relationships</a:t>
            </a:r>
          </a:p>
        </p:txBody>
      </p:sp>
      <p:sp>
        <p:nvSpPr>
          <p:cNvPr id="10" name="Editable paragraph">
            <a:extLst xmlns:a="http://schemas.openxmlformats.org/drawingml/2006/main">
              <a:ext uri="{FF2B5EF4-FFF2-40B4-BE49-F238E27FC236}">
                <a16:creationId xmlns:a16="http://schemas.microsoft.com/office/drawing/2014/main" id="{E10C8C45-D216-414C-BCD7-17BF6A11240A}"/>
              </a:ext>
            </a:extLst>
          </p:cNvPr>
          <p:cNvSpPr>
            <a:spLocks xmlns:a="http://schemas.openxmlformats.org/drawingml/2006/main" noGrp="1"/>
          </p:cNvSpPr>
          <p:nvPr/>
        </p:nvSpPr>
        <p:spPr>
          <a:xfrm xmlns:a="http://schemas.openxmlformats.org/drawingml/2006/main">
            <a:off x="304800" y="1346200"/>
            <a:ext cx="4965700" cy="97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The school is located in Guiyang County, Chenzhou, in southern Hunan. Its setting combines a campus parcel of approximately 2.94 hectares with nearby settlement and local roads. The location study considers the school at several scales: its position within the county, its relationship with the surrounding village fabric, and the arrangement of buildings and open space within the site. Reading these scales together connects the campus entrance and internal routes with the wider pattern of arrival and daily contact.</a:t>
            </a:r>
          </a:p>
        </p:txBody>
      </p:sp>
      <p:sp>
        <p:nvSpPr>
          <p:cNvPr id="11" name="Editable paragraph">
            <a:extLst xmlns:a="http://schemas.openxmlformats.org/drawingml/2006/main">
              <a:ext uri="{FF2B5EF4-FFF2-40B4-BE49-F238E27FC236}">
                <a16:creationId xmlns:a16="http://schemas.microsoft.com/office/drawing/2014/main" id="{D622B1AF-DFBA-49E4-A92E-F85AF4A3E1F4}"/>
              </a:ext>
            </a:extLst>
          </p:cNvPr>
          <p:cNvSpPr>
            <a:spLocks xmlns:a="http://schemas.openxmlformats.org/drawingml/2006/main" noGrp="1"/>
          </p:cNvSpPr>
          <p:nvPr/>
        </p:nvSpPr>
        <p:spPr>
          <a:xfrm xmlns:a="http://schemas.openxmlformats.org/drawingml/2006/main">
            <a:off x="304800" y="2438400"/>
            <a:ext cx="4965700" cy="113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Site analysis focuses on the relationship between built areas, open ground, and access. The local setting raises practical questions about where visitors arrive, how staff receive them, and how movement connects to the teaching area. Within the campus, the sequence from entrance to reception, shared circulation, and outdoor activity should be easy to understand. This gives children a familiar everyday structure and helps visiting teachers, volunteers, and other support workers reach the places where they are needed.</a:t>
            </a:r>
          </a:p>
        </p:txBody>
      </p:sp>
      <p:sp>
        <p:nvSpPr>
          <p:cNvPr id="12" name="Editable paragraph">
            <a:extLst xmlns:a="http://schemas.openxmlformats.org/drawingml/2006/main">
              <a:ext uri="{FF2B5EF4-FFF2-40B4-BE49-F238E27FC236}">
                <a16:creationId xmlns:a16="http://schemas.microsoft.com/office/drawing/2014/main" id="{D9681339-746F-4C72-838D-479D0BB4BC35}"/>
              </a:ext>
            </a:extLst>
          </p:cNvPr>
          <p:cNvSpPr>
            <a:spLocks xmlns:a="http://schemas.openxmlformats.org/drawingml/2006/main" noGrp="1"/>
          </p:cNvSpPr>
          <p:nvPr/>
        </p:nvSpPr>
        <p:spPr>
          <a:xfrm xmlns:a="http://schemas.openxmlformats.org/drawingml/2006/main">
            <a:off x="304800" y="3689350"/>
            <a:ext cx="4965700" cy="113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Field observations place the county center about 35 kilometers away, the town or public transport around 3.5 kilometers away, and the health clinic approximately 4 kilometers away. These distances make the organization of outside support relevant to campus planning. Questionnaire interest in the school clinic reinforces the need for a convenient point of contact. Reception, waiting, temporary rest, and communication with external services should form a clear sequence, helping staff organize a visit or respond when a child needs assistance.</a:t>
            </a:r>
          </a:p>
        </p:txBody>
      </p:sp>
      <p:sp>
        <p:nvSpPr>
          <p:cNvPr id="13" name="Editable paragraph">
            <a:extLst xmlns:a="http://schemas.openxmlformats.org/drawingml/2006/main">
              <a:ext uri="{FF2B5EF4-FFF2-40B4-BE49-F238E27FC236}">
                <a16:creationId xmlns:a16="http://schemas.microsoft.com/office/drawing/2014/main" id="{01C3C7A1-2D76-4AA6-AC3A-35C465943891}"/>
              </a:ext>
            </a:extLst>
          </p:cNvPr>
          <p:cNvSpPr>
            <a:spLocks xmlns:a="http://schemas.openxmlformats.org/drawingml/2006/main" noGrp="1"/>
          </p:cNvSpPr>
          <p:nvPr/>
        </p:nvSpPr>
        <p:spPr>
          <a:xfrm xmlns:a="http://schemas.openxmlformats.org/drawingml/2006/main">
            <a:off x="304800" y="4940300"/>
            <a:ext cx="4965700" cy="113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The masterplan places connected teaching wings beside outdoor sports grounds, with additional open land available for gradual development. Frequently used rooms and routes form a compact daily center, while the larger outdoor areas accommodate longer activities. The landscape should support this difference in use. Shaded seats and small-group settings belong close to teaching; open grounds allow movement and collective play. Simple planting, durable surfaces, and clear maintenance responsibilities can help these spaces remain usable through regular school routines.</a:t>
            </a:r>
          </a:p>
        </p:txBody>
      </p:sp>
      <p:sp>
        <p:nvSpPr>
          <p:cNvPr id="14" name="Editable paragraph">
            <a:extLst xmlns:a="http://schemas.openxmlformats.org/drawingml/2006/main">
              <a:ext uri="{FF2B5EF4-FFF2-40B4-BE49-F238E27FC236}">
                <a16:creationId xmlns:a16="http://schemas.microsoft.com/office/drawing/2014/main" id="{64026DCB-704F-4B6B-ABFD-B61812E49608}"/>
              </a:ext>
            </a:extLst>
          </p:cNvPr>
          <p:cNvSpPr>
            <a:spLocks xmlns:a="http://schemas.openxmlformats.org/drawingml/2006/main" noGrp="1"/>
          </p:cNvSpPr>
          <p:nvPr/>
        </p:nvSpPr>
        <p:spPr>
          <a:xfrm xmlns:a="http://schemas.openxmlformats.org/drawingml/2006/main">
            <a:off x="5422900" y="1016000"/>
            <a:ext cx="49657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08 / Design priorities</a:t>
            </a:r>
          </a:p>
        </p:txBody>
      </p:sp>
      <p:sp>
        <p:nvSpPr>
          <p:cNvPr id="15" name="Editable paragraph">
            <a:extLst xmlns:a="http://schemas.openxmlformats.org/drawingml/2006/main">
              <a:ext uri="{FF2B5EF4-FFF2-40B4-BE49-F238E27FC236}">
                <a16:creationId xmlns:a16="http://schemas.microsoft.com/office/drawing/2014/main" id="{482E43B3-75F1-425C-9456-B7FF8EA147B1}"/>
              </a:ext>
            </a:extLst>
          </p:cNvPr>
          <p:cNvSpPr>
            <a:spLocks xmlns:a="http://schemas.openxmlformats.org/drawingml/2006/main" noGrp="1"/>
          </p:cNvSpPr>
          <p:nvPr/>
        </p:nvSpPr>
        <p:spPr>
          <a:xfrm xmlns:a="http://schemas.openxmlformats.org/drawingml/2006/main">
            <a:off x="5422900" y="1346200"/>
            <a:ext cx="4965700" cy="113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The proposal develops four linked priorities. The first is convenient access to everyday essentials. Questionnaire comments on the external toilet and low audit scores for sanitation point to the importance of short routes between classrooms, washing, and toilets. WHO guidance also emphasizes access, privacy, and maintenance [2]. Sanitation facilities near the junctions of the teaching wings can serve several daily activities. The adjoining route should remain clear, with washing and cleaning provision integrated into the same arrangement.</a:t>
            </a:r>
          </a:p>
        </p:txBody>
      </p:sp>
      <p:sp>
        <p:nvSpPr>
          <p:cNvPr id="16" name="Editable paragraph">
            <a:extLst xmlns:a="http://schemas.openxmlformats.org/drawingml/2006/main">
              <a:ext uri="{FF2B5EF4-FFF2-40B4-BE49-F238E27FC236}">
                <a16:creationId xmlns:a16="http://schemas.microsoft.com/office/drawing/2014/main" id="{C08749A7-BA27-43EC-B665-1639053CA069}"/>
              </a:ext>
            </a:extLst>
          </p:cNvPr>
          <p:cNvSpPr>
            <a:spLocks xmlns:a="http://schemas.openxmlformats.org/drawingml/2006/main" noGrp="1"/>
          </p:cNvSpPr>
          <p:nvPr/>
        </p:nvSpPr>
        <p:spPr>
          <a:xfrm xmlns:a="http://schemas.openxmlformats.org/drawingml/2006/main">
            <a:off x="5422900" y="2597150"/>
            <a:ext cx="4965700" cy="113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The second priority is a range of activity settings. Open grounds support collective play, while small-group settings allow children to read, talk, or work with a few friends. The proposal combines sports grounds and a common courtyard with usable edges near classrooms. Movable tables and accessible storage allow a room to accommodate different activities during the week. This translates the classroom flexibility discussed by Barrett and colleagues [1] into practical decisions about furniture, access, and the everyday availability of space.</a:t>
            </a:r>
          </a:p>
        </p:txBody>
      </p:sp>
      <p:sp>
        <p:nvSpPr>
          <p:cNvPr id="17" name="Editable paragraph">
            <a:extLst xmlns:a="http://schemas.openxmlformats.org/drawingml/2006/main">
              <a:ext uri="{FF2B5EF4-FFF2-40B4-BE49-F238E27FC236}">
                <a16:creationId xmlns:a16="http://schemas.microsoft.com/office/drawing/2014/main" id="{2E5AEF38-6471-4D5D-8055-DFC3ABD6332C}"/>
              </a:ext>
            </a:extLst>
          </p:cNvPr>
          <p:cNvSpPr>
            <a:spLocks xmlns:a="http://schemas.openxmlformats.org/drawingml/2006/main" noGrp="1"/>
          </p:cNvSpPr>
          <p:nvPr/>
        </p:nvSpPr>
        <p:spPr>
          <a:xfrm xmlns:a="http://schemas.openxmlformats.org/drawingml/2006/main">
            <a:off x="5422900" y="3848100"/>
            <a:ext cx="4965700" cy="113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The third priority is support close to normal circulation. Offices, consultation rooms, reception, and temporary rest are connected to places children already pass. Clear sightlines help adults remain aware of shared areas, while seats near a threshold offer a place to pause and make contact. More private conversations can then move to a quieter room. This sequence connects visibility with discretion: children can find assistance easily and continue a conversation in a setting appropriate to what they need.</a:t>
            </a:r>
          </a:p>
        </p:txBody>
      </p:sp>
      <p:sp>
        <p:nvSpPr>
          <p:cNvPr id="18" name="Editable paragraph">
            <a:extLst xmlns:a="http://schemas.openxmlformats.org/drawingml/2006/main">
              <a:ext uri="{FF2B5EF4-FFF2-40B4-BE49-F238E27FC236}">
                <a16:creationId xmlns:a16="http://schemas.microsoft.com/office/drawing/2014/main" id="{D4626A64-FA3D-4D96-9B59-8496959FF390}"/>
              </a:ext>
            </a:extLst>
          </p:cNvPr>
          <p:cNvSpPr>
            <a:spLocks xmlns:a="http://schemas.openxmlformats.org/drawingml/2006/main" noGrp="1"/>
          </p:cNvSpPr>
          <p:nvPr/>
        </p:nvSpPr>
        <p:spPr>
          <a:xfrm xmlns:a="http://schemas.openxmlformats.org/drawingml/2006/main">
            <a:off x="5422900" y="5099050"/>
            <a:ext cx="4965700" cy="113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50"/>
              </a:lnSpc>
              <a:spcBef>
                <a:spcPts val="0"/>
              </a:spcBef>
              <a:spcAft>
                <a:spcPts val="0"/>
              </a:spcAft>
            </a:pPr>
            <a:r>
              <a:rPr sz="1000" b="0" i="0">
                <a:solidFill>
                  <a:srgbClr val="252D2C"/>
                </a:solidFill>
                <a:latin typeface="Arial"/>
                <a:ea typeface="Arial"/>
                <a:cs typeface="Arial"/>
              </a:rPr>
              <a:t>The fourth priority is manageable shared use. Dining, meeting, and activity rooms can serve different parts of the school day when opening times and responsibilities are clearly organized. The entrance should make visits, school routines, and quieter periods easy to coordinate. These priorities work together across several scales, from a washing point or table to the relationship between building wings. Each decision is tied to an observed use, an expressed need, or an everyday operating requirement that the school can recognize.</a:t>
            </a:r>
          </a:p>
        </p:txBody>
      </p:sp>
      <p:sp>
        <p:nvSpPr>
          <p:cNvPr id="19" name="">
            <a:extLst xmlns:a="http://schemas.openxmlformats.org/drawingml/2006/main">
              <a:ext uri="{FF2B5EF4-FFF2-40B4-BE49-F238E27FC236}">
                <a16:creationId xmlns:a16="http://schemas.microsoft.com/office/drawing/2014/main" id="{F54DEDD7-4F70-4A32-BBAB-2EF9CDB47685}"/>
              </a:ext>
            </a:extLst>
          </p:cNvPr>
          <p:cNvSpPr>
            <a:spLocks xmlns:a="http://schemas.openxmlformats.org/drawingml/2006/main" noGrp="1"/>
          </p:cNvSpPr>
          <p:nvPr/>
        </p:nvSpPr>
        <p:spPr>
          <a:xfrm xmlns:a="http://schemas.openxmlformats.org/drawingml/2006/main">
            <a:off x="304800" y="64008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20" name="Editable paragraph">
            <a:extLst xmlns:a="http://schemas.openxmlformats.org/drawingml/2006/main">
              <a:ext uri="{FF2B5EF4-FFF2-40B4-BE49-F238E27FC236}">
                <a16:creationId xmlns:a16="http://schemas.microsoft.com/office/drawing/2014/main" id="{7ABDB3D7-A230-4F12-A6BA-F33C1F48AD4F}"/>
              </a:ext>
            </a:extLst>
          </p:cNvPr>
          <p:cNvSpPr>
            <a:spLocks xmlns:a="http://schemas.openxmlformats.org/drawingml/2006/main" noGrp="1"/>
          </p:cNvSpPr>
          <p:nvPr/>
        </p:nvSpPr>
        <p:spPr>
          <a:xfrm xmlns:a="http://schemas.openxmlformats.org/drawingml/2006/main">
            <a:off x="304800" y="6540500"/>
            <a:ext cx="24130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Sanitation</a:t>
            </a:r>
          </a:p>
        </p:txBody>
      </p:sp>
      <p:sp>
        <p:nvSpPr>
          <p:cNvPr id="21" name="Editable paragraph">
            <a:extLst xmlns:a="http://schemas.openxmlformats.org/drawingml/2006/main">
              <a:ext uri="{FF2B5EF4-FFF2-40B4-BE49-F238E27FC236}">
                <a16:creationId xmlns:a16="http://schemas.microsoft.com/office/drawing/2014/main" id="{0A2551E5-426C-42A9-A9A7-2D16066957DE}"/>
              </a:ext>
            </a:extLst>
          </p:cNvPr>
          <p:cNvSpPr>
            <a:spLocks xmlns:a="http://schemas.openxmlformats.org/drawingml/2006/main" noGrp="1"/>
          </p:cNvSpPr>
          <p:nvPr/>
        </p:nvSpPr>
        <p:spPr>
          <a:xfrm xmlns:a="http://schemas.openxmlformats.org/drawingml/2006/main">
            <a:off x="304800" y="6756400"/>
            <a:ext cx="24130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0" i="0">
                <a:solidFill>
                  <a:srgbClr val="252D2C"/>
                </a:solidFill>
                <a:latin typeface="Arial"/>
                <a:ea typeface="Arial"/>
                <a:cs typeface="Arial"/>
              </a:defRPr>
            </a:defPPr>
          </a:lstStyle>
          <a:p xmlns:a="http://schemas.openxmlformats.org/drawingml/2006/main">
            <a:pPr>
              <a:buNone/>
              <a:defRPr sz="850" b="0" i="0">
                <a:solidFill>
                  <a:srgbClr val="252D2C"/>
                </a:solidFill>
                <a:latin typeface="Arial"/>
                <a:ea typeface="Arial"/>
                <a:cs typeface="Arial"/>
              </a:defRPr>
              <a:lnSpc>
                <a:spcPts val="1046"/>
              </a:lnSpc>
              <a:spcBef>
                <a:spcPts val="0"/>
              </a:spcBef>
              <a:spcAft>
                <a:spcPts val="0"/>
              </a:spcAft>
            </a:pPr>
            <a:r>
              <a:rPr sz="850" b="0" i="0">
                <a:solidFill>
                  <a:srgbClr val="252D2C"/>
                </a:solidFill>
                <a:latin typeface="Arial"/>
                <a:ea typeface="Arial"/>
                <a:cs typeface="Arial"/>
              </a:rPr>
              <a:t>↓</a:t>
            </a:r>
          </a:p>
        </p:txBody>
      </p:sp>
      <p:sp>
        <p:nvSpPr>
          <p:cNvPr id="22" name="Editable paragraph">
            <a:extLst xmlns:a="http://schemas.openxmlformats.org/drawingml/2006/main">
              <a:ext uri="{FF2B5EF4-FFF2-40B4-BE49-F238E27FC236}">
                <a16:creationId xmlns:a16="http://schemas.microsoft.com/office/drawing/2014/main" id="{B4E342CF-9426-4A26-85E2-530F7AEF9A19}"/>
              </a:ext>
            </a:extLst>
          </p:cNvPr>
          <p:cNvSpPr>
            <a:spLocks xmlns:a="http://schemas.openxmlformats.org/drawingml/2006/main" noGrp="1"/>
          </p:cNvSpPr>
          <p:nvPr/>
        </p:nvSpPr>
        <p:spPr>
          <a:xfrm xmlns:a="http://schemas.openxmlformats.org/drawingml/2006/main">
            <a:off x="495300" y="6769100"/>
            <a:ext cx="22225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Short routes + washing</a:t>
            </a:r>
          </a:p>
        </p:txBody>
      </p:sp>
      <p:sp>
        <p:nvSpPr>
          <p:cNvPr id="23" name="Editable paragraph">
            <a:extLst xmlns:a="http://schemas.openxmlformats.org/drawingml/2006/main">
              <a:ext uri="{FF2B5EF4-FFF2-40B4-BE49-F238E27FC236}">
                <a16:creationId xmlns:a16="http://schemas.microsoft.com/office/drawing/2014/main" id="{BADC8F4E-6227-4A08-A639-428D025FD27F}"/>
              </a:ext>
            </a:extLst>
          </p:cNvPr>
          <p:cNvSpPr>
            <a:spLocks xmlns:a="http://schemas.openxmlformats.org/drawingml/2006/main" noGrp="1"/>
          </p:cNvSpPr>
          <p:nvPr/>
        </p:nvSpPr>
        <p:spPr>
          <a:xfrm xmlns:a="http://schemas.openxmlformats.org/drawingml/2006/main">
            <a:off x="2857500" y="6540500"/>
            <a:ext cx="24130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Small-group activity</a:t>
            </a:r>
          </a:p>
        </p:txBody>
      </p:sp>
      <p:sp>
        <p:nvSpPr>
          <p:cNvPr id="24" name="Editable paragraph">
            <a:extLst xmlns:a="http://schemas.openxmlformats.org/drawingml/2006/main">
              <a:ext uri="{FF2B5EF4-FFF2-40B4-BE49-F238E27FC236}">
                <a16:creationId xmlns:a16="http://schemas.microsoft.com/office/drawing/2014/main" id="{27E5BE4F-977B-4ABE-9E92-CDC763D630A7}"/>
              </a:ext>
            </a:extLst>
          </p:cNvPr>
          <p:cNvSpPr>
            <a:spLocks xmlns:a="http://schemas.openxmlformats.org/drawingml/2006/main" noGrp="1"/>
          </p:cNvSpPr>
          <p:nvPr/>
        </p:nvSpPr>
        <p:spPr>
          <a:xfrm xmlns:a="http://schemas.openxmlformats.org/drawingml/2006/main">
            <a:off x="2857500" y="6756400"/>
            <a:ext cx="24130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0" i="0">
                <a:solidFill>
                  <a:srgbClr val="252D2C"/>
                </a:solidFill>
                <a:latin typeface="Arial"/>
                <a:ea typeface="Arial"/>
                <a:cs typeface="Arial"/>
              </a:defRPr>
            </a:defPPr>
          </a:lstStyle>
          <a:p xmlns:a="http://schemas.openxmlformats.org/drawingml/2006/main">
            <a:pPr>
              <a:buNone/>
              <a:defRPr sz="850" b="0" i="0">
                <a:solidFill>
                  <a:srgbClr val="252D2C"/>
                </a:solidFill>
                <a:latin typeface="Arial"/>
                <a:ea typeface="Arial"/>
                <a:cs typeface="Arial"/>
              </a:defRPr>
              <a:lnSpc>
                <a:spcPts val="1046"/>
              </a:lnSpc>
              <a:spcBef>
                <a:spcPts val="0"/>
              </a:spcBef>
              <a:spcAft>
                <a:spcPts val="0"/>
              </a:spcAft>
            </a:pPr>
            <a:r>
              <a:rPr sz="850" b="0" i="0">
                <a:solidFill>
                  <a:srgbClr val="252D2C"/>
                </a:solidFill>
                <a:latin typeface="Arial"/>
                <a:ea typeface="Arial"/>
                <a:cs typeface="Arial"/>
              </a:rPr>
              <a:t>↓</a:t>
            </a:r>
          </a:p>
        </p:txBody>
      </p:sp>
      <p:sp>
        <p:nvSpPr>
          <p:cNvPr id="25" name="Editable paragraph">
            <a:extLst xmlns:a="http://schemas.openxmlformats.org/drawingml/2006/main">
              <a:ext uri="{FF2B5EF4-FFF2-40B4-BE49-F238E27FC236}">
                <a16:creationId xmlns:a16="http://schemas.microsoft.com/office/drawing/2014/main" id="{78DD22CA-E0A2-4E09-92A1-E25396B00131}"/>
              </a:ext>
            </a:extLst>
          </p:cNvPr>
          <p:cNvSpPr>
            <a:spLocks xmlns:a="http://schemas.openxmlformats.org/drawingml/2006/main" noGrp="1"/>
          </p:cNvSpPr>
          <p:nvPr/>
        </p:nvSpPr>
        <p:spPr>
          <a:xfrm xmlns:a="http://schemas.openxmlformats.org/drawingml/2006/main">
            <a:off x="3048000" y="6769100"/>
            <a:ext cx="22225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Movable settings</a:t>
            </a:r>
          </a:p>
        </p:txBody>
      </p:sp>
      <p:sp>
        <p:nvSpPr>
          <p:cNvPr id="26" name="Editable paragraph">
            <a:extLst xmlns:a="http://schemas.openxmlformats.org/drawingml/2006/main">
              <a:ext uri="{FF2B5EF4-FFF2-40B4-BE49-F238E27FC236}">
                <a16:creationId xmlns:a16="http://schemas.microsoft.com/office/drawing/2014/main" id="{44F06B43-2B01-4061-B243-F2ADDC9513F4}"/>
              </a:ext>
            </a:extLst>
          </p:cNvPr>
          <p:cNvSpPr>
            <a:spLocks xmlns:a="http://schemas.openxmlformats.org/drawingml/2006/main" noGrp="1"/>
          </p:cNvSpPr>
          <p:nvPr/>
        </p:nvSpPr>
        <p:spPr>
          <a:xfrm xmlns:a="http://schemas.openxmlformats.org/drawingml/2006/main">
            <a:off x="5410200" y="6540500"/>
            <a:ext cx="24130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Emotional support</a:t>
            </a:r>
          </a:p>
        </p:txBody>
      </p:sp>
      <p:sp>
        <p:nvSpPr>
          <p:cNvPr id="27" name="Editable paragraph">
            <a:extLst xmlns:a="http://schemas.openxmlformats.org/drawingml/2006/main">
              <a:ext uri="{FF2B5EF4-FFF2-40B4-BE49-F238E27FC236}">
                <a16:creationId xmlns:a16="http://schemas.microsoft.com/office/drawing/2014/main" id="{1D1B8651-4A5F-48EF-A628-FAE8693A8B74}"/>
              </a:ext>
            </a:extLst>
          </p:cNvPr>
          <p:cNvSpPr>
            <a:spLocks xmlns:a="http://schemas.openxmlformats.org/drawingml/2006/main" noGrp="1"/>
          </p:cNvSpPr>
          <p:nvPr/>
        </p:nvSpPr>
        <p:spPr>
          <a:xfrm xmlns:a="http://schemas.openxmlformats.org/drawingml/2006/main">
            <a:off x="5410200" y="6756400"/>
            <a:ext cx="24130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0" i="0">
                <a:solidFill>
                  <a:srgbClr val="252D2C"/>
                </a:solidFill>
                <a:latin typeface="Arial"/>
                <a:ea typeface="Arial"/>
                <a:cs typeface="Arial"/>
              </a:defRPr>
            </a:defPPr>
          </a:lstStyle>
          <a:p xmlns:a="http://schemas.openxmlformats.org/drawingml/2006/main">
            <a:pPr>
              <a:buNone/>
              <a:defRPr sz="850" b="0" i="0">
                <a:solidFill>
                  <a:srgbClr val="252D2C"/>
                </a:solidFill>
                <a:latin typeface="Arial"/>
                <a:ea typeface="Arial"/>
                <a:cs typeface="Arial"/>
              </a:defRPr>
              <a:lnSpc>
                <a:spcPts val="1046"/>
              </a:lnSpc>
              <a:spcBef>
                <a:spcPts val="0"/>
              </a:spcBef>
              <a:spcAft>
                <a:spcPts val="0"/>
              </a:spcAft>
            </a:pPr>
            <a:r>
              <a:rPr sz="850" b="0" i="0">
                <a:solidFill>
                  <a:srgbClr val="252D2C"/>
                </a:solidFill>
                <a:latin typeface="Arial"/>
                <a:ea typeface="Arial"/>
                <a:cs typeface="Arial"/>
              </a:rPr>
              <a:t>↓</a:t>
            </a:r>
          </a:p>
        </p:txBody>
      </p:sp>
      <p:sp>
        <p:nvSpPr>
          <p:cNvPr id="28" name="Editable paragraph">
            <a:extLst xmlns:a="http://schemas.openxmlformats.org/drawingml/2006/main">
              <a:ext uri="{FF2B5EF4-FFF2-40B4-BE49-F238E27FC236}">
                <a16:creationId xmlns:a16="http://schemas.microsoft.com/office/drawing/2014/main" id="{DC44A36B-7D9E-4DCC-97B9-91CFC04A1E64}"/>
              </a:ext>
            </a:extLst>
          </p:cNvPr>
          <p:cNvSpPr>
            <a:spLocks xmlns:a="http://schemas.openxmlformats.org/drawingml/2006/main" noGrp="1"/>
          </p:cNvSpPr>
          <p:nvPr/>
        </p:nvSpPr>
        <p:spPr>
          <a:xfrm xmlns:a="http://schemas.openxmlformats.org/drawingml/2006/main">
            <a:off x="5600700" y="6769100"/>
            <a:ext cx="22225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Nearby help + privacy</a:t>
            </a:r>
          </a:p>
        </p:txBody>
      </p:sp>
      <p:sp>
        <p:nvSpPr>
          <p:cNvPr id="29" name="Editable paragraph">
            <a:extLst xmlns:a="http://schemas.openxmlformats.org/drawingml/2006/main">
              <a:ext uri="{FF2B5EF4-FFF2-40B4-BE49-F238E27FC236}">
                <a16:creationId xmlns:a16="http://schemas.microsoft.com/office/drawing/2014/main" id="{DFD1D8D1-5636-4800-8D55-F46131808FB9}"/>
              </a:ext>
            </a:extLst>
          </p:cNvPr>
          <p:cNvSpPr>
            <a:spLocks xmlns:a="http://schemas.openxmlformats.org/drawingml/2006/main" noGrp="1"/>
          </p:cNvSpPr>
          <p:nvPr/>
        </p:nvSpPr>
        <p:spPr>
          <a:xfrm xmlns:a="http://schemas.openxmlformats.org/drawingml/2006/main">
            <a:off x="7962900" y="6540500"/>
            <a:ext cx="2413000" cy="17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1" i="0">
                <a:solidFill>
                  <a:srgbClr val="345A60"/>
                </a:solidFill>
                <a:latin typeface="Arial"/>
                <a:ea typeface="Arial"/>
                <a:cs typeface="Arial"/>
              </a:defRPr>
            </a:defPPr>
          </a:lstStyle>
          <a:p xmlns:a="http://schemas.openxmlformats.org/drawingml/2006/main">
            <a:pPr>
              <a:buNone/>
              <a:defRPr sz="950" b="1" i="0">
                <a:solidFill>
                  <a:srgbClr val="345A60"/>
                </a:solidFill>
                <a:latin typeface="Arial"/>
                <a:ea typeface="Arial"/>
                <a:cs typeface="Arial"/>
              </a:defRPr>
              <a:lnSpc>
                <a:spcPts val="1168"/>
              </a:lnSpc>
              <a:spcBef>
                <a:spcPts val="0"/>
              </a:spcBef>
              <a:spcAft>
                <a:spcPts val="0"/>
              </a:spcAft>
            </a:pPr>
            <a:r>
              <a:rPr sz="950" b="1" i="0">
                <a:solidFill>
                  <a:srgbClr val="345A60"/>
                </a:solidFill>
                <a:latin typeface="Arial"/>
                <a:ea typeface="Arial"/>
                <a:cs typeface="Arial"/>
              </a:rPr>
              <a:t>Funding and staffing</a:t>
            </a:r>
          </a:p>
        </p:txBody>
      </p:sp>
      <p:sp>
        <p:nvSpPr>
          <p:cNvPr id="30" name="Editable paragraph">
            <a:extLst xmlns:a="http://schemas.openxmlformats.org/drawingml/2006/main">
              <a:ext uri="{FF2B5EF4-FFF2-40B4-BE49-F238E27FC236}">
                <a16:creationId xmlns:a16="http://schemas.microsoft.com/office/drawing/2014/main" id="{192C1CA4-0DF6-4F31-A065-25673713F119}"/>
              </a:ext>
            </a:extLst>
          </p:cNvPr>
          <p:cNvSpPr>
            <a:spLocks xmlns:a="http://schemas.openxmlformats.org/drawingml/2006/main" noGrp="1"/>
          </p:cNvSpPr>
          <p:nvPr/>
        </p:nvSpPr>
        <p:spPr>
          <a:xfrm xmlns:a="http://schemas.openxmlformats.org/drawingml/2006/main">
            <a:off x="7962900" y="6756400"/>
            <a:ext cx="24130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0" i="0">
                <a:solidFill>
                  <a:srgbClr val="252D2C"/>
                </a:solidFill>
                <a:latin typeface="Arial"/>
                <a:ea typeface="Arial"/>
                <a:cs typeface="Arial"/>
              </a:defRPr>
            </a:defPPr>
          </a:lstStyle>
          <a:p xmlns:a="http://schemas.openxmlformats.org/drawingml/2006/main">
            <a:pPr>
              <a:buNone/>
              <a:defRPr sz="850" b="0" i="0">
                <a:solidFill>
                  <a:srgbClr val="252D2C"/>
                </a:solidFill>
                <a:latin typeface="Arial"/>
                <a:ea typeface="Arial"/>
                <a:cs typeface="Arial"/>
              </a:defRPr>
              <a:lnSpc>
                <a:spcPts val="1046"/>
              </a:lnSpc>
              <a:spcBef>
                <a:spcPts val="0"/>
              </a:spcBef>
              <a:spcAft>
                <a:spcPts val="0"/>
              </a:spcAft>
            </a:pPr>
            <a:r>
              <a:rPr sz="850" b="0" i="0">
                <a:solidFill>
                  <a:srgbClr val="252D2C"/>
                </a:solidFill>
                <a:latin typeface="Arial"/>
                <a:ea typeface="Arial"/>
                <a:cs typeface="Arial"/>
              </a:rPr>
              <a:t>↓</a:t>
            </a:r>
          </a:p>
        </p:txBody>
      </p:sp>
      <p:sp>
        <p:nvSpPr>
          <p:cNvPr id="31" name="Editable paragraph">
            <a:extLst xmlns:a="http://schemas.openxmlformats.org/drawingml/2006/main">
              <a:ext uri="{FF2B5EF4-FFF2-40B4-BE49-F238E27FC236}">
                <a16:creationId xmlns:a16="http://schemas.microsoft.com/office/drawing/2014/main" id="{2382EFB4-620B-431A-8533-4D31BFB0622C}"/>
              </a:ext>
            </a:extLst>
          </p:cNvPr>
          <p:cNvSpPr>
            <a:spLocks xmlns:a="http://schemas.openxmlformats.org/drawingml/2006/main" noGrp="1"/>
          </p:cNvSpPr>
          <p:nvPr/>
        </p:nvSpPr>
        <p:spPr>
          <a:xfrm xmlns:a="http://schemas.openxmlformats.org/drawingml/2006/main">
            <a:off x="8153400" y="6769100"/>
            <a:ext cx="22225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Phased, shared use</a:t>
            </a:r>
          </a:p>
        </p:txBody>
      </p:sp>
      <p:sp>
        <p:nvSpPr>
          <p:cNvPr id="32" name="Editable paragraph">
            <a:extLst xmlns:a="http://schemas.openxmlformats.org/drawingml/2006/main">
              <a:ext uri="{FF2B5EF4-FFF2-40B4-BE49-F238E27FC236}">
                <a16:creationId xmlns:a16="http://schemas.microsoft.com/office/drawing/2014/main" id="{B816EC9A-7708-4351-B3F8-5556A206BB3E}"/>
              </a:ext>
            </a:extLst>
          </p:cNvPr>
          <p:cNvSpPr>
            <a:spLocks xmlns:a="http://schemas.openxmlformats.org/drawingml/2006/main" noGrp="1"/>
          </p:cNvSpPr>
          <p:nvPr/>
        </p:nvSpPr>
        <p:spPr>
          <a:xfrm xmlns:a="http://schemas.openxmlformats.org/drawingml/2006/main">
            <a:off x="304800" y="7137400"/>
            <a:ext cx="100838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61"/>
              </a:lnSpc>
              <a:spcBef>
                <a:spcPts val="0"/>
              </a:spcBef>
              <a:spcAft>
                <a:spcPts val="0"/>
              </a:spcAft>
            </a:pPr>
            <a:r>
              <a:rPr sz="700" b="0" i="0">
                <a:solidFill>
                  <a:srgbClr val="252D2C"/>
                </a:solidFill>
                <a:latin typeface="Arial"/>
                <a:ea typeface="Arial"/>
                <a:cs typeface="Arial"/>
              </a:rPr>
              <a:t>Figure 8. Sanitation, activity, care, and resources translated into spatial priorities.</a:t>
            </a:r>
          </a:p>
        </p:txBody>
      </p:sp>
    </p:spTree>
    <p:extLst>
      <p:ext uri="{BB962C8B-B14F-4D97-AF65-F5344CB8AC3E}">
        <p14:creationId xmlns:p14="http://schemas.microsoft.com/office/powerpoint/2010/main" val="6108184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Editable paragraph">
            <a:extLst xmlns:a="http://schemas.openxmlformats.org/drawingml/2006/main">
              <a:ext uri="{FF2B5EF4-FFF2-40B4-BE49-F238E27FC236}">
                <a16:creationId xmlns:a16="http://schemas.microsoft.com/office/drawing/2014/main" id="{3E8AEE5A-345E-4C79-A47E-140D45D00DFD}"/>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7C48E1CA-C270-4507-B836-478DFF2C2390}"/>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60C0A93C-FFA5-4802-8C5A-42633C54D49A}"/>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0F5F5EAC-89DE-48B8-A337-132565496019}"/>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E5A591A4-7D7C-40FB-8541-DE2E122006EF}"/>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Architectural organization &amp; implementation</a:t>
            </a:r>
          </a:p>
        </p:txBody>
      </p:sp>
      <p:sp>
        <p:nvSpPr>
          <p:cNvPr id="6" name="">
            <a:extLst xmlns:a="http://schemas.openxmlformats.org/drawingml/2006/main">
              <a:ext uri="{FF2B5EF4-FFF2-40B4-BE49-F238E27FC236}">
                <a16:creationId xmlns:a16="http://schemas.microsoft.com/office/drawing/2014/main" id="{F20EC704-BCBE-49D4-9289-3DB36D8CF9AA}"/>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FF10AFC0-3744-43BF-B9DF-9D6404D730D3}"/>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6A586028-87B7-47B6-A949-D74B1AC95642}"/>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06 / 15</a:t>
            </a:r>
          </a:p>
        </p:txBody>
      </p:sp>
      <p:sp>
        <p:nvSpPr>
          <p:cNvPr id="9" name="Editable paragraph">
            <a:extLst xmlns:a="http://schemas.openxmlformats.org/drawingml/2006/main">
              <a:ext uri="{FF2B5EF4-FFF2-40B4-BE49-F238E27FC236}">
                <a16:creationId xmlns:a16="http://schemas.microsoft.com/office/drawing/2014/main" id="{192A7DDF-8E2C-42B5-AD13-BEFD2A978D55}"/>
              </a:ext>
            </a:extLst>
          </p:cNvPr>
          <p:cNvSpPr>
            <a:spLocks xmlns:a="http://schemas.openxmlformats.org/drawingml/2006/main" noGrp="1"/>
          </p:cNvSpPr>
          <p:nvPr/>
        </p:nvSpPr>
        <p:spPr>
          <a:xfrm xmlns:a="http://schemas.openxmlformats.org/drawingml/2006/main">
            <a:off x="304800" y="1016000"/>
            <a:ext cx="49657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09 / Architectural organization</a:t>
            </a:r>
          </a:p>
        </p:txBody>
      </p:sp>
      <p:sp>
        <p:nvSpPr>
          <p:cNvPr id="10" name="Editable paragraph">
            <a:extLst xmlns:a="http://schemas.openxmlformats.org/drawingml/2006/main">
              <a:ext uri="{FF2B5EF4-FFF2-40B4-BE49-F238E27FC236}">
                <a16:creationId xmlns:a16="http://schemas.microsoft.com/office/drawing/2014/main" id="{E69F6A00-4CE2-4F88-8AE7-83CE0A5D3A43}"/>
              </a:ext>
            </a:extLst>
          </p:cNvPr>
          <p:cNvSpPr>
            <a:spLocks xmlns:a="http://schemas.openxmlformats.org/drawingml/2006/main" noGrp="1"/>
          </p:cNvSpPr>
          <p:nvPr/>
        </p:nvSpPr>
        <p:spPr>
          <a:xfrm xmlns:a="http://schemas.openxmlformats.org/drawingml/2006/main">
            <a:off x="304800" y="1346200"/>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The campus is organized around two long teaching wings joined by a perpendicular circulation block, with a lower wing for dining and shared activities. The main building extends through four levels. The shared wing has three occupied levels and a roof below the uppermost teaching floor. This arrangement gives the campus a recognizable structure and creates a sequence of sheltered connections and outdoor spaces. The courtyard becomes a common reference point between learning, informal activity, and movement through the building.</a:t>
            </a:r>
          </a:p>
        </p:txBody>
      </p:sp>
      <p:sp>
        <p:nvSpPr>
          <p:cNvPr id="11" name="Editable paragraph">
            <a:extLst xmlns:a="http://schemas.openxmlformats.org/drawingml/2006/main">
              <a:ext uri="{FF2B5EF4-FFF2-40B4-BE49-F238E27FC236}">
                <a16:creationId xmlns:a16="http://schemas.microsoft.com/office/drawing/2014/main" id="{7E2DFAF8-85EF-4498-BC18-8D818B357C0F}"/>
              </a:ext>
            </a:extLst>
          </p:cNvPr>
          <p:cNvSpPr>
            <a:spLocks xmlns:a="http://schemas.openxmlformats.org/drawingml/2006/main" noGrp="1"/>
          </p:cNvSpPr>
          <p:nvPr/>
        </p:nvSpPr>
        <p:spPr>
          <a:xfrm xmlns:a="http://schemas.openxmlformats.org/drawingml/2006/main">
            <a:off x="304800" y="2608263"/>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The ground floor brings together the library, entrance hall, school-history display, reception, administrative rooms, multifunction classrooms, and dining facilities. These uses give arrival a social and practical role in school life. Reception can help visitors orient themselves, while the library and shared rooms place activity near common circulation. Waiting should be organized beside staff contact. Dining and kitchen access also need clear connections, with service movement arranged around the everyday routes used by children and teachers.</a:t>
            </a:r>
          </a:p>
        </p:txBody>
      </p:sp>
      <p:sp>
        <p:nvSpPr>
          <p:cNvPr id="12" name="Editable paragraph">
            <a:extLst xmlns:a="http://schemas.openxmlformats.org/drawingml/2006/main">
              <a:ext uri="{FF2B5EF4-FFF2-40B4-BE49-F238E27FC236}">
                <a16:creationId xmlns:a16="http://schemas.microsoft.com/office/drawing/2014/main" id="{9B7544C1-92E2-4AB2-BB8F-681AE09CC282}"/>
              </a:ext>
            </a:extLst>
          </p:cNvPr>
          <p:cNvSpPr>
            <a:spLocks xmlns:a="http://schemas.openxmlformats.org/drawingml/2006/main" noGrp="1"/>
          </p:cNvSpPr>
          <p:nvPr/>
        </p:nvSpPr>
        <p:spPr>
          <a:xfrm xmlns:a="http://schemas.openxmlformats.org/drawingml/2006/main">
            <a:off x="304800" y="3870325"/>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On the upper floors, multifunction classrooms continue along the teaching wings and offices occupy the connecting block. Rest, consultation, and psychological support are grouped in a smaller suite close to teaching. Meeting and activity rooms on the third level of the lower wing offer a further setting for collective use. Waiting beside the support suite can be made calmer through seating and careful placement, while adaptable furniture in shared classrooms allows different activities to take place within the same familiar layout.</a:t>
            </a:r>
          </a:p>
        </p:txBody>
      </p:sp>
      <p:sp>
        <p:nvSpPr>
          <p:cNvPr id="13" name="Editable paragraph">
            <a:extLst xmlns:a="http://schemas.openxmlformats.org/drawingml/2006/main">
              <a:ext uri="{FF2B5EF4-FFF2-40B4-BE49-F238E27FC236}">
                <a16:creationId xmlns:a16="http://schemas.microsoft.com/office/drawing/2014/main" id="{33C149D8-7630-45EA-B071-0641F8487DB5}"/>
              </a:ext>
            </a:extLst>
          </p:cNvPr>
          <p:cNvSpPr>
            <a:spLocks xmlns:a="http://schemas.openxmlformats.org/drawingml/2006/main" noGrp="1"/>
          </p:cNvSpPr>
          <p:nvPr/>
        </p:nvSpPr>
        <p:spPr>
          <a:xfrm xmlns:a="http://schemas.openxmlformats.org/drawingml/2006/main">
            <a:off x="304800" y="5132387"/>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Pitched gray roofs, pale walls, repeated bays, stone-textured bands, and vertical screens give the buildings a consistent character. Corridors and recessed thresholds create depth along the elevations and mediate between classrooms and shared ground. At close range, the design emphasis is on places children pass, pause, and gather. Materials and details should be easy to clean and repair, with a clear relationship between indoor rooms, sheltered circulation, and the courtyard rather than isolated decorative gestures.</a:t>
            </a:r>
          </a:p>
        </p:txBody>
      </p:sp>
      <p:sp>
        <p:nvSpPr>
          <p:cNvPr id="14" name="Editable paragraph">
            <a:extLst xmlns:a="http://schemas.openxmlformats.org/drawingml/2006/main">
              <a:ext uri="{FF2B5EF4-FFF2-40B4-BE49-F238E27FC236}">
                <a16:creationId xmlns:a16="http://schemas.microsoft.com/office/drawing/2014/main" id="{E9030F06-5262-471C-80D5-2F520FBDF1D4}"/>
              </a:ext>
            </a:extLst>
          </p:cNvPr>
          <p:cNvSpPr>
            <a:spLocks xmlns:a="http://schemas.openxmlformats.org/drawingml/2006/main" noGrp="1"/>
          </p:cNvSpPr>
          <p:nvPr/>
        </p:nvSpPr>
        <p:spPr>
          <a:xfrm xmlns:a="http://schemas.openxmlformats.org/drawingml/2006/main">
            <a:off x="5422900" y="1016000"/>
            <a:ext cx="49657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10 / Implementation and follow-up</a:t>
            </a:r>
          </a:p>
        </p:txBody>
      </p:sp>
      <p:sp>
        <p:nvSpPr>
          <p:cNvPr id="15" name="Editable paragraph">
            <a:extLst xmlns:a="http://schemas.openxmlformats.org/drawingml/2006/main">
              <a:ext uri="{FF2B5EF4-FFF2-40B4-BE49-F238E27FC236}">
                <a16:creationId xmlns:a16="http://schemas.microsoft.com/office/drawing/2014/main" id="{C1AB038E-4721-4C1A-A9E7-B3CB0C6BB2F8}"/>
              </a:ext>
            </a:extLst>
          </p:cNvPr>
          <p:cNvSpPr>
            <a:spLocks xmlns:a="http://schemas.openxmlformats.org/drawingml/2006/main" noGrp="1"/>
          </p:cNvSpPr>
          <p:nvPr/>
        </p:nvSpPr>
        <p:spPr>
          <a:xfrm xmlns:a="http://schemas.openxmlformats.org/drawingml/2006/main">
            <a:off x="5422900" y="1346200"/>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Implementation begins with improvements that address repeated daily difficulties. Toilet and handwashing access, uneven activity surfaces, basic seating, waiting, and simple storage can be considered within the existing school. A room or corridor edge can first accommodate a small-group activity, allowing teachers and children to establish a useful routine. Early changes should be located where they will be encountered often. Their daily use can then guide the arrangement of more permanent facilities in the wider campus project.</a:t>
            </a:r>
          </a:p>
        </p:txBody>
      </p:sp>
      <p:sp>
        <p:nvSpPr>
          <p:cNvPr id="16" name="Editable paragraph">
            <a:extLst xmlns:a="http://schemas.openxmlformats.org/drawingml/2006/main">
              <a:ext uri="{FF2B5EF4-FFF2-40B4-BE49-F238E27FC236}">
                <a16:creationId xmlns:a16="http://schemas.microsoft.com/office/drawing/2014/main" id="{C4B04D0D-01B2-4472-A252-460CE9A9A026}"/>
              </a:ext>
            </a:extLst>
          </p:cNvPr>
          <p:cNvSpPr>
            <a:spLocks xmlns:a="http://schemas.openxmlformats.org/drawingml/2006/main" noGrp="1"/>
          </p:cNvSpPr>
          <p:nvPr/>
        </p:nvSpPr>
        <p:spPr>
          <a:xfrm xmlns:a="http://schemas.openxmlformats.org/drawingml/2006/main">
            <a:off x="5422900" y="2608263"/>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A second stage develops a dependable activity program. Movable furniture, durable materials, accessible storage, and a weekly schedule can support reading, art, science, and group work in shared rooms. Activities need to match the adults available to lead them. Regular donations can be connected to specific improvements whose recurring needs are clear. Planning should include cleaning, consumables, repairs, and staff time alongside the initial purchase, so that a new setting remains available after its first period of use.</a:t>
            </a:r>
          </a:p>
        </p:txBody>
      </p:sp>
      <p:sp>
        <p:nvSpPr>
          <p:cNvPr id="17" name="Editable paragraph">
            <a:extLst xmlns:a="http://schemas.openxmlformats.org/drawingml/2006/main">
              <a:ext uri="{FF2B5EF4-FFF2-40B4-BE49-F238E27FC236}">
                <a16:creationId xmlns:a16="http://schemas.microsoft.com/office/drawing/2014/main" id="{7480F880-DC62-44FC-A622-5578D1F5186F}"/>
              </a:ext>
            </a:extLst>
          </p:cNvPr>
          <p:cNvSpPr>
            <a:spLocks xmlns:a="http://schemas.openxmlformats.org/drawingml/2006/main" noGrp="1"/>
          </p:cNvSpPr>
          <p:nvPr/>
        </p:nvSpPr>
        <p:spPr>
          <a:xfrm xmlns:a="http://schemas.openxmlformats.org/drawingml/2006/main">
            <a:off x="5422900" y="3870325"/>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The longer-term campus coordinates buildings, outdoor grounds, and service access as one project. Teaching, dining, and support spaces should have agreed patterns of use and responsibility. Outdoor improvements can proceed in manageable sections, beginning with surfaces and shaded edges along frequent routes. As construction develops, the school can retain a clear sequence of arrival, learning, activity, and care. This phasing keeps daily operation central to the project while allowing the connected campus to take shape over time.</a:t>
            </a:r>
          </a:p>
        </p:txBody>
      </p:sp>
      <p:sp>
        <p:nvSpPr>
          <p:cNvPr id="18" name="Editable paragraph">
            <a:extLst xmlns:a="http://schemas.openxmlformats.org/drawingml/2006/main">
              <a:ext uri="{FF2B5EF4-FFF2-40B4-BE49-F238E27FC236}">
                <a16:creationId xmlns:a16="http://schemas.microsoft.com/office/drawing/2014/main" id="{91665DE0-EE8E-4A34-BDEF-1EDA52C4059C}"/>
              </a:ext>
            </a:extLst>
          </p:cNvPr>
          <p:cNvSpPr>
            <a:spLocks xmlns:a="http://schemas.openxmlformats.org/drawingml/2006/main" noGrp="1"/>
          </p:cNvSpPr>
          <p:nvPr/>
        </p:nvSpPr>
        <p:spPr>
          <a:xfrm xmlns:a="http://schemas.openxmlformats.org/drawingml/2006/main">
            <a:off x="5422900" y="5132387"/>
            <a:ext cx="4965700" cy="1147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10" b="0" i="0">
                <a:solidFill>
                  <a:srgbClr val="252D2C"/>
                </a:solidFill>
                <a:latin typeface="Arial"/>
                <a:ea typeface="Arial"/>
                <a:cs typeface="Arial"/>
              </a:defRPr>
            </a:defPPr>
          </a:lstStyle>
          <a:p xmlns:a="http://schemas.openxmlformats.org/drawingml/2006/main">
            <a:pPr>
              <a:buNone/>
              <a:defRPr sz="1010" b="0" i="0">
                <a:solidFill>
                  <a:srgbClr val="252D2C"/>
                </a:solidFill>
                <a:latin typeface="Arial"/>
                <a:ea typeface="Arial"/>
                <a:cs typeface="Arial"/>
              </a:defRPr>
              <a:lnSpc>
                <a:spcPts val="1262"/>
              </a:lnSpc>
              <a:spcBef>
                <a:spcPts val="0"/>
              </a:spcBef>
              <a:spcAft>
                <a:spcPts val="0"/>
              </a:spcAft>
            </a:pPr>
            <a:r>
              <a:rPr sz="1010" b="0" i="0">
                <a:solidFill>
                  <a:srgbClr val="252D2C"/>
                </a:solidFill>
                <a:latin typeface="Arial"/>
                <a:ea typeface="Arial"/>
                <a:cs typeface="Arial"/>
              </a:rPr>
              <a:t>Follow-up evaluation can use the same everyday situations that informed the design. Staff can check whether washing facilities are ready in the morning, where children gather during breaks, how waiting areas are used, and whether scheduled activities take place. Short conversations with pupils can explore comfort, convenience, and preferred places. Repeated observations before and after an improvement will help the school adjust furniture, opening times, or supervision. The aim is to keep refining spaces through their actual contribution to daily life.</a:t>
            </a:r>
          </a:p>
        </p:txBody>
      </p:sp>
      <p:sp>
        <p:nvSpPr>
          <p:cNvPr id="19" name="">
            <a:extLst xmlns:a="http://schemas.openxmlformats.org/drawingml/2006/main">
              <a:ext uri="{FF2B5EF4-FFF2-40B4-BE49-F238E27FC236}">
                <a16:creationId xmlns:a16="http://schemas.microsoft.com/office/drawing/2014/main" id="{38B9C0C8-044C-4320-9BC8-BD48C8CD1EB2}"/>
              </a:ext>
            </a:extLst>
          </p:cNvPr>
          <p:cNvSpPr>
            <a:spLocks xmlns:a="http://schemas.openxmlformats.org/drawingml/2006/main" noGrp="1"/>
          </p:cNvSpPr>
          <p:nvPr/>
        </p:nvSpPr>
        <p:spPr>
          <a:xfrm xmlns:a="http://schemas.openxmlformats.org/drawingml/2006/main">
            <a:off x="304800" y="64262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20" name="Editable paragraph">
            <a:extLst xmlns:a="http://schemas.openxmlformats.org/drawingml/2006/main">
              <a:ext uri="{FF2B5EF4-FFF2-40B4-BE49-F238E27FC236}">
                <a16:creationId xmlns:a16="http://schemas.microsoft.com/office/drawing/2014/main" id="{B119B786-F408-4624-B055-97A1C2954231}"/>
              </a:ext>
            </a:extLst>
          </p:cNvPr>
          <p:cNvSpPr>
            <a:spLocks xmlns:a="http://schemas.openxmlformats.org/drawingml/2006/main" noGrp="1"/>
          </p:cNvSpPr>
          <p:nvPr/>
        </p:nvSpPr>
        <p:spPr>
          <a:xfrm xmlns:a="http://schemas.openxmlformats.org/drawingml/2006/main">
            <a:off x="304800" y="6578600"/>
            <a:ext cx="24130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L4</a:t>
            </a:r>
          </a:p>
        </p:txBody>
      </p:sp>
      <p:sp>
        <p:nvSpPr>
          <p:cNvPr id="21" name="Editable paragraph">
            <a:extLst xmlns:a="http://schemas.openxmlformats.org/drawingml/2006/main">
              <a:ext uri="{FF2B5EF4-FFF2-40B4-BE49-F238E27FC236}">
                <a16:creationId xmlns:a16="http://schemas.microsoft.com/office/drawing/2014/main" id="{A9AB8B54-DFA0-404F-B570-0389599A1652}"/>
              </a:ext>
            </a:extLst>
          </p:cNvPr>
          <p:cNvSpPr>
            <a:spLocks xmlns:a="http://schemas.openxmlformats.org/drawingml/2006/main" noGrp="1"/>
          </p:cNvSpPr>
          <p:nvPr/>
        </p:nvSpPr>
        <p:spPr>
          <a:xfrm xmlns:a="http://schemas.openxmlformats.org/drawingml/2006/main">
            <a:off x="304800" y="6858000"/>
            <a:ext cx="24130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Learning + support</a:t>
            </a:r>
          </a:p>
        </p:txBody>
      </p:sp>
      <p:sp>
        <p:nvSpPr>
          <p:cNvPr id="22" name="Editable paragraph">
            <a:extLst xmlns:a="http://schemas.openxmlformats.org/drawingml/2006/main">
              <a:ext uri="{FF2B5EF4-FFF2-40B4-BE49-F238E27FC236}">
                <a16:creationId xmlns:a16="http://schemas.microsoft.com/office/drawing/2014/main" id="{695875A3-3300-46D7-A2B2-2CE4899E341B}"/>
              </a:ext>
            </a:extLst>
          </p:cNvPr>
          <p:cNvSpPr>
            <a:spLocks xmlns:a="http://schemas.openxmlformats.org/drawingml/2006/main" noGrp="1"/>
          </p:cNvSpPr>
          <p:nvPr/>
        </p:nvSpPr>
        <p:spPr>
          <a:xfrm xmlns:a="http://schemas.openxmlformats.org/drawingml/2006/main">
            <a:off x="2857500" y="6578600"/>
            <a:ext cx="24130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L3</a:t>
            </a:r>
          </a:p>
        </p:txBody>
      </p:sp>
      <p:sp>
        <p:nvSpPr>
          <p:cNvPr id="23" name="Editable paragraph">
            <a:extLst xmlns:a="http://schemas.openxmlformats.org/drawingml/2006/main">
              <a:ext uri="{FF2B5EF4-FFF2-40B4-BE49-F238E27FC236}">
                <a16:creationId xmlns:a16="http://schemas.microsoft.com/office/drawing/2014/main" id="{F0E74BC2-4FEC-45C1-807E-AFA1F885074B}"/>
              </a:ext>
            </a:extLst>
          </p:cNvPr>
          <p:cNvSpPr>
            <a:spLocks xmlns:a="http://schemas.openxmlformats.org/drawingml/2006/main" noGrp="1"/>
          </p:cNvSpPr>
          <p:nvPr/>
        </p:nvSpPr>
        <p:spPr>
          <a:xfrm xmlns:a="http://schemas.openxmlformats.org/drawingml/2006/main">
            <a:off x="2857500" y="6858000"/>
            <a:ext cx="24130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Learning + shared activities</a:t>
            </a:r>
          </a:p>
        </p:txBody>
      </p:sp>
      <p:sp>
        <p:nvSpPr>
          <p:cNvPr id="24" name="Editable paragraph">
            <a:extLst xmlns:a="http://schemas.openxmlformats.org/drawingml/2006/main">
              <a:ext uri="{FF2B5EF4-FFF2-40B4-BE49-F238E27FC236}">
                <a16:creationId xmlns:a16="http://schemas.microsoft.com/office/drawing/2014/main" id="{BF59F3A2-FB8F-46C7-A3D3-CEB31CFEB4F1}"/>
              </a:ext>
            </a:extLst>
          </p:cNvPr>
          <p:cNvSpPr>
            <a:spLocks xmlns:a="http://schemas.openxmlformats.org/drawingml/2006/main" noGrp="1"/>
          </p:cNvSpPr>
          <p:nvPr/>
        </p:nvSpPr>
        <p:spPr>
          <a:xfrm xmlns:a="http://schemas.openxmlformats.org/drawingml/2006/main">
            <a:off x="5410200" y="6578600"/>
            <a:ext cx="24130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L2</a:t>
            </a:r>
          </a:p>
        </p:txBody>
      </p:sp>
      <p:sp>
        <p:nvSpPr>
          <p:cNvPr id="25" name="Editable paragraph">
            <a:extLst xmlns:a="http://schemas.openxmlformats.org/drawingml/2006/main">
              <a:ext uri="{FF2B5EF4-FFF2-40B4-BE49-F238E27FC236}">
                <a16:creationId xmlns:a16="http://schemas.microsoft.com/office/drawing/2014/main" id="{07B04AE5-61EC-4C92-A112-B66D895BC9AC}"/>
              </a:ext>
            </a:extLst>
          </p:cNvPr>
          <p:cNvSpPr>
            <a:spLocks xmlns:a="http://schemas.openxmlformats.org/drawingml/2006/main" noGrp="1"/>
          </p:cNvSpPr>
          <p:nvPr/>
        </p:nvSpPr>
        <p:spPr>
          <a:xfrm xmlns:a="http://schemas.openxmlformats.org/drawingml/2006/main">
            <a:off x="5410200" y="6858000"/>
            <a:ext cx="24130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Learning + care + dining</a:t>
            </a:r>
          </a:p>
        </p:txBody>
      </p:sp>
      <p:sp>
        <p:nvSpPr>
          <p:cNvPr id="26" name="Editable paragraph">
            <a:extLst xmlns:a="http://schemas.openxmlformats.org/drawingml/2006/main">
              <a:ext uri="{FF2B5EF4-FFF2-40B4-BE49-F238E27FC236}">
                <a16:creationId xmlns:a16="http://schemas.microsoft.com/office/drawing/2014/main" id="{66B0FDD8-1A46-4407-AD6A-C9C240AE5133}"/>
              </a:ext>
            </a:extLst>
          </p:cNvPr>
          <p:cNvSpPr>
            <a:spLocks xmlns:a="http://schemas.openxmlformats.org/drawingml/2006/main" noGrp="1"/>
          </p:cNvSpPr>
          <p:nvPr/>
        </p:nvSpPr>
        <p:spPr>
          <a:xfrm xmlns:a="http://schemas.openxmlformats.org/drawingml/2006/main">
            <a:off x="7962900" y="6578600"/>
            <a:ext cx="2413000" cy="2284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00" b="1" i="0">
                <a:solidFill>
                  <a:srgbClr val="345A60"/>
                </a:solidFill>
                <a:latin typeface="Arial"/>
                <a:ea typeface="Arial"/>
                <a:cs typeface="Arial"/>
              </a:defRPr>
            </a:defPPr>
          </a:lstStyle>
          <a:p xmlns:a="http://schemas.openxmlformats.org/drawingml/2006/main">
            <a:pPr>
              <a:buNone/>
              <a:defRPr sz="1300" b="1" i="0">
                <a:solidFill>
                  <a:srgbClr val="345A60"/>
                </a:solidFill>
                <a:latin typeface="Arial"/>
                <a:ea typeface="Arial"/>
                <a:cs typeface="Arial"/>
              </a:defRPr>
              <a:lnSpc>
                <a:spcPts val="1599"/>
              </a:lnSpc>
              <a:spcBef>
                <a:spcPts val="0"/>
              </a:spcBef>
              <a:spcAft>
                <a:spcPts val="0"/>
              </a:spcAft>
            </a:pPr>
            <a:r>
              <a:rPr sz="1300" b="1" i="0">
                <a:solidFill>
                  <a:srgbClr val="345A60"/>
                </a:solidFill>
                <a:latin typeface="Arial"/>
                <a:ea typeface="Arial"/>
                <a:cs typeface="Arial"/>
              </a:rPr>
              <a:t>L1</a:t>
            </a:r>
          </a:p>
        </p:txBody>
      </p:sp>
      <p:sp>
        <p:nvSpPr>
          <p:cNvPr id="27" name="Editable paragraph">
            <a:extLst xmlns:a="http://schemas.openxmlformats.org/drawingml/2006/main">
              <a:ext uri="{FF2B5EF4-FFF2-40B4-BE49-F238E27FC236}">
                <a16:creationId xmlns:a16="http://schemas.microsoft.com/office/drawing/2014/main" id="{DBDE9693-C087-46DC-A8DE-815486CB8C00}"/>
              </a:ext>
            </a:extLst>
          </p:cNvPr>
          <p:cNvSpPr>
            <a:spLocks xmlns:a="http://schemas.openxmlformats.org/drawingml/2006/main" noGrp="1"/>
          </p:cNvSpPr>
          <p:nvPr/>
        </p:nvSpPr>
        <p:spPr>
          <a:xfrm xmlns:a="http://schemas.openxmlformats.org/drawingml/2006/main">
            <a:off x="7962900" y="6858000"/>
            <a:ext cx="24130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07"/>
              </a:lnSpc>
              <a:spcBef>
                <a:spcPts val="0"/>
              </a:spcBef>
              <a:spcAft>
                <a:spcPts val="0"/>
              </a:spcAft>
            </a:pPr>
            <a:r>
              <a:rPr sz="900" b="0" i="0">
                <a:solidFill>
                  <a:srgbClr val="252D2C"/>
                </a:solidFill>
                <a:latin typeface="Arial"/>
                <a:ea typeface="Arial"/>
                <a:cs typeface="Arial"/>
              </a:rPr>
              <a:t>Arrival + learning + dining</a:t>
            </a:r>
          </a:p>
        </p:txBody>
      </p:sp>
      <p:sp>
        <p:nvSpPr>
          <p:cNvPr id="28" name="Editable paragraph">
            <a:extLst xmlns:a="http://schemas.openxmlformats.org/drawingml/2006/main">
              <a:ext uri="{FF2B5EF4-FFF2-40B4-BE49-F238E27FC236}">
                <a16:creationId xmlns:a16="http://schemas.microsoft.com/office/drawing/2014/main" id="{37CF838E-E956-489F-8628-9CF1CB136C4F}"/>
              </a:ext>
            </a:extLst>
          </p:cNvPr>
          <p:cNvSpPr>
            <a:spLocks xmlns:a="http://schemas.openxmlformats.org/drawingml/2006/main" noGrp="1"/>
          </p:cNvSpPr>
          <p:nvPr/>
        </p:nvSpPr>
        <p:spPr>
          <a:xfrm xmlns:a="http://schemas.openxmlformats.org/drawingml/2006/main">
            <a:off x="304800" y="7150100"/>
            <a:ext cx="100838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61"/>
              </a:lnSpc>
              <a:spcBef>
                <a:spcPts val="0"/>
              </a:spcBef>
              <a:spcAft>
                <a:spcPts val="0"/>
              </a:spcAft>
            </a:pPr>
            <a:r>
              <a:rPr sz="700" b="0" i="0">
                <a:solidFill>
                  <a:srgbClr val="252D2C"/>
                </a:solidFill>
                <a:latin typeface="Arial"/>
                <a:ea typeface="Arial"/>
                <a:cs typeface="Arial"/>
              </a:rPr>
              <a:t>Figure 9. Activities and support across the four levels.</a:t>
            </a:r>
          </a:p>
        </p:txBody>
      </p:sp>
    </p:spTree>
    <p:extLst>
      <p:ext uri="{BB962C8B-B14F-4D97-AF65-F5344CB8AC3E}">
        <p14:creationId xmlns:p14="http://schemas.microsoft.com/office/powerpoint/2010/main" val="14571931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 name="Editable paragraph">
            <a:extLst xmlns:a="http://schemas.openxmlformats.org/drawingml/2006/main">
              <a:ext uri="{FF2B5EF4-FFF2-40B4-BE49-F238E27FC236}">
                <a16:creationId xmlns:a16="http://schemas.microsoft.com/office/drawing/2014/main" id="{536C34E3-D7BC-4686-9121-84F4CDFE1C8F}"/>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D7C7F73F-5AF8-410C-A926-21D5AAA67D46}"/>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665F3B82-00CA-4956-9E3C-BA33E1C36412}"/>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3C1A85E8-2787-453C-94E6-496818CC8207}"/>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D8EB0CF1-0B0E-49B3-8FDD-219F164DD15C}"/>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Conclusion &amp; questionnaire feedback</a:t>
            </a:r>
          </a:p>
        </p:txBody>
      </p:sp>
      <p:sp>
        <p:nvSpPr>
          <p:cNvPr id="6" name="">
            <a:extLst xmlns:a="http://schemas.openxmlformats.org/drawingml/2006/main">
              <a:ext uri="{FF2B5EF4-FFF2-40B4-BE49-F238E27FC236}">
                <a16:creationId xmlns:a16="http://schemas.microsoft.com/office/drawing/2014/main" id="{355960AE-2BC3-4DD2-B685-4FD392DE3C8B}"/>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7F86C588-5A44-4376-9EF6-9CA1AC4F5B62}"/>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270BE0D4-D803-4C57-B084-A6EEC4CD1F55}"/>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07 / 15</a:t>
            </a:r>
          </a:p>
        </p:txBody>
      </p:sp>
      <p:sp>
        <p:nvSpPr>
          <p:cNvPr id="9" name="Editable paragraph">
            <a:extLst xmlns:a="http://schemas.openxmlformats.org/drawingml/2006/main">
              <a:ext uri="{FF2B5EF4-FFF2-40B4-BE49-F238E27FC236}">
                <a16:creationId xmlns:a16="http://schemas.microsoft.com/office/drawing/2014/main" id="{93F05FDE-03C9-4464-BBFB-E7D99A1CCD21}"/>
              </a:ext>
            </a:extLst>
          </p:cNvPr>
          <p:cNvSpPr>
            <a:spLocks xmlns:a="http://schemas.openxmlformats.org/drawingml/2006/main" noGrp="1"/>
          </p:cNvSpPr>
          <p:nvPr/>
        </p:nvSpPr>
        <p:spPr>
          <a:xfrm xmlns:a="http://schemas.openxmlformats.org/drawingml/2006/main">
            <a:off x="304800" y="1016000"/>
            <a:ext cx="48641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Conclusion</a:t>
            </a:r>
          </a:p>
        </p:txBody>
      </p:sp>
      <p:sp>
        <p:nvSpPr>
          <p:cNvPr id="10" name="Editable paragraph">
            <a:extLst xmlns:a="http://schemas.openxmlformats.org/drawingml/2006/main">
              <a:ext uri="{FF2B5EF4-FFF2-40B4-BE49-F238E27FC236}">
                <a16:creationId xmlns:a16="http://schemas.microsoft.com/office/drawing/2014/main" id="{82B8A8A2-3004-462C-9C34-F1AD80345C29}"/>
              </a:ext>
            </a:extLst>
          </p:cNvPr>
          <p:cNvSpPr>
            <a:spLocks xmlns:a="http://schemas.openxmlformats.org/drawingml/2006/main" noGrp="1"/>
          </p:cNvSpPr>
          <p:nvPr/>
        </p:nvSpPr>
        <p:spPr>
          <a:xfrm xmlns:a="http://schemas.openxmlformats.org/drawingml/2006/main">
            <a:off x="304800" y="1295400"/>
            <a:ext cx="4864100" cy="10473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0" i="0">
                <a:solidFill>
                  <a:srgbClr val="252D2C"/>
                </a:solidFill>
                <a:latin typeface="Arial"/>
                <a:ea typeface="Arial"/>
                <a:cs typeface="Arial"/>
              </a:defRPr>
            </a:defPPr>
          </a:lstStyle>
          <a:p xmlns:a="http://schemas.openxmlformats.org/drawingml/2006/main">
            <a:pPr>
              <a:buNone/>
              <a:defRPr sz="950" b="0" i="0">
                <a:solidFill>
                  <a:srgbClr val="252D2C"/>
                </a:solidFill>
                <a:latin typeface="Arial"/>
                <a:ea typeface="Arial"/>
                <a:cs typeface="Arial"/>
              </a:defRPr>
              <a:lnSpc>
                <a:spcPts val="1150"/>
              </a:lnSpc>
              <a:spcBef>
                <a:spcPts val="0"/>
              </a:spcBef>
              <a:spcAft>
                <a:spcPts val="0"/>
              </a:spcAft>
            </a:pPr>
            <a:r>
              <a:rPr sz="950" b="0" i="0">
                <a:solidFill>
                  <a:srgbClr val="252D2C"/>
                </a:solidFill>
                <a:latin typeface="Arial"/>
                <a:ea typeface="Arial"/>
                <a:cs typeface="Arial"/>
              </a:rPr>
              <a:t>The research identifies connections that can make daily school life work more smoothly. Classrooms provide continuity, the playground offers freedom of movement, and familiar adults make support available. Toilets, washing, waiting, and small-group activity need closer relationships with these established places. Questionnaire feedback, environmental scores, and observations converge on a practical direction: improve the transitions between learning, shared activity, and care, with attention to how children use the campus throughout the day.</a:t>
            </a:r>
          </a:p>
        </p:txBody>
      </p:sp>
      <p:sp>
        <p:nvSpPr>
          <p:cNvPr id="11" name="Editable paragraph">
            <a:extLst xmlns:a="http://schemas.openxmlformats.org/drawingml/2006/main">
              <a:ext uri="{FF2B5EF4-FFF2-40B4-BE49-F238E27FC236}">
                <a16:creationId xmlns:a16="http://schemas.microsoft.com/office/drawing/2014/main" id="{2CD8D541-3BB5-4C47-B889-A971F3FAD530}"/>
              </a:ext>
            </a:extLst>
          </p:cNvPr>
          <p:cNvSpPr>
            <a:spLocks xmlns:a="http://schemas.openxmlformats.org/drawingml/2006/main" noGrp="1"/>
          </p:cNvSpPr>
          <p:nvPr/>
        </p:nvSpPr>
        <p:spPr>
          <a:xfrm xmlns:a="http://schemas.openxmlformats.org/drawingml/2006/main">
            <a:off x="304800" y="2431605"/>
            <a:ext cx="4864100" cy="9013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0" i="0">
                <a:solidFill>
                  <a:srgbClr val="252D2C"/>
                </a:solidFill>
                <a:latin typeface="Arial"/>
                <a:ea typeface="Arial"/>
                <a:cs typeface="Arial"/>
              </a:defRPr>
            </a:defPPr>
          </a:lstStyle>
          <a:p xmlns:a="http://schemas.openxmlformats.org/drawingml/2006/main">
            <a:pPr>
              <a:buNone/>
              <a:defRPr sz="950" b="0" i="0">
                <a:solidFill>
                  <a:srgbClr val="252D2C"/>
                </a:solidFill>
                <a:latin typeface="Arial"/>
                <a:ea typeface="Arial"/>
                <a:cs typeface="Arial"/>
              </a:defRPr>
              <a:lnSpc>
                <a:spcPts val="1150"/>
              </a:lnSpc>
              <a:spcBef>
                <a:spcPts val="0"/>
              </a:spcBef>
              <a:spcAft>
                <a:spcPts val="0"/>
              </a:spcAft>
            </a:pPr>
            <a:r>
              <a:rPr sz="950" b="0" i="0">
                <a:solidFill>
                  <a:srgbClr val="252D2C"/>
                </a:solidFill>
                <a:latin typeface="Arial"/>
                <a:ea typeface="Arial"/>
                <a:cs typeface="Arial"/>
              </a:rPr>
              <a:t>The design responds through connected teaching wings, a shared courtyard, and support located along ordinary circulation. Different scales of activity are accommodated in sports grounds, shared rooms, and smaller settings near classrooms. Furniture, storage, opening times, cleaning, and staffing give these places a workable daily role. The phased approach begins with useful changes to the existing school and carries their operating requirements into the wider architectural proposal.</a:t>
            </a:r>
          </a:p>
        </p:txBody>
      </p:sp>
      <p:sp>
        <p:nvSpPr>
          <p:cNvPr id="12" name="Editable paragraph">
            <a:extLst xmlns:a="http://schemas.openxmlformats.org/drawingml/2006/main">
              <a:ext uri="{FF2B5EF4-FFF2-40B4-BE49-F238E27FC236}">
                <a16:creationId xmlns:a16="http://schemas.microsoft.com/office/drawing/2014/main" id="{EE700E97-263C-48D4-9139-5B519253F52F}"/>
              </a:ext>
            </a:extLst>
          </p:cNvPr>
          <p:cNvSpPr>
            <a:spLocks xmlns:a="http://schemas.openxmlformats.org/drawingml/2006/main" noGrp="1"/>
          </p:cNvSpPr>
          <p:nvPr/>
        </p:nvSpPr>
        <p:spPr>
          <a:xfrm xmlns:a="http://schemas.openxmlformats.org/drawingml/2006/main">
            <a:off x="304800" y="3421824"/>
            <a:ext cx="4864100" cy="7553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50" b="0" i="0">
                <a:solidFill>
                  <a:srgbClr val="252D2C"/>
                </a:solidFill>
                <a:latin typeface="Arial"/>
                <a:ea typeface="Arial"/>
                <a:cs typeface="Arial"/>
              </a:defRPr>
            </a:defPPr>
          </a:lstStyle>
          <a:p xmlns:a="http://schemas.openxmlformats.org/drawingml/2006/main">
            <a:pPr>
              <a:buNone/>
              <a:defRPr sz="950" b="0" i="0">
                <a:solidFill>
                  <a:srgbClr val="252D2C"/>
                </a:solidFill>
                <a:latin typeface="Arial"/>
                <a:ea typeface="Arial"/>
                <a:cs typeface="Arial"/>
              </a:defRPr>
              <a:lnSpc>
                <a:spcPts val="1150"/>
              </a:lnSpc>
              <a:spcBef>
                <a:spcPts val="0"/>
              </a:spcBef>
              <a:spcAft>
                <a:spcPts val="0"/>
              </a:spcAft>
            </a:pPr>
            <a:r>
              <a:rPr sz="950" b="0" i="0">
                <a:solidFill>
                  <a:srgbClr val="252D2C"/>
                </a:solidFill>
                <a:latin typeface="Arial"/>
                <a:ea typeface="Arial"/>
                <a:cs typeface="Arial"/>
              </a:rPr>
              <a:t>A supportive campus allows a child to reach essential facilities, find a familiar adult, and choose a suitable place to spend time. These qualities can be developed through modest details as well as larger architectural decisions. A shaded seat, a clear route to washing, and a waiting place near staff all contribute to the same aim: making the school a dependable setting for learning, companionship, and everyday life.</a:t>
            </a:r>
          </a:p>
        </p:txBody>
      </p:sp>
      <p:sp>
        <p:nvSpPr>
          <p:cNvPr id="13" name="Editable paragraph">
            <a:extLst xmlns:a="http://schemas.openxmlformats.org/drawingml/2006/main">
              <a:ext uri="{FF2B5EF4-FFF2-40B4-BE49-F238E27FC236}">
                <a16:creationId xmlns:a16="http://schemas.microsoft.com/office/drawing/2014/main" id="{2FB99C40-AF04-4D6B-9C8A-3A6D37DDA0D0}"/>
              </a:ext>
            </a:extLst>
          </p:cNvPr>
          <p:cNvSpPr>
            <a:spLocks xmlns:a="http://schemas.openxmlformats.org/drawingml/2006/main" noGrp="1"/>
          </p:cNvSpPr>
          <p:nvPr/>
        </p:nvSpPr>
        <p:spPr>
          <a:xfrm xmlns:a="http://schemas.openxmlformats.org/drawingml/2006/main">
            <a:off x="304800" y="4304157"/>
            <a:ext cx="48641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345A60"/>
                </a:solidFill>
                <a:latin typeface="Arial"/>
                <a:ea typeface="Arial"/>
                <a:cs typeface="Arial"/>
              </a:defRPr>
            </a:defPPr>
          </a:lstStyle>
          <a:p xmlns:a="http://schemas.openxmlformats.org/drawingml/2006/main">
            <a:pPr>
              <a:buNone/>
              <a:defRPr sz="940" b="1" i="0">
                <a:solidFill>
                  <a:srgbClr val="345A60"/>
                </a:solidFill>
                <a:latin typeface="Arial"/>
                <a:ea typeface="Arial"/>
                <a:cs typeface="Arial"/>
              </a:defRPr>
              <a:lnSpc>
                <a:spcPts val="1156"/>
              </a:lnSpc>
              <a:spcBef>
                <a:spcPts val="0"/>
              </a:spcBef>
              <a:spcAft>
                <a:spcPts val="0"/>
              </a:spcAft>
            </a:pPr>
            <a:r>
              <a:rPr sz="940" b="1" i="0">
                <a:solidFill>
                  <a:srgbClr val="345A60"/>
                </a:solidFill>
                <a:latin typeface="Arial"/>
                <a:ea typeface="Arial"/>
                <a:cs typeface="Arial"/>
              </a:rPr>
              <a:t>References</a:t>
            </a:r>
          </a:p>
        </p:txBody>
      </p:sp>
      <p:sp>
        <p:nvSpPr>
          <p:cNvPr id="14" name="Editable paragraph">
            <a:extLst xmlns:a="http://schemas.openxmlformats.org/drawingml/2006/main">
              <a:ext uri="{FF2B5EF4-FFF2-40B4-BE49-F238E27FC236}">
                <a16:creationId xmlns:a16="http://schemas.microsoft.com/office/drawing/2014/main" id="{FBD5120B-922E-4C18-94D9-018E14B49A3F}"/>
              </a:ext>
            </a:extLst>
          </p:cNvPr>
          <p:cNvSpPr>
            <a:spLocks xmlns:a="http://schemas.openxmlformats.org/drawingml/2006/main" noGrp="1"/>
          </p:cNvSpPr>
          <p:nvPr/>
        </p:nvSpPr>
        <p:spPr>
          <a:xfrm xmlns:a="http://schemas.openxmlformats.org/drawingml/2006/main">
            <a:off x="304800" y="4545457"/>
            <a:ext cx="48641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0"/>
              </a:lnSpc>
              <a:spcBef>
                <a:spcPts val="0"/>
              </a:spcBef>
              <a:spcAft>
                <a:spcPts val="0"/>
              </a:spcAft>
            </a:pPr>
            <a:r>
              <a:rPr sz="770" b="0" i="0">
                <a:solidFill>
                  <a:srgbClr val="252D2C"/>
                </a:solidFill>
                <a:latin typeface="Arial"/>
                <a:ea typeface="Arial"/>
                <a:cs typeface="Arial"/>
              </a:rPr>
              <a:t>[1]  Barrett, P., Davies, F., Zhang, Y., &amp; Barrett, L. (2015). The impact of classroom design on pupils' learning: Final results of a holistic, multi-level analysis. Building and Environment, 89, 118-133. DOI: 10.1016/j.buildenv.2015.02.013.</a:t>
            </a:r>
          </a:p>
        </p:txBody>
      </p:sp>
      <p:sp>
        <p:nvSpPr>
          <p:cNvPr id="15" name="Editable paragraph">
            <a:extLst xmlns:a="http://schemas.openxmlformats.org/drawingml/2006/main">
              <a:ext uri="{FF2B5EF4-FFF2-40B4-BE49-F238E27FC236}">
                <a16:creationId xmlns:a16="http://schemas.microsoft.com/office/drawing/2014/main" id="{ED07B5CC-6FEE-4D16-B711-1A4D9A4B8107}"/>
              </a:ext>
            </a:extLst>
          </p:cNvPr>
          <p:cNvSpPr>
            <a:spLocks xmlns:a="http://schemas.openxmlformats.org/drawingml/2006/main" noGrp="1"/>
          </p:cNvSpPr>
          <p:nvPr/>
        </p:nvSpPr>
        <p:spPr>
          <a:xfrm xmlns:a="http://schemas.openxmlformats.org/drawingml/2006/main">
            <a:off x="304800" y="4977257"/>
            <a:ext cx="48641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0"/>
              </a:lnSpc>
              <a:spcBef>
                <a:spcPts val="0"/>
              </a:spcBef>
              <a:spcAft>
                <a:spcPts val="0"/>
              </a:spcAft>
            </a:pPr>
            <a:r>
              <a:rPr sz="770" b="0" i="0">
                <a:solidFill>
                  <a:srgbClr val="252D2C"/>
                </a:solidFill>
                <a:latin typeface="Arial"/>
                <a:ea typeface="Arial"/>
                <a:cs typeface="Arial"/>
              </a:rPr>
              <a:t>[2]  Adams, J., Bartram, J., Chartier, Y., &amp; Sims, J. (Eds.). (2009). Water, sanitation and hygiene standards for schools in low-cost settings. World Health Organization. ISBN 978-92-4-154779-6. Sections 3.8-3.9 and Guideline 5.</a:t>
            </a:r>
          </a:p>
        </p:txBody>
      </p:sp>
      <p:sp>
        <p:nvSpPr>
          <p:cNvPr id="16" name="Editable paragraph">
            <a:extLst xmlns:a="http://schemas.openxmlformats.org/drawingml/2006/main">
              <a:ext uri="{FF2B5EF4-FFF2-40B4-BE49-F238E27FC236}">
                <a16:creationId xmlns:a16="http://schemas.microsoft.com/office/drawing/2014/main" id="{08493684-9613-47B1-B12D-A7D16C9EB3E2}"/>
              </a:ext>
            </a:extLst>
          </p:cNvPr>
          <p:cNvSpPr>
            <a:spLocks xmlns:a="http://schemas.openxmlformats.org/drawingml/2006/main" noGrp="1"/>
          </p:cNvSpPr>
          <p:nvPr/>
        </p:nvSpPr>
        <p:spPr>
          <a:xfrm xmlns:a="http://schemas.openxmlformats.org/drawingml/2006/main">
            <a:off x="304800" y="5409057"/>
            <a:ext cx="4864100" cy="15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1" i="0">
                <a:solidFill>
                  <a:srgbClr val="345A60"/>
                </a:solidFill>
                <a:latin typeface="Arial"/>
                <a:ea typeface="Arial"/>
                <a:cs typeface="Arial"/>
              </a:defRPr>
            </a:defPPr>
          </a:lstStyle>
          <a:p xmlns:a="http://schemas.openxmlformats.org/drawingml/2006/main">
            <a:pPr>
              <a:buNone/>
              <a:defRPr sz="850" b="1" i="0">
                <a:solidFill>
                  <a:srgbClr val="345A60"/>
                </a:solidFill>
                <a:latin typeface="Arial"/>
                <a:ea typeface="Arial"/>
                <a:cs typeface="Arial"/>
              </a:defRPr>
              <a:lnSpc>
                <a:spcPts val="1020"/>
              </a:lnSpc>
              <a:spcBef>
                <a:spcPts val="0"/>
              </a:spcBef>
              <a:spcAft>
                <a:spcPts val="0"/>
              </a:spcAft>
            </a:pPr>
            <a:r>
              <a:rPr sz="850" b="1" i="0">
                <a:solidFill>
                  <a:srgbClr val="345A60"/>
                </a:solidFill>
                <a:latin typeface="Arial"/>
                <a:ea typeface="Arial"/>
                <a:cs typeface="Arial"/>
              </a:rPr>
              <a:t>Research perspectives</a:t>
            </a:r>
          </a:p>
        </p:txBody>
      </p:sp>
      <p:sp>
        <p:nvSpPr>
          <p:cNvPr id="17" name="Editable paragraph">
            <a:extLst xmlns:a="http://schemas.openxmlformats.org/drawingml/2006/main">
              <a:ext uri="{FF2B5EF4-FFF2-40B4-BE49-F238E27FC236}">
                <a16:creationId xmlns:a16="http://schemas.microsoft.com/office/drawing/2014/main" id="{A82A7DB9-7B98-4B83-909F-981E067AD966}"/>
              </a:ext>
            </a:extLst>
          </p:cNvPr>
          <p:cNvSpPr>
            <a:spLocks xmlns:a="http://schemas.openxmlformats.org/drawingml/2006/main" noGrp="1"/>
          </p:cNvSpPr>
          <p:nvPr/>
        </p:nvSpPr>
        <p:spPr>
          <a:xfrm xmlns:a="http://schemas.openxmlformats.org/drawingml/2006/main">
            <a:off x="304800" y="5627497"/>
            <a:ext cx="4864100" cy="13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0"/>
              </a:lnSpc>
              <a:spcBef>
                <a:spcPts val="0"/>
              </a:spcBef>
              <a:spcAft>
                <a:spcPts val="0"/>
              </a:spcAft>
            </a:pPr>
            <a:r>
              <a:rPr sz="770" b="0" i="0">
                <a:solidFill>
                  <a:srgbClr val="252D2C"/>
                </a:solidFill>
                <a:latin typeface="Arial"/>
                <a:ea typeface="Arial"/>
                <a:cs typeface="Arial"/>
              </a:rPr>
              <a:t>Classroom flexibility and ownership [1]; accessible sanitation, privacy, and maintenance [2].</a:t>
            </a:r>
          </a:p>
        </p:txBody>
      </p:sp>
      <p:sp>
        <p:nvSpPr>
          <p:cNvPr id="18" name="Editable paragraph">
            <a:extLst xmlns:a="http://schemas.openxmlformats.org/drawingml/2006/main">
              <a:ext uri="{FF2B5EF4-FFF2-40B4-BE49-F238E27FC236}">
                <a16:creationId xmlns:a16="http://schemas.microsoft.com/office/drawing/2014/main" id="{6414DA0D-D9CF-43EE-A1B8-16888845D8F4}"/>
              </a:ext>
            </a:extLst>
          </p:cNvPr>
          <p:cNvSpPr>
            <a:spLocks xmlns:a="http://schemas.openxmlformats.org/drawingml/2006/main" noGrp="1"/>
          </p:cNvSpPr>
          <p:nvPr/>
        </p:nvSpPr>
        <p:spPr>
          <a:xfrm xmlns:a="http://schemas.openxmlformats.org/drawingml/2006/main">
            <a:off x="304800" y="5830697"/>
            <a:ext cx="48641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0"/>
              </a:lnSpc>
              <a:spcBef>
                <a:spcPts val="0"/>
              </a:spcBef>
              <a:spcAft>
                <a:spcPts val="0"/>
              </a:spcAft>
            </a:pPr>
            <a:r>
              <a:rPr sz="770" b="0" i="0">
                <a:solidFill>
                  <a:srgbClr val="252D2C"/>
                </a:solidFill>
                <a:latin typeface="Arial"/>
                <a:ea typeface="Arial"/>
                <a:cs typeface="Arial"/>
              </a:rPr>
              <a:t>F1  Kuzhi Yucai Public Welfare School field survey (September 2026). Questionnaire responses, environmental audit, activity observations, photographs, and school timetable.</a:t>
            </a:r>
          </a:p>
        </p:txBody>
      </p:sp>
      <p:sp>
        <p:nvSpPr>
          <p:cNvPr id="19" name="Editable paragraph">
            <a:extLst xmlns:a="http://schemas.openxmlformats.org/drawingml/2006/main">
              <a:ext uri="{FF2B5EF4-FFF2-40B4-BE49-F238E27FC236}">
                <a16:creationId xmlns:a16="http://schemas.microsoft.com/office/drawing/2014/main" id="{E0C56FD8-8702-4286-B475-FBC802DAA87D}"/>
              </a:ext>
            </a:extLst>
          </p:cNvPr>
          <p:cNvSpPr>
            <a:spLocks xmlns:a="http://schemas.openxmlformats.org/drawingml/2006/main" noGrp="1"/>
          </p:cNvSpPr>
          <p:nvPr/>
        </p:nvSpPr>
        <p:spPr>
          <a:xfrm xmlns:a="http://schemas.openxmlformats.org/drawingml/2006/main">
            <a:off x="304800" y="6148197"/>
            <a:ext cx="48641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0"/>
              </a:lnSpc>
              <a:spcBef>
                <a:spcPts val="0"/>
              </a:spcBef>
              <a:spcAft>
                <a:spcPts val="0"/>
              </a:spcAft>
            </a:pPr>
            <a:r>
              <a:rPr sz="770" b="0" i="0">
                <a:solidFill>
                  <a:srgbClr val="252D2C"/>
                </a:solidFill>
                <a:latin typeface="Arial"/>
                <a:ea typeface="Arial"/>
                <a:cs typeface="Arial"/>
              </a:rPr>
              <a:t>F2  Kuzhi Yucai Public Welfare School interviews (September 2026). School operations, daily care, teaching support, and continuing donations.</a:t>
            </a:r>
          </a:p>
        </p:txBody>
      </p:sp>
      <p:sp>
        <p:nvSpPr>
          <p:cNvPr id="20" name="Editable paragraph">
            <a:extLst xmlns:a="http://schemas.openxmlformats.org/drawingml/2006/main">
              <a:ext uri="{FF2B5EF4-FFF2-40B4-BE49-F238E27FC236}">
                <a16:creationId xmlns:a16="http://schemas.microsoft.com/office/drawing/2014/main" id="{1735D5BB-34C7-4EE7-B9F6-695985DA6F9F}"/>
              </a:ext>
            </a:extLst>
          </p:cNvPr>
          <p:cNvSpPr>
            <a:spLocks xmlns:a="http://schemas.openxmlformats.org/drawingml/2006/main" noGrp="1"/>
          </p:cNvSpPr>
          <p:nvPr/>
        </p:nvSpPr>
        <p:spPr>
          <a:xfrm xmlns:a="http://schemas.openxmlformats.org/drawingml/2006/main">
            <a:off x="304800" y="6465697"/>
            <a:ext cx="48641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0"/>
              </a:lnSpc>
              <a:spcBef>
                <a:spcPts val="0"/>
              </a:spcBef>
              <a:spcAft>
                <a:spcPts val="0"/>
              </a:spcAft>
            </a:pPr>
            <a:r>
              <a:rPr sz="770" b="0" i="0">
                <a:solidFill>
                  <a:srgbClr val="252D2C"/>
                </a:solidFill>
                <a:latin typeface="Arial"/>
                <a:ea typeface="Arial"/>
                <a:cs typeface="Arial"/>
              </a:rPr>
              <a:t>D1  Kuzhi Yucai Public Welfare School campus design. Masterplan, floor plans, elevations, sections, and architectural perspectives.</a:t>
            </a:r>
          </a:p>
        </p:txBody>
      </p:sp>
      <p:sp>
        <p:nvSpPr>
          <p:cNvPr id="21" name="Editable paragraph">
            <a:extLst xmlns:a="http://schemas.openxmlformats.org/drawingml/2006/main">
              <a:ext uri="{FF2B5EF4-FFF2-40B4-BE49-F238E27FC236}">
                <a16:creationId xmlns:a16="http://schemas.microsoft.com/office/drawing/2014/main" id="{6C3F2700-67D3-435B-8F8D-3BA651231F63}"/>
              </a:ext>
            </a:extLst>
          </p:cNvPr>
          <p:cNvSpPr>
            <a:spLocks xmlns:a="http://schemas.openxmlformats.org/drawingml/2006/main" noGrp="1"/>
          </p:cNvSpPr>
          <p:nvPr/>
        </p:nvSpPr>
        <p:spPr>
          <a:xfrm xmlns:a="http://schemas.openxmlformats.org/drawingml/2006/main">
            <a:off x="5422900" y="1016000"/>
            <a:ext cx="49657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Appendix A / Questionnaire feedback</a:t>
            </a:r>
          </a:p>
        </p:txBody>
      </p:sp>
      <p:sp>
        <p:nvSpPr>
          <p:cNvPr id="22" name="">
            <a:extLst xmlns:a="http://schemas.openxmlformats.org/drawingml/2006/main">
              <a:ext uri="{FF2B5EF4-FFF2-40B4-BE49-F238E27FC236}">
                <a16:creationId xmlns:a16="http://schemas.microsoft.com/office/drawing/2014/main" id="{DBEC03AE-A496-49DA-9BB0-524B413BCCF2}"/>
              </a:ext>
            </a:extLst>
          </p:cNvPr>
          <p:cNvSpPr>
            <a:spLocks xmlns:a="http://schemas.openxmlformats.org/drawingml/2006/main" noGrp="1"/>
          </p:cNvSpPr>
          <p:nvPr/>
        </p:nvSpPr>
        <p:spPr>
          <a:xfrm xmlns:a="http://schemas.openxmlformats.org/drawingml/2006/main">
            <a:off x="5422900" y="1295400"/>
            <a:ext cx="4965700" cy="30480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23" name="Editable paragraph">
            <a:extLst xmlns:a="http://schemas.openxmlformats.org/drawingml/2006/main">
              <a:ext uri="{FF2B5EF4-FFF2-40B4-BE49-F238E27FC236}">
                <a16:creationId xmlns:a16="http://schemas.microsoft.com/office/drawing/2014/main" id="{C7BADAEE-CF77-4081-84D3-1EA6DB86D776}"/>
              </a:ext>
            </a:extLst>
          </p:cNvPr>
          <p:cNvSpPr>
            <a:spLocks xmlns:a="http://schemas.openxmlformats.org/drawingml/2006/main" noGrp="1"/>
          </p:cNvSpPr>
          <p:nvPr/>
        </p:nvSpPr>
        <p:spPr>
          <a:xfrm xmlns:a="http://schemas.openxmlformats.org/drawingml/2006/main">
            <a:off x="5499100" y="1384300"/>
            <a:ext cx="1079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TOPIC</a:t>
            </a:r>
          </a:p>
        </p:txBody>
      </p:sp>
      <p:sp>
        <p:nvSpPr>
          <p:cNvPr id="24" name="Editable paragraph">
            <a:extLst xmlns:a="http://schemas.openxmlformats.org/drawingml/2006/main">
              <a:ext uri="{FF2B5EF4-FFF2-40B4-BE49-F238E27FC236}">
                <a16:creationId xmlns:a16="http://schemas.microsoft.com/office/drawing/2014/main" id="{1F0341B8-1509-4BDB-BE63-8D1AED2F4968}"/>
              </a:ext>
            </a:extLst>
          </p:cNvPr>
          <p:cNvSpPr>
            <a:spLocks xmlns:a="http://schemas.openxmlformats.org/drawingml/2006/main" noGrp="1"/>
          </p:cNvSpPr>
          <p:nvPr/>
        </p:nvSpPr>
        <p:spPr>
          <a:xfrm xmlns:a="http://schemas.openxmlformats.org/drawingml/2006/main">
            <a:off x="6616700" y="1384300"/>
            <a:ext cx="17907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FEEDBACK A</a:t>
            </a:r>
          </a:p>
        </p:txBody>
      </p:sp>
      <p:sp>
        <p:nvSpPr>
          <p:cNvPr id="25" name="Editable paragraph">
            <a:extLst xmlns:a="http://schemas.openxmlformats.org/drawingml/2006/main">
              <a:ext uri="{FF2B5EF4-FFF2-40B4-BE49-F238E27FC236}">
                <a16:creationId xmlns:a16="http://schemas.microsoft.com/office/drawing/2014/main" id="{D5E78E5D-F917-49A6-AB0E-3156F60851F7}"/>
              </a:ext>
            </a:extLst>
          </p:cNvPr>
          <p:cNvSpPr>
            <a:spLocks xmlns:a="http://schemas.openxmlformats.org/drawingml/2006/main" noGrp="1"/>
          </p:cNvSpPr>
          <p:nvPr/>
        </p:nvSpPr>
        <p:spPr>
          <a:xfrm xmlns:a="http://schemas.openxmlformats.org/drawingml/2006/main">
            <a:off x="8509000" y="1384300"/>
            <a:ext cx="18034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FEEDBACK B</a:t>
            </a:r>
          </a:p>
        </p:txBody>
      </p:sp>
      <p:sp>
        <p:nvSpPr>
          <p:cNvPr id="26" name="">
            <a:extLst xmlns:a="http://schemas.openxmlformats.org/drawingml/2006/main">
              <a:ext uri="{FF2B5EF4-FFF2-40B4-BE49-F238E27FC236}">
                <a16:creationId xmlns:a16="http://schemas.microsoft.com/office/drawing/2014/main" id="{A50A04EC-616A-4CAF-9A39-6013F25FE810}"/>
              </a:ext>
            </a:extLst>
          </p:cNvPr>
          <p:cNvSpPr>
            <a:spLocks xmlns:a="http://schemas.openxmlformats.org/drawingml/2006/main" noGrp="1"/>
          </p:cNvSpPr>
          <p:nvPr/>
        </p:nvSpPr>
        <p:spPr>
          <a:xfrm xmlns:a="http://schemas.openxmlformats.org/drawingml/2006/main">
            <a:off x="5422900" y="1625600"/>
            <a:ext cx="4965700" cy="53086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27" name="Editable paragraph">
            <a:extLst xmlns:a="http://schemas.openxmlformats.org/drawingml/2006/main">
              <a:ext uri="{FF2B5EF4-FFF2-40B4-BE49-F238E27FC236}">
                <a16:creationId xmlns:a16="http://schemas.microsoft.com/office/drawing/2014/main" id="{0FE170E0-C0DA-44FE-B32E-23C6ED8388E5}"/>
              </a:ext>
            </a:extLst>
          </p:cNvPr>
          <p:cNvSpPr>
            <a:spLocks xmlns:a="http://schemas.openxmlformats.org/drawingml/2006/main" noGrp="1"/>
          </p:cNvSpPr>
          <p:nvPr/>
        </p:nvSpPr>
        <p:spPr>
          <a:xfrm xmlns:a="http://schemas.openxmlformats.org/drawingml/2006/main">
            <a:off x="5499100" y="170180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01</a:t>
            </a:r>
          </a:p>
        </p:txBody>
      </p:sp>
      <p:sp>
        <p:nvSpPr>
          <p:cNvPr id="28" name="Editable paragraph">
            <a:extLst xmlns:a="http://schemas.openxmlformats.org/drawingml/2006/main">
              <a:ext uri="{FF2B5EF4-FFF2-40B4-BE49-F238E27FC236}">
                <a16:creationId xmlns:a16="http://schemas.microsoft.com/office/drawing/2014/main" id="{92767ECC-8074-4B43-9041-F7FF77695A2B}"/>
              </a:ext>
            </a:extLst>
          </p:cNvPr>
          <p:cNvSpPr>
            <a:spLocks xmlns:a="http://schemas.openxmlformats.org/drawingml/2006/main" noGrp="1"/>
          </p:cNvSpPr>
          <p:nvPr/>
        </p:nvSpPr>
        <p:spPr>
          <a:xfrm xmlns:a="http://schemas.openxmlformats.org/drawingml/2006/main">
            <a:off x="5778500" y="1701800"/>
            <a:ext cx="787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Connection</a:t>
            </a:r>
          </a:p>
        </p:txBody>
      </p:sp>
      <p:sp>
        <p:nvSpPr>
          <p:cNvPr id="29" name="Editable paragraph">
            <a:extLst xmlns:a="http://schemas.openxmlformats.org/drawingml/2006/main">
              <a:ext uri="{FF2B5EF4-FFF2-40B4-BE49-F238E27FC236}">
                <a16:creationId xmlns:a16="http://schemas.microsoft.com/office/drawing/2014/main" id="{42141806-E299-43DE-BD1E-C514C4A2083A}"/>
              </a:ext>
            </a:extLst>
          </p:cNvPr>
          <p:cNvSpPr>
            <a:spLocks xmlns:a="http://schemas.openxmlformats.org/drawingml/2006/main" noGrp="1"/>
          </p:cNvSpPr>
          <p:nvPr/>
        </p:nvSpPr>
        <p:spPr>
          <a:xfrm xmlns:a="http://schemas.openxmlformats.org/drawingml/2006/main">
            <a:off x="6616700" y="170180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Work and charitable / volunteer contact</a:t>
            </a:r>
          </a:p>
        </p:txBody>
      </p:sp>
      <p:sp>
        <p:nvSpPr>
          <p:cNvPr id="30" name="Editable paragraph">
            <a:extLst xmlns:a="http://schemas.openxmlformats.org/drawingml/2006/main">
              <a:ext uri="{FF2B5EF4-FFF2-40B4-BE49-F238E27FC236}">
                <a16:creationId xmlns:a16="http://schemas.microsoft.com/office/drawing/2014/main" id="{C6885331-F727-49E2-9A0A-2A8BEB57847C}"/>
              </a:ext>
            </a:extLst>
          </p:cNvPr>
          <p:cNvSpPr>
            <a:spLocks xmlns:a="http://schemas.openxmlformats.org/drawingml/2006/main" noGrp="1"/>
          </p:cNvSpPr>
          <p:nvPr/>
        </p:nvSpPr>
        <p:spPr>
          <a:xfrm xmlns:a="http://schemas.openxmlformats.org/drawingml/2006/main">
            <a:off x="8509000" y="1701800"/>
            <a:ext cx="18034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Work and charitable / volunteer contact</a:t>
            </a:r>
          </a:p>
        </p:txBody>
      </p:sp>
      <p:sp>
        <p:nvSpPr>
          <p:cNvPr id="31" name="">
            <a:extLst xmlns:a="http://schemas.openxmlformats.org/drawingml/2006/main">
              <a:ext uri="{FF2B5EF4-FFF2-40B4-BE49-F238E27FC236}">
                <a16:creationId xmlns:a16="http://schemas.microsoft.com/office/drawing/2014/main" id="{71797372-E431-4FEA-B29D-5D43513ED73D}"/>
              </a:ext>
            </a:extLst>
          </p:cNvPr>
          <p:cNvSpPr>
            <a:spLocks xmlns:a="http://schemas.openxmlformats.org/drawingml/2006/main" noGrp="1"/>
          </p:cNvSpPr>
          <p:nvPr/>
        </p:nvSpPr>
        <p:spPr>
          <a:xfrm xmlns:a="http://schemas.openxmlformats.org/drawingml/2006/main">
            <a:off x="5422900" y="215646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32" name="Editable paragraph">
            <a:extLst xmlns:a="http://schemas.openxmlformats.org/drawingml/2006/main">
              <a:ext uri="{FF2B5EF4-FFF2-40B4-BE49-F238E27FC236}">
                <a16:creationId xmlns:a16="http://schemas.microsoft.com/office/drawing/2014/main" id="{148C67D5-9366-426A-97F6-EA443B1982D0}"/>
              </a:ext>
            </a:extLst>
          </p:cNvPr>
          <p:cNvSpPr>
            <a:spLocks xmlns:a="http://schemas.openxmlformats.org/drawingml/2006/main" noGrp="1"/>
          </p:cNvSpPr>
          <p:nvPr/>
        </p:nvSpPr>
        <p:spPr>
          <a:xfrm xmlns:a="http://schemas.openxmlformats.org/drawingml/2006/main">
            <a:off x="5499100" y="223266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02</a:t>
            </a:r>
          </a:p>
        </p:txBody>
      </p:sp>
      <p:sp>
        <p:nvSpPr>
          <p:cNvPr id="33" name="Editable paragraph">
            <a:extLst xmlns:a="http://schemas.openxmlformats.org/drawingml/2006/main">
              <a:ext uri="{FF2B5EF4-FFF2-40B4-BE49-F238E27FC236}">
                <a16:creationId xmlns:a16="http://schemas.microsoft.com/office/drawing/2014/main" id="{F4D62228-5A3C-4F27-AEC4-0E8703433C78}"/>
              </a:ext>
            </a:extLst>
          </p:cNvPr>
          <p:cNvSpPr>
            <a:spLocks xmlns:a="http://schemas.openxmlformats.org/drawingml/2006/main" noGrp="1"/>
          </p:cNvSpPr>
          <p:nvPr/>
        </p:nvSpPr>
        <p:spPr>
          <a:xfrm xmlns:a="http://schemas.openxmlformats.org/drawingml/2006/main">
            <a:off x="5778500" y="2232660"/>
            <a:ext cx="787400" cy="2784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Children served</a:t>
            </a:r>
          </a:p>
        </p:txBody>
      </p:sp>
      <p:sp>
        <p:nvSpPr>
          <p:cNvPr id="34" name="Editable paragraph">
            <a:extLst xmlns:a="http://schemas.openxmlformats.org/drawingml/2006/main">
              <a:ext uri="{FF2B5EF4-FFF2-40B4-BE49-F238E27FC236}">
                <a16:creationId xmlns:a16="http://schemas.microsoft.com/office/drawing/2014/main" id="{F313ABCA-BDB8-4A2D-9247-E522D31B6204}"/>
              </a:ext>
            </a:extLst>
          </p:cNvPr>
          <p:cNvSpPr>
            <a:spLocks xmlns:a="http://schemas.openxmlformats.org/drawingml/2006/main" noGrp="1"/>
          </p:cNvSpPr>
          <p:nvPr/>
        </p:nvSpPr>
        <p:spPr>
          <a:xfrm xmlns:a="http://schemas.openxmlformats.org/drawingml/2006/main">
            <a:off x="6616700" y="223266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Children without parental care or raised by grandparents</a:t>
            </a:r>
          </a:p>
        </p:txBody>
      </p:sp>
      <p:sp>
        <p:nvSpPr>
          <p:cNvPr id="35" name="Editable paragraph">
            <a:extLst xmlns:a="http://schemas.openxmlformats.org/drawingml/2006/main">
              <a:ext uri="{FF2B5EF4-FFF2-40B4-BE49-F238E27FC236}">
                <a16:creationId xmlns:a16="http://schemas.microsoft.com/office/drawing/2014/main" id="{09DCED81-9C65-4B96-BB1B-24D8930A3C42}"/>
              </a:ext>
            </a:extLst>
          </p:cNvPr>
          <p:cNvSpPr>
            <a:spLocks xmlns:a="http://schemas.openxmlformats.org/drawingml/2006/main" noGrp="1"/>
          </p:cNvSpPr>
          <p:nvPr/>
        </p:nvSpPr>
        <p:spPr>
          <a:xfrm xmlns:a="http://schemas.openxmlformats.org/drawingml/2006/main">
            <a:off x="8509000" y="2232660"/>
            <a:ext cx="1803400" cy="414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Children with serious family difficulties; some with additional needs</a:t>
            </a:r>
          </a:p>
        </p:txBody>
      </p:sp>
      <p:sp>
        <p:nvSpPr>
          <p:cNvPr id="36" name="">
            <a:extLst xmlns:a="http://schemas.openxmlformats.org/drawingml/2006/main">
              <a:ext uri="{FF2B5EF4-FFF2-40B4-BE49-F238E27FC236}">
                <a16:creationId xmlns:a16="http://schemas.microsoft.com/office/drawing/2014/main" id="{21882AE5-CFCC-4921-8374-763B3D032EA0}"/>
              </a:ext>
            </a:extLst>
          </p:cNvPr>
          <p:cNvSpPr>
            <a:spLocks xmlns:a="http://schemas.openxmlformats.org/drawingml/2006/main" noGrp="1"/>
          </p:cNvSpPr>
          <p:nvPr/>
        </p:nvSpPr>
        <p:spPr>
          <a:xfrm xmlns:a="http://schemas.openxmlformats.org/drawingml/2006/main">
            <a:off x="5422900" y="268732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37" name="">
            <a:extLst xmlns:a="http://schemas.openxmlformats.org/drawingml/2006/main">
              <a:ext uri="{FF2B5EF4-FFF2-40B4-BE49-F238E27FC236}">
                <a16:creationId xmlns:a16="http://schemas.microsoft.com/office/drawing/2014/main" id="{37910C87-EC21-4596-98F5-2A21D08EC76E}"/>
              </a:ext>
            </a:extLst>
          </p:cNvPr>
          <p:cNvSpPr>
            <a:spLocks xmlns:a="http://schemas.openxmlformats.org/drawingml/2006/main" noGrp="1"/>
          </p:cNvSpPr>
          <p:nvPr/>
        </p:nvSpPr>
        <p:spPr>
          <a:xfrm xmlns:a="http://schemas.openxmlformats.org/drawingml/2006/main">
            <a:off x="5422900" y="2687320"/>
            <a:ext cx="4965700" cy="53086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38" name="Editable paragraph">
            <a:extLst xmlns:a="http://schemas.openxmlformats.org/drawingml/2006/main">
              <a:ext uri="{FF2B5EF4-FFF2-40B4-BE49-F238E27FC236}">
                <a16:creationId xmlns:a16="http://schemas.microsoft.com/office/drawing/2014/main" id="{798A2BF5-4D89-4CDC-8FE8-3E5924C6D1B2}"/>
              </a:ext>
            </a:extLst>
          </p:cNvPr>
          <p:cNvSpPr>
            <a:spLocks xmlns:a="http://schemas.openxmlformats.org/drawingml/2006/main" noGrp="1"/>
          </p:cNvSpPr>
          <p:nvPr/>
        </p:nvSpPr>
        <p:spPr>
          <a:xfrm xmlns:a="http://schemas.openxmlformats.org/drawingml/2006/main">
            <a:off x="5499100" y="276352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03</a:t>
            </a:r>
          </a:p>
        </p:txBody>
      </p:sp>
      <p:sp>
        <p:nvSpPr>
          <p:cNvPr id="39" name="Editable paragraph">
            <a:extLst xmlns:a="http://schemas.openxmlformats.org/drawingml/2006/main">
              <a:ext uri="{FF2B5EF4-FFF2-40B4-BE49-F238E27FC236}">
                <a16:creationId xmlns:a16="http://schemas.microsoft.com/office/drawing/2014/main" id="{9B4A65E2-192D-4DC3-9983-E086A39E0B40}"/>
              </a:ext>
            </a:extLst>
          </p:cNvPr>
          <p:cNvSpPr>
            <a:spLocks xmlns:a="http://schemas.openxmlformats.org/drawingml/2006/main" noGrp="1"/>
          </p:cNvSpPr>
          <p:nvPr/>
        </p:nvSpPr>
        <p:spPr>
          <a:xfrm xmlns:a="http://schemas.openxmlformats.org/drawingml/2006/main">
            <a:off x="5778500" y="2763520"/>
            <a:ext cx="787400" cy="2784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Beyond lessons</a:t>
            </a:r>
          </a:p>
        </p:txBody>
      </p:sp>
      <p:sp>
        <p:nvSpPr>
          <p:cNvPr id="40" name="Editable paragraph">
            <a:extLst xmlns:a="http://schemas.openxmlformats.org/drawingml/2006/main">
              <a:ext uri="{FF2B5EF4-FFF2-40B4-BE49-F238E27FC236}">
                <a16:creationId xmlns:a16="http://schemas.microsoft.com/office/drawing/2014/main" id="{56C236E9-F81F-4402-AE80-E364856EB337}"/>
              </a:ext>
            </a:extLst>
          </p:cNvPr>
          <p:cNvSpPr>
            <a:spLocks xmlns:a="http://schemas.openxmlformats.org/drawingml/2006/main" noGrp="1"/>
          </p:cNvSpPr>
          <p:nvPr/>
        </p:nvSpPr>
        <p:spPr>
          <a:xfrm xmlns:a="http://schemas.openxmlformats.org/drawingml/2006/main">
            <a:off x="6616700" y="276352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Daily living and learning to get along with others</a:t>
            </a:r>
          </a:p>
        </p:txBody>
      </p:sp>
      <p:sp>
        <p:nvSpPr>
          <p:cNvPr id="41" name="Editable paragraph">
            <a:extLst xmlns:a="http://schemas.openxmlformats.org/drawingml/2006/main">
              <a:ext uri="{FF2B5EF4-FFF2-40B4-BE49-F238E27FC236}">
                <a16:creationId xmlns:a16="http://schemas.microsoft.com/office/drawing/2014/main" id="{53304E69-2DED-42F4-8BD1-E052C3D316CB}"/>
              </a:ext>
            </a:extLst>
          </p:cNvPr>
          <p:cNvSpPr>
            <a:spLocks xmlns:a="http://schemas.openxmlformats.org/drawingml/2006/main" noGrp="1"/>
          </p:cNvSpPr>
          <p:nvPr/>
        </p:nvSpPr>
        <p:spPr>
          <a:xfrm xmlns:a="http://schemas.openxmlformats.org/drawingml/2006/main">
            <a:off x="8509000" y="2763520"/>
            <a:ext cx="1803400" cy="15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Emotional support</a:t>
            </a:r>
          </a:p>
        </p:txBody>
      </p:sp>
      <p:sp>
        <p:nvSpPr>
          <p:cNvPr id="42" name="">
            <a:extLst xmlns:a="http://schemas.openxmlformats.org/drawingml/2006/main">
              <a:ext uri="{FF2B5EF4-FFF2-40B4-BE49-F238E27FC236}">
                <a16:creationId xmlns:a16="http://schemas.microsoft.com/office/drawing/2014/main" id="{E7F36AD1-F3D5-4D73-8EFF-0D37819E6282}"/>
              </a:ext>
            </a:extLst>
          </p:cNvPr>
          <p:cNvSpPr>
            <a:spLocks xmlns:a="http://schemas.openxmlformats.org/drawingml/2006/main" noGrp="1"/>
          </p:cNvSpPr>
          <p:nvPr/>
        </p:nvSpPr>
        <p:spPr>
          <a:xfrm xmlns:a="http://schemas.openxmlformats.org/drawingml/2006/main">
            <a:off x="5422900" y="321818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43" name="Editable paragraph">
            <a:extLst xmlns:a="http://schemas.openxmlformats.org/drawingml/2006/main">
              <a:ext uri="{FF2B5EF4-FFF2-40B4-BE49-F238E27FC236}">
                <a16:creationId xmlns:a16="http://schemas.microsoft.com/office/drawing/2014/main" id="{BB6A9151-B246-4AAE-87CF-F09DB186A3C8}"/>
              </a:ext>
            </a:extLst>
          </p:cNvPr>
          <p:cNvSpPr>
            <a:spLocks xmlns:a="http://schemas.openxmlformats.org/drawingml/2006/main" noGrp="1"/>
          </p:cNvSpPr>
          <p:nvPr/>
        </p:nvSpPr>
        <p:spPr>
          <a:xfrm xmlns:a="http://schemas.openxmlformats.org/drawingml/2006/main">
            <a:off x="5499100" y="329438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04</a:t>
            </a:r>
          </a:p>
        </p:txBody>
      </p:sp>
      <p:sp>
        <p:nvSpPr>
          <p:cNvPr id="44" name="Editable paragraph">
            <a:extLst xmlns:a="http://schemas.openxmlformats.org/drawingml/2006/main">
              <a:ext uri="{FF2B5EF4-FFF2-40B4-BE49-F238E27FC236}">
                <a16:creationId xmlns:a16="http://schemas.microsoft.com/office/drawing/2014/main" id="{C0D01247-CFB5-4772-9E1F-691208A42800}"/>
              </a:ext>
            </a:extLst>
          </p:cNvPr>
          <p:cNvSpPr>
            <a:spLocks xmlns:a="http://schemas.openxmlformats.org/drawingml/2006/main" noGrp="1"/>
          </p:cNvSpPr>
          <p:nvPr/>
        </p:nvSpPr>
        <p:spPr>
          <a:xfrm xmlns:a="http://schemas.openxmlformats.org/drawingml/2006/main">
            <a:off x="5778500" y="3294380"/>
            <a:ext cx="787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Frequent use</a:t>
            </a:r>
          </a:p>
        </p:txBody>
      </p:sp>
      <p:sp>
        <p:nvSpPr>
          <p:cNvPr id="45" name="Editable paragraph">
            <a:extLst xmlns:a="http://schemas.openxmlformats.org/drawingml/2006/main">
              <a:ext uri="{FF2B5EF4-FFF2-40B4-BE49-F238E27FC236}">
                <a16:creationId xmlns:a16="http://schemas.microsoft.com/office/drawing/2014/main" id="{54C33B27-33CE-4644-973E-4B1C49216FC4}"/>
              </a:ext>
            </a:extLst>
          </p:cNvPr>
          <p:cNvSpPr>
            <a:spLocks xmlns:a="http://schemas.openxmlformats.org/drawingml/2006/main" noGrp="1"/>
          </p:cNvSpPr>
          <p:nvPr/>
        </p:nvSpPr>
        <p:spPr>
          <a:xfrm xmlns:a="http://schemas.openxmlformats.org/drawingml/2006/main">
            <a:off x="6616700" y="329438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Classrooms, dormitories and dining; classrooms most used</a:t>
            </a:r>
          </a:p>
        </p:txBody>
      </p:sp>
      <p:sp>
        <p:nvSpPr>
          <p:cNvPr id="46" name="Editable paragraph">
            <a:extLst xmlns:a="http://schemas.openxmlformats.org/drawingml/2006/main">
              <a:ext uri="{FF2B5EF4-FFF2-40B4-BE49-F238E27FC236}">
                <a16:creationId xmlns:a16="http://schemas.microsoft.com/office/drawing/2014/main" id="{A868846D-ABC0-413D-8964-6AC283208E22}"/>
              </a:ext>
            </a:extLst>
          </p:cNvPr>
          <p:cNvSpPr>
            <a:spLocks xmlns:a="http://schemas.openxmlformats.org/drawingml/2006/main" noGrp="1"/>
          </p:cNvSpPr>
          <p:nvPr/>
        </p:nvSpPr>
        <p:spPr>
          <a:xfrm xmlns:a="http://schemas.openxmlformats.org/drawingml/2006/main">
            <a:off x="8509000" y="3294380"/>
            <a:ext cx="1803400" cy="15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Teaching-building area; classrooms</a:t>
            </a:r>
          </a:p>
        </p:txBody>
      </p:sp>
      <p:sp>
        <p:nvSpPr>
          <p:cNvPr id="47" name="">
            <a:extLst xmlns:a="http://schemas.openxmlformats.org/drawingml/2006/main">
              <a:ext uri="{FF2B5EF4-FFF2-40B4-BE49-F238E27FC236}">
                <a16:creationId xmlns:a16="http://schemas.microsoft.com/office/drawing/2014/main" id="{653D95A7-87E5-48EC-959A-5F698AED8A53}"/>
              </a:ext>
            </a:extLst>
          </p:cNvPr>
          <p:cNvSpPr>
            <a:spLocks xmlns:a="http://schemas.openxmlformats.org/drawingml/2006/main" noGrp="1"/>
          </p:cNvSpPr>
          <p:nvPr/>
        </p:nvSpPr>
        <p:spPr>
          <a:xfrm xmlns:a="http://schemas.openxmlformats.org/drawingml/2006/main">
            <a:off x="5422900" y="374904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48" name="">
            <a:extLst xmlns:a="http://schemas.openxmlformats.org/drawingml/2006/main">
              <a:ext uri="{FF2B5EF4-FFF2-40B4-BE49-F238E27FC236}">
                <a16:creationId xmlns:a16="http://schemas.microsoft.com/office/drawing/2014/main" id="{612D8F71-F72A-41B6-B8D0-D9764E37F5F2}"/>
              </a:ext>
            </a:extLst>
          </p:cNvPr>
          <p:cNvSpPr>
            <a:spLocks xmlns:a="http://schemas.openxmlformats.org/drawingml/2006/main" noGrp="1"/>
          </p:cNvSpPr>
          <p:nvPr/>
        </p:nvSpPr>
        <p:spPr>
          <a:xfrm xmlns:a="http://schemas.openxmlformats.org/drawingml/2006/main">
            <a:off x="5422900" y="3749040"/>
            <a:ext cx="4965700" cy="53086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49" name="Editable paragraph">
            <a:extLst xmlns:a="http://schemas.openxmlformats.org/drawingml/2006/main">
              <a:ext uri="{FF2B5EF4-FFF2-40B4-BE49-F238E27FC236}">
                <a16:creationId xmlns:a16="http://schemas.microsoft.com/office/drawing/2014/main" id="{A0E2E3F2-394D-4A0B-93F0-261D72BE5DCD}"/>
              </a:ext>
            </a:extLst>
          </p:cNvPr>
          <p:cNvSpPr>
            <a:spLocks xmlns:a="http://schemas.openxmlformats.org/drawingml/2006/main" noGrp="1"/>
          </p:cNvSpPr>
          <p:nvPr/>
        </p:nvSpPr>
        <p:spPr>
          <a:xfrm xmlns:a="http://schemas.openxmlformats.org/drawingml/2006/main">
            <a:off x="5499100" y="382524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05</a:t>
            </a:r>
          </a:p>
        </p:txBody>
      </p:sp>
      <p:sp>
        <p:nvSpPr>
          <p:cNvPr id="50" name="Editable paragraph">
            <a:extLst xmlns:a="http://schemas.openxmlformats.org/drawingml/2006/main">
              <a:ext uri="{FF2B5EF4-FFF2-40B4-BE49-F238E27FC236}">
                <a16:creationId xmlns:a16="http://schemas.microsoft.com/office/drawing/2014/main" id="{1197F484-1179-4F7D-8284-2BE47BABF368}"/>
              </a:ext>
            </a:extLst>
          </p:cNvPr>
          <p:cNvSpPr>
            <a:spLocks xmlns:a="http://schemas.openxmlformats.org/drawingml/2006/main" noGrp="1"/>
          </p:cNvSpPr>
          <p:nvPr/>
        </p:nvSpPr>
        <p:spPr>
          <a:xfrm xmlns:a="http://schemas.openxmlformats.org/drawingml/2006/main">
            <a:off x="5778500" y="3825240"/>
            <a:ext cx="787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Spatial issue</a:t>
            </a:r>
          </a:p>
        </p:txBody>
      </p:sp>
      <p:sp>
        <p:nvSpPr>
          <p:cNvPr id="51" name="Editable paragraph">
            <a:extLst xmlns:a="http://schemas.openxmlformats.org/drawingml/2006/main">
              <a:ext uri="{FF2B5EF4-FFF2-40B4-BE49-F238E27FC236}">
                <a16:creationId xmlns:a16="http://schemas.microsoft.com/office/drawing/2014/main" id="{ECCF2E65-AF1A-463E-B464-5BD3999FD8B3}"/>
              </a:ext>
            </a:extLst>
          </p:cNvPr>
          <p:cNvSpPr>
            <a:spLocks xmlns:a="http://schemas.openxmlformats.org/drawingml/2006/main" noGrp="1"/>
          </p:cNvSpPr>
          <p:nvPr/>
        </p:nvSpPr>
        <p:spPr>
          <a:xfrm xmlns:a="http://schemas.openxmlformats.org/drawingml/2006/main">
            <a:off x="6616700" y="382524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An inconvenient toilet outside the teaching building</a:t>
            </a:r>
          </a:p>
        </p:txBody>
      </p:sp>
      <p:sp>
        <p:nvSpPr>
          <p:cNvPr id="52" name="Editable paragraph">
            <a:extLst xmlns:a="http://schemas.openxmlformats.org/drawingml/2006/main">
              <a:ext uri="{FF2B5EF4-FFF2-40B4-BE49-F238E27FC236}">
                <a16:creationId xmlns:a16="http://schemas.microsoft.com/office/drawing/2014/main" id="{FE2A5F90-03CD-4F81-A5BE-2D5788D066A4}"/>
              </a:ext>
            </a:extLst>
          </p:cNvPr>
          <p:cNvSpPr>
            <a:spLocks xmlns:a="http://schemas.openxmlformats.org/drawingml/2006/main" noGrp="1"/>
          </p:cNvSpPr>
          <p:nvPr/>
        </p:nvSpPr>
        <p:spPr>
          <a:xfrm xmlns:a="http://schemas.openxmlformats.org/drawingml/2006/main">
            <a:off x="8509000" y="3825240"/>
            <a:ext cx="1803400" cy="414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Idle classrooms and desks after junior-school suspension, linked to funding</a:t>
            </a:r>
          </a:p>
        </p:txBody>
      </p:sp>
      <p:sp>
        <p:nvSpPr>
          <p:cNvPr id="53" name="">
            <a:extLst xmlns:a="http://schemas.openxmlformats.org/drawingml/2006/main">
              <a:ext uri="{FF2B5EF4-FFF2-40B4-BE49-F238E27FC236}">
                <a16:creationId xmlns:a16="http://schemas.microsoft.com/office/drawing/2014/main" id="{40443A6E-4FA5-41A9-9D0B-06FC5F5D35ED}"/>
              </a:ext>
            </a:extLst>
          </p:cNvPr>
          <p:cNvSpPr>
            <a:spLocks xmlns:a="http://schemas.openxmlformats.org/drawingml/2006/main" noGrp="1"/>
          </p:cNvSpPr>
          <p:nvPr/>
        </p:nvSpPr>
        <p:spPr>
          <a:xfrm xmlns:a="http://schemas.openxmlformats.org/drawingml/2006/main">
            <a:off x="5422900" y="427990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54" name="Editable paragraph">
            <a:extLst xmlns:a="http://schemas.openxmlformats.org/drawingml/2006/main">
              <a:ext uri="{FF2B5EF4-FFF2-40B4-BE49-F238E27FC236}">
                <a16:creationId xmlns:a16="http://schemas.microsoft.com/office/drawing/2014/main" id="{A080B1D3-8F81-4ED4-AAB6-572AF80D85AA}"/>
              </a:ext>
            </a:extLst>
          </p:cNvPr>
          <p:cNvSpPr>
            <a:spLocks xmlns:a="http://schemas.openxmlformats.org/drawingml/2006/main" noGrp="1"/>
          </p:cNvSpPr>
          <p:nvPr/>
        </p:nvSpPr>
        <p:spPr>
          <a:xfrm xmlns:a="http://schemas.openxmlformats.org/drawingml/2006/main">
            <a:off x="5499100" y="435610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06</a:t>
            </a:r>
          </a:p>
        </p:txBody>
      </p:sp>
      <p:sp>
        <p:nvSpPr>
          <p:cNvPr id="55" name="Editable paragraph">
            <a:extLst xmlns:a="http://schemas.openxmlformats.org/drawingml/2006/main">
              <a:ext uri="{FF2B5EF4-FFF2-40B4-BE49-F238E27FC236}">
                <a16:creationId xmlns:a16="http://schemas.microsoft.com/office/drawing/2014/main" id="{17294EE5-B1EA-4525-BB49-A999C2C3BFC1}"/>
              </a:ext>
            </a:extLst>
          </p:cNvPr>
          <p:cNvSpPr>
            <a:spLocks xmlns:a="http://schemas.openxmlformats.org/drawingml/2006/main" noGrp="1"/>
          </p:cNvSpPr>
          <p:nvPr/>
        </p:nvSpPr>
        <p:spPr>
          <a:xfrm xmlns:a="http://schemas.openxmlformats.org/drawingml/2006/main">
            <a:off x="5778500" y="4356100"/>
            <a:ext cx="787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Enjoyed places</a:t>
            </a:r>
          </a:p>
        </p:txBody>
      </p:sp>
      <p:sp>
        <p:nvSpPr>
          <p:cNvPr id="56" name="Editable paragraph">
            <a:extLst xmlns:a="http://schemas.openxmlformats.org/drawingml/2006/main">
              <a:ext uri="{FF2B5EF4-FFF2-40B4-BE49-F238E27FC236}">
                <a16:creationId xmlns:a16="http://schemas.microsoft.com/office/drawing/2014/main" id="{81CA11C8-AEEE-4CD5-A62A-4E19396EC459}"/>
              </a:ext>
            </a:extLst>
          </p:cNvPr>
          <p:cNvSpPr>
            <a:spLocks xmlns:a="http://schemas.openxmlformats.org/drawingml/2006/main" noGrp="1"/>
          </p:cNvSpPr>
          <p:nvPr/>
        </p:nvSpPr>
        <p:spPr>
          <a:xfrm xmlns:a="http://schemas.openxmlformats.org/drawingml/2006/main">
            <a:off x="6616700" y="435610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Playground and forecourt: play and conversation with visitors</a:t>
            </a:r>
          </a:p>
        </p:txBody>
      </p:sp>
      <p:sp>
        <p:nvSpPr>
          <p:cNvPr id="57" name="Editable paragraph">
            <a:extLst xmlns:a="http://schemas.openxmlformats.org/drawingml/2006/main">
              <a:ext uri="{FF2B5EF4-FFF2-40B4-BE49-F238E27FC236}">
                <a16:creationId xmlns:a16="http://schemas.microsoft.com/office/drawing/2014/main" id="{01C8C225-7D0E-4DD0-95E7-D705FBD3FBCB}"/>
              </a:ext>
            </a:extLst>
          </p:cNvPr>
          <p:cNvSpPr>
            <a:spLocks xmlns:a="http://schemas.openxmlformats.org/drawingml/2006/main" noGrp="1"/>
          </p:cNvSpPr>
          <p:nvPr/>
        </p:nvSpPr>
        <p:spPr>
          <a:xfrm xmlns:a="http://schemas.openxmlformats.org/drawingml/2006/main">
            <a:off x="8509000" y="4356100"/>
            <a:ext cx="18034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Large, open playground: freedom to play</a:t>
            </a:r>
          </a:p>
        </p:txBody>
      </p:sp>
      <p:sp>
        <p:nvSpPr>
          <p:cNvPr id="58" name="">
            <a:extLst xmlns:a="http://schemas.openxmlformats.org/drawingml/2006/main">
              <a:ext uri="{FF2B5EF4-FFF2-40B4-BE49-F238E27FC236}">
                <a16:creationId xmlns:a16="http://schemas.microsoft.com/office/drawing/2014/main" id="{31EE6C6B-FB81-4AE8-A819-E2B2CB21FE83}"/>
              </a:ext>
            </a:extLst>
          </p:cNvPr>
          <p:cNvSpPr>
            <a:spLocks xmlns:a="http://schemas.openxmlformats.org/drawingml/2006/main" noGrp="1"/>
          </p:cNvSpPr>
          <p:nvPr/>
        </p:nvSpPr>
        <p:spPr>
          <a:xfrm xmlns:a="http://schemas.openxmlformats.org/drawingml/2006/main">
            <a:off x="5422900" y="481076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59" name="">
            <a:extLst xmlns:a="http://schemas.openxmlformats.org/drawingml/2006/main">
              <a:ext uri="{FF2B5EF4-FFF2-40B4-BE49-F238E27FC236}">
                <a16:creationId xmlns:a16="http://schemas.microsoft.com/office/drawing/2014/main" id="{731F2231-EEFE-4DFD-9579-3CE1BE1B2C9A}"/>
              </a:ext>
            </a:extLst>
          </p:cNvPr>
          <p:cNvSpPr>
            <a:spLocks xmlns:a="http://schemas.openxmlformats.org/drawingml/2006/main" noGrp="1"/>
          </p:cNvSpPr>
          <p:nvPr/>
        </p:nvSpPr>
        <p:spPr>
          <a:xfrm xmlns:a="http://schemas.openxmlformats.org/drawingml/2006/main">
            <a:off x="5422900" y="4810760"/>
            <a:ext cx="4965700" cy="53086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60" name="Editable paragraph">
            <a:extLst xmlns:a="http://schemas.openxmlformats.org/drawingml/2006/main">
              <a:ext uri="{FF2B5EF4-FFF2-40B4-BE49-F238E27FC236}">
                <a16:creationId xmlns:a16="http://schemas.microsoft.com/office/drawing/2014/main" id="{96CCAB19-8A0D-423C-8F75-74216AD6371B}"/>
              </a:ext>
            </a:extLst>
          </p:cNvPr>
          <p:cNvSpPr>
            <a:spLocks xmlns:a="http://schemas.openxmlformats.org/drawingml/2006/main" noGrp="1"/>
          </p:cNvSpPr>
          <p:nvPr/>
        </p:nvSpPr>
        <p:spPr>
          <a:xfrm xmlns:a="http://schemas.openxmlformats.org/drawingml/2006/main">
            <a:off x="5499100" y="488696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07</a:t>
            </a:r>
          </a:p>
        </p:txBody>
      </p:sp>
      <p:sp>
        <p:nvSpPr>
          <p:cNvPr id="61" name="Editable paragraph">
            <a:extLst xmlns:a="http://schemas.openxmlformats.org/drawingml/2006/main">
              <a:ext uri="{FF2B5EF4-FFF2-40B4-BE49-F238E27FC236}">
                <a16:creationId xmlns:a16="http://schemas.microsoft.com/office/drawing/2014/main" id="{3048ECB6-A2D4-4770-ABAB-C7F08F603E2B}"/>
              </a:ext>
            </a:extLst>
          </p:cNvPr>
          <p:cNvSpPr>
            <a:spLocks xmlns:a="http://schemas.openxmlformats.org/drawingml/2006/main" noGrp="1"/>
          </p:cNvSpPr>
          <p:nvPr/>
        </p:nvSpPr>
        <p:spPr>
          <a:xfrm xmlns:a="http://schemas.openxmlformats.org/drawingml/2006/main">
            <a:off x="5778500" y="4886960"/>
            <a:ext cx="787400" cy="2784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Underused places</a:t>
            </a:r>
          </a:p>
        </p:txBody>
      </p:sp>
      <p:sp>
        <p:nvSpPr>
          <p:cNvPr id="62" name="Editable paragraph">
            <a:extLst xmlns:a="http://schemas.openxmlformats.org/drawingml/2006/main">
              <a:ext uri="{FF2B5EF4-FFF2-40B4-BE49-F238E27FC236}">
                <a16:creationId xmlns:a16="http://schemas.microsoft.com/office/drawing/2014/main" id="{29A02AB7-AC8D-45B6-9FB5-F2774FFDBC26}"/>
              </a:ext>
            </a:extLst>
          </p:cNvPr>
          <p:cNvSpPr>
            <a:spLocks xmlns:a="http://schemas.openxmlformats.org/drawingml/2006/main" noGrp="1"/>
          </p:cNvSpPr>
          <p:nvPr/>
        </p:nvSpPr>
        <p:spPr>
          <a:xfrm xmlns:a="http://schemas.openxmlformats.org/drawingml/2006/main">
            <a:off x="6616700" y="488696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Back area: soil and a small vegetable patch</a:t>
            </a:r>
          </a:p>
        </p:txBody>
      </p:sp>
      <p:sp>
        <p:nvSpPr>
          <p:cNvPr id="63" name="Editable paragraph">
            <a:extLst xmlns:a="http://schemas.openxmlformats.org/drawingml/2006/main">
              <a:ext uri="{FF2B5EF4-FFF2-40B4-BE49-F238E27FC236}">
                <a16:creationId xmlns:a16="http://schemas.microsoft.com/office/drawing/2014/main" id="{809F416D-EF8F-4BB5-9907-BA1618B4D90C}"/>
              </a:ext>
            </a:extLst>
          </p:cNvPr>
          <p:cNvSpPr>
            <a:spLocks xmlns:a="http://schemas.openxmlformats.org/drawingml/2006/main" noGrp="1"/>
          </p:cNvSpPr>
          <p:nvPr/>
        </p:nvSpPr>
        <p:spPr>
          <a:xfrm xmlns:a="http://schemas.openxmlformats.org/drawingml/2006/main">
            <a:off x="8509000" y="4886960"/>
            <a:ext cx="18034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None noticed; existing functions considered necessary</a:t>
            </a:r>
          </a:p>
        </p:txBody>
      </p:sp>
      <p:sp>
        <p:nvSpPr>
          <p:cNvPr id="64" name="">
            <a:extLst xmlns:a="http://schemas.openxmlformats.org/drawingml/2006/main">
              <a:ext uri="{FF2B5EF4-FFF2-40B4-BE49-F238E27FC236}">
                <a16:creationId xmlns:a16="http://schemas.microsoft.com/office/drawing/2014/main" id="{A91B3DA5-F049-4792-814D-A0524E093E62}"/>
              </a:ext>
            </a:extLst>
          </p:cNvPr>
          <p:cNvSpPr>
            <a:spLocks xmlns:a="http://schemas.openxmlformats.org/drawingml/2006/main" noGrp="1"/>
          </p:cNvSpPr>
          <p:nvPr/>
        </p:nvSpPr>
        <p:spPr>
          <a:xfrm xmlns:a="http://schemas.openxmlformats.org/drawingml/2006/main">
            <a:off x="5422900" y="534162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65" name="Editable paragraph">
            <a:extLst xmlns:a="http://schemas.openxmlformats.org/drawingml/2006/main">
              <a:ext uri="{FF2B5EF4-FFF2-40B4-BE49-F238E27FC236}">
                <a16:creationId xmlns:a16="http://schemas.microsoft.com/office/drawing/2014/main" id="{C0447B70-20FC-4D95-89C9-823F561EB390}"/>
              </a:ext>
            </a:extLst>
          </p:cNvPr>
          <p:cNvSpPr>
            <a:spLocks xmlns:a="http://schemas.openxmlformats.org/drawingml/2006/main" noGrp="1"/>
          </p:cNvSpPr>
          <p:nvPr/>
        </p:nvSpPr>
        <p:spPr>
          <a:xfrm xmlns:a="http://schemas.openxmlformats.org/drawingml/2006/main">
            <a:off x="5499100" y="541782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08</a:t>
            </a:r>
          </a:p>
        </p:txBody>
      </p:sp>
      <p:sp>
        <p:nvSpPr>
          <p:cNvPr id="66" name="Editable paragraph">
            <a:extLst xmlns:a="http://schemas.openxmlformats.org/drawingml/2006/main">
              <a:ext uri="{FF2B5EF4-FFF2-40B4-BE49-F238E27FC236}">
                <a16:creationId xmlns:a16="http://schemas.microsoft.com/office/drawing/2014/main" id="{FD8F424C-52A4-4F4F-90DE-8587E6F85F34}"/>
              </a:ext>
            </a:extLst>
          </p:cNvPr>
          <p:cNvSpPr>
            <a:spLocks xmlns:a="http://schemas.openxmlformats.org/drawingml/2006/main" noGrp="1"/>
          </p:cNvSpPr>
          <p:nvPr/>
        </p:nvSpPr>
        <p:spPr>
          <a:xfrm xmlns:a="http://schemas.openxmlformats.org/drawingml/2006/main">
            <a:off x="5778500" y="5417820"/>
            <a:ext cx="787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Three priorities</a:t>
            </a:r>
          </a:p>
        </p:txBody>
      </p:sp>
      <p:sp>
        <p:nvSpPr>
          <p:cNvPr id="67" name="Editable paragraph">
            <a:extLst xmlns:a="http://schemas.openxmlformats.org/drawingml/2006/main">
              <a:ext uri="{FF2B5EF4-FFF2-40B4-BE49-F238E27FC236}">
                <a16:creationId xmlns:a16="http://schemas.microsoft.com/office/drawing/2014/main" id="{6BDA8B5A-6A0A-4335-A855-BB0B158E921C}"/>
              </a:ext>
            </a:extLst>
          </p:cNvPr>
          <p:cNvSpPr>
            <a:spLocks xmlns:a="http://schemas.openxmlformats.org/drawingml/2006/main" noGrp="1"/>
          </p:cNvSpPr>
          <p:nvPr/>
        </p:nvSpPr>
        <p:spPr>
          <a:xfrm xmlns:a="http://schemas.openxmlformats.org/drawingml/2006/main">
            <a:off x="6616700" y="5417820"/>
            <a:ext cx="1790700" cy="15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Classroom quality; teachers; funding</a:t>
            </a:r>
          </a:p>
        </p:txBody>
      </p:sp>
      <p:sp>
        <p:nvSpPr>
          <p:cNvPr id="68" name="Editable paragraph">
            <a:extLst xmlns:a="http://schemas.openxmlformats.org/drawingml/2006/main">
              <a:ext uri="{FF2B5EF4-FFF2-40B4-BE49-F238E27FC236}">
                <a16:creationId xmlns:a16="http://schemas.microsoft.com/office/drawing/2014/main" id="{07C818A6-7CD0-4EA8-AD00-25EF825388F3}"/>
              </a:ext>
            </a:extLst>
          </p:cNvPr>
          <p:cNvSpPr>
            <a:spLocks xmlns:a="http://schemas.openxmlformats.org/drawingml/2006/main" noGrp="1"/>
          </p:cNvSpPr>
          <p:nvPr/>
        </p:nvSpPr>
        <p:spPr>
          <a:xfrm xmlns:a="http://schemas.openxmlformats.org/drawingml/2006/main">
            <a:off x="8509000" y="5417820"/>
            <a:ext cx="18034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Funding; medical provision; playground</a:t>
            </a:r>
          </a:p>
        </p:txBody>
      </p:sp>
      <p:sp>
        <p:nvSpPr>
          <p:cNvPr id="69" name="">
            <a:extLst xmlns:a="http://schemas.openxmlformats.org/drawingml/2006/main">
              <a:ext uri="{FF2B5EF4-FFF2-40B4-BE49-F238E27FC236}">
                <a16:creationId xmlns:a16="http://schemas.microsoft.com/office/drawing/2014/main" id="{2654B004-C844-4257-B342-4EA1B91C6EB8}"/>
              </a:ext>
            </a:extLst>
          </p:cNvPr>
          <p:cNvSpPr>
            <a:spLocks xmlns:a="http://schemas.openxmlformats.org/drawingml/2006/main" noGrp="1"/>
          </p:cNvSpPr>
          <p:nvPr/>
        </p:nvSpPr>
        <p:spPr>
          <a:xfrm xmlns:a="http://schemas.openxmlformats.org/drawingml/2006/main">
            <a:off x="5422900" y="587248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70" name="">
            <a:extLst xmlns:a="http://schemas.openxmlformats.org/drawingml/2006/main">
              <a:ext uri="{FF2B5EF4-FFF2-40B4-BE49-F238E27FC236}">
                <a16:creationId xmlns:a16="http://schemas.microsoft.com/office/drawing/2014/main" id="{FECEA8C3-39FD-4F6E-8B90-39E543EE4870}"/>
              </a:ext>
            </a:extLst>
          </p:cNvPr>
          <p:cNvSpPr>
            <a:spLocks xmlns:a="http://schemas.openxmlformats.org/drawingml/2006/main" noGrp="1"/>
          </p:cNvSpPr>
          <p:nvPr/>
        </p:nvSpPr>
        <p:spPr>
          <a:xfrm xmlns:a="http://schemas.openxmlformats.org/drawingml/2006/main">
            <a:off x="5422900" y="5872480"/>
            <a:ext cx="4965700" cy="53086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71" name="Editable paragraph">
            <a:extLst xmlns:a="http://schemas.openxmlformats.org/drawingml/2006/main">
              <a:ext uri="{FF2B5EF4-FFF2-40B4-BE49-F238E27FC236}">
                <a16:creationId xmlns:a16="http://schemas.microsoft.com/office/drawing/2014/main" id="{AA782838-89EE-4395-BC7A-634563553A60}"/>
              </a:ext>
            </a:extLst>
          </p:cNvPr>
          <p:cNvSpPr>
            <a:spLocks xmlns:a="http://schemas.openxmlformats.org/drawingml/2006/main" noGrp="1"/>
          </p:cNvSpPr>
          <p:nvPr/>
        </p:nvSpPr>
        <p:spPr>
          <a:xfrm xmlns:a="http://schemas.openxmlformats.org/drawingml/2006/main">
            <a:off x="5499100" y="594868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09</a:t>
            </a:r>
          </a:p>
        </p:txBody>
      </p:sp>
      <p:sp>
        <p:nvSpPr>
          <p:cNvPr id="72" name="Editable paragraph">
            <a:extLst xmlns:a="http://schemas.openxmlformats.org/drawingml/2006/main">
              <a:ext uri="{FF2B5EF4-FFF2-40B4-BE49-F238E27FC236}">
                <a16:creationId xmlns:a16="http://schemas.microsoft.com/office/drawing/2014/main" id="{395970BE-E8B9-43CF-BFA7-9021AD86ECD1}"/>
              </a:ext>
            </a:extLst>
          </p:cNvPr>
          <p:cNvSpPr>
            <a:spLocks xmlns:a="http://schemas.openxmlformats.org/drawingml/2006/main" noGrp="1"/>
          </p:cNvSpPr>
          <p:nvPr/>
        </p:nvSpPr>
        <p:spPr>
          <a:xfrm xmlns:a="http://schemas.openxmlformats.org/drawingml/2006/main">
            <a:off x="5778500" y="5948680"/>
            <a:ext cx="787400" cy="2784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First improvement</a:t>
            </a:r>
          </a:p>
        </p:txBody>
      </p:sp>
      <p:sp>
        <p:nvSpPr>
          <p:cNvPr id="73" name="Editable paragraph">
            <a:extLst xmlns:a="http://schemas.openxmlformats.org/drawingml/2006/main">
              <a:ext uri="{FF2B5EF4-FFF2-40B4-BE49-F238E27FC236}">
                <a16:creationId xmlns:a16="http://schemas.microsoft.com/office/drawing/2014/main" id="{9CF84E9E-EDFD-42A0-8FE3-59DB373D3047}"/>
              </a:ext>
            </a:extLst>
          </p:cNvPr>
          <p:cNvSpPr>
            <a:spLocks xmlns:a="http://schemas.openxmlformats.org/drawingml/2006/main" noGrp="1"/>
          </p:cNvSpPr>
          <p:nvPr/>
        </p:nvSpPr>
        <p:spPr>
          <a:xfrm xmlns:a="http://schemas.openxmlformats.org/drawingml/2006/main">
            <a:off x="6616700" y="594868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More activity space, including the backyard</a:t>
            </a:r>
          </a:p>
        </p:txBody>
      </p:sp>
      <p:sp>
        <p:nvSpPr>
          <p:cNvPr id="74" name="Editable paragraph">
            <a:extLst xmlns:a="http://schemas.openxmlformats.org/drawingml/2006/main">
              <a:ext uri="{FF2B5EF4-FFF2-40B4-BE49-F238E27FC236}">
                <a16:creationId xmlns:a16="http://schemas.microsoft.com/office/drawing/2014/main" id="{6DA094F0-C3D1-4A02-B812-FA6114140D58}"/>
              </a:ext>
            </a:extLst>
          </p:cNvPr>
          <p:cNvSpPr>
            <a:spLocks xmlns:a="http://schemas.openxmlformats.org/drawingml/2006/main" noGrp="1"/>
          </p:cNvSpPr>
          <p:nvPr/>
        </p:nvSpPr>
        <p:spPr>
          <a:xfrm xmlns:a="http://schemas.openxmlformats.org/drawingml/2006/main">
            <a:off x="8509000" y="5948680"/>
            <a:ext cx="18034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Clinic and reliable professional support</a:t>
            </a:r>
          </a:p>
        </p:txBody>
      </p:sp>
      <p:sp>
        <p:nvSpPr>
          <p:cNvPr id="75" name="">
            <a:extLst xmlns:a="http://schemas.openxmlformats.org/drawingml/2006/main">
              <a:ext uri="{FF2B5EF4-FFF2-40B4-BE49-F238E27FC236}">
                <a16:creationId xmlns:a16="http://schemas.microsoft.com/office/drawing/2014/main" id="{4D49FC9D-F1CC-42DB-B8D3-03EA85021886}"/>
              </a:ext>
            </a:extLst>
          </p:cNvPr>
          <p:cNvSpPr>
            <a:spLocks xmlns:a="http://schemas.openxmlformats.org/drawingml/2006/main" noGrp="1"/>
          </p:cNvSpPr>
          <p:nvPr/>
        </p:nvSpPr>
        <p:spPr>
          <a:xfrm xmlns:a="http://schemas.openxmlformats.org/drawingml/2006/main">
            <a:off x="5422900" y="640334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76" name="Editable paragraph">
            <a:extLst xmlns:a="http://schemas.openxmlformats.org/drawingml/2006/main">
              <a:ext uri="{FF2B5EF4-FFF2-40B4-BE49-F238E27FC236}">
                <a16:creationId xmlns:a16="http://schemas.microsoft.com/office/drawing/2014/main" id="{AA582657-07D3-4B84-B26F-9487D1AD8D3B}"/>
              </a:ext>
            </a:extLst>
          </p:cNvPr>
          <p:cNvSpPr>
            <a:spLocks xmlns:a="http://schemas.openxmlformats.org/drawingml/2006/main" noGrp="1"/>
          </p:cNvSpPr>
          <p:nvPr/>
        </p:nvSpPr>
        <p:spPr>
          <a:xfrm xmlns:a="http://schemas.openxmlformats.org/drawingml/2006/main">
            <a:off x="5499100" y="6479540"/>
            <a:ext cx="228600" cy="1472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1" i="0">
                <a:solidFill>
                  <a:srgbClr val="65736D"/>
                </a:solidFill>
                <a:latin typeface="Arial"/>
                <a:ea typeface="Arial"/>
                <a:cs typeface="Arial"/>
              </a:defRPr>
            </a:defPPr>
          </a:lstStyle>
          <a:p xmlns:a="http://schemas.openxmlformats.org/drawingml/2006/main">
            <a:pPr>
              <a:buNone/>
              <a:defRPr sz="780" b="1" i="0">
                <a:solidFill>
                  <a:srgbClr val="65736D"/>
                </a:solidFill>
                <a:latin typeface="Arial"/>
                <a:ea typeface="Arial"/>
                <a:cs typeface="Arial"/>
              </a:defRPr>
              <a:lnSpc>
                <a:spcPts val="959"/>
              </a:lnSpc>
              <a:spcBef>
                <a:spcPts val="0"/>
              </a:spcBef>
              <a:spcAft>
                <a:spcPts val="0"/>
              </a:spcAft>
            </a:pPr>
            <a:r>
              <a:rPr sz="780" b="1" i="0">
                <a:solidFill>
                  <a:srgbClr val="65736D"/>
                </a:solidFill>
                <a:latin typeface="Arial"/>
                <a:ea typeface="Arial"/>
                <a:cs typeface="Arial"/>
              </a:rPr>
              <a:t>10</a:t>
            </a:r>
          </a:p>
        </p:txBody>
      </p:sp>
      <p:sp>
        <p:nvSpPr>
          <p:cNvPr id="77" name="Editable paragraph">
            <a:extLst xmlns:a="http://schemas.openxmlformats.org/drawingml/2006/main">
              <a:ext uri="{FF2B5EF4-FFF2-40B4-BE49-F238E27FC236}">
                <a16:creationId xmlns:a16="http://schemas.microsoft.com/office/drawing/2014/main" id="{CECC69BC-44CF-464D-B770-43C30BC49F86}"/>
              </a:ext>
            </a:extLst>
          </p:cNvPr>
          <p:cNvSpPr>
            <a:spLocks xmlns:a="http://schemas.openxmlformats.org/drawingml/2006/main" noGrp="1"/>
          </p:cNvSpPr>
          <p:nvPr/>
        </p:nvSpPr>
        <p:spPr>
          <a:xfrm xmlns:a="http://schemas.openxmlformats.org/drawingml/2006/main">
            <a:off x="5778500" y="6479540"/>
            <a:ext cx="787400" cy="2784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Main constraint</a:t>
            </a:r>
          </a:p>
        </p:txBody>
      </p:sp>
      <p:sp>
        <p:nvSpPr>
          <p:cNvPr id="78" name="Editable paragraph">
            <a:extLst xmlns:a="http://schemas.openxmlformats.org/drawingml/2006/main">
              <a:ext uri="{FF2B5EF4-FFF2-40B4-BE49-F238E27FC236}">
                <a16:creationId xmlns:a16="http://schemas.microsoft.com/office/drawing/2014/main" id="{0308C09A-6D2D-4A44-8827-6F714EF914C0}"/>
              </a:ext>
            </a:extLst>
          </p:cNvPr>
          <p:cNvSpPr>
            <a:spLocks xmlns:a="http://schemas.openxmlformats.org/drawingml/2006/main" noGrp="1"/>
          </p:cNvSpPr>
          <p:nvPr/>
        </p:nvSpPr>
        <p:spPr>
          <a:xfrm xmlns:a="http://schemas.openxmlformats.org/drawingml/2006/main">
            <a:off x="6616700" y="6479540"/>
            <a:ext cx="1790700" cy="284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Funding and unstable continuing donations</a:t>
            </a:r>
          </a:p>
        </p:txBody>
      </p:sp>
      <p:sp>
        <p:nvSpPr>
          <p:cNvPr id="79" name="Editable paragraph">
            <a:extLst xmlns:a="http://schemas.openxmlformats.org/drawingml/2006/main">
              <a:ext uri="{FF2B5EF4-FFF2-40B4-BE49-F238E27FC236}">
                <a16:creationId xmlns:a16="http://schemas.microsoft.com/office/drawing/2014/main" id="{74E92125-CB01-47BC-A090-EB6A0C7859DE}"/>
              </a:ext>
            </a:extLst>
          </p:cNvPr>
          <p:cNvSpPr>
            <a:spLocks xmlns:a="http://schemas.openxmlformats.org/drawingml/2006/main" noGrp="1"/>
          </p:cNvSpPr>
          <p:nvPr/>
        </p:nvSpPr>
        <p:spPr>
          <a:xfrm xmlns:a="http://schemas.openxmlformats.org/drawingml/2006/main">
            <a:off x="8509000" y="6479540"/>
            <a:ext cx="1803400" cy="15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40" b="0" i="0">
                <a:solidFill>
                  <a:srgbClr val="252D2C"/>
                </a:solidFill>
                <a:latin typeface="Arial"/>
                <a:ea typeface="Arial"/>
                <a:cs typeface="Arial"/>
              </a:defRPr>
            </a:defPPr>
          </a:lstStyle>
          <a:p xmlns:a="http://schemas.openxmlformats.org/drawingml/2006/main">
            <a:pPr>
              <a:buNone/>
              <a:defRPr sz="840" b="0" i="0">
                <a:solidFill>
                  <a:srgbClr val="252D2C"/>
                </a:solidFill>
                <a:latin typeface="Arial"/>
                <a:ea typeface="Arial"/>
                <a:cs typeface="Arial"/>
              </a:defRPr>
              <a:lnSpc>
                <a:spcPts val="1020"/>
              </a:lnSpc>
              <a:spcBef>
                <a:spcPts val="0"/>
              </a:spcBef>
              <a:spcAft>
                <a:spcPts val="0"/>
              </a:spcAft>
            </a:pPr>
            <a:r>
              <a:rPr sz="840" b="0" i="0">
                <a:solidFill>
                  <a:srgbClr val="252D2C"/>
                </a:solidFill>
                <a:latin typeface="Arial"/>
                <a:ea typeface="Arial"/>
                <a:cs typeface="Arial"/>
              </a:rPr>
              <a:t>Funding</a:t>
            </a:r>
          </a:p>
        </p:txBody>
      </p:sp>
      <p:sp>
        <p:nvSpPr>
          <p:cNvPr id="80" name="">
            <a:extLst xmlns:a="http://schemas.openxmlformats.org/drawingml/2006/main">
              <a:ext uri="{FF2B5EF4-FFF2-40B4-BE49-F238E27FC236}">
                <a16:creationId xmlns:a16="http://schemas.microsoft.com/office/drawing/2014/main" id="{69A81511-6E21-4058-AE07-DF79463BBFE5}"/>
              </a:ext>
            </a:extLst>
          </p:cNvPr>
          <p:cNvSpPr>
            <a:spLocks xmlns:a="http://schemas.openxmlformats.org/drawingml/2006/main" noGrp="1"/>
          </p:cNvSpPr>
          <p:nvPr/>
        </p:nvSpPr>
        <p:spPr>
          <a:xfrm xmlns:a="http://schemas.openxmlformats.org/drawingml/2006/main">
            <a:off x="5422900" y="6934200"/>
            <a:ext cx="4965700" cy="953"/>
          </a:xfrm>
          <a:custGeom xmlns:a="http://schemas.openxmlformats.org/drawingml/2006/main">
            <a:pathLst>
              <a:path w="4965700" h="953">
                <a:moveTo>
                  <a:pt x="0" y="0"/>
                </a:moveTo>
                <a:lnTo>
                  <a:pt x="4965700" y="0"/>
                </a:lnTo>
              </a:path>
            </a:pathLst>
          </a:custGeom>
          <a:noFill xmlns:a="http://schemas.openxmlformats.org/drawingml/2006/main"/>
          <a:ln xmlns:a="http://schemas.openxmlformats.org/drawingml/2006/main" w="4445">
            <a:solidFill>
              <a:srgbClr val="CAD3CF"/>
            </a:solidFill>
            <a:prstDash val="solid"/>
          </a:ln>
        </p:spPr>
      </p:sp>
      <p:sp>
        <p:nvSpPr>
          <p:cNvPr id="81" name="Editable paragraph">
            <a:extLst xmlns:a="http://schemas.openxmlformats.org/drawingml/2006/main">
              <a:ext uri="{FF2B5EF4-FFF2-40B4-BE49-F238E27FC236}">
                <a16:creationId xmlns:a16="http://schemas.microsoft.com/office/drawing/2014/main" id="{E63CECEB-C983-4DEE-9D50-14C59BB9AB0B}"/>
              </a:ext>
            </a:extLst>
          </p:cNvPr>
          <p:cNvSpPr>
            <a:spLocks xmlns:a="http://schemas.openxmlformats.org/drawingml/2006/main" noGrp="1"/>
          </p:cNvSpPr>
          <p:nvPr/>
        </p:nvSpPr>
        <p:spPr>
          <a:xfrm xmlns:a="http://schemas.openxmlformats.org/drawingml/2006/main">
            <a:off x="5422900" y="7086600"/>
            <a:ext cx="4965700" cy="13787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20" b="0" i="0">
                <a:solidFill>
                  <a:srgbClr val="65736D"/>
                </a:solidFill>
                <a:latin typeface="Arial"/>
                <a:ea typeface="Arial"/>
                <a:cs typeface="Arial"/>
              </a:defRPr>
            </a:defPPr>
          </a:lstStyle>
          <a:p xmlns:a="http://schemas.openxmlformats.org/drawingml/2006/main">
            <a:pPr>
              <a:buNone/>
              <a:defRPr sz="720" b="0" i="0">
                <a:solidFill>
                  <a:srgbClr val="65736D"/>
                </a:solidFill>
                <a:latin typeface="Arial"/>
                <a:ea typeface="Arial"/>
                <a:cs typeface="Arial"/>
              </a:defRPr>
              <a:lnSpc>
                <a:spcPts val="886"/>
              </a:lnSpc>
              <a:spcBef>
                <a:spcPts val="0"/>
              </a:spcBef>
              <a:spcAft>
                <a:spcPts val="0"/>
              </a:spcAft>
            </a:pPr>
            <a:r>
              <a:rPr sz="720" b="0" i="0">
                <a:solidFill>
                  <a:srgbClr val="65736D"/>
                </a:solidFill>
                <a:latin typeface="Arial"/>
                <a:ea typeface="Arial"/>
                <a:cs typeface="Arial"/>
              </a:rPr>
              <a:t>Questionnaire feedback organized by theme.</a:t>
            </a:r>
          </a:p>
        </p:txBody>
      </p:sp>
      <p:sp>
        <p:nvSpPr>
          <p:cNvPr id="82" name="Editable paragraph">
            <a:extLst xmlns:a="http://schemas.openxmlformats.org/drawingml/2006/main">
              <a:ext uri="{FF2B5EF4-FFF2-40B4-BE49-F238E27FC236}">
                <a16:creationId xmlns:a16="http://schemas.microsoft.com/office/drawing/2014/main" id="{10C6753A-294C-4E41-8449-3F76F3F0C781}"/>
              </a:ext>
            </a:extLst>
          </p:cNvPr>
          <p:cNvSpPr>
            <a:spLocks xmlns:a="http://schemas.openxmlformats.org/drawingml/2006/main" noGrp="1"/>
          </p:cNvSpPr>
          <p:nvPr/>
        </p:nvSpPr>
        <p:spPr>
          <a:xfrm xmlns:a="http://schemas.openxmlformats.org/drawingml/2006/main">
            <a:off x="304800" y="6807200"/>
            <a:ext cx="4864100" cy="1347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252D2C"/>
                </a:solidFill>
                <a:latin typeface="Arial"/>
                <a:ea typeface="Arial"/>
                <a:cs typeface="Arial"/>
              </a:defRPr>
            </a:defPPr>
          </a:lstStyle>
          <a:p xmlns:a="http://schemas.openxmlformats.org/drawingml/2006/main">
            <a:pPr>
              <a:buNone/>
              <a:defRPr sz="730" b="0" i="0">
                <a:solidFill>
                  <a:srgbClr val="252D2C"/>
                </a:solidFill>
                <a:latin typeface="Arial"/>
                <a:ea typeface="Arial"/>
                <a:cs typeface="Arial"/>
              </a:defRPr>
              <a:lnSpc>
                <a:spcPts val="861"/>
              </a:lnSpc>
              <a:spcBef>
                <a:spcPts val="0"/>
              </a:spcBef>
              <a:spcAft>
                <a:spcPts val="0"/>
              </a:spcAft>
            </a:pPr>
            <a:r>
              <a:rPr sz="730" b="0" i="0">
                <a:solidFill>
                  <a:srgbClr val="252D2C"/>
                </a:solidFill>
                <a:latin typeface="Arial"/>
                <a:ea typeface="Arial"/>
                <a:cs typeface="Arial"/>
              </a:rPr>
              <a:t>RECURRING THEMES</a:t>
            </a:r>
          </a:p>
        </p:txBody>
      </p:sp>
      <p:sp>
        <p:nvSpPr>
          <p:cNvPr id="83" name="Editable paragraph">
            <a:extLst xmlns:a="http://schemas.openxmlformats.org/drawingml/2006/main">
              <a:ext uri="{FF2B5EF4-FFF2-40B4-BE49-F238E27FC236}">
                <a16:creationId xmlns:a16="http://schemas.microsoft.com/office/drawing/2014/main" id="{2CDE7970-FF2C-447D-A026-E9917EFBEB64}"/>
              </a:ext>
            </a:extLst>
          </p:cNvPr>
          <p:cNvSpPr>
            <a:spLocks xmlns:a="http://schemas.openxmlformats.org/drawingml/2006/main" noGrp="1"/>
          </p:cNvSpPr>
          <p:nvPr/>
        </p:nvSpPr>
        <p:spPr>
          <a:xfrm xmlns:a="http://schemas.openxmlformats.org/drawingml/2006/main">
            <a:off x="304800" y="6946900"/>
            <a:ext cx="4864100" cy="1347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252D2C"/>
                </a:solidFill>
                <a:latin typeface="Arial"/>
                <a:ea typeface="Arial"/>
                <a:cs typeface="Arial"/>
              </a:defRPr>
            </a:defPPr>
          </a:lstStyle>
          <a:p xmlns:a="http://schemas.openxmlformats.org/drawingml/2006/main">
            <a:pPr>
              <a:buNone/>
              <a:defRPr sz="730" b="0" i="0">
                <a:solidFill>
                  <a:srgbClr val="252D2C"/>
                </a:solidFill>
                <a:latin typeface="Arial"/>
                <a:ea typeface="Arial"/>
                <a:cs typeface="Arial"/>
              </a:defRPr>
              <a:lnSpc>
                <a:spcPts val="861"/>
              </a:lnSpc>
              <a:spcBef>
                <a:spcPts val="0"/>
              </a:spcBef>
              <a:spcAft>
                <a:spcPts val="0"/>
              </a:spcAft>
            </a:pPr>
            <a:r>
              <a:rPr sz="730" b="0" i="0">
                <a:solidFill>
                  <a:srgbClr val="252D2C"/>
                </a:solidFill>
                <a:latin typeface="Arial"/>
                <a:ea typeface="Arial"/>
                <a:cs typeface="Arial"/>
              </a:rPr>
              <a:t>Classroom / funding / teaching building / playground.</a:t>
            </a:r>
          </a:p>
        </p:txBody>
      </p:sp>
      <p:sp>
        <p:nvSpPr>
          <p:cNvPr id="84" name="Editable paragraph">
            <a:extLst xmlns:a="http://schemas.openxmlformats.org/drawingml/2006/main">
              <a:ext uri="{FF2B5EF4-FFF2-40B4-BE49-F238E27FC236}">
                <a16:creationId xmlns:a16="http://schemas.microsoft.com/office/drawing/2014/main" id="{99A6E44A-2CCA-4D27-9FA0-BC23A3BC6B85}"/>
              </a:ext>
            </a:extLst>
          </p:cNvPr>
          <p:cNvSpPr>
            <a:spLocks xmlns:a="http://schemas.openxmlformats.org/drawingml/2006/main" noGrp="1"/>
          </p:cNvSpPr>
          <p:nvPr/>
        </p:nvSpPr>
        <p:spPr>
          <a:xfrm xmlns:a="http://schemas.openxmlformats.org/drawingml/2006/main">
            <a:off x="304800" y="7086600"/>
            <a:ext cx="4864100" cy="1347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252D2C"/>
                </a:solidFill>
                <a:latin typeface="Arial"/>
                <a:ea typeface="Arial"/>
                <a:cs typeface="Arial"/>
              </a:defRPr>
            </a:defPPr>
          </a:lstStyle>
          <a:p xmlns:a="http://schemas.openxmlformats.org/drawingml/2006/main">
            <a:pPr>
              <a:buNone/>
              <a:defRPr sz="730" b="0" i="0">
                <a:solidFill>
                  <a:srgbClr val="252D2C"/>
                </a:solidFill>
                <a:latin typeface="Arial"/>
                <a:ea typeface="Arial"/>
                <a:cs typeface="Arial"/>
              </a:defRPr>
              <a:lnSpc>
                <a:spcPts val="861"/>
              </a:lnSpc>
              <a:spcBef>
                <a:spcPts val="0"/>
              </a:spcBef>
              <a:spcAft>
                <a:spcPts val="0"/>
              </a:spcAft>
            </a:pPr>
            <a:r>
              <a:rPr sz="730" b="0" i="0">
                <a:solidFill>
                  <a:srgbClr val="252D2C"/>
                </a:solidFill>
                <a:latin typeface="Arial"/>
                <a:ea typeface="Arial"/>
                <a:cs typeface="Arial"/>
              </a:rPr>
              <a:t>Learning spaces, outdoor activity, and the resources that keep them in use.</a:t>
            </a:r>
          </a:p>
        </p:txBody>
      </p:sp>
    </p:spTree>
    <p:extLst>
      <p:ext uri="{BB962C8B-B14F-4D97-AF65-F5344CB8AC3E}">
        <p14:creationId xmlns:p14="http://schemas.microsoft.com/office/powerpoint/2010/main" val="13637921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5" name="Editable paragraph">
            <a:extLst xmlns:a="http://schemas.openxmlformats.org/drawingml/2006/main">
              <a:ext uri="{FF2B5EF4-FFF2-40B4-BE49-F238E27FC236}">
                <a16:creationId xmlns:a16="http://schemas.microsoft.com/office/drawing/2014/main" id="{B9EAA75C-D72E-4971-969C-D948688D9125}"/>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5DAC41E8-B6F4-46EF-8BA8-EAE771D0DB1A}"/>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3C742B79-87F9-478C-8AAC-08A30FFB1C8A}"/>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RESEARCH</a:t>
            </a:r>
          </a:p>
        </p:txBody>
      </p:sp>
      <p:sp>
        <p:nvSpPr>
          <p:cNvPr id="4" name="">
            <a:extLst xmlns:a="http://schemas.openxmlformats.org/drawingml/2006/main">
              <a:ext uri="{FF2B5EF4-FFF2-40B4-BE49-F238E27FC236}">
                <a16:creationId xmlns:a16="http://schemas.microsoft.com/office/drawing/2014/main" id="{3137F1DD-71F3-45A1-AB5F-272B4E7EDFFC}"/>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58103F04-5238-4522-A104-C07D2E8B83BF}"/>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Environmental audit &amp; the existing school</a:t>
            </a:r>
          </a:p>
        </p:txBody>
      </p:sp>
      <p:sp>
        <p:nvSpPr>
          <p:cNvPr id="6" name="">
            <a:extLst xmlns:a="http://schemas.openxmlformats.org/drawingml/2006/main">
              <a:ext uri="{FF2B5EF4-FFF2-40B4-BE49-F238E27FC236}">
                <a16:creationId xmlns:a16="http://schemas.microsoft.com/office/drawing/2014/main" id="{E36E73E0-6F50-44CC-91DA-EE6402FD185F}"/>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6F350F17-2112-4EA8-9AB6-AFC56FA5D3EF}"/>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381ED847-D217-4154-B258-D914F64DD06C}"/>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08 / 15</a:t>
            </a:r>
          </a:p>
        </p:txBody>
      </p:sp>
      <p:sp>
        <p:nvSpPr>
          <p:cNvPr id="9" name="Editable paragraph">
            <a:extLst xmlns:a="http://schemas.openxmlformats.org/drawingml/2006/main">
              <a:ext uri="{FF2B5EF4-FFF2-40B4-BE49-F238E27FC236}">
                <a16:creationId xmlns:a16="http://schemas.microsoft.com/office/drawing/2014/main" id="{5B5428BB-2F41-40A0-87B0-7868CAFE9A31}"/>
              </a:ext>
            </a:extLst>
          </p:cNvPr>
          <p:cNvSpPr>
            <a:spLocks xmlns:a="http://schemas.openxmlformats.org/drawingml/2006/main" noGrp="1"/>
          </p:cNvSpPr>
          <p:nvPr/>
        </p:nvSpPr>
        <p:spPr>
          <a:xfrm xmlns:a="http://schemas.openxmlformats.org/drawingml/2006/main">
            <a:off x="304800" y="1016000"/>
            <a:ext cx="49657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Appendix B / Environmental audit</a:t>
            </a:r>
          </a:p>
        </p:txBody>
      </p:sp>
      <p:sp>
        <p:nvSpPr>
          <p:cNvPr id="10" name="">
            <a:extLst xmlns:a="http://schemas.openxmlformats.org/drawingml/2006/main">
              <a:ext uri="{FF2B5EF4-FFF2-40B4-BE49-F238E27FC236}">
                <a16:creationId xmlns:a16="http://schemas.microsoft.com/office/drawing/2014/main" id="{DD5FD130-7579-45B6-9749-5896E3BE1F68}"/>
              </a:ext>
            </a:extLst>
          </p:cNvPr>
          <p:cNvSpPr>
            <a:spLocks xmlns:a="http://schemas.openxmlformats.org/drawingml/2006/main" noGrp="1"/>
          </p:cNvSpPr>
          <p:nvPr/>
        </p:nvSpPr>
        <p:spPr>
          <a:xfrm xmlns:a="http://schemas.openxmlformats.org/drawingml/2006/main">
            <a:off x="304800" y="1295400"/>
            <a:ext cx="4965700" cy="27940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1" name="Editable paragraph">
            <a:extLst xmlns:a="http://schemas.openxmlformats.org/drawingml/2006/main">
              <a:ext uri="{FF2B5EF4-FFF2-40B4-BE49-F238E27FC236}">
                <a16:creationId xmlns:a16="http://schemas.microsoft.com/office/drawing/2014/main" id="{3ED376DB-F82D-42B7-B45C-916452DA868B}"/>
              </a:ext>
            </a:extLst>
          </p:cNvPr>
          <p:cNvSpPr>
            <a:spLocks xmlns:a="http://schemas.openxmlformats.org/drawingml/2006/main" noGrp="1"/>
          </p:cNvSpPr>
          <p:nvPr/>
        </p:nvSpPr>
        <p:spPr>
          <a:xfrm xmlns:a="http://schemas.openxmlformats.org/drawingml/2006/main">
            <a:off x="622300" y="1371600"/>
            <a:ext cx="40513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ASSESSMENT ITEM</a:t>
            </a:r>
          </a:p>
        </p:txBody>
      </p:sp>
      <p:sp>
        <p:nvSpPr>
          <p:cNvPr id="12" name="Editable paragraph">
            <a:extLst xmlns:a="http://schemas.openxmlformats.org/drawingml/2006/main">
              <a:ext uri="{FF2B5EF4-FFF2-40B4-BE49-F238E27FC236}">
                <a16:creationId xmlns:a16="http://schemas.microsoft.com/office/drawing/2014/main" id="{B0533576-B682-4339-AC3F-DFB42D25DF5C}"/>
              </a:ext>
            </a:extLst>
          </p:cNvPr>
          <p:cNvSpPr>
            <a:spLocks xmlns:a="http://schemas.openxmlformats.org/drawingml/2006/main" noGrp="1"/>
          </p:cNvSpPr>
          <p:nvPr/>
        </p:nvSpPr>
        <p:spPr>
          <a:xfrm xmlns:a="http://schemas.openxmlformats.org/drawingml/2006/main">
            <a:off x="4787900" y="1371600"/>
            <a:ext cx="4318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SCORE</a:t>
            </a:r>
          </a:p>
        </p:txBody>
      </p:sp>
      <p:sp>
        <p:nvSpPr>
          <p:cNvPr id="13" name="">
            <a:extLst xmlns:a="http://schemas.openxmlformats.org/drawingml/2006/main">
              <a:ext uri="{FF2B5EF4-FFF2-40B4-BE49-F238E27FC236}">
                <a16:creationId xmlns:a16="http://schemas.microsoft.com/office/drawing/2014/main" id="{65978111-A766-4D07-9D2E-52765867DD10}"/>
              </a:ext>
            </a:extLst>
          </p:cNvPr>
          <p:cNvSpPr>
            <a:spLocks xmlns:a="http://schemas.openxmlformats.org/drawingml/2006/main" noGrp="1"/>
          </p:cNvSpPr>
          <p:nvPr/>
        </p:nvSpPr>
        <p:spPr>
          <a:xfrm xmlns:a="http://schemas.openxmlformats.org/drawingml/2006/main">
            <a:off x="304800" y="160020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4" name="Editable paragraph">
            <a:extLst xmlns:a="http://schemas.openxmlformats.org/drawingml/2006/main">
              <a:ext uri="{FF2B5EF4-FFF2-40B4-BE49-F238E27FC236}">
                <a16:creationId xmlns:a16="http://schemas.microsoft.com/office/drawing/2014/main" id="{A00E062B-C1D7-43D1-8244-3B2423953371}"/>
              </a:ext>
            </a:extLst>
          </p:cNvPr>
          <p:cNvSpPr>
            <a:spLocks xmlns:a="http://schemas.openxmlformats.org/drawingml/2006/main" noGrp="1"/>
          </p:cNvSpPr>
          <p:nvPr/>
        </p:nvSpPr>
        <p:spPr>
          <a:xfrm xmlns:a="http://schemas.openxmlformats.org/drawingml/2006/main">
            <a:off x="368300" y="161925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01</a:t>
            </a:r>
          </a:p>
        </p:txBody>
      </p:sp>
      <p:sp>
        <p:nvSpPr>
          <p:cNvPr id="15" name="Editable paragraph">
            <a:extLst xmlns:a="http://schemas.openxmlformats.org/drawingml/2006/main">
              <a:ext uri="{FF2B5EF4-FFF2-40B4-BE49-F238E27FC236}">
                <a16:creationId xmlns:a16="http://schemas.microsoft.com/office/drawing/2014/main" id="{0E6B0847-5D08-46BB-8922-1E73518E3AE6}"/>
              </a:ext>
            </a:extLst>
          </p:cNvPr>
          <p:cNvSpPr>
            <a:spLocks xmlns:a="http://schemas.openxmlformats.org/drawingml/2006/main" noGrp="1"/>
          </p:cNvSpPr>
          <p:nvPr/>
        </p:nvSpPr>
        <p:spPr>
          <a:xfrm xmlns:a="http://schemas.openxmlformats.org/drawingml/2006/main">
            <a:off x="622300" y="161798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the ground level?</a:t>
            </a:r>
          </a:p>
        </p:txBody>
      </p:sp>
      <p:sp>
        <p:nvSpPr>
          <p:cNvPr id="16" name="Editable paragraph">
            <a:extLst xmlns:a="http://schemas.openxmlformats.org/drawingml/2006/main">
              <a:ext uri="{FF2B5EF4-FFF2-40B4-BE49-F238E27FC236}">
                <a16:creationId xmlns:a16="http://schemas.microsoft.com/office/drawing/2014/main" id="{25CED253-D9A2-481B-9948-7E0A81F8AA1A}"/>
              </a:ext>
            </a:extLst>
          </p:cNvPr>
          <p:cNvSpPr>
            <a:spLocks xmlns:a="http://schemas.openxmlformats.org/drawingml/2006/main" noGrp="1"/>
          </p:cNvSpPr>
          <p:nvPr/>
        </p:nvSpPr>
        <p:spPr>
          <a:xfrm xmlns:a="http://schemas.openxmlformats.org/drawingml/2006/main">
            <a:off x="4889500" y="161544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2</a:t>
            </a:r>
          </a:p>
        </p:txBody>
      </p:sp>
      <p:sp>
        <p:nvSpPr>
          <p:cNvPr id="17" name="Editable paragraph">
            <a:extLst xmlns:a="http://schemas.openxmlformats.org/drawingml/2006/main">
              <a:ext uri="{FF2B5EF4-FFF2-40B4-BE49-F238E27FC236}">
                <a16:creationId xmlns:a16="http://schemas.microsoft.com/office/drawing/2014/main" id="{871B68B7-3927-4A45-B1D1-D49EE32009E9}"/>
              </a:ext>
            </a:extLst>
          </p:cNvPr>
          <p:cNvSpPr>
            <a:spLocks xmlns:a="http://schemas.openxmlformats.org/drawingml/2006/main" noGrp="1"/>
          </p:cNvSpPr>
          <p:nvPr/>
        </p:nvSpPr>
        <p:spPr>
          <a:xfrm xmlns:a="http://schemas.openxmlformats.org/drawingml/2006/main">
            <a:off x="368300" y="177355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02</a:t>
            </a:r>
          </a:p>
        </p:txBody>
      </p:sp>
      <p:sp>
        <p:nvSpPr>
          <p:cNvPr id="18" name="Editable paragraph">
            <a:extLst xmlns:a="http://schemas.openxmlformats.org/drawingml/2006/main">
              <a:ext uri="{FF2B5EF4-FFF2-40B4-BE49-F238E27FC236}">
                <a16:creationId xmlns:a16="http://schemas.microsoft.com/office/drawing/2014/main" id="{3CC246B0-5A60-406A-B2DD-E3F5F39935B9}"/>
              </a:ext>
            </a:extLst>
          </p:cNvPr>
          <p:cNvSpPr>
            <a:spLocks xmlns:a="http://schemas.openxmlformats.org/drawingml/2006/main" noGrp="1"/>
          </p:cNvSpPr>
          <p:nvPr/>
        </p:nvSpPr>
        <p:spPr>
          <a:xfrm xmlns:a="http://schemas.openxmlformats.org/drawingml/2006/main">
            <a:off x="622300" y="177228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there obvious level changes?</a:t>
            </a:r>
          </a:p>
        </p:txBody>
      </p:sp>
      <p:sp>
        <p:nvSpPr>
          <p:cNvPr id="19" name="Editable paragraph">
            <a:extLst xmlns:a="http://schemas.openxmlformats.org/drawingml/2006/main">
              <a:ext uri="{FF2B5EF4-FFF2-40B4-BE49-F238E27FC236}">
                <a16:creationId xmlns:a16="http://schemas.microsoft.com/office/drawing/2014/main" id="{DDF21696-D466-4E5B-A2CB-9B2AA847C01E}"/>
              </a:ext>
            </a:extLst>
          </p:cNvPr>
          <p:cNvSpPr>
            <a:spLocks xmlns:a="http://schemas.openxmlformats.org/drawingml/2006/main" noGrp="1"/>
          </p:cNvSpPr>
          <p:nvPr/>
        </p:nvSpPr>
        <p:spPr>
          <a:xfrm xmlns:a="http://schemas.openxmlformats.org/drawingml/2006/main">
            <a:off x="4889500" y="176974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941DF655-10C3-431B-A2F8-DA8F3D29E0AF}"/>
              </a:ext>
            </a:extLst>
          </p:cNvPr>
          <p:cNvSpPr>
            <a:spLocks xmlns:a="http://schemas.openxmlformats.org/drawingml/2006/main" noGrp="1"/>
          </p:cNvSpPr>
          <p:nvPr/>
        </p:nvSpPr>
        <p:spPr>
          <a:xfrm xmlns:a="http://schemas.openxmlformats.org/drawingml/2006/main">
            <a:off x="304800" y="190881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21" name="Editable paragraph">
            <a:extLst xmlns:a="http://schemas.openxmlformats.org/drawingml/2006/main">
              <a:ext uri="{FF2B5EF4-FFF2-40B4-BE49-F238E27FC236}">
                <a16:creationId xmlns:a16="http://schemas.microsoft.com/office/drawing/2014/main" id="{DC443953-B56F-497D-9789-E4953C7F4DF7}"/>
              </a:ext>
            </a:extLst>
          </p:cNvPr>
          <p:cNvSpPr>
            <a:spLocks xmlns:a="http://schemas.openxmlformats.org/drawingml/2006/main" noGrp="1"/>
          </p:cNvSpPr>
          <p:nvPr/>
        </p:nvSpPr>
        <p:spPr>
          <a:xfrm xmlns:a="http://schemas.openxmlformats.org/drawingml/2006/main">
            <a:off x="368300" y="192786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03</a:t>
            </a:r>
          </a:p>
        </p:txBody>
      </p:sp>
      <p:sp>
        <p:nvSpPr>
          <p:cNvPr id="22" name="Editable paragraph">
            <a:extLst xmlns:a="http://schemas.openxmlformats.org/drawingml/2006/main">
              <a:ext uri="{FF2B5EF4-FFF2-40B4-BE49-F238E27FC236}">
                <a16:creationId xmlns:a16="http://schemas.microsoft.com/office/drawing/2014/main" id="{31AEF86A-36CE-4106-94F5-87ED46527A9E}"/>
              </a:ext>
            </a:extLst>
          </p:cNvPr>
          <p:cNvSpPr>
            <a:spLocks xmlns:a="http://schemas.openxmlformats.org/drawingml/2006/main" noGrp="1"/>
          </p:cNvSpPr>
          <p:nvPr/>
        </p:nvSpPr>
        <p:spPr>
          <a:xfrm xmlns:a="http://schemas.openxmlformats.org/drawingml/2006/main">
            <a:off x="622300" y="192659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there sharp edges?</a:t>
            </a:r>
          </a:p>
        </p:txBody>
      </p:sp>
      <p:sp>
        <p:nvSpPr>
          <p:cNvPr id="23" name="Editable paragraph">
            <a:extLst xmlns:a="http://schemas.openxmlformats.org/drawingml/2006/main">
              <a:ext uri="{FF2B5EF4-FFF2-40B4-BE49-F238E27FC236}">
                <a16:creationId xmlns:a16="http://schemas.microsoft.com/office/drawing/2014/main" id="{8006D30F-47C1-4141-8C5A-CB5577873C23}"/>
              </a:ext>
            </a:extLst>
          </p:cNvPr>
          <p:cNvSpPr>
            <a:spLocks xmlns:a="http://schemas.openxmlformats.org/drawingml/2006/main" noGrp="1"/>
          </p:cNvSpPr>
          <p:nvPr/>
        </p:nvSpPr>
        <p:spPr>
          <a:xfrm xmlns:a="http://schemas.openxmlformats.org/drawingml/2006/main">
            <a:off x="4889500" y="192405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3</a:t>
            </a:r>
          </a:p>
        </p:txBody>
      </p:sp>
      <p:sp>
        <p:nvSpPr>
          <p:cNvPr id="24" name="Editable paragraph">
            <a:extLst xmlns:a="http://schemas.openxmlformats.org/drawingml/2006/main">
              <a:ext uri="{FF2B5EF4-FFF2-40B4-BE49-F238E27FC236}">
                <a16:creationId xmlns:a16="http://schemas.microsoft.com/office/drawing/2014/main" id="{EF1148AE-16B9-4062-AD78-D7A17679043B}"/>
              </a:ext>
            </a:extLst>
          </p:cNvPr>
          <p:cNvSpPr>
            <a:spLocks xmlns:a="http://schemas.openxmlformats.org/drawingml/2006/main" noGrp="1"/>
          </p:cNvSpPr>
          <p:nvPr/>
        </p:nvSpPr>
        <p:spPr>
          <a:xfrm xmlns:a="http://schemas.openxmlformats.org/drawingml/2006/main">
            <a:off x="368300" y="208216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04</a:t>
            </a:r>
          </a:p>
        </p:txBody>
      </p:sp>
      <p:sp>
        <p:nvSpPr>
          <p:cNvPr id="25" name="Editable paragraph">
            <a:extLst xmlns:a="http://schemas.openxmlformats.org/drawingml/2006/main">
              <a:ext uri="{FF2B5EF4-FFF2-40B4-BE49-F238E27FC236}">
                <a16:creationId xmlns:a16="http://schemas.microsoft.com/office/drawing/2014/main" id="{2C2BD35F-78FC-4E93-A919-2F53B065D285}"/>
              </a:ext>
            </a:extLst>
          </p:cNvPr>
          <p:cNvSpPr>
            <a:spLocks xmlns:a="http://schemas.openxmlformats.org/drawingml/2006/main" noGrp="1"/>
          </p:cNvSpPr>
          <p:nvPr/>
        </p:nvSpPr>
        <p:spPr>
          <a:xfrm xmlns:a="http://schemas.openxmlformats.org/drawingml/2006/main">
            <a:off x="622300" y="208089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Do vehicles and pedestrians mix?</a:t>
            </a:r>
          </a:p>
        </p:txBody>
      </p:sp>
      <p:sp>
        <p:nvSpPr>
          <p:cNvPr id="26" name="Editable paragraph">
            <a:extLst xmlns:a="http://schemas.openxmlformats.org/drawingml/2006/main">
              <a:ext uri="{FF2B5EF4-FFF2-40B4-BE49-F238E27FC236}">
                <a16:creationId xmlns:a16="http://schemas.microsoft.com/office/drawing/2014/main" id="{3D2B703B-B66A-4389-90A7-52D5F8F794B1}"/>
              </a:ext>
            </a:extLst>
          </p:cNvPr>
          <p:cNvSpPr>
            <a:spLocks xmlns:a="http://schemas.openxmlformats.org/drawingml/2006/main" noGrp="1"/>
          </p:cNvSpPr>
          <p:nvPr/>
        </p:nvSpPr>
        <p:spPr>
          <a:xfrm xmlns:a="http://schemas.openxmlformats.org/drawingml/2006/main">
            <a:off x="4889500" y="207835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3</a:t>
            </a:r>
          </a:p>
        </p:txBody>
      </p:sp>
      <p:sp>
        <p:nvSpPr>
          <p:cNvPr id="27" name="">
            <a:extLst xmlns:a="http://schemas.openxmlformats.org/drawingml/2006/main">
              <a:ext uri="{FF2B5EF4-FFF2-40B4-BE49-F238E27FC236}">
                <a16:creationId xmlns:a16="http://schemas.microsoft.com/office/drawing/2014/main" id="{A0966D6B-2B26-4EA9-9ACB-46CD60A482C9}"/>
              </a:ext>
            </a:extLst>
          </p:cNvPr>
          <p:cNvSpPr>
            <a:spLocks xmlns:a="http://schemas.openxmlformats.org/drawingml/2006/main" noGrp="1"/>
          </p:cNvSpPr>
          <p:nvPr/>
        </p:nvSpPr>
        <p:spPr>
          <a:xfrm xmlns:a="http://schemas.openxmlformats.org/drawingml/2006/main">
            <a:off x="304800" y="221742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28" name="Editable paragraph">
            <a:extLst xmlns:a="http://schemas.openxmlformats.org/drawingml/2006/main">
              <a:ext uri="{FF2B5EF4-FFF2-40B4-BE49-F238E27FC236}">
                <a16:creationId xmlns:a16="http://schemas.microsoft.com/office/drawing/2014/main" id="{63B1CF04-4D52-4E06-A5EC-8ACFE81DEF0E}"/>
              </a:ext>
            </a:extLst>
          </p:cNvPr>
          <p:cNvSpPr>
            <a:spLocks xmlns:a="http://schemas.openxmlformats.org/drawingml/2006/main" noGrp="1"/>
          </p:cNvSpPr>
          <p:nvPr/>
        </p:nvSpPr>
        <p:spPr>
          <a:xfrm xmlns:a="http://schemas.openxmlformats.org/drawingml/2006/main">
            <a:off x="368300" y="223647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05</a:t>
            </a:r>
          </a:p>
        </p:txBody>
      </p:sp>
      <p:sp>
        <p:nvSpPr>
          <p:cNvPr id="29" name="Editable paragraph">
            <a:extLst xmlns:a="http://schemas.openxmlformats.org/drawingml/2006/main">
              <a:ext uri="{FF2B5EF4-FFF2-40B4-BE49-F238E27FC236}">
                <a16:creationId xmlns:a16="http://schemas.microsoft.com/office/drawing/2014/main" id="{BBB30C41-B54B-48D0-B226-A5B965ABA85A}"/>
              </a:ext>
            </a:extLst>
          </p:cNvPr>
          <p:cNvSpPr>
            <a:spLocks xmlns:a="http://schemas.openxmlformats.org/drawingml/2006/main" noGrp="1"/>
          </p:cNvSpPr>
          <p:nvPr/>
        </p:nvSpPr>
        <p:spPr>
          <a:xfrm xmlns:a="http://schemas.openxmlformats.org/drawingml/2006/main">
            <a:off x="622300" y="223520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Do stairs have handrails?</a:t>
            </a:r>
          </a:p>
        </p:txBody>
      </p:sp>
      <p:sp>
        <p:nvSpPr>
          <p:cNvPr id="30" name="Editable paragraph">
            <a:extLst xmlns:a="http://schemas.openxmlformats.org/drawingml/2006/main">
              <a:ext uri="{FF2B5EF4-FFF2-40B4-BE49-F238E27FC236}">
                <a16:creationId xmlns:a16="http://schemas.microsoft.com/office/drawing/2014/main" id="{E2F22BEF-484D-4FDB-BC85-5FF2F7B45DE6}"/>
              </a:ext>
            </a:extLst>
          </p:cNvPr>
          <p:cNvSpPr>
            <a:spLocks xmlns:a="http://schemas.openxmlformats.org/drawingml/2006/main" noGrp="1"/>
          </p:cNvSpPr>
          <p:nvPr/>
        </p:nvSpPr>
        <p:spPr>
          <a:xfrm xmlns:a="http://schemas.openxmlformats.org/drawingml/2006/main">
            <a:off x="4889500" y="223266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31" name="Editable paragraph">
            <a:extLst xmlns:a="http://schemas.openxmlformats.org/drawingml/2006/main">
              <a:ext uri="{FF2B5EF4-FFF2-40B4-BE49-F238E27FC236}">
                <a16:creationId xmlns:a16="http://schemas.microsoft.com/office/drawing/2014/main" id="{8B18A848-379F-4B62-AA5E-8FDCE1A73EF6}"/>
              </a:ext>
            </a:extLst>
          </p:cNvPr>
          <p:cNvSpPr>
            <a:spLocks xmlns:a="http://schemas.openxmlformats.org/drawingml/2006/main" noGrp="1"/>
          </p:cNvSpPr>
          <p:nvPr/>
        </p:nvSpPr>
        <p:spPr>
          <a:xfrm xmlns:a="http://schemas.openxmlformats.org/drawingml/2006/main">
            <a:off x="368300" y="239077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06</a:t>
            </a:r>
          </a:p>
        </p:txBody>
      </p:sp>
      <p:sp>
        <p:nvSpPr>
          <p:cNvPr id="32" name="Editable paragraph">
            <a:extLst xmlns:a="http://schemas.openxmlformats.org/drawingml/2006/main">
              <a:ext uri="{FF2B5EF4-FFF2-40B4-BE49-F238E27FC236}">
                <a16:creationId xmlns:a16="http://schemas.microsoft.com/office/drawing/2014/main" id="{52530DC3-1115-4D52-977D-FD8BB02BDAD6}"/>
              </a:ext>
            </a:extLst>
          </p:cNvPr>
          <p:cNvSpPr>
            <a:spLocks xmlns:a="http://schemas.openxmlformats.org/drawingml/2006/main" noGrp="1"/>
          </p:cNvSpPr>
          <p:nvPr/>
        </p:nvSpPr>
        <p:spPr>
          <a:xfrm xmlns:a="http://schemas.openxmlformats.org/drawingml/2006/main">
            <a:off x="622300" y="238950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it slippery when it rains?</a:t>
            </a:r>
          </a:p>
        </p:txBody>
      </p:sp>
      <p:sp>
        <p:nvSpPr>
          <p:cNvPr id="33" name="Editable paragraph">
            <a:extLst xmlns:a="http://schemas.openxmlformats.org/drawingml/2006/main">
              <a:ext uri="{FF2B5EF4-FFF2-40B4-BE49-F238E27FC236}">
                <a16:creationId xmlns:a16="http://schemas.microsoft.com/office/drawing/2014/main" id="{A5BCD701-8BAB-498A-8E91-8BFA52799C65}"/>
              </a:ext>
            </a:extLst>
          </p:cNvPr>
          <p:cNvSpPr>
            <a:spLocks xmlns:a="http://schemas.openxmlformats.org/drawingml/2006/main" noGrp="1"/>
          </p:cNvSpPr>
          <p:nvPr/>
        </p:nvSpPr>
        <p:spPr>
          <a:xfrm xmlns:a="http://schemas.openxmlformats.org/drawingml/2006/main">
            <a:off x="4889500" y="238696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34" name="">
            <a:extLst xmlns:a="http://schemas.openxmlformats.org/drawingml/2006/main">
              <a:ext uri="{FF2B5EF4-FFF2-40B4-BE49-F238E27FC236}">
                <a16:creationId xmlns:a16="http://schemas.microsoft.com/office/drawing/2014/main" id="{72CF4746-9863-400E-BE4E-1E113735165B}"/>
              </a:ext>
            </a:extLst>
          </p:cNvPr>
          <p:cNvSpPr>
            <a:spLocks xmlns:a="http://schemas.openxmlformats.org/drawingml/2006/main" noGrp="1"/>
          </p:cNvSpPr>
          <p:nvPr/>
        </p:nvSpPr>
        <p:spPr>
          <a:xfrm xmlns:a="http://schemas.openxmlformats.org/drawingml/2006/main">
            <a:off x="304800" y="252603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35" name="Editable paragraph">
            <a:extLst xmlns:a="http://schemas.openxmlformats.org/drawingml/2006/main">
              <a:ext uri="{FF2B5EF4-FFF2-40B4-BE49-F238E27FC236}">
                <a16:creationId xmlns:a16="http://schemas.microsoft.com/office/drawing/2014/main" id="{707BBEA2-EBC7-46C3-B8DC-99F386D8A910}"/>
              </a:ext>
            </a:extLst>
          </p:cNvPr>
          <p:cNvSpPr>
            <a:spLocks xmlns:a="http://schemas.openxmlformats.org/drawingml/2006/main" noGrp="1"/>
          </p:cNvSpPr>
          <p:nvPr/>
        </p:nvSpPr>
        <p:spPr>
          <a:xfrm xmlns:a="http://schemas.openxmlformats.org/drawingml/2006/main">
            <a:off x="368300" y="254508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07</a:t>
            </a:r>
          </a:p>
        </p:txBody>
      </p:sp>
      <p:sp>
        <p:nvSpPr>
          <p:cNvPr id="36" name="Editable paragraph">
            <a:extLst xmlns:a="http://schemas.openxmlformats.org/drawingml/2006/main">
              <a:ext uri="{FF2B5EF4-FFF2-40B4-BE49-F238E27FC236}">
                <a16:creationId xmlns:a16="http://schemas.microsoft.com/office/drawing/2014/main" id="{2FF454FD-E5DE-4E7B-86FE-CC39622CA05F}"/>
              </a:ext>
            </a:extLst>
          </p:cNvPr>
          <p:cNvSpPr>
            <a:spLocks xmlns:a="http://schemas.openxmlformats.org/drawingml/2006/main" noGrp="1"/>
          </p:cNvSpPr>
          <p:nvPr/>
        </p:nvSpPr>
        <p:spPr>
          <a:xfrm xmlns:a="http://schemas.openxmlformats.org/drawingml/2006/main">
            <a:off x="622300" y="254381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there lighting at night?</a:t>
            </a:r>
          </a:p>
        </p:txBody>
      </p:sp>
      <p:sp>
        <p:nvSpPr>
          <p:cNvPr id="37" name="Editable paragraph">
            <a:extLst xmlns:a="http://schemas.openxmlformats.org/drawingml/2006/main">
              <a:ext uri="{FF2B5EF4-FFF2-40B4-BE49-F238E27FC236}">
                <a16:creationId xmlns:a16="http://schemas.microsoft.com/office/drawing/2014/main" id="{D525E231-CE3B-46C8-8B6A-4AC8621BBACC}"/>
              </a:ext>
            </a:extLst>
          </p:cNvPr>
          <p:cNvSpPr>
            <a:spLocks xmlns:a="http://schemas.openxmlformats.org/drawingml/2006/main" noGrp="1"/>
          </p:cNvSpPr>
          <p:nvPr/>
        </p:nvSpPr>
        <p:spPr>
          <a:xfrm xmlns:a="http://schemas.openxmlformats.org/drawingml/2006/main">
            <a:off x="4889500" y="254127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38" name="Editable paragraph">
            <a:extLst xmlns:a="http://schemas.openxmlformats.org/drawingml/2006/main">
              <a:ext uri="{FF2B5EF4-FFF2-40B4-BE49-F238E27FC236}">
                <a16:creationId xmlns:a16="http://schemas.microsoft.com/office/drawing/2014/main" id="{18EEAB7F-B412-4C68-AE7E-1447843D86D1}"/>
              </a:ext>
            </a:extLst>
          </p:cNvPr>
          <p:cNvSpPr>
            <a:spLocks xmlns:a="http://schemas.openxmlformats.org/drawingml/2006/main" noGrp="1"/>
          </p:cNvSpPr>
          <p:nvPr/>
        </p:nvSpPr>
        <p:spPr>
          <a:xfrm xmlns:a="http://schemas.openxmlformats.org/drawingml/2006/main">
            <a:off x="368300" y="269938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08</a:t>
            </a:r>
          </a:p>
        </p:txBody>
      </p:sp>
      <p:sp>
        <p:nvSpPr>
          <p:cNvPr id="39" name="Editable paragraph">
            <a:extLst xmlns:a="http://schemas.openxmlformats.org/drawingml/2006/main">
              <a:ext uri="{FF2B5EF4-FFF2-40B4-BE49-F238E27FC236}">
                <a16:creationId xmlns:a16="http://schemas.microsoft.com/office/drawing/2014/main" id="{FBE93A4E-43F1-4083-8EF2-FC6C65AE0E21}"/>
              </a:ext>
            </a:extLst>
          </p:cNvPr>
          <p:cNvSpPr>
            <a:spLocks xmlns:a="http://schemas.openxmlformats.org/drawingml/2006/main" noGrp="1"/>
          </p:cNvSpPr>
          <p:nvPr/>
        </p:nvSpPr>
        <p:spPr>
          <a:xfrm xmlns:a="http://schemas.openxmlformats.org/drawingml/2006/main">
            <a:off x="622300" y="269811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Do monitoring and supervision cover key areas?</a:t>
            </a:r>
          </a:p>
        </p:txBody>
      </p:sp>
      <p:sp>
        <p:nvSpPr>
          <p:cNvPr id="40" name="Editable paragraph">
            <a:extLst xmlns:a="http://schemas.openxmlformats.org/drawingml/2006/main">
              <a:ext uri="{FF2B5EF4-FFF2-40B4-BE49-F238E27FC236}">
                <a16:creationId xmlns:a16="http://schemas.microsoft.com/office/drawing/2014/main" id="{25674A58-1E47-47E3-B2F5-8E17728BB5CB}"/>
              </a:ext>
            </a:extLst>
          </p:cNvPr>
          <p:cNvSpPr>
            <a:spLocks xmlns:a="http://schemas.openxmlformats.org/drawingml/2006/main" noGrp="1"/>
          </p:cNvSpPr>
          <p:nvPr/>
        </p:nvSpPr>
        <p:spPr>
          <a:xfrm xmlns:a="http://schemas.openxmlformats.org/drawingml/2006/main">
            <a:off x="4889500" y="269557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4</a:t>
            </a:r>
          </a:p>
        </p:txBody>
      </p:sp>
      <p:sp>
        <p:nvSpPr>
          <p:cNvPr id="41" name="">
            <a:extLst xmlns:a="http://schemas.openxmlformats.org/drawingml/2006/main">
              <a:ext uri="{FF2B5EF4-FFF2-40B4-BE49-F238E27FC236}">
                <a16:creationId xmlns:a16="http://schemas.microsoft.com/office/drawing/2014/main" id="{691377FD-CEB9-401F-B073-D4AF6F8E8029}"/>
              </a:ext>
            </a:extLst>
          </p:cNvPr>
          <p:cNvSpPr>
            <a:spLocks xmlns:a="http://schemas.openxmlformats.org/drawingml/2006/main" noGrp="1"/>
          </p:cNvSpPr>
          <p:nvPr/>
        </p:nvSpPr>
        <p:spPr>
          <a:xfrm xmlns:a="http://schemas.openxmlformats.org/drawingml/2006/main">
            <a:off x="304800" y="283464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42" name="Editable paragraph">
            <a:extLst xmlns:a="http://schemas.openxmlformats.org/drawingml/2006/main">
              <a:ext uri="{FF2B5EF4-FFF2-40B4-BE49-F238E27FC236}">
                <a16:creationId xmlns:a16="http://schemas.microsoft.com/office/drawing/2014/main" id="{D1A6CFE5-B68F-4706-BA62-F6D17CFE674F}"/>
              </a:ext>
            </a:extLst>
          </p:cNvPr>
          <p:cNvSpPr>
            <a:spLocks xmlns:a="http://schemas.openxmlformats.org/drawingml/2006/main" noGrp="1"/>
          </p:cNvSpPr>
          <p:nvPr/>
        </p:nvSpPr>
        <p:spPr>
          <a:xfrm xmlns:a="http://schemas.openxmlformats.org/drawingml/2006/main">
            <a:off x="368300" y="285369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09</a:t>
            </a:r>
          </a:p>
        </p:txBody>
      </p:sp>
      <p:sp>
        <p:nvSpPr>
          <p:cNvPr id="43" name="Editable paragraph">
            <a:extLst xmlns:a="http://schemas.openxmlformats.org/drawingml/2006/main">
              <a:ext uri="{FF2B5EF4-FFF2-40B4-BE49-F238E27FC236}">
                <a16:creationId xmlns:a16="http://schemas.microsoft.com/office/drawing/2014/main" id="{F6C95311-9D1E-4C45-9890-02DC4E45AC30}"/>
              </a:ext>
            </a:extLst>
          </p:cNvPr>
          <p:cNvSpPr>
            <a:spLocks xmlns:a="http://schemas.openxmlformats.org/drawingml/2006/main" noGrp="1"/>
          </p:cNvSpPr>
          <p:nvPr/>
        </p:nvSpPr>
        <p:spPr>
          <a:xfrm xmlns:a="http://schemas.openxmlformats.org/drawingml/2006/main">
            <a:off x="622300" y="285242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shade available?</a:t>
            </a:r>
          </a:p>
        </p:txBody>
      </p:sp>
      <p:sp>
        <p:nvSpPr>
          <p:cNvPr id="44" name="Editable paragraph">
            <a:extLst xmlns:a="http://schemas.openxmlformats.org/drawingml/2006/main">
              <a:ext uri="{FF2B5EF4-FFF2-40B4-BE49-F238E27FC236}">
                <a16:creationId xmlns:a16="http://schemas.microsoft.com/office/drawing/2014/main" id="{B691F0F3-2DE0-4DC0-B39A-8FE824BFC92D}"/>
              </a:ext>
            </a:extLst>
          </p:cNvPr>
          <p:cNvSpPr>
            <a:spLocks xmlns:a="http://schemas.openxmlformats.org/drawingml/2006/main" noGrp="1"/>
          </p:cNvSpPr>
          <p:nvPr/>
        </p:nvSpPr>
        <p:spPr>
          <a:xfrm xmlns:a="http://schemas.openxmlformats.org/drawingml/2006/main">
            <a:off x="4889500" y="284988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45" name="Editable paragraph">
            <a:extLst xmlns:a="http://schemas.openxmlformats.org/drawingml/2006/main">
              <a:ext uri="{FF2B5EF4-FFF2-40B4-BE49-F238E27FC236}">
                <a16:creationId xmlns:a16="http://schemas.microsoft.com/office/drawing/2014/main" id="{BD4267F5-7D76-424B-B490-41CEFCB6F4E9}"/>
              </a:ext>
            </a:extLst>
          </p:cNvPr>
          <p:cNvSpPr>
            <a:spLocks xmlns:a="http://schemas.openxmlformats.org/drawingml/2006/main" noGrp="1"/>
          </p:cNvSpPr>
          <p:nvPr/>
        </p:nvSpPr>
        <p:spPr>
          <a:xfrm xmlns:a="http://schemas.openxmlformats.org/drawingml/2006/main">
            <a:off x="368300" y="300799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10</a:t>
            </a:r>
          </a:p>
        </p:txBody>
      </p:sp>
      <p:sp>
        <p:nvSpPr>
          <p:cNvPr id="46" name="Editable paragraph">
            <a:extLst xmlns:a="http://schemas.openxmlformats.org/drawingml/2006/main">
              <a:ext uri="{FF2B5EF4-FFF2-40B4-BE49-F238E27FC236}">
                <a16:creationId xmlns:a16="http://schemas.microsoft.com/office/drawing/2014/main" id="{6607615C-CD01-46B3-8543-4A8BD88E9E76}"/>
              </a:ext>
            </a:extLst>
          </p:cNvPr>
          <p:cNvSpPr>
            <a:spLocks xmlns:a="http://schemas.openxmlformats.org/drawingml/2006/main" noGrp="1"/>
          </p:cNvSpPr>
          <p:nvPr/>
        </p:nvSpPr>
        <p:spPr>
          <a:xfrm xmlns:a="http://schemas.openxmlformats.org/drawingml/2006/main">
            <a:off x="622300" y="300672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rain shelter available?</a:t>
            </a:r>
          </a:p>
        </p:txBody>
      </p:sp>
      <p:sp>
        <p:nvSpPr>
          <p:cNvPr id="47" name="Editable paragraph">
            <a:extLst xmlns:a="http://schemas.openxmlformats.org/drawingml/2006/main">
              <a:ext uri="{FF2B5EF4-FFF2-40B4-BE49-F238E27FC236}">
                <a16:creationId xmlns:a16="http://schemas.microsoft.com/office/drawing/2014/main" id="{CCFB5540-BEE8-419C-AD78-C6EB8D6F5E8E}"/>
              </a:ext>
            </a:extLst>
          </p:cNvPr>
          <p:cNvSpPr>
            <a:spLocks xmlns:a="http://schemas.openxmlformats.org/drawingml/2006/main" noGrp="1"/>
          </p:cNvSpPr>
          <p:nvPr/>
        </p:nvSpPr>
        <p:spPr>
          <a:xfrm xmlns:a="http://schemas.openxmlformats.org/drawingml/2006/main">
            <a:off x="4889500" y="300418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48" name="">
            <a:extLst xmlns:a="http://schemas.openxmlformats.org/drawingml/2006/main">
              <a:ext uri="{FF2B5EF4-FFF2-40B4-BE49-F238E27FC236}">
                <a16:creationId xmlns:a16="http://schemas.microsoft.com/office/drawing/2014/main" id="{F2B6AB1E-0C0A-4E81-91A0-838EB6804831}"/>
              </a:ext>
            </a:extLst>
          </p:cNvPr>
          <p:cNvSpPr>
            <a:spLocks xmlns:a="http://schemas.openxmlformats.org/drawingml/2006/main" noGrp="1"/>
          </p:cNvSpPr>
          <p:nvPr/>
        </p:nvSpPr>
        <p:spPr>
          <a:xfrm xmlns:a="http://schemas.openxmlformats.org/drawingml/2006/main">
            <a:off x="304800" y="314325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49" name="Editable paragraph">
            <a:extLst xmlns:a="http://schemas.openxmlformats.org/drawingml/2006/main">
              <a:ext uri="{FF2B5EF4-FFF2-40B4-BE49-F238E27FC236}">
                <a16:creationId xmlns:a16="http://schemas.microsoft.com/office/drawing/2014/main" id="{9D39F67B-2932-4FDF-8CF0-884C35818569}"/>
              </a:ext>
            </a:extLst>
          </p:cNvPr>
          <p:cNvSpPr>
            <a:spLocks xmlns:a="http://schemas.openxmlformats.org/drawingml/2006/main" noGrp="1"/>
          </p:cNvSpPr>
          <p:nvPr/>
        </p:nvSpPr>
        <p:spPr>
          <a:xfrm xmlns:a="http://schemas.openxmlformats.org/drawingml/2006/main">
            <a:off x="368300" y="316230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11</a:t>
            </a:r>
          </a:p>
        </p:txBody>
      </p:sp>
      <p:sp>
        <p:nvSpPr>
          <p:cNvPr id="50" name="Editable paragraph">
            <a:extLst xmlns:a="http://schemas.openxmlformats.org/drawingml/2006/main">
              <a:ext uri="{FF2B5EF4-FFF2-40B4-BE49-F238E27FC236}">
                <a16:creationId xmlns:a16="http://schemas.microsoft.com/office/drawing/2014/main" id="{B965E186-2F12-4FAF-A72C-117BFDF832F0}"/>
              </a:ext>
            </a:extLst>
          </p:cNvPr>
          <p:cNvSpPr>
            <a:spLocks xmlns:a="http://schemas.openxmlformats.org/drawingml/2006/main" noGrp="1"/>
          </p:cNvSpPr>
          <p:nvPr/>
        </p:nvSpPr>
        <p:spPr>
          <a:xfrm xmlns:a="http://schemas.openxmlformats.org/drawingml/2006/main">
            <a:off x="622300" y="316103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there ventilation?</a:t>
            </a:r>
          </a:p>
        </p:txBody>
      </p:sp>
      <p:sp>
        <p:nvSpPr>
          <p:cNvPr id="51" name="Editable paragraph">
            <a:extLst xmlns:a="http://schemas.openxmlformats.org/drawingml/2006/main">
              <a:ext uri="{FF2B5EF4-FFF2-40B4-BE49-F238E27FC236}">
                <a16:creationId xmlns:a16="http://schemas.microsoft.com/office/drawing/2014/main" id="{F65F4F78-B8DF-4DBF-ABB4-DEBAE9C1625B}"/>
              </a:ext>
            </a:extLst>
          </p:cNvPr>
          <p:cNvSpPr>
            <a:spLocks xmlns:a="http://schemas.openxmlformats.org/drawingml/2006/main" noGrp="1"/>
          </p:cNvSpPr>
          <p:nvPr/>
        </p:nvSpPr>
        <p:spPr>
          <a:xfrm xmlns:a="http://schemas.openxmlformats.org/drawingml/2006/main">
            <a:off x="4889500" y="315849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52" name="Editable paragraph">
            <a:extLst xmlns:a="http://schemas.openxmlformats.org/drawingml/2006/main">
              <a:ext uri="{FF2B5EF4-FFF2-40B4-BE49-F238E27FC236}">
                <a16:creationId xmlns:a16="http://schemas.microsoft.com/office/drawing/2014/main" id="{229A4317-16A9-449D-8A5C-C6D9DD3766D2}"/>
              </a:ext>
            </a:extLst>
          </p:cNvPr>
          <p:cNvSpPr>
            <a:spLocks xmlns:a="http://schemas.openxmlformats.org/drawingml/2006/main" noGrp="1"/>
          </p:cNvSpPr>
          <p:nvPr/>
        </p:nvSpPr>
        <p:spPr>
          <a:xfrm xmlns:a="http://schemas.openxmlformats.org/drawingml/2006/main">
            <a:off x="368300" y="331660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12</a:t>
            </a:r>
          </a:p>
        </p:txBody>
      </p:sp>
      <p:sp>
        <p:nvSpPr>
          <p:cNvPr id="53" name="Editable paragraph">
            <a:extLst xmlns:a="http://schemas.openxmlformats.org/drawingml/2006/main">
              <a:ext uri="{FF2B5EF4-FFF2-40B4-BE49-F238E27FC236}">
                <a16:creationId xmlns:a16="http://schemas.microsoft.com/office/drawing/2014/main" id="{BC3363F1-F1DC-43FE-974C-E76141BFDE33}"/>
              </a:ext>
            </a:extLst>
          </p:cNvPr>
          <p:cNvSpPr>
            <a:spLocks xmlns:a="http://schemas.openxmlformats.org/drawingml/2006/main" noGrp="1"/>
          </p:cNvSpPr>
          <p:nvPr/>
        </p:nvSpPr>
        <p:spPr>
          <a:xfrm xmlns:a="http://schemas.openxmlformats.org/drawingml/2006/main">
            <a:off x="622300" y="331533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seats available?</a:t>
            </a:r>
          </a:p>
        </p:txBody>
      </p:sp>
      <p:sp>
        <p:nvSpPr>
          <p:cNvPr id="54" name="Editable paragraph">
            <a:extLst xmlns:a="http://schemas.openxmlformats.org/drawingml/2006/main">
              <a:ext uri="{FF2B5EF4-FFF2-40B4-BE49-F238E27FC236}">
                <a16:creationId xmlns:a16="http://schemas.microsoft.com/office/drawing/2014/main" id="{EE0B9305-DF59-42B4-9392-D9CD03D54B8D}"/>
              </a:ext>
            </a:extLst>
          </p:cNvPr>
          <p:cNvSpPr>
            <a:spLocks xmlns:a="http://schemas.openxmlformats.org/drawingml/2006/main" noGrp="1"/>
          </p:cNvSpPr>
          <p:nvPr/>
        </p:nvSpPr>
        <p:spPr>
          <a:xfrm xmlns:a="http://schemas.openxmlformats.org/drawingml/2006/main">
            <a:off x="4889500" y="331279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4</a:t>
            </a:r>
          </a:p>
        </p:txBody>
      </p:sp>
      <p:sp>
        <p:nvSpPr>
          <p:cNvPr id="55" name="">
            <a:extLst xmlns:a="http://schemas.openxmlformats.org/drawingml/2006/main">
              <a:ext uri="{FF2B5EF4-FFF2-40B4-BE49-F238E27FC236}">
                <a16:creationId xmlns:a16="http://schemas.microsoft.com/office/drawing/2014/main" id="{3D9BFD28-162F-4C8F-A862-C8E02AB7D864}"/>
              </a:ext>
            </a:extLst>
          </p:cNvPr>
          <p:cNvSpPr>
            <a:spLocks xmlns:a="http://schemas.openxmlformats.org/drawingml/2006/main" noGrp="1"/>
          </p:cNvSpPr>
          <p:nvPr/>
        </p:nvSpPr>
        <p:spPr>
          <a:xfrm xmlns:a="http://schemas.openxmlformats.org/drawingml/2006/main">
            <a:off x="304800" y="345186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56" name="Editable paragraph">
            <a:extLst xmlns:a="http://schemas.openxmlformats.org/drawingml/2006/main">
              <a:ext uri="{FF2B5EF4-FFF2-40B4-BE49-F238E27FC236}">
                <a16:creationId xmlns:a16="http://schemas.microsoft.com/office/drawing/2014/main" id="{698AB831-AB65-4B64-8C89-BB9999BDF873}"/>
              </a:ext>
            </a:extLst>
          </p:cNvPr>
          <p:cNvSpPr>
            <a:spLocks xmlns:a="http://schemas.openxmlformats.org/drawingml/2006/main" noGrp="1"/>
          </p:cNvSpPr>
          <p:nvPr/>
        </p:nvSpPr>
        <p:spPr>
          <a:xfrm xmlns:a="http://schemas.openxmlformats.org/drawingml/2006/main">
            <a:off x="368300" y="347091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13</a:t>
            </a:r>
          </a:p>
        </p:txBody>
      </p:sp>
      <p:sp>
        <p:nvSpPr>
          <p:cNvPr id="57" name="Editable paragraph">
            <a:extLst xmlns:a="http://schemas.openxmlformats.org/drawingml/2006/main">
              <a:ext uri="{FF2B5EF4-FFF2-40B4-BE49-F238E27FC236}">
                <a16:creationId xmlns:a16="http://schemas.microsoft.com/office/drawing/2014/main" id="{E846B6D7-9F12-4787-AB1A-EA616CFABD3D}"/>
              </a:ext>
            </a:extLst>
          </p:cNvPr>
          <p:cNvSpPr>
            <a:spLocks xmlns:a="http://schemas.openxmlformats.org/drawingml/2006/main" noGrp="1"/>
          </p:cNvSpPr>
          <p:nvPr/>
        </p:nvSpPr>
        <p:spPr>
          <a:xfrm xmlns:a="http://schemas.openxmlformats.org/drawingml/2006/main">
            <a:off x="622300" y="346964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drinking water available?</a:t>
            </a:r>
          </a:p>
        </p:txBody>
      </p:sp>
      <p:sp>
        <p:nvSpPr>
          <p:cNvPr id="58" name="Editable paragraph">
            <a:extLst xmlns:a="http://schemas.openxmlformats.org/drawingml/2006/main">
              <a:ext uri="{FF2B5EF4-FFF2-40B4-BE49-F238E27FC236}">
                <a16:creationId xmlns:a16="http://schemas.microsoft.com/office/drawing/2014/main" id="{7D498D3E-1968-47FA-8C19-CDCA991FB26D}"/>
              </a:ext>
            </a:extLst>
          </p:cNvPr>
          <p:cNvSpPr>
            <a:spLocks xmlns:a="http://schemas.openxmlformats.org/drawingml/2006/main" noGrp="1"/>
          </p:cNvSpPr>
          <p:nvPr/>
        </p:nvSpPr>
        <p:spPr>
          <a:xfrm xmlns:a="http://schemas.openxmlformats.org/drawingml/2006/main">
            <a:off x="4889500" y="346710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59" name="Editable paragraph">
            <a:extLst xmlns:a="http://schemas.openxmlformats.org/drawingml/2006/main">
              <a:ext uri="{FF2B5EF4-FFF2-40B4-BE49-F238E27FC236}">
                <a16:creationId xmlns:a16="http://schemas.microsoft.com/office/drawing/2014/main" id="{851BEFB4-0FF5-41AF-8297-949E3C0160C9}"/>
              </a:ext>
            </a:extLst>
          </p:cNvPr>
          <p:cNvSpPr>
            <a:spLocks xmlns:a="http://schemas.openxmlformats.org/drawingml/2006/main" noGrp="1"/>
          </p:cNvSpPr>
          <p:nvPr/>
        </p:nvSpPr>
        <p:spPr>
          <a:xfrm xmlns:a="http://schemas.openxmlformats.org/drawingml/2006/main">
            <a:off x="368300" y="362521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14</a:t>
            </a:r>
          </a:p>
        </p:txBody>
      </p:sp>
      <p:sp>
        <p:nvSpPr>
          <p:cNvPr id="60" name="Editable paragraph">
            <a:extLst xmlns:a="http://schemas.openxmlformats.org/drawingml/2006/main">
              <a:ext uri="{FF2B5EF4-FFF2-40B4-BE49-F238E27FC236}">
                <a16:creationId xmlns:a16="http://schemas.microsoft.com/office/drawing/2014/main" id="{D22744EE-14E2-4457-A143-8841593F430C}"/>
              </a:ext>
            </a:extLst>
          </p:cNvPr>
          <p:cNvSpPr>
            <a:spLocks xmlns:a="http://schemas.openxmlformats.org/drawingml/2006/main" noGrp="1"/>
          </p:cNvSpPr>
          <p:nvPr/>
        </p:nvSpPr>
        <p:spPr>
          <a:xfrm xmlns:a="http://schemas.openxmlformats.org/drawingml/2006/main">
            <a:off x="622300" y="362394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handwashing facilities available?</a:t>
            </a:r>
          </a:p>
        </p:txBody>
      </p:sp>
      <p:sp>
        <p:nvSpPr>
          <p:cNvPr id="61" name="Editable paragraph">
            <a:extLst xmlns:a="http://schemas.openxmlformats.org/drawingml/2006/main">
              <a:ext uri="{FF2B5EF4-FFF2-40B4-BE49-F238E27FC236}">
                <a16:creationId xmlns:a16="http://schemas.microsoft.com/office/drawing/2014/main" id="{1A38BF75-490D-4B1E-B0E0-D888F46730BF}"/>
              </a:ext>
            </a:extLst>
          </p:cNvPr>
          <p:cNvSpPr>
            <a:spLocks xmlns:a="http://schemas.openxmlformats.org/drawingml/2006/main" noGrp="1"/>
          </p:cNvSpPr>
          <p:nvPr/>
        </p:nvSpPr>
        <p:spPr>
          <a:xfrm xmlns:a="http://schemas.openxmlformats.org/drawingml/2006/main">
            <a:off x="4889500" y="362140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62" name="">
            <a:extLst xmlns:a="http://schemas.openxmlformats.org/drawingml/2006/main">
              <a:ext uri="{FF2B5EF4-FFF2-40B4-BE49-F238E27FC236}">
                <a16:creationId xmlns:a16="http://schemas.microsoft.com/office/drawing/2014/main" id="{5E7F211D-290D-4857-BE35-EDB9EE898CFB}"/>
              </a:ext>
            </a:extLst>
          </p:cNvPr>
          <p:cNvSpPr>
            <a:spLocks xmlns:a="http://schemas.openxmlformats.org/drawingml/2006/main" noGrp="1"/>
          </p:cNvSpPr>
          <p:nvPr/>
        </p:nvSpPr>
        <p:spPr>
          <a:xfrm xmlns:a="http://schemas.openxmlformats.org/drawingml/2006/main">
            <a:off x="304800" y="376047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63" name="Editable paragraph">
            <a:extLst xmlns:a="http://schemas.openxmlformats.org/drawingml/2006/main">
              <a:ext uri="{FF2B5EF4-FFF2-40B4-BE49-F238E27FC236}">
                <a16:creationId xmlns:a16="http://schemas.microsoft.com/office/drawing/2014/main" id="{784199F3-C1CE-4DE1-9D99-159CB1C87733}"/>
              </a:ext>
            </a:extLst>
          </p:cNvPr>
          <p:cNvSpPr>
            <a:spLocks xmlns:a="http://schemas.openxmlformats.org/drawingml/2006/main" noGrp="1"/>
          </p:cNvSpPr>
          <p:nvPr/>
        </p:nvSpPr>
        <p:spPr>
          <a:xfrm xmlns:a="http://schemas.openxmlformats.org/drawingml/2006/main">
            <a:off x="368300" y="377952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15</a:t>
            </a:r>
          </a:p>
        </p:txBody>
      </p:sp>
      <p:sp>
        <p:nvSpPr>
          <p:cNvPr id="64" name="Editable paragraph">
            <a:extLst xmlns:a="http://schemas.openxmlformats.org/drawingml/2006/main">
              <a:ext uri="{FF2B5EF4-FFF2-40B4-BE49-F238E27FC236}">
                <a16:creationId xmlns:a16="http://schemas.microsoft.com/office/drawing/2014/main" id="{4E2AB107-CFB7-4768-A542-6B41274200BC}"/>
              </a:ext>
            </a:extLst>
          </p:cNvPr>
          <p:cNvSpPr>
            <a:spLocks xmlns:a="http://schemas.openxmlformats.org/drawingml/2006/main" noGrp="1"/>
          </p:cNvSpPr>
          <p:nvPr/>
        </p:nvSpPr>
        <p:spPr>
          <a:xfrm xmlns:a="http://schemas.openxmlformats.org/drawingml/2006/main">
            <a:off x="622300" y="377825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waste bins available?</a:t>
            </a:r>
          </a:p>
        </p:txBody>
      </p:sp>
      <p:sp>
        <p:nvSpPr>
          <p:cNvPr id="65" name="Editable paragraph">
            <a:extLst xmlns:a="http://schemas.openxmlformats.org/drawingml/2006/main">
              <a:ext uri="{FF2B5EF4-FFF2-40B4-BE49-F238E27FC236}">
                <a16:creationId xmlns:a16="http://schemas.microsoft.com/office/drawing/2014/main" id="{1D21826F-A23B-47B5-9B9F-AEE4C488CBD3}"/>
              </a:ext>
            </a:extLst>
          </p:cNvPr>
          <p:cNvSpPr>
            <a:spLocks xmlns:a="http://schemas.openxmlformats.org/drawingml/2006/main" noGrp="1"/>
          </p:cNvSpPr>
          <p:nvPr/>
        </p:nvSpPr>
        <p:spPr>
          <a:xfrm xmlns:a="http://schemas.openxmlformats.org/drawingml/2006/main">
            <a:off x="4889500" y="377571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4</a:t>
            </a:r>
          </a:p>
        </p:txBody>
      </p:sp>
      <p:sp>
        <p:nvSpPr>
          <p:cNvPr id="66" name="Editable paragraph">
            <a:extLst xmlns:a="http://schemas.openxmlformats.org/drawingml/2006/main">
              <a:ext uri="{FF2B5EF4-FFF2-40B4-BE49-F238E27FC236}">
                <a16:creationId xmlns:a16="http://schemas.microsoft.com/office/drawing/2014/main" id="{7AD34AC8-C81B-4944-9C71-9DBBD7255A80}"/>
              </a:ext>
            </a:extLst>
          </p:cNvPr>
          <p:cNvSpPr>
            <a:spLocks xmlns:a="http://schemas.openxmlformats.org/drawingml/2006/main" noGrp="1"/>
          </p:cNvSpPr>
          <p:nvPr/>
        </p:nvSpPr>
        <p:spPr>
          <a:xfrm xmlns:a="http://schemas.openxmlformats.org/drawingml/2006/main">
            <a:off x="368300" y="393382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16</a:t>
            </a:r>
          </a:p>
        </p:txBody>
      </p:sp>
      <p:sp>
        <p:nvSpPr>
          <p:cNvPr id="67" name="Editable paragraph">
            <a:extLst xmlns:a="http://schemas.openxmlformats.org/drawingml/2006/main">
              <a:ext uri="{FF2B5EF4-FFF2-40B4-BE49-F238E27FC236}">
                <a16:creationId xmlns:a16="http://schemas.microsoft.com/office/drawing/2014/main" id="{40ED2039-51A7-460D-8306-10E09340E516}"/>
              </a:ext>
            </a:extLst>
          </p:cNvPr>
          <p:cNvSpPr>
            <a:spLocks xmlns:a="http://schemas.openxmlformats.org/drawingml/2006/main" noGrp="1"/>
          </p:cNvSpPr>
          <p:nvPr/>
        </p:nvSpPr>
        <p:spPr>
          <a:xfrm xmlns:a="http://schemas.openxmlformats.org/drawingml/2006/main">
            <a:off x="622300" y="393255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toilets available?</a:t>
            </a:r>
          </a:p>
        </p:txBody>
      </p:sp>
      <p:sp>
        <p:nvSpPr>
          <p:cNvPr id="68" name="Editable paragraph">
            <a:extLst xmlns:a="http://schemas.openxmlformats.org/drawingml/2006/main">
              <a:ext uri="{FF2B5EF4-FFF2-40B4-BE49-F238E27FC236}">
                <a16:creationId xmlns:a16="http://schemas.microsoft.com/office/drawing/2014/main" id="{8FD8F3A4-43D0-4DBF-B39A-4FD9E92567FE}"/>
              </a:ext>
            </a:extLst>
          </p:cNvPr>
          <p:cNvSpPr>
            <a:spLocks xmlns:a="http://schemas.openxmlformats.org/drawingml/2006/main" noGrp="1"/>
          </p:cNvSpPr>
          <p:nvPr/>
        </p:nvSpPr>
        <p:spPr>
          <a:xfrm xmlns:a="http://schemas.openxmlformats.org/drawingml/2006/main">
            <a:off x="4889500" y="393001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69" name="">
            <a:extLst xmlns:a="http://schemas.openxmlformats.org/drawingml/2006/main">
              <a:ext uri="{FF2B5EF4-FFF2-40B4-BE49-F238E27FC236}">
                <a16:creationId xmlns:a16="http://schemas.microsoft.com/office/drawing/2014/main" id="{31493ADC-8CAE-474C-B9EF-A7DC783363EE}"/>
              </a:ext>
            </a:extLst>
          </p:cNvPr>
          <p:cNvSpPr>
            <a:spLocks xmlns:a="http://schemas.openxmlformats.org/drawingml/2006/main" noGrp="1"/>
          </p:cNvSpPr>
          <p:nvPr/>
        </p:nvSpPr>
        <p:spPr>
          <a:xfrm xmlns:a="http://schemas.openxmlformats.org/drawingml/2006/main">
            <a:off x="304800" y="406908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70" name="Editable paragraph">
            <a:extLst xmlns:a="http://schemas.openxmlformats.org/drawingml/2006/main">
              <a:ext uri="{FF2B5EF4-FFF2-40B4-BE49-F238E27FC236}">
                <a16:creationId xmlns:a16="http://schemas.microsoft.com/office/drawing/2014/main" id="{D36EBF46-E6EF-4391-97D4-460304A2759C}"/>
              </a:ext>
            </a:extLst>
          </p:cNvPr>
          <p:cNvSpPr>
            <a:spLocks xmlns:a="http://schemas.openxmlformats.org/drawingml/2006/main" noGrp="1"/>
          </p:cNvSpPr>
          <p:nvPr/>
        </p:nvSpPr>
        <p:spPr>
          <a:xfrm xmlns:a="http://schemas.openxmlformats.org/drawingml/2006/main">
            <a:off x="368300" y="408813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17</a:t>
            </a:r>
          </a:p>
        </p:txBody>
      </p:sp>
      <p:sp>
        <p:nvSpPr>
          <p:cNvPr id="71" name="Editable paragraph">
            <a:extLst xmlns:a="http://schemas.openxmlformats.org/drawingml/2006/main">
              <a:ext uri="{FF2B5EF4-FFF2-40B4-BE49-F238E27FC236}">
                <a16:creationId xmlns:a16="http://schemas.microsoft.com/office/drawing/2014/main" id="{3ED9F1D2-9D3E-470F-B949-977A6129F740}"/>
              </a:ext>
            </a:extLst>
          </p:cNvPr>
          <p:cNvSpPr>
            <a:spLocks xmlns:a="http://schemas.openxmlformats.org/drawingml/2006/main" noGrp="1"/>
          </p:cNvSpPr>
          <p:nvPr/>
        </p:nvSpPr>
        <p:spPr>
          <a:xfrm xmlns:a="http://schemas.openxmlformats.org/drawingml/2006/main">
            <a:off x="622300" y="408686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quiet areas available?</a:t>
            </a:r>
          </a:p>
        </p:txBody>
      </p:sp>
      <p:sp>
        <p:nvSpPr>
          <p:cNvPr id="72" name="Editable paragraph">
            <a:extLst xmlns:a="http://schemas.openxmlformats.org/drawingml/2006/main">
              <a:ext uri="{FF2B5EF4-FFF2-40B4-BE49-F238E27FC236}">
                <a16:creationId xmlns:a16="http://schemas.microsoft.com/office/drawing/2014/main" id="{A8A46405-DAC9-40E5-A80B-866EB13D5BB2}"/>
              </a:ext>
            </a:extLst>
          </p:cNvPr>
          <p:cNvSpPr>
            <a:spLocks xmlns:a="http://schemas.openxmlformats.org/drawingml/2006/main" noGrp="1"/>
          </p:cNvSpPr>
          <p:nvPr/>
        </p:nvSpPr>
        <p:spPr>
          <a:xfrm xmlns:a="http://schemas.openxmlformats.org/drawingml/2006/main">
            <a:off x="4889500" y="408432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73" name="Editable paragraph">
            <a:extLst xmlns:a="http://schemas.openxmlformats.org/drawingml/2006/main">
              <a:ext uri="{FF2B5EF4-FFF2-40B4-BE49-F238E27FC236}">
                <a16:creationId xmlns:a16="http://schemas.microsoft.com/office/drawing/2014/main" id="{17E1E625-49C2-4D9D-B67D-A7AB1F5480FB}"/>
              </a:ext>
            </a:extLst>
          </p:cNvPr>
          <p:cNvSpPr>
            <a:spLocks xmlns:a="http://schemas.openxmlformats.org/drawingml/2006/main" noGrp="1"/>
          </p:cNvSpPr>
          <p:nvPr/>
        </p:nvSpPr>
        <p:spPr>
          <a:xfrm xmlns:a="http://schemas.openxmlformats.org/drawingml/2006/main">
            <a:off x="368300" y="424243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18</a:t>
            </a:r>
          </a:p>
        </p:txBody>
      </p:sp>
      <p:sp>
        <p:nvSpPr>
          <p:cNvPr id="74" name="Editable paragraph">
            <a:extLst xmlns:a="http://schemas.openxmlformats.org/drawingml/2006/main">
              <a:ext uri="{FF2B5EF4-FFF2-40B4-BE49-F238E27FC236}">
                <a16:creationId xmlns:a16="http://schemas.microsoft.com/office/drawing/2014/main" id="{973AA8B3-DE34-4FCA-9B68-B13EA9E2A750}"/>
              </a:ext>
            </a:extLst>
          </p:cNvPr>
          <p:cNvSpPr>
            <a:spLocks xmlns:a="http://schemas.openxmlformats.org/drawingml/2006/main" noGrp="1"/>
          </p:cNvSpPr>
          <p:nvPr/>
        </p:nvSpPr>
        <p:spPr>
          <a:xfrm xmlns:a="http://schemas.openxmlformats.org/drawingml/2006/main">
            <a:off x="622300" y="424116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open activity ground available?</a:t>
            </a:r>
          </a:p>
        </p:txBody>
      </p:sp>
      <p:sp>
        <p:nvSpPr>
          <p:cNvPr id="75" name="Editable paragraph">
            <a:extLst xmlns:a="http://schemas.openxmlformats.org/drawingml/2006/main">
              <a:ext uri="{FF2B5EF4-FFF2-40B4-BE49-F238E27FC236}">
                <a16:creationId xmlns:a16="http://schemas.microsoft.com/office/drawing/2014/main" id="{4B0E91C7-30F4-4543-89E1-C51B6ECFB13C}"/>
              </a:ext>
            </a:extLst>
          </p:cNvPr>
          <p:cNvSpPr>
            <a:spLocks xmlns:a="http://schemas.openxmlformats.org/drawingml/2006/main" noGrp="1"/>
          </p:cNvSpPr>
          <p:nvPr/>
        </p:nvSpPr>
        <p:spPr>
          <a:xfrm xmlns:a="http://schemas.openxmlformats.org/drawingml/2006/main">
            <a:off x="4889500" y="423862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76" name="">
            <a:extLst xmlns:a="http://schemas.openxmlformats.org/drawingml/2006/main">
              <a:ext uri="{FF2B5EF4-FFF2-40B4-BE49-F238E27FC236}">
                <a16:creationId xmlns:a16="http://schemas.microsoft.com/office/drawing/2014/main" id="{9A36CBB1-97D6-42C0-A3CF-D888FBC052E9}"/>
              </a:ext>
            </a:extLst>
          </p:cNvPr>
          <p:cNvSpPr>
            <a:spLocks xmlns:a="http://schemas.openxmlformats.org/drawingml/2006/main" noGrp="1"/>
          </p:cNvSpPr>
          <p:nvPr/>
        </p:nvSpPr>
        <p:spPr>
          <a:xfrm xmlns:a="http://schemas.openxmlformats.org/drawingml/2006/main">
            <a:off x="304800" y="437769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77" name="Editable paragraph">
            <a:extLst xmlns:a="http://schemas.openxmlformats.org/drawingml/2006/main">
              <a:ext uri="{FF2B5EF4-FFF2-40B4-BE49-F238E27FC236}">
                <a16:creationId xmlns:a16="http://schemas.microsoft.com/office/drawing/2014/main" id="{6B07263E-D7D7-4115-B3BD-CB5CFBBB4AAC}"/>
              </a:ext>
            </a:extLst>
          </p:cNvPr>
          <p:cNvSpPr>
            <a:spLocks xmlns:a="http://schemas.openxmlformats.org/drawingml/2006/main" noGrp="1"/>
          </p:cNvSpPr>
          <p:nvPr/>
        </p:nvSpPr>
        <p:spPr>
          <a:xfrm xmlns:a="http://schemas.openxmlformats.org/drawingml/2006/main">
            <a:off x="368300" y="439674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19</a:t>
            </a:r>
          </a:p>
        </p:txBody>
      </p:sp>
      <p:sp>
        <p:nvSpPr>
          <p:cNvPr id="78" name="Editable paragraph">
            <a:extLst xmlns:a="http://schemas.openxmlformats.org/drawingml/2006/main">
              <a:ext uri="{FF2B5EF4-FFF2-40B4-BE49-F238E27FC236}">
                <a16:creationId xmlns:a16="http://schemas.microsoft.com/office/drawing/2014/main" id="{2D3EC9A8-1D0B-4728-B29F-A0FAA56F79FA}"/>
              </a:ext>
            </a:extLst>
          </p:cNvPr>
          <p:cNvSpPr>
            <a:spLocks xmlns:a="http://schemas.openxmlformats.org/drawingml/2006/main" noGrp="1"/>
          </p:cNvSpPr>
          <p:nvPr/>
        </p:nvSpPr>
        <p:spPr>
          <a:xfrm xmlns:a="http://schemas.openxmlformats.org/drawingml/2006/main">
            <a:off x="622300" y="439547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small-group spaces available?</a:t>
            </a:r>
          </a:p>
        </p:txBody>
      </p:sp>
      <p:sp>
        <p:nvSpPr>
          <p:cNvPr id="79" name="Editable paragraph">
            <a:extLst xmlns:a="http://schemas.openxmlformats.org/drawingml/2006/main">
              <a:ext uri="{FF2B5EF4-FFF2-40B4-BE49-F238E27FC236}">
                <a16:creationId xmlns:a16="http://schemas.microsoft.com/office/drawing/2014/main" id="{E1938750-3CA8-413A-ADE2-8168AF004B69}"/>
              </a:ext>
            </a:extLst>
          </p:cNvPr>
          <p:cNvSpPr>
            <a:spLocks xmlns:a="http://schemas.openxmlformats.org/drawingml/2006/main" noGrp="1"/>
          </p:cNvSpPr>
          <p:nvPr/>
        </p:nvSpPr>
        <p:spPr>
          <a:xfrm xmlns:a="http://schemas.openxmlformats.org/drawingml/2006/main">
            <a:off x="4889500" y="439293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80" name="Editable paragraph">
            <a:extLst xmlns:a="http://schemas.openxmlformats.org/drawingml/2006/main">
              <a:ext uri="{FF2B5EF4-FFF2-40B4-BE49-F238E27FC236}">
                <a16:creationId xmlns:a16="http://schemas.microsoft.com/office/drawing/2014/main" id="{8CC0D859-AA49-44B6-B381-B1DEAEA7BE1F}"/>
              </a:ext>
            </a:extLst>
          </p:cNvPr>
          <p:cNvSpPr>
            <a:spLocks xmlns:a="http://schemas.openxmlformats.org/drawingml/2006/main" noGrp="1"/>
          </p:cNvSpPr>
          <p:nvPr/>
        </p:nvSpPr>
        <p:spPr>
          <a:xfrm xmlns:a="http://schemas.openxmlformats.org/drawingml/2006/main">
            <a:off x="368300" y="455104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20</a:t>
            </a:r>
          </a:p>
        </p:txBody>
      </p:sp>
      <p:sp>
        <p:nvSpPr>
          <p:cNvPr id="81" name="Editable paragraph">
            <a:extLst xmlns:a="http://schemas.openxmlformats.org/drawingml/2006/main">
              <a:ext uri="{FF2B5EF4-FFF2-40B4-BE49-F238E27FC236}">
                <a16:creationId xmlns:a16="http://schemas.microsoft.com/office/drawing/2014/main" id="{7BFF220F-0D02-4293-AA85-50289E30E4C3}"/>
              </a:ext>
            </a:extLst>
          </p:cNvPr>
          <p:cNvSpPr>
            <a:spLocks xmlns:a="http://schemas.openxmlformats.org/drawingml/2006/main" noGrp="1"/>
          </p:cNvSpPr>
          <p:nvPr/>
        </p:nvSpPr>
        <p:spPr>
          <a:xfrm xmlns:a="http://schemas.openxmlformats.org/drawingml/2006/main">
            <a:off x="622300" y="454977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reading space available?</a:t>
            </a:r>
          </a:p>
        </p:txBody>
      </p:sp>
      <p:sp>
        <p:nvSpPr>
          <p:cNvPr id="82" name="Editable paragraph">
            <a:extLst xmlns:a="http://schemas.openxmlformats.org/drawingml/2006/main">
              <a:ext uri="{FF2B5EF4-FFF2-40B4-BE49-F238E27FC236}">
                <a16:creationId xmlns:a16="http://schemas.microsoft.com/office/drawing/2014/main" id="{9C7CCAD9-4A7D-419F-92F9-5C9FD4F87C01}"/>
              </a:ext>
            </a:extLst>
          </p:cNvPr>
          <p:cNvSpPr>
            <a:spLocks xmlns:a="http://schemas.openxmlformats.org/drawingml/2006/main" noGrp="1"/>
          </p:cNvSpPr>
          <p:nvPr/>
        </p:nvSpPr>
        <p:spPr>
          <a:xfrm xmlns:a="http://schemas.openxmlformats.org/drawingml/2006/main">
            <a:off x="4889500" y="454723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4</a:t>
            </a:r>
          </a:p>
        </p:txBody>
      </p:sp>
      <p:sp>
        <p:nvSpPr>
          <p:cNvPr id="83" name="">
            <a:extLst xmlns:a="http://schemas.openxmlformats.org/drawingml/2006/main">
              <a:ext uri="{FF2B5EF4-FFF2-40B4-BE49-F238E27FC236}">
                <a16:creationId xmlns:a16="http://schemas.microsoft.com/office/drawing/2014/main" id="{CA723B4D-C135-4081-B883-0D049DFAA8B3}"/>
              </a:ext>
            </a:extLst>
          </p:cNvPr>
          <p:cNvSpPr>
            <a:spLocks xmlns:a="http://schemas.openxmlformats.org/drawingml/2006/main" noGrp="1"/>
          </p:cNvSpPr>
          <p:nvPr/>
        </p:nvSpPr>
        <p:spPr>
          <a:xfrm xmlns:a="http://schemas.openxmlformats.org/drawingml/2006/main">
            <a:off x="304800" y="468630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84" name="Editable paragraph">
            <a:extLst xmlns:a="http://schemas.openxmlformats.org/drawingml/2006/main">
              <a:ext uri="{FF2B5EF4-FFF2-40B4-BE49-F238E27FC236}">
                <a16:creationId xmlns:a16="http://schemas.microsoft.com/office/drawing/2014/main" id="{2AA0737B-E4EA-4335-8A51-48E453A96416}"/>
              </a:ext>
            </a:extLst>
          </p:cNvPr>
          <p:cNvSpPr>
            <a:spLocks xmlns:a="http://schemas.openxmlformats.org/drawingml/2006/main" noGrp="1"/>
          </p:cNvSpPr>
          <p:nvPr/>
        </p:nvSpPr>
        <p:spPr>
          <a:xfrm xmlns:a="http://schemas.openxmlformats.org/drawingml/2006/main">
            <a:off x="368300" y="470535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21</a:t>
            </a:r>
          </a:p>
        </p:txBody>
      </p:sp>
      <p:sp>
        <p:nvSpPr>
          <p:cNvPr id="85" name="Editable paragraph">
            <a:extLst xmlns:a="http://schemas.openxmlformats.org/drawingml/2006/main">
              <a:ext uri="{FF2B5EF4-FFF2-40B4-BE49-F238E27FC236}">
                <a16:creationId xmlns:a16="http://schemas.microsoft.com/office/drawing/2014/main" id="{9BE88466-40C6-4D4C-92C4-8C820554D5E3}"/>
              </a:ext>
            </a:extLst>
          </p:cNvPr>
          <p:cNvSpPr>
            <a:spLocks xmlns:a="http://schemas.openxmlformats.org/drawingml/2006/main" noGrp="1"/>
          </p:cNvSpPr>
          <p:nvPr/>
        </p:nvSpPr>
        <p:spPr>
          <a:xfrm xmlns:a="http://schemas.openxmlformats.org/drawingml/2006/main">
            <a:off x="622300" y="470408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there a place to be alone?</a:t>
            </a:r>
          </a:p>
        </p:txBody>
      </p:sp>
      <p:sp>
        <p:nvSpPr>
          <p:cNvPr id="86" name="Editable paragraph">
            <a:extLst xmlns:a="http://schemas.openxmlformats.org/drawingml/2006/main">
              <a:ext uri="{FF2B5EF4-FFF2-40B4-BE49-F238E27FC236}">
                <a16:creationId xmlns:a16="http://schemas.microsoft.com/office/drawing/2014/main" id="{6F3F454D-2254-463F-93F2-1B1CED579228}"/>
              </a:ext>
            </a:extLst>
          </p:cNvPr>
          <p:cNvSpPr>
            <a:spLocks xmlns:a="http://schemas.openxmlformats.org/drawingml/2006/main" noGrp="1"/>
          </p:cNvSpPr>
          <p:nvPr/>
        </p:nvSpPr>
        <p:spPr>
          <a:xfrm xmlns:a="http://schemas.openxmlformats.org/drawingml/2006/main">
            <a:off x="4889500" y="470154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4</a:t>
            </a:r>
          </a:p>
        </p:txBody>
      </p:sp>
      <p:sp>
        <p:nvSpPr>
          <p:cNvPr id="87" name="Editable paragraph">
            <a:extLst xmlns:a="http://schemas.openxmlformats.org/drawingml/2006/main">
              <a:ext uri="{FF2B5EF4-FFF2-40B4-BE49-F238E27FC236}">
                <a16:creationId xmlns:a16="http://schemas.microsoft.com/office/drawing/2014/main" id="{C8F9C593-27D3-4448-BA17-615F37097E09}"/>
              </a:ext>
            </a:extLst>
          </p:cNvPr>
          <p:cNvSpPr>
            <a:spLocks xmlns:a="http://schemas.openxmlformats.org/drawingml/2006/main" noGrp="1"/>
          </p:cNvSpPr>
          <p:nvPr/>
        </p:nvSpPr>
        <p:spPr>
          <a:xfrm xmlns:a="http://schemas.openxmlformats.org/drawingml/2006/main">
            <a:off x="368300" y="485965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22</a:t>
            </a:r>
          </a:p>
        </p:txBody>
      </p:sp>
      <p:sp>
        <p:nvSpPr>
          <p:cNvPr id="88" name="Editable paragraph">
            <a:extLst xmlns:a="http://schemas.openxmlformats.org/drawingml/2006/main">
              <a:ext uri="{FF2B5EF4-FFF2-40B4-BE49-F238E27FC236}">
                <a16:creationId xmlns:a16="http://schemas.microsoft.com/office/drawing/2014/main" id="{C5D9FB07-C262-4E12-9187-3E6BCAAEA8F8}"/>
              </a:ext>
            </a:extLst>
          </p:cNvPr>
          <p:cNvSpPr>
            <a:spLocks xmlns:a="http://schemas.openxmlformats.org/drawingml/2006/main" noGrp="1"/>
          </p:cNvSpPr>
          <p:nvPr/>
        </p:nvSpPr>
        <p:spPr>
          <a:xfrm xmlns:a="http://schemas.openxmlformats.org/drawingml/2006/main">
            <a:off x="622300" y="485838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movable furniture available?</a:t>
            </a:r>
          </a:p>
        </p:txBody>
      </p:sp>
      <p:sp>
        <p:nvSpPr>
          <p:cNvPr id="89" name="Editable paragraph">
            <a:extLst xmlns:a="http://schemas.openxmlformats.org/drawingml/2006/main">
              <a:ext uri="{FF2B5EF4-FFF2-40B4-BE49-F238E27FC236}">
                <a16:creationId xmlns:a16="http://schemas.microsoft.com/office/drawing/2014/main" id="{14A51C0A-1F19-4717-AB94-17F16D7490A9}"/>
              </a:ext>
            </a:extLst>
          </p:cNvPr>
          <p:cNvSpPr>
            <a:spLocks xmlns:a="http://schemas.openxmlformats.org/drawingml/2006/main" noGrp="1"/>
          </p:cNvSpPr>
          <p:nvPr/>
        </p:nvSpPr>
        <p:spPr>
          <a:xfrm xmlns:a="http://schemas.openxmlformats.org/drawingml/2006/main">
            <a:off x="4889500" y="485584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90" name="">
            <a:extLst xmlns:a="http://schemas.openxmlformats.org/drawingml/2006/main">
              <a:ext uri="{FF2B5EF4-FFF2-40B4-BE49-F238E27FC236}">
                <a16:creationId xmlns:a16="http://schemas.microsoft.com/office/drawing/2014/main" id="{1CC2C9F2-B227-42EB-8FC7-87A65EF664FC}"/>
              </a:ext>
            </a:extLst>
          </p:cNvPr>
          <p:cNvSpPr>
            <a:spLocks xmlns:a="http://schemas.openxmlformats.org/drawingml/2006/main" noGrp="1"/>
          </p:cNvSpPr>
          <p:nvPr/>
        </p:nvSpPr>
        <p:spPr>
          <a:xfrm xmlns:a="http://schemas.openxmlformats.org/drawingml/2006/main">
            <a:off x="304800" y="499491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91" name="Editable paragraph">
            <a:extLst xmlns:a="http://schemas.openxmlformats.org/drawingml/2006/main">
              <a:ext uri="{FF2B5EF4-FFF2-40B4-BE49-F238E27FC236}">
                <a16:creationId xmlns:a16="http://schemas.microsoft.com/office/drawing/2014/main" id="{70E7B57A-3816-47EF-9C95-B930BE233E04}"/>
              </a:ext>
            </a:extLst>
          </p:cNvPr>
          <p:cNvSpPr>
            <a:spLocks xmlns:a="http://schemas.openxmlformats.org/drawingml/2006/main" noGrp="1"/>
          </p:cNvSpPr>
          <p:nvPr/>
        </p:nvSpPr>
        <p:spPr>
          <a:xfrm xmlns:a="http://schemas.openxmlformats.org/drawingml/2006/main">
            <a:off x="368300" y="501396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23</a:t>
            </a:r>
          </a:p>
        </p:txBody>
      </p:sp>
      <p:sp>
        <p:nvSpPr>
          <p:cNvPr id="92" name="Editable paragraph">
            <a:extLst xmlns:a="http://schemas.openxmlformats.org/drawingml/2006/main">
              <a:ext uri="{FF2B5EF4-FFF2-40B4-BE49-F238E27FC236}">
                <a16:creationId xmlns:a16="http://schemas.microsoft.com/office/drawing/2014/main" id="{CDD99A97-E0AA-496A-9632-D97E81C75E53}"/>
              </a:ext>
            </a:extLst>
          </p:cNvPr>
          <p:cNvSpPr>
            <a:spLocks xmlns:a="http://schemas.openxmlformats.org/drawingml/2006/main" noGrp="1"/>
          </p:cNvSpPr>
          <p:nvPr/>
        </p:nvSpPr>
        <p:spPr>
          <a:xfrm xmlns:a="http://schemas.openxmlformats.org/drawingml/2006/main">
            <a:off x="622300" y="501269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May children arrange or change the setting?</a:t>
            </a:r>
          </a:p>
        </p:txBody>
      </p:sp>
      <p:sp>
        <p:nvSpPr>
          <p:cNvPr id="93" name="Editable paragraph">
            <a:extLst xmlns:a="http://schemas.openxmlformats.org/drawingml/2006/main">
              <a:ext uri="{FF2B5EF4-FFF2-40B4-BE49-F238E27FC236}">
                <a16:creationId xmlns:a16="http://schemas.microsoft.com/office/drawing/2014/main" id="{190C00D8-9207-41B7-9C47-9A73946ED659}"/>
              </a:ext>
            </a:extLst>
          </p:cNvPr>
          <p:cNvSpPr>
            <a:spLocks xmlns:a="http://schemas.openxmlformats.org/drawingml/2006/main" noGrp="1"/>
          </p:cNvSpPr>
          <p:nvPr/>
        </p:nvSpPr>
        <p:spPr>
          <a:xfrm xmlns:a="http://schemas.openxmlformats.org/drawingml/2006/main">
            <a:off x="4889500" y="501015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94" name="Editable paragraph">
            <a:extLst xmlns:a="http://schemas.openxmlformats.org/drawingml/2006/main">
              <a:ext uri="{FF2B5EF4-FFF2-40B4-BE49-F238E27FC236}">
                <a16:creationId xmlns:a16="http://schemas.microsoft.com/office/drawing/2014/main" id="{97B52F2A-65D3-48DF-AEEE-338B6594545E}"/>
              </a:ext>
            </a:extLst>
          </p:cNvPr>
          <p:cNvSpPr>
            <a:spLocks xmlns:a="http://schemas.openxmlformats.org/drawingml/2006/main" noGrp="1"/>
          </p:cNvSpPr>
          <p:nvPr/>
        </p:nvSpPr>
        <p:spPr>
          <a:xfrm xmlns:a="http://schemas.openxmlformats.org/drawingml/2006/main">
            <a:off x="368300" y="516826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24</a:t>
            </a:r>
          </a:p>
        </p:txBody>
      </p:sp>
      <p:sp>
        <p:nvSpPr>
          <p:cNvPr id="95" name="Editable paragraph">
            <a:extLst xmlns:a="http://schemas.openxmlformats.org/drawingml/2006/main">
              <a:ext uri="{FF2B5EF4-FFF2-40B4-BE49-F238E27FC236}">
                <a16:creationId xmlns:a16="http://schemas.microsoft.com/office/drawing/2014/main" id="{8CCC7149-9ABF-4B45-AC88-670424DC33DE}"/>
              </a:ext>
            </a:extLst>
          </p:cNvPr>
          <p:cNvSpPr>
            <a:spLocks xmlns:a="http://schemas.openxmlformats.org/drawingml/2006/main" noGrp="1"/>
          </p:cNvSpPr>
          <p:nvPr/>
        </p:nvSpPr>
        <p:spPr>
          <a:xfrm xmlns:a="http://schemas.openxmlformats.org/drawingml/2006/main">
            <a:off x="622300" y="516699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Does the setting suit children of different ages?</a:t>
            </a:r>
          </a:p>
        </p:txBody>
      </p:sp>
      <p:sp>
        <p:nvSpPr>
          <p:cNvPr id="96" name="Editable paragraph">
            <a:extLst xmlns:a="http://schemas.openxmlformats.org/drawingml/2006/main">
              <a:ext uri="{FF2B5EF4-FFF2-40B4-BE49-F238E27FC236}">
                <a16:creationId xmlns:a16="http://schemas.microsoft.com/office/drawing/2014/main" id="{6E32944F-9CAD-43DC-A904-841EDCA18ED2}"/>
              </a:ext>
            </a:extLst>
          </p:cNvPr>
          <p:cNvSpPr>
            <a:spLocks xmlns:a="http://schemas.openxmlformats.org/drawingml/2006/main" noGrp="1"/>
          </p:cNvSpPr>
          <p:nvPr/>
        </p:nvSpPr>
        <p:spPr>
          <a:xfrm xmlns:a="http://schemas.openxmlformats.org/drawingml/2006/main">
            <a:off x="4889500" y="516445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3</a:t>
            </a:r>
          </a:p>
        </p:txBody>
      </p:sp>
      <p:sp>
        <p:nvSpPr>
          <p:cNvPr id="97" name="">
            <a:extLst xmlns:a="http://schemas.openxmlformats.org/drawingml/2006/main">
              <a:ext uri="{FF2B5EF4-FFF2-40B4-BE49-F238E27FC236}">
                <a16:creationId xmlns:a16="http://schemas.microsoft.com/office/drawing/2014/main" id="{139469D3-79C4-49E8-B61A-0C436A80A289}"/>
              </a:ext>
            </a:extLst>
          </p:cNvPr>
          <p:cNvSpPr>
            <a:spLocks xmlns:a="http://schemas.openxmlformats.org/drawingml/2006/main" noGrp="1"/>
          </p:cNvSpPr>
          <p:nvPr/>
        </p:nvSpPr>
        <p:spPr>
          <a:xfrm xmlns:a="http://schemas.openxmlformats.org/drawingml/2006/main">
            <a:off x="304800" y="530352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98" name="Editable paragraph">
            <a:extLst xmlns:a="http://schemas.openxmlformats.org/drawingml/2006/main">
              <a:ext uri="{FF2B5EF4-FFF2-40B4-BE49-F238E27FC236}">
                <a16:creationId xmlns:a16="http://schemas.microsoft.com/office/drawing/2014/main" id="{3BC4B10D-760B-4709-982E-313CDB0D326C}"/>
              </a:ext>
            </a:extLst>
          </p:cNvPr>
          <p:cNvSpPr>
            <a:spLocks xmlns:a="http://schemas.openxmlformats.org/drawingml/2006/main" noGrp="1"/>
          </p:cNvSpPr>
          <p:nvPr/>
        </p:nvSpPr>
        <p:spPr>
          <a:xfrm xmlns:a="http://schemas.openxmlformats.org/drawingml/2006/main">
            <a:off x="368300" y="532257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25</a:t>
            </a:r>
          </a:p>
        </p:txBody>
      </p:sp>
      <p:sp>
        <p:nvSpPr>
          <p:cNvPr id="99" name="Editable paragraph">
            <a:extLst xmlns:a="http://schemas.openxmlformats.org/drawingml/2006/main">
              <a:ext uri="{FF2B5EF4-FFF2-40B4-BE49-F238E27FC236}">
                <a16:creationId xmlns:a16="http://schemas.microsoft.com/office/drawing/2014/main" id="{8AA7EF68-1EB0-45E9-8C8C-9F9D9CFB8975}"/>
              </a:ext>
            </a:extLst>
          </p:cNvPr>
          <p:cNvSpPr>
            <a:spLocks xmlns:a="http://schemas.openxmlformats.org/drawingml/2006/main" noGrp="1"/>
          </p:cNvSpPr>
          <p:nvPr/>
        </p:nvSpPr>
        <p:spPr>
          <a:xfrm xmlns:a="http://schemas.openxmlformats.org/drawingml/2006/main">
            <a:off x="622300" y="532130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Can adults see the children?</a:t>
            </a:r>
          </a:p>
        </p:txBody>
      </p:sp>
      <p:sp>
        <p:nvSpPr>
          <p:cNvPr id="100" name="Editable paragraph">
            <a:extLst xmlns:a="http://schemas.openxmlformats.org/drawingml/2006/main">
              <a:ext uri="{FF2B5EF4-FFF2-40B4-BE49-F238E27FC236}">
                <a16:creationId xmlns:a16="http://schemas.microsoft.com/office/drawing/2014/main" id="{ACAF5F38-A09B-4100-81F2-866841CBE389}"/>
              </a:ext>
            </a:extLst>
          </p:cNvPr>
          <p:cNvSpPr>
            <a:spLocks xmlns:a="http://schemas.openxmlformats.org/drawingml/2006/main" noGrp="1"/>
          </p:cNvSpPr>
          <p:nvPr/>
        </p:nvSpPr>
        <p:spPr>
          <a:xfrm xmlns:a="http://schemas.openxmlformats.org/drawingml/2006/main">
            <a:off x="4889500" y="531876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101" name="Editable paragraph">
            <a:extLst xmlns:a="http://schemas.openxmlformats.org/drawingml/2006/main">
              <a:ext uri="{FF2B5EF4-FFF2-40B4-BE49-F238E27FC236}">
                <a16:creationId xmlns:a16="http://schemas.microsoft.com/office/drawing/2014/main" id="{1ED82F3F-DAE9-466C-BDE0-538410D144A0}"/>
              </a:ext>
            </a:extLst>
          </p:cNvPr>
          <p:cNvSpPr>
            <a:spLocks xmlns:a="http://schemas.openxmlformats.org/drawingml/2006/main" noGrp="1"/>
          </p:cNvSpPr>
          <p:nvPr/>
        </p:nvSpPr>
        <p:spPr>
          <a:xfrm xmlns:a="http://schemas.openxmlformats.org/drawingml/2006/main">
            <a:off x="368300" y="547687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26</a:t>
            </a:r>
          </a:p>
        </p:txBody>
      </p:sp>
      <p:sp>
        <p:nvSpPr>
          <p:cNvPr id="102" name="Editable paragraph">
            <a:extLst xmlns:a="http://schemas.openxmlformats.org/drawingml/2006/main">
              <a:ext uri="{FF2B5EF4-FFF2-40B4-BE49-F238E27FC236}">
                <a16:creationId xmlns:a16="http://schemas.microsoft.com/office/drawing/2014/main" id="{1B2BB34A-B3C9-443B-8C77-9094FA90D2C8}"/>
              </a:ext>
            </a:extLst>
          </p:cNvPr>
          <p:cNvSpPr>
            <a:spLocks xmlns:a="http://schemas.openxmlformats.org/drawingml/2006/main" noGrp="1"/>
          </p:cNvSpPr>
          <p:nvPr/>
        </p:nvSpPr>
        <p:spPr>
          <a:xfrm xmlns:a="http://schemas.openxmlformats.org/drawingml/2006/main">
            <a:off x="622300" y="547560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Can children quickly find adults?</a:t>
            </a:r>
          </a:p>
        </p:txBody>
      </p:sp>
      <p:sp>
        <p:nvSpPr>
          <p:cNvPr id="103" name="Editable paragraph">
            <a:extLst xmlns:a="http://schemas.openxmlformats.org/drawingml/2006/main">
              <a:ext uri="{FF2B5EF4-FFF2-40B4-BE49-F238E27FC236}">
                <a16:creationId xmlns:a16="http://schemas.microsoft.com/office/drawing/2014/main" id="{8F948D75-E8D1-4641-AF80-3AC7F876B22E}"/>
              </a:ext>
            </a:extLst>
          </p:cNvPr>
          <p:cNvSpPr>
            <a:spLocks xmlns:a="http://schemas.openxmlformats.org/drawingml/2006/main" noGrp="1"/>
          </p:cNvSpPr>
          <p:nvPr/>
        </p:nvSpPr>
        <p:spPr>
          <a:xfrm xmlns:a="http://schemas.openxmlformats.org/drawingml/2006/main">
            <a:off x="4889500" y="547306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104" name="">
            <a:extLst xmlns:a="http://schemas.openxmlformats.org/drawingml/2006/main">
              <a:ext uri="{FF2B5EF4-FFF2-40B4-BE49-F238E27FC236}">
                <a16:creationId xmlns:a16="http://schemas.microsoft.com/office/drawing/2014/main" id="{33D3CE51-AD23-46C2-B75C-BEF25C236348}"/>
              </a:ext>
            </a:extLst>
          </p:cNvPr>
          <p:cNvSpPr>
            <a:spLocks xmlns:a="http://schemas.openxmlformats.org/drawingml/2006/main" noGrp="1"/>
          </p:cNvSpPr>
          <p:nvPr/>
        </p:nvSpPr>
        <p:spPr>
          <a:xfrm xmlns:a="http://schemas.openxmlformats.org/drawingml/2006/main">
            <a:off x="304800" y="561213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05" name="Editable paragraph">
            <a:extLst xmlns:a="http://schemas.openxmlformats.org/drawingml/2006/main">
              <a:ext uri="{FF2B5EF4-FFF2-40B4-BE49-F238E27FC236}">
                <a16:creationId xmlns:a16="http://schemas.microsoft.com/office/drawing/2014/main" id="{087FC472-A53C-436F-8147-F816F47C8449}"/>
              </a:ext>
            </a:extLst>
          </p:cNvPr>
          <p:cNvSpPr>
            <a:spLocks xmlns:a="http://schemas.openxmlformats.org/drawingml/2006/main" noGrp="1"/>
          </p:cNvSpPr>
          <p:nvPr/>
        </p:nvSpPr>
        <p:spPr>
          <a:xfrm xmlns:a="http://schemas.openxmlformats.org/drawingml/2006/main">
            <a:off x="368300" y="563118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27</a:t>
            </a:r>
          </a:p>
        </p:txBody>
      </p:sp>
      <p:sp>
        <p:nvSpPr>
          <p:cNvPr id="106" name="Editable paragraph">
            <a:extLst xmlns:a="http://schemas.openxmlformats.org/drawingml/2006/main">
              <a:ext uri="{FF2B5EF4-FFF2-40B4-BE49-F238E27FC236}">
                <a16:creationId xmlns:a16="http://schemas.microsoft.com/office/drawing/2014/main" id="{CA549078-13CF-4B9F-89BA-271091E46122}"/>
              </a:ext>
            </a:extLst>
          </p:cNvPr>
          <p:cNvSpPr>
            <a:spLocks xmlns:a="http://schemas.openxmlformats.org/drawingml/2006/main" noGrp="1"/>
          </p:cNvSpPr>
          <p:nvPr/>
        </p:nvSpPr>
        <p:spPr>
          <a:xfrm xmlns:a="http://schemas.openxmlformats.org/drawingml/2006/main">
            <a:off x="622300" y="562991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there waiting space?</a:t>
            </a:r>
          </a:p>
        </p:txBody>
      </p:sp>
      <p:sp>
        <p:nvSpPr>
          <p:cNvPr id="107" name="Editable paragraph">
            <a:extLst xmlns:a="http://schemas.openxmlformats.org/drawingml/2006/main">
              <a:ext uri="{FF2B5EF4-FFF2-40B4-BE49-F238E27FC236}">
                <a16:creationId xmlns:a16="http://schemas.microsoft.com/office/drawing/2014/main" id="{1BB4DCF6-9486-4A1E-84D0-A4542CD5DF79}"/>
              </a:ext>
            </a:extLst>
          </p:cNvPr>
          <p:cNvSpPr>
            <a:spLocks xmlns:a="http://schemas.openxmlformats.org/drawingml/2006/main" noGrp="1"/>
          </p:cNvSpPr>
          <p:nvPr/>
        </p:nvSpPr>
        <p:spPr>
          <a:xfrm xmlns:a="http://schemas.openxmlformats.org/drawingml/2006/main">
            <a:off x="4889500" y="562737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108" name="Editable paragraph">
            <a:extLst xmlns:a="http://schemas.openxmlformats.org/drawingml/2006/main">
              <a:ext uri="{FF2B5EF4-FFF2-40B4-BE49-F238E27FC236}">
                <a16:creationId xmlns:a16="http://schemas.microsoft.com/office/drawing/2014/main" id="{ED776BA4-7A13-4791-88CD-8665DE1A0F80}"/>
              </a:ext>
            </a:extLst>
          </p:cNvPr>
          <p:cNvSpPr>
            <a:spLocks xmlns:a="http://schemas.openxmlformats.org/drawingml/2006/main" noGrp="1"/>
          </p:cNvSpPr>
          <p:nvPr/>
        </p:nvSpPr>
        <p:spPr>
          <a:xfrm xmlns:a="http://schemas.openxmlformats.org/drawingml/2006/main">
            <a:off x="368300" y="578548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28</a:t>
            </a:r>
          </a:p>
        </p:txBody>
      </p:sp>
      <p:sp>
        <p:nvSpPr>
          <p:cNvPr id="109" name="Editable paragraph">
            <a:extLst xmlns:a="http://schemas.openxmlformats.org/drawingml/2006/main">
              <a:ext uri="{FF2B5EF4-FFF2-40B4-BE49-F238E27FC236}">
                <a16:creationId xmlns:a16="http://schemas.microsoft.com/office/drawing/2014/main" id="{14CCE128-7BA0-4A4C-9D11-C58EC58A4E0D}"/>
              </a:ext>
            </a:extLst>
          </p:cNvPr>
          <p:cNvSpPr>
            <a:spLocks xmlns:a="http://schemas.openxmlformats.org/drawingml/2006/main" noGrp="1"/>
          </p:cNvSpPr>
          <p:nvPr/>
        </p:nvSpPr>
        <p:spPr>
          <a:xfrm xmlns:a="http://schemas.openxmlformats.org/drawingml/2006/main">
            <a:off x="622300" y="578421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there space for counseling or private conversation?</a:t>
            </a:r>
          </a:p>
        </p:txBody>
      </p:sp>
      <p:sp>
        <p:nvSpPr>
          <p:cNvPr id="110" name="Editable paragraph">
            <a:extLst xmlns:a="http://schemas.openxmlformats.org/drawingml/2006/main">
              <a:ext uri="{FF2B5EF4-FFF2-40B4-BE49-F238E27FC236}">
                <a16:creationId xmlns:a16="http://schemas.microsoft.com/office/drawing/2014/main" id="{883CA136-9B38-4E98-BBDC-B116C90F096E}"/>
              </a:ext>
            </a:extLst>
          </p:cNvPr>
          <p:cNvSpPr>
            <a:spLocks xmlns:a="http://schemas.openxmlformats.org/drawingml/2006/main" noGrp="1"/>
          </p:cNvSpPr>
          <p:nvPr/>
        </p:nvSpPr>
        <p:spPr>
          <a:xfrm xmlns:a="http://schemas.openxmlformats.org/drawingml/2006/main">
            <a:off x="4889500" y="578167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111" name="">
            <a:extLst xmlns:a="http://schemas.openxmlformats.org/drawingml/2006/main">
              <a:ext uri="{FF2B5EF4-FFF2-40B4-BE49-F238E27FC236}">
                <a16:creationId xmlns:a16="http://schemas.microsoft.com/office/drawing/2014/main" id="{2BE539DD-213B-4DFB-A57F-B033F58CAC77}"/>
              </a:ext>
            </a:extLst>
          </p:cNvPr>
          <p:cNvSpPr>
            <a:spLocks xmlns:a="http://schemas.openxmlformats.org/drawingml/2006/main" noGrp="1"/>
          </p:cNvSpPr>
          <p:nvPr/>
        </p:nvSpPr>
        <p:spPr>
          <a:xfrm xmlns:a="http://schemas.openxmlformats.org/drawingml/2006/main">
            <a:off x="304800" y="592074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12" name="Editable paragraph">
            <a:extLst xmlns:a="http://schemas.openxmlformats.org/drawingml/2006/main">
              <a:ext uri="{FF2B5EF4-FFF2-40B4-BE49-F238E27FC236}">
                <a16:creationId xmlns:a16="http://schemas.microsoft.com/office/drawing/2014/main" id="{6C318D42-7F24-4C5C-BC8E-2177EADDE9B9}"/>
              </a:ext>
            </a:extLst>
          </p:cNvPr>
          <p:cNvSpPr>
            <a:spLocks xmlns:a="http://schemas.openxmlformats.org/drawingml/2006/main" noGrp="1"/>
          </p:cNvSpPr>
          <p:nvPr/>
        </p:nvSpPr>
        <p:spPr>
          <a:xfrm xmlns:a="http://schemas.openxmlformats.org/drawingml/2006/main">
            <a:off x="368300" y="593979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29</a:t>
            </a:r>
          </a:p>
        </p:txBody>
      </p:sp>
      <p:sp>
        <p:nvSpPr>
          <p:cNvPr id="113" name="Editable paragraph">
            <a:extLst xmlns:a="http://schemas.openxmlformats.org/drawingml/2006/main">
              <a:ext uri="{FF2B5EF4-FFF2-40B4-BE49-F238E27FC236}">
                <a16:creationId xmlns:a16="http://schemas.microsoft.com/office/drawing/2014/main" id="{200AA850-5039-4263-9CFF-C85BFBEB6946}"/>
              </a:ext>
            </a:extLst>
          </p:cNvPr>
          <p:cNvSpPr>
            <a:spLocks xmlns:a="http://schemas.openxmlformats.org/drawingml/2006/main" noGrp="1"/>
          </p:cNvSpPr>
          <p:nvPr/>
        </p:nvSpPr>
        <p:spPr>
          <a:xfrm xmlns:a="http://schemas.openxmlformats.org/drawingml/2006/main">
            <a:off x="622300" y="593852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medical / temporary-rest space available?</a:t>
            </a:r>
          </a:p>
        </p:txBody>
      </p:sp>
      <p:sp>
        <p:nvSpPr>
          <p:cNvPr id="114" name="Editable paragraph">
            <a:extLst xmlns:a="http://schemas.openxmlformats.org/drawingml/2006/main">
              <a:ext uri="{FF2B5EF4-FFF2-40B4-BE49-F238E27FC236}">
                <a16:creationId xmlns:a16="http://schemas.microsoft.com/office/drawing/2014/main" id="{E8CF86CC-FD13-4D83-804F-F85B0537949C}"/>
              </a:ext>
            </a:extLst>
          </p:cNvPr>
          <p:cNvSpPr>
            <a:spLocks xmlns:a="http://schemas.openxmlformats.org/drawingml/2006/main" noGrp="1"/>
          </p:cNvSpPr>
          <p:nvPr/>
        </p:nvSpPr>
        <p:spPr>
          <a:xfrm xmlns:a="http://schemas.openxmlformats.org/drawingml/2006/main">
            <a:off x="4889500" y="593598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3</a:t>
            </a:r>
          </a:p>
        </p:txBody>
      </p:sp>
      <p:sp>
        <p:nvSpPr>
          <p:cNvPr id="115" name="Editable paragraph">
            <a:extLst xmlns:a="http://schemas.openxmlformats.org/drawingml/2006/main">
              <a:ext uri="{FF2B5EF4-FFF2-40B4-BE49-F238E27FC236}">
                <a16:creationId xmlns:a16="http://schemas.microsoft.com/office/drawing/2014/main" id="{39C53555-9B2C-4670-9095-991AE7F77EFE}"/>
              </a:ext>
            </a:extLst>
          </p:cNvPr>
          <p:cNvSpPr>
            <a:spLocks xmlns:a="http://schemas.openxmlformats.org/drawingml/2006/main" noGrp="1"/>
          </p:cNvSpPr>
          <p:nvPr/>
        </p:nvSpPr>
        <p:spPr>
          <a:xfrm xmlns:a="http://schemas.openxmlformats.org/drawingml/2006/main">
            <a:off x="368300" y="609409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30</a:t>
            </a:r>
          </a:p>
        </p:txBody>
      </p:sp>
      <p:sp>
        <p:nvSpPr>
          <p:cNvPr id="116" name="Editable paragraph">
            <a:extLst xmlns:a="http://schemas.openxmlformats.org/drawingml/2006/main">
              <a:ext uri="{FF2B5EF4-FFF2-40B4-BE49-F238E27FC236}">
                <a16:creationId xmlns:a16="http://schemas.microsoft.com/office/drawing/2014/main" id="{8B1B5864-DE6C-4306-AD88-CD32FC54E993}"/>
              </a:ext>
            </a:extLst>
          </p:cNvPr>
          <p:cNvSpPr>
            <a:spLocks xmlns:a="http://schemas.openxmlformats.org/drawingml/2006/main" noGrp="1"/>
          </p:cNvSpPr>
          <p:nvPr/>
        </p:nvSpPr>
        <p:spPr>
          <a:xfrm xmlns:a="http://schemas.openxmlformats.org/drawingml/2006/main">
            <a:off x="622300" y="609282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Are there blind spots in care coverage?</a:t>
            </a:r>
          </a:p>
        </p:txBody>
      </p:sp>
      <p:sp>
        <p:nvSpPr>
          <p:cNvPr id="117" name="Editable paragraph">
            <a:extLst xmlns:a="http://schemas.openxmlformats.org/drawingml/2006/main">
              <a:ext uri="{FF2B5EF4-FFF2-40B4-BE49-F238E27FC236}">
                <a16:creationId xmlns:a16="http://schemas.microsoft.com/office/drawing/2014/main" id="{6DD18544-7455-4A89-A648-D34D27A50E02}"/>
              </a:ext>
            </a:extLst>
          </p:cNvPr>
          <p:cNvSpPr>
            <a:spLocks xmlns:a="http://schemas.openxmlformats.org/drawingml/2006/main" noGrp="1"/>
          </p:cNvSpPr>
          <p:nvPr/>
        </p:nvSpPr>
        <p:spPr>
          <a:xfrm xmlns:a="http://schemas.openxmlformats.org/drawingml/2006/main">
            <a:off x="4889500" y="609028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4</a:t>
            </a:r>
          </a:p>
        </p:txBody>
      </p:sp>
      <p:sp>
        <p:nvSpPr>
          <p:cNvPr id="118" name="">
            <a:extLst xmlns:a="http://schemas.openxmlformats.org/drawingml/2006/main">
              <a:ext uri="{FF2B5EF4-FFF2-40B4-BE49-F238E27FC236}">
                <a16:creationId xmlns:a16="http://schemas.microsoft.com/office/drawing/2014/main" id="{530E142A-483A-46C9-AAD4-994A4433BF7A}"/>
              </a:ext>
            </a:extLst>
          </p:cNvPr>
          <p:cNvSpPr>
            <a:spLocks xmlns:a="http://schemas.openxmlformats.org/drawingml/2006/main" noGrp="1"/>
          </p:cNvSpPr>
          <p:nvPr/>
        </p:nvSpPr>
        <p:spPr>
          <a:xfrm xmlns:a="http://schemas.openxmlformats.org/drawingml/2006/main">
            <a:off x="304800" y="622935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19" name="Editable paragraph">
            <a:extLst xmlns:a="http://schemas.openxmlformats.org/drawingml/2006/main">
              <a:ext uri="{FF2B5EF4-FFF2-40B4-BE49-F238E27FC236}">
                <a16:creationId xmlns:a16="http://schemas.microsoft.com/office/drawing/2014/main" id="{FACC88B0-5BF8-4986-B3BE-840F1E9C695C}"/>
              </a:ext>
            </a:extLst>
          </p:cNvPr>
          <p:cNvSpPr>
            <a:spLocks xmlns:a="http://schemas.openxmlformats.org/drawingml/2006/main" noGrp="1"/>
          </p:cNvSpPr>
          <p:nvPr/>
        </p:nvSpPr>
        <p:spPr>
          <a:xfrm xmlns:a="http://schemas.openxmlformats.org/drawingml/2006/main">
            <a:off x="368300" y="624840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31</a:t>
            </a:r>
          </a:p>
        </p:txBody>
      </p:sp>
      <p:sp>
        <p:nvSpPr>
          <p:cNvPr id="120" name="Editable paragraph">
            <a:extLst xmlns:a="http://schemas.openxmlformats.org/drawingml/2006/main">
              <a:ext uri="{FF2B5EF4-FFF2-40B4-BE49-F238E27FC236}">
                <a16:creationId xmlns:a16="http://schemas.microsoft.com/office/drawing/2014/main" id="{6910BF07-1DC8-4E72-A958-B3FB4A51B310}"/>
              </a:ext>
            </a:extLst>
          </p:cNvPr>
          <p:cNvSpPr>
            <a:spLocks xmlns:a="http://schemas.openxmlformats.org/drawingml/2006/main" noGrp="1"/>
          </p:cNvSpPr>
          <p:nvPr/>
        </p:nvSpPr>
        <p:spPr>
          <a:xfrm xmlns:a="http://schemas.openxmlformats.org/drawingml/2006/main">
            <a:off x="622300" y="624713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school–family communication supported?</a:t>
            </a:r>
          </a:p>
        </p:txBody>
      </p:sp>
      <p:sp>
        <p:nvSpPr>
          <p:cNvPr id="121" name="Editable paragraph">
            <a:extLst xmlns:a="http://schemas.openxmlformats.org/drawingml/2006/main">
              <a:ext uri="{FF2B5EF4-FFF2-40B4-BE49-F238E27FC236}">
                <a16:creationId xmlns:a16="http://schemas.microsoft.com/office/drawing/2014/main" id="{DDE13962-CBBA-4A96-A40C-30B2B0AC52FB}"/>
              </a:ext>
            </a:extLst>
          </p:cNvPr>
          <p:cNvSpPr>
            <a:spLocks xmlns:a="http://schemas.openxmlformats.org/drawingml/2006/main" noGrp="1"/>
          </p:cNvSpPr>
          <p:nvPr/>
        </p:nvSpPr>
        <p:spPr>
          <a:xfrm xmlns:a="http://schemas.openxmlformats.org/drawingml/2006/main">
            <a:off x="4889500" y="624459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122" name="Editable paragraph">
            <a:extLst xmlns:a="http://schemas.openxmlformats.org/drawingml/2006/main">
              <a:ext uri="{FF2B5EF4-FFF2-40B4-BE49-F238E27FC236}">
                <a16:creationId xmlns:a16="http://schemas.microsoft.com/office/drawing/2014/main" id="{9D616201-1187-474D-85FD-CB883639AEC2}"/>
              </a:ext>
            </a:extLst>
          </p:cNvPr>
          <p:cNvSpPr>
            <a:spLocks xmlns:a="http://schemas.openxmlformats.org/drawingml/2006/main" noGrp="1"/>
          </p:cNvSpPr>
          <p:nvPr/>
        </p:nvSpPr>
        <p:spPr>
          <a:xfrm xmlns:a="http://schemas.openxmlformats.org/drawingml/2006/main">
            <a:off x="368300" y="640270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32</a:t>
            </a:r>
          </a:p>
        </p:txBody>
      </p:sp>
      <p:sp>
        <p:nvSpPr>
          <p:cNvPr id="123" name="Editable paragraph">
            <a:extLst xmlns:a="http://schemas.openxmlformats.org/drawingml/2006/main">
              <a:ext uri="{FF2B5EF4-FFF2-40B4-BE49-F238E27FC236}">
                <a16:creationId xmlns:a16="http://schemas.microsoft.com/office/drawing/2014/main" id="{74CBB3EB-6106-4E3E-BEB5-B8D4C9F1B3F8}"/>
              </a:ext>
            </a:extLst>
          </p:cNvPr>
          <p:cNvSpPr>
            <a:spLocks xmlns:a="http://schemas.openxmlformats.org/drawingml/2006/main" noGrp="1"/>
          </p:cNvSpPr>
          <p:nvPr/>
        </p:nvSpPr>
        <p:spPr>
          <a:xfrm xmlns:a="http://schemas.openxmlformats.org/drawingml/2006/main">
            <a:off x="622300" y="640143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space shared with the community?</a:t>
            </a:r>
          </a:p>
        </p:txBody>
      </p:sp>
      <p:sp>
        <p:nvSpPr>
          <p:cNvPr id="124" name="Editable paragraph">
            <a:extLst xmlns:a="http://schemas.openxmlformats.org/drawingml/2006/main">
              <a:ext uri="{FF2B5EF4-FFF2-40B4-BE49-F238E27FC236}">
                <a16:creationId xmlns:a16="http://schemas.microsoft.com/office/drawing/2014/main" id="{0ACD13C8-8907-41C3-B36B-BBC6F089847B}"/>
              </a:ext>
            </a:extLst>
          </p:cNvPr>
          <p:cNvSpPr>
            <a:spLocks xmlns:a="http://schemas.openxmlformats.org/drawingml/2006/main" noGrp="1"/>
          </p:cNvSpPr>
          <p:nvPr/>
        </p:nvSpPr>
        <p:spPr>
          <a:xfrm xmlns:a="http://schemas.openxmlformats.org/drawingml/2006/main">
            <a:off x="4889500" y="639889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125" name="">
            <a:extLst xmlns:a="http://schemas.openxmlformats.org/drawingml/2006/main">
              <a:ext uri="{FF2B5EF4-FFF2-40B4-BE49-F238E27FC236}">
                <a16:creationId xmlns:a16="http://schemas.microsoft.com/office/drawing/2014/main" id="{A9675D7A-B51A-4803-AFB1-1F6EC4A10861}"/>
              </a:ext>
            </a:extLst>
          </p:cNvPr>
          <p:cNvSpPr>
            <a:spLocks xmlns:a="http://schemas.openxmlformats.org/drawingml/2006/main" noGrp="1"/>
          </p:cNvSpPr>
          <p:nvPr/>
        </p:nvSpPr>
        <p:spPr>
          <a:xfrm xmlns:a="http://schemas.openxmlformats.org/drawingml/2006/main">
            <a:off x="304800" y="653796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26" name="Editable paragraph">
            <a:extLst xmlns:a="http://schemas.openxmlformats.org/drawingml/2006/main">
              <a:ext uri="{FF2B5EF4-FFF2-40B4-BE49-F238E27FC236}">
                <a16:creationId xmlns:a16="http://schemas.microsoft.com/office/drawing/2014/main" id="{BA76D260-8EB3-4C7A-95E3-F067DBE68807}"/>
              </a:ext>
            </a:extLst>
          </p:cNvPr>
          <p:cNvSpPr>
            <a:spLocks xmlns:a="http://schemas.openxmlformats.org/drawingml/2006/main" noGrp="1"/>
          </p:cNvSpPr>
          <p:nvPr/>
        </p:nvSpPr>
        <p:spPr>
          <a:xfrm xmlns:a="http://schemas.openxmlformats.org/drawingml/2006/main">
            <a:off x="368300" y="655701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33</a:t>
            </a:r>
          </a:p>
        </p:txBody>
      </p:sp>
      <p:sp>
        <p:nvSpPr>
          <p:cNvPr id="127" name="Editable paragraph">
            <a:extLst xmlns:a="http://schemas.openxmlformats.org/drawingml/2006/main">
              <a:ext uri="{FF2B5EF4-FFF2-40B4-BE49-F238E27FC236}">
                <a16:creationId xmlns:a16="http://schemas.microsoft.com/office/drawing/2014/main" id="{77C1D6E6-E27F-4907-9EA7-5F50E8159669}"/>
              </a:ext>
            </a:extLst>
          </p:cNvPr>
          <p:cNvSpPr>
            <a:spLocks xmlns:a="http://schemas.openxmlformats.org/drawingml/2006/main" noGrp="1"/>
          </p:cNvSpPr>
          <p:nvPr/>
        </p:nvSpPr>
        <p:spPr>
          <a:xfrm xmlns:a="http://schemas.openxmlformats.org/drawingml/2006/main">
            <a:off x="622300" y="655574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Can external service staff enter easily?</a:t>
            </a:r>
          </a:p>
        </p:txBody>
      </p:sp>
      <p:sp>
        <p:nvSpPr>
          <p:cNvPr id="128" name="Editable paragraph">
            <a:extLst xmlns:a="http://schemas.openxmlformats.org/drawingml/2006/main">
              <a:ext uri="{FF2B5EF4-FFF2-40B4-BE49-F238E27FC236}">
                <a16:creationId xmlns:a16="http://schemas.microsoft.com/office/drawing/2014/main" id="{ECA4446B-4345-4659-AB11-4B56AC408479}"/>
              </a:ext>
            </a:extLst>
          </p:cNvPr>
          <p:cNvSpPr>
            <a:spLocks xmlns:a="http://schemas.openxmlformats.org/drawingml/2006/main" noGrp="1"/>
          </p:cNvSpPr>
          <p:nvPr/>
        </p:nvSpPr>
        <p:spPr>
          <a:xfrm xmlns:a="http://schemas.openxmlformats.org/drawingml/2006/main">
            <a:off x="4889500" y="655320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3</a:t>
            </a:r>
          </a:p>
        </p:txBody>
      </p:sp>
      <p:sp>
        <p:nvSpPr>
          <p:cNvPr id="129" name="Editable paragraph">
            <a:extLst xmlns:a="http://schemas.openxmlformats.org/drawingml/2006/main">
              <a:ext uri="{FF2B5EF4-FFF2-40B4-BE49-F238E27FC236}">
                <a16:creationId xmlns:a16="http://schemas.microsoft.com/office/drawing/2014/main" id="{84528AFD-FD89-448B-AFD2-0A8A1E789403}"/>
              </a:ext>
            </a:extLst>
          </p:cNvPr>
          <p:cNvSpPr>
            <a:spLocks xmlns:a="http://schemas.openxmlformats.org/drawingml/2006/main" noGrp="1"/>
          </p:cNvSpPr>
          <p:nvPr/>
        </p:nvSpPr>
        <p:spPr>
          <a:xfrm xmlns:a="http://schemas.openxmlformats.org/drawingml/2006/main">
            <a:off x="368300" y="6711315"/>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34</a:t>
            </a:r>
          </a:p>
        </p:txBody>
      </p:sp>
      <p:sp>
        <p:nvSpPr>
          <p:cNvPr id="130" name="Editable paragraph">
            <a:extLst xmlns:a="http://schemas.openxmlformats.org/drawingml/2006/main">
              <a:ext uri="{FF2B5EF4-FFF2-40B4-BE49-F238E27FC236}">
                <a16:creationId xmlns:a16="http://schemas.microsoft.com/office/drawing/2014/main" id="{FFB401DB-CCDD-4675-B229-356B368307F0}"/>
              </a:ext>
            </a:extLst>
          </p:cNvPr>
          <p:cNvSpPr>
            <a:spLocks xmlns:a="http://schemas.openxmlformats.org/drawingml/2006/main" noGrp="1"/>
          </p:cNvSpPr>
          <p:nvPr/>
        </p:nvSpPr>
        <p:spPr>
          <a:xfrm xmlns:a="http://schemas.openxmlformats.org/drawingml/2006/main">
            <a:off x="622300" y="6710045"/>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Is there space for visiting community or charity services?</a:t>
            </a:r>
          </a:p>
        </p:txBody>
      </p:sp>
      <p:sp>
        <p:nvSpPr>
          <p:cNvPr id="131" name="Editable paragraph">
            <a:extLst xmlns:a="http://schemas.openxmlformats.org/drawingml/2006/main">
              <a:ext uri="{FF2B5EF4-FFF2-40B4-BE49-F238E27FC236}">
                <a16:creationId xmlns:a16="http://schemas.microsoft.com/office/drawing/2014/main" id="{A65F0E88-8F06-4AFE-B73C-7C20D3AFDE15}"/>
              </a:ext>
            </a:extLst>
          </p:cNvPr>
          <p:cNvSpPr>
            <a:spLocks xmlns:a="http://schemas.openxmlformats.org/drawingml/2006/main" noGrp="1"/>
          </p:cNvSpPr>
          <p:nvPr/>
        </p:nvSpPr>
        <p:spPr>
          <a:xfrm xmlns:a="http://schemas.openxmlformats.org/drawingml/2006/main">
            <a:off x="4889500" y="6707505"/>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252D2C"/>
                </a:solidFill>
                <a:latin typeface="Arial"/>
                <a:ea typeface="Arial"/>
                <a:cs typeface="Arial"/>
              </a:defRPr>
            </a:defPPr>
          </a:lstStyle>
          <a:p xmlns:a="http://schemas.openxmlformats.org/drawingml/2006/main">
            <a:pPr>
              <a:buNone/>
              <a:defRPr sz="810" b="1" i="0">
                <a:solidFill>
                  <a:srgbClr val="252D2C"/>
                </a:solidFill>
                <a:latin typeface="Arial"/>
                <a:ea typeface="Arial"/>
                <a:cs typeface="Arial"/>
              </a:defRPr>
              <a:lnSpc>
                <a:spcPts val="996"/>
              </a:lnSpc>
              <a:spcBef>
                <a:spcPts val="0"/>
              </a:spcBef>
              <a:spcAft>
                <a:spcPts val="0"/>
              </a:spcAft>
            </a:pPr>
            <a:r>
              <a:rPr sz="810" b="1" i="0">
                <a:solidFill>
                  <a:srgbClr val="252D2C"/>
                </a:solidFill>
                <a:latin typeface="Arial"/>
                <a:ea typeface="Arial"/>
                <a:cs typeface="Arial"/>
              </a:rPr>
              <a:t>5</a:t>
            </a:r>
          </a:p>
        </p:txBody>
      </p:sp>
      <p:sp>
        <p:nvSpPr>
          <p:cNvPr id="132" name="">
            <a:extLst xmlns:a="http://schemas.openxmlformats.org/drawingml/2006/main">
              <a:ext uri="{FF2B5EF4-FFF2-40B4-BE49-F238E27FC236}">
                <a16:creationId xmlns:a16="http://schemas.microsoft.com/office/drawing/2014/main" id="{3261F628-0745-4DCA-B9A9-EE8C7705C9FA}"/>
              </a:ext>
            </a:extLst>
          </p:cNvPr>
          <p:cNvSpPr>
            <a:spLocks xmlns:a="http://schemas.openxmlformats.org/drawingml/2006/main" noGrp="1"/>
          </p:cNvSpPr>
          <p:nvPr/>
        </p:nvSpPr>
        <p:spPr>
          <a:xfrm xmlns:a="http://schemas.openxmlformats.org/drawingml/2006/main">
            <a:off x="304800" y="6846570"/>
            <a:ext cx="4965700" cy="154305"/>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33" name="Editable paragraph">
            <a:extLst xmlns:a="http://schemas.openxmlformats.org/drawingml/2006/main">
              <a:ext uri="{FF2B5EF4-FFF2-40B4-BE49-F238E27FC236}">
                <a16:creationId xmlns:a16="http://schemas.microsoft.com/office/drawing/2014/main" id="{8E207215-BC90-4982-80A0-CDA299C7B917}"/>
              </a:ext>
            </a:extLst>
          </p:cNvPr>
          <p:cNvSpPr>
            <a:spLocks xmlns:a="http://schemas.openxmlformats.org/drawingml/2006/main" noGrp="1"/>
          </p:cNvSpPr>
          <p:nvPr/>
        </p:nvSpPr>
        <p:spPr>
          <a:xfrm xmlns:a="http://schemas.openxmlformats.org/drawingml/2006/main">
            <a:off x="368300" y="6865620"/>
            <a:ext cx="2413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1" i="0">
                <a:solidFill>
                  <a:srgbClr val="65736D"/>
                </a:solidFill>
                <a:latin typeface="Arial"/>
                <a:ea typeface="Arial"/>
                <a:cs typeface="Arial"/>
              </a:defRPr>
            </a:defPPr>
          </a:lstStyle>
          <a:p xmlns:a="http://schemas.openxmlformats.org/drawingml/2006/main">
            <a:pPr>
              <a:buNone/>
              <a:defRPr sz="750" b="1" i="0">
                <a:solidFill>
                  <a:srgbClr val="65736D"/>
                </a:solidFill>
                <a:latin typeface="Arial"/>
                <a:ea typeface="Arial"/>
                <a:cs typeface="Arial"/>
              </a:defRPr>
              <a:lnSpc>
                <a:spcPts val="922"/>
              </a:lnSpc>
              <a:spcBef>
                <a:spcPts val="0"/>
              </a:spcBef>
              <a:spcAft>
                <a:spcPts val="0"/>
              </a:spcAft>
            </a:pPr>
            <a:r>
              <a:rPr sz="750" b="1" i="0">
                <a:solidFill>
                  <a:srgbClr val="65736D"/>
                </a:solidFill>
                <a:latin typeface="Arial"/>
                <a:ea typeface="Arial"/>
                <a:cs typeface="Arial"/>
              </a:rPr>
              <a:t>35</a:t>
            </a:r>
          </a:p>
        </p:txBody>
      </p:sp>
      <p:sp>
        <p:nvSpPr>
          <p:cNvPr id="134" name="Editable paragraph">
            <a:extLst xmlns:a="http://schemas.openxmlformats.org/drawingml/2006/main">
              <a:ext uri="{FF2B5EF4-FFF2-40B4-BE49-F238E27FC236}">
                <a16:creationId xmlns:a16="http://schemas.microsoft.com/office/drawing/2014/main" id="{D54AAB56-9CCA-4DAF-8BCB-5F3881C2E4CB}"/>
              </a:ext>
            </a:extLst>
          </p:cNvPr>
          <p:cNvSpPr>
            <a:spLocks xmlns:a="http://schemas.openxmlformats.org/drawingml/2006/main" noGrp="1"/>
          </p:cNvSpPr>
          <p:nvPr/>
        </p:nvSpPr>
        <p:spPr>
          <a:xfrm xmlns:a="http://schemas.openxmlformats.org/drawingml/2006/main">
            <a:off x="622300" y="6864350"/>
            <a:ext cx="40640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10"/>
              </a:lnSpc>
              <a:spcBef>
                <a:spcPts val="0"/>
              </a:spcBef>
              <a:spcAft>
                <a:spcPts val="0"/>
              </a:spcAft>
            </a:pPr>
            <a:r>
              <a:rPr sz="780" b="0" i="0">
                <a:solidFill>
                  <a:srgbClr val="252D2C"/>
                </a:solidFill>
                <a:latin typeface="Arial"/>
                <a:ea typeface="Arial"/>
                <a:cs typeface="Arial"/>
              </a:rPr>
              <a:t>Can community members use school resources?</a:t>
            </a:r>
          </a:p>
        </p:txBody>
      </p:sp>
      <p:sp>
        <p:nvSpPr>
          <p:cNvPr id="135" name="Editable paragraph">
            <a:extLst xmlns:a="http://schemas.openxmlformats.org/drawingml/2006/main">
              <a:ext uri="{FF2B5EF4-FFF2-40B4-BE49-F238E27FC236}">
                <a16:creationId xmlns:a16="http://schemas.microsoft.com/office/drawing/2014/main" id="{A3A4C77E-7876-4588-AE8F-24331A884973}"/>
              </a:ext>
            </a:extLst>
          </p:cNvPr>
          <p:cNvSpPr>
            <a:spLocks xmlns:a="http://schemas.openxmlformats.org/drawingml/2006/main" noGrp="1"/>
          </p:cNvSpPr>
          <p:nvPr/>
        </p:nvSpPr>
        <p:spPr>
          <a:xfrm xmlns:a="http://schemas.openxmlformats.org/drawingml/2006/main">
            <a:off x="4889500" y="6861810"/>
            <a:ext cx="2794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1" i="0">
                <a:solidFill>
                  <a:srgbClr val="345A60"/>
                </a:solidFill>
                <a:latin typeface="Arial"/>
                <a:ea typeface="Arial"/>
                <a:cs typeface="Arial"/>
              </a:defRPr>
            </a:defPPr>
          </a:lstStyle>
          <a:p xmlns:a="http://schemas.openxmlformats.org/drawingml/2006/main">
            <a:pPr>
              <a:buNone/>
              <a:defRPr sz="810" b="1" i="0">
                <a:solidFill>
                  <a:srgbClr val="345A60"/>
                </a:solidFill>
                <a:latin typeface="Arial"/>
                <a:ea typeface="Arial"/>
                <a:cs typeface="Arial"/>
              </a:defRPr>
              <a:lnSpc>
                <a:spcPts val="996"/>
              </a:lnSpc>
              <a:spcBef>
                <a:spcPts val="0"/>
              </a:spcBef>
              <a:spcAft>
                <a:spcPts val="0"/>
              </a:spcAft>
            </a:pPr>
            <a:r>
              <a:rPr sz="810" b="1" i="0">
                <a:solidFill>
                  <a:srgbClr val="345A60"/>
                </a:solidFill>
                <a:latin typeface="Arial"/>
                <a:ea typeface="Arial"/>
                <a:cs typeface="Arial"/>
              </a:rPr>
              <a:t>1</a:t>
            </a:r>
          </a:p>
        </p:txBody>
      </p:sp>
      <p:sp>
        <p:nvSpPr>
          <p:cNvPr id="136" name="Editable paragraph">
            <a:extLst xmlns:a="http://schemas.openxmlformats.org/drawingml/2006/main">
              <a:ext uri="{FF2B5EF4-FFF2-40B4-BE49-F238E27FC236}">
                <a16:creationId xmlns:a16="http://schemas.microsoft.com/office/drawing/2014/main" id="{DAB13112-7669-4D26-A454-170E66808D7B}"/>
              </a:ext>
            </a:extLst>
          </p:cNvPr>
          <p:cNvSpPr>
            <a:spLocks xmlns:a="http://schemas.openxmlformats.org/drawingml/2006/main" noGrp="1"/>
          </p:cNvSpPr>
          <p:nvPr/>
        </p:nvSpPr>
        <p:spPr>
          <a:xfrm xmlns:a="http://schemas.openxmlformats.org/drawingml/2006/main">
            <a:off x="304800" y="7048500"/>
            <a:ext cx="4965700" cy="1282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80" b="0" i="0">
                <a:solidFill>
                  <a:srgbClr val="65736D"/>
                </a:solidFill>
                <a:latin typeface="Arial"/>
                <a:ea typeface="Arial"/>
                <a:cs typeface="Arial"/>
              </a:defRPr>
            </a:defPPr>
          </a:lstStyle>
          <a:p xmlns:a="http://schemas.openxmlformats.org/drawingml/2006/main">
            <a:pPr>
              <a:buNone/>
              <a:defRPr sz="680" b="0" i="0">
                <a:solidFill>
                  <a:srgbClr val="65736D"/>
                </a:solidFill>
                <a:latin typeface="Arial"/>
                <a:ea typeface="Arial"/>
                <a:cs typeface="Arial"/>
              </a:defRPr>
              <a:lnSpc>
                <a:spcPts val="810"/>
              </a:lnSpc>
              <a:spcBef>
                <a:spcPts val="0"/>
              </a:spcBef>
              <a:spcAft>
                <a:spcPts val="0"/>
              </a:spcAft>
            </a:pPr>
            <a:r>
              <a:rPr sz="680" b="0" i="0">
                <a:solidFill>
                  <a:srgbClr val="65736D"/>
                </a:solidFill>
                <a:latin typeface="Arial"/>
                <a:ea typeface="Arial"/>
                <a:cs typeface="Arial"/>
              </a:rPr>
              <a:t>Environmental assessment across safety, comfort, activity, care, and spatial connections. Scores: 1–5.</a:t>
            </a:r>
          </a:p>
        </p:txBody>
      </p:sp>
      <p:sp>
        <p:nvSpPr>
          <p:cNvPr id="137" name="Editable paragraph">
            <a:extLst xmlns:a="http://schemas.openxmlformats.org/drawingml/2006/main">
              <a:ext uri="{FF2B5EF4-FFF2-40B4-BE49-F238E27FC236}">
                <a16:creationId xmlns:a16="http://schemas.microsoft.com/office/drawing/2014/main" id="{7FAB39D7-825D-48E7-A803-A2E836EEE8F1}"/>
              </a:ext>
            </a:extLst>
          </p:cNvPr>
          <p:cNvSpPr>
            <a:spLocks xmlns:a="http://schemas.openxmlformats.org/drawingml/2006/main" noGrp="1"/>
          </p:cNvSpPr>
          <p:nvPr/>
        </p:nvSpPr>
        <p:spPr>
          <a:xfrm xmlns:a="http://schemas.openxmlformats.org/drawingml/2006/main">
            <a:off x="5549900" y="1016000"/>
            <a:ext cx="4838700" cy="192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1" i="0">
                <a:solidFill>
                  <a:srgbClr val="345A60"/>
                </a:solidFill>
                <a:latin typeface="Arial"/>
                <a:ea typeface="Arial"/>
                <a:cs typeface="Arial"/>
              </a:defRPr>
            </a:defPPr>
          </a:lstStyle>
          <a:p xmlns:a="http://schemas.openxmlformats.org/drawingml/2006/main">
            <a:pPr>
              <a:buNone/>
              <a:defRPr sz="1070" b="1" i="0">
                <a:solidFill>
                  <a:srgbClr val="345A60"/>
                </a:solidFill>
                <a:latin typeface="Arial"/>
                <a:ea typeface="Arial"/>
                <a:cs typeface="Arial"/>
              </a:defRPr>
              <a:lnSpc>
                <a:spcPts val="1316"/>
              </a:lnSpc>
              <a:spcBef>
                <a:spcPts val="0"/>
              </a:spcBef>
              <a:spcAft>
                <a:spcPts val="0"/>
              </a:spcAft>
            </a:pPr>
            <a:r>
              <a:rPr sz="1070" b="1" i="0">
                <a:solidFill>
                  <a:srgbClr val="345A60"/>
                </a:solidFill>
                <a:latin typeface="Arial"/>
                <a:ea typeface="Arial"/>
                <a:cs typeface="Arial"/>
              </a:rPr>
              <a:t>From school life to a design brief</a:t>
            </a:r>
          </a:p>
        </p:txBody>
      </p:sp>
      <p:pic>
        <p:nvPicPr>
          <p:cNvPr id="138" name="">
            <a:extLst xmlns:a="http://schemas.openxmlformats.org/drawingml/2006/main">
              <a:ext uri="{FF2B5EF4-FFF2-40B4-BE49-F238E27FC236}">
                <a16:creationId xmlns:a16="http://schemas.microsoft.com/office/drawing/2014/main" id="{05F1907A-29C6-4E76-9DF5-E5A3250B0C77}"/>
              </a:ext>
            </a:extLst>
          </p:cNvPr>
          <p:cNvPicPr>
            <a:picLocks xmlns:a="http://schemas.openxmlformats.org/drawingml/2006/main" noChangeAspect="1"/>
          </p:cNvPicPr>
          <p:nvPr/>
        </p:nvPicPr>
        <p:blipFill>
          <a:blip xmlns:r="http://schemas.openxmlformats.org/officeDocument/2006/relationships" xmlns:a="http://schemas.openxmlformats.org/drawingml/2006/main" r:embed="Ra2d106f7b7a44c1d"/>
          <a:stretch xmlns:a="http://schemas.openxmlformats.org/drawingml/2006/main"/>
        </p:blipFill>
        <p:spPr>
          <a:xfrm xmlns:a="http://schemas.openxmlformats.org/drawingml/2006/main">
            <a:off x="6079259" y="3543300"/>
            <a:ext cx="1290782" cy="1092200"/>
          </a:xfrm>
          <a:prstGeom xmlns:a="http://schemas.openxmlformats.org/drawingml/2006/main" prst="rect">
            <a:avLst/>
          </a:prstGeom>
        </p:spPr>
      </p:pic>
      <p:sp>
        <p:nvSpPr>
          <p:cNvPr id="139" name="Editable paragraph">
            <a:extLst xmlns:a="http://schemas.openxmlformats.org/drawingml/2006/main">
              <a:ext uri="{FF2B5EF4-FFF2-40B4-BE49-F238E27FC236}">
                <a16:creationId xmlns:a16="http://schemas.microsoft.com/office/drawing/2014/main" id="{15E4C9A9-0195-48F8-BB25-5299837C2517}"/>
              </a:ext>
            </a:extLst>
          </p:cNvPr>
          <p:cNvSpPr>
            <a:spLocks xmlns:a="http://schemas.openxmlformats.org/drawingml/2006/main" noGrp="1"/>
          </p:cNvSpPr>
          <p:nvPr/>
        </p:nvSpPr>
        <p:spPr>
          <a:xfrm xmlns:a="http://schemas.openxmlformats.org/drawingml/2006/main">
            <a:off x="5549900" y="4673600"/>
            <a:ext cx="23495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Open ground</a:t>
            </a:r>
          </a:p>
        </p:txBody>
      </p:sp>
      <p:pic>
        <p:nvPicPr>
          <p:cNvPr id="140" name="">
            <a:extLst xmlns:a="http://schemas.openxmlformats.org/drawingml/2006/main">
              <a:ext uri="{FF2B5EF4-FFF2-40B4-BE49-F238E27FC236}">
                <a16:creationId xmlns:a16="http://schemas.microsoft.com/office/drawing/2014/main" id="{21C380BD-D3DA-482C-ABFC-F9ABC773BAB8}"/>
              </a:ext>
            </a:extLst>
          </p:cNvPr>
          <p:cNvPicPr>
            <a:picLocks xmlns:a="http://schemas.openxmlformats.org/drawingml/2006/main" noChangeAspect="1"/>
          </p:cNvPicPr>
          <p:nvPr/>
        </p:nvPicPr>
        <p:blipFill>
          <a:blip xmlns:r="http://schemas.openxmlformats.org/officeDocument/2006/relationships" xmlns:a="http://schemas.openxmlformats.org/drawingml/2006/main" r:embed="R4b4419a0889e4bb9"/>
          <a:stretch xmlns:a="http://schemas.openxmlformats.org/drawingml/2006/main"/>
        </p:blipFill>
        <p:spPr>
          <a:xfrm xmlns:a="http://schemas.openxmlformats.org/drawingml/2006/main">
            <a:off x="8568459" y="3543300"/>
            <a:ext cx="1290782" cy="1092200"/>
          </a:xfrm>
          <a:prstGeom xmlns:a="http://schemas.openxmlformats.org/drawingml/2006/main" prst="rect">
            <a:avLst/>
          </a:prstGeom>
        </p:spPr>
      </p:pic>
      <p:sp>
        <p:nvSpPr>
          <p:cNvPr id="141" name="Editable paragraph">
            <a:extLst xmlns:a="http://schemas.openxmlformats.org/drawingml/2006/main">
              <a:ext uri="{FF2B5EF4-FFF2-40B4-BE49-F238E27FC236}">
                <a16:creationId xmlns:a16="http://schemas.microsoft.com/office/drawing/2014/main" id="{277BAF6C-15CC-4BA4-B35E-1B7D600CD706}"/>
              </a:ext>
            </a:extLst>
          </p:cNvPr>
          <p:cNvSpPr>
            <a:spLocks xmlns:a="http://schemas.openxmlformats.org/drawingml/2006/main" noGrp="1"/>
          </p:cNvSpPr>
          <p:nvPr/>
        </p:nvSpPr>
        <p:spPr>
          <a:xfrm xmlns:a="http://schemas.openxmlformats.org/drawingml/2006/main">
            <a:off x="8039100" y="4673600"/>
            <a:ext cx="23495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Everyday corridor</a:t>
            </a:r>
          </a:p>
        </p:txBody>
      </p:sp>
      <p:pic>
        <p:nvPicPr>
          <p:cNvPr id="142" name="">
            <a:extLst xmlns:a="http://schemas.openxmlformats.org/drawingml/2006/main">
              <a:ext uri="{FF2B5EF4-FFF2-40B4-BE49-F238E27FC236}">
                <a16:creationId xmlns:a16="http://schemas.microsoft.com/office/drawing/2014/main" id="{FF96F1D7-42D3-46B9-9C9A-E3E927A6AAE3}"/>
              </a:ext>
            </a:extLst>
          </p:cNvPr>
          <p:cNvPicPr>
            <a:picLocks xmlns:a="http://schemas.openxmlformats.org/drawingml/2006/main" noChangeAspect="1"/>
          </p:cNvPicPr>
          <p:nvPr/>
        </p:nvPicPr>
        <p:blipFill>
          <a:blip xmlns:r="http://schemas.openxmlformats.org/officeDocument/2006/relationships" xmlns:a="http://schemas.openxmlformats.org/drawingml/2006/main" r:embed="R1f7b358c99344e86"/>
          <a:stretch xmlns:a="http://schemas.openxmlformats.org/drawingml/2006/main"/>
        </p:blipFill>
        <p:spPr>
          <a:xfrm xmlns:a="http://schemas.openxmlformats.org/drawingml/2006/main">
            <a:off x="6079259" y="4876800"/>
            <a:ext cx="1290782" cy="1092200"/>
          </a:xfrm>
          <a:prstGeom xmlns:a="http://schemas.openxmlformats.org/drawingml/2006/main" prst="rect">
            <a:avLst/>
          </a:prstGeom>
        </p:spPr>
      </p:pic>
      <p:sp>
        <p:nvSpPr>
          <p:cNvPr id="143" name="Editable paragraph">
            <a:extLst xmlns:a="http://schemas.openxmlformats.org/drawingml/2006/main">
              <a:ext uri="{FF2B5EF4-FFF2-40B4-BE49-F238E27FC236}">
                <a16:creationId xmlns:a16="http://schemas.microsoft.com/office/drawing/2014/main" id="{BDCB53E6-FF93-4A0B-8843-408391FD25E3}"/>
              </a:ext>
            </a:extLst>
          </p:cNvPr>
          <p:cNvSpPr>
            <a:spLocks xmlns:a="http://schemas.openxmlformats.org/drawingml/2006/main" noGrp="1"/>
          </p:cNvSpPr>
          <p:nvPr/>
        </p:nvSpPr>
        <p:spPr>
          <a:xfrm xmlns:a="http://schemas.openxmlformats.org/drawingml/2006/main">
            <a:off x="5549900" y="6007100"/>
            <a:ext cx="23495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Sheltered connection</a:t>
            </a:r>
          </a:p>
        </p:txBody>
      </p:sp>
      <p:pic>
        <p:nvPicPr>
          <p:cNvPr id="144" name="">
            <a:extLst xmlns:a="http://schemas.openxmlformats.org/drawingml/2006/main">
              <a:ext uri="{FF2B5EF4-FFF2-40B4-BE49-F238E27FC236}">
                <a16:creationId xmlns:a16="http://schemas.microsoft.com/office/drawing/2014/main" id="{2540678E-BB55-474D-816E-0FCD4F1F435D}"/>
              </a:ext>
            </a:extLst>
          </p:cNvPr>
          <p:cNvPicPr>
            <a:picLocks xmlns:a="http://schemas.openxmlformats.org/drawingml/2006/main" noChangeAspect="1"/>
          </p:cNvPicPr>
          <p:nvPr/>
        </p:nvPicPr>
        <p:blipFill>
          <a:blip xmlns:r="http://schemas.openxmlformats.org/officeDocument/2006/relationships" xmlns:a="http://schemas.openxmlformats.org/drawingml/2006/main" r:embed="R452889f378a64d8e"/>
          <a:stretch xmlns:a="http://schemas.openxmlformats.org/drawingml/2006/main"/>
        </p:blipFill>
        <p:spPr>
          <a:xfrm xmlns:a="http://schemas.openxmlformats.org/drawingml/2006/main">
            <a:off x="8568459" y="4876800"/>
            <a:ext cx="1290782" cy="1092200"/>
          </a:xfrm>
          <a:prstGeom xmlns:a="http://schemas.openxmlformats.org/drawingml/2006/main" prst="rect">
            <a:avLst/>
          </a:prstGeom>
        </p:spPr>
      </p:pic>
      <p:sp>
        <p:nvSpPr>
          <p:cNvPr id="145" name="Editable paragraph">
            <a:extLst xmlns:a="http://schemas.openxmlformats.org/drawingml/2006/main">
              <a:ext uri="{FF2B5EF4-FFF2-40B4-BE49-F238E27FC236}">
                <a16:creationId xmlns:a16="http://schemas.microsoft.com/office/drawing/2014/main" id="{9FF96A75-8C78-4FF1-A076-6FF2B42B8AC1}"/>
              </a:ext>
            </a:extLst>
          </p:cNvPr>
          <p:cNvSpPr>
            <a:spLocks xmlns:a="http://schemas.openxmlformats.org/drawingml/2006/main" noGrp="1"/>
          </p:cNvSpPr>
          <p:nvPr/>
        </p:nvSpPr>
        <p:spPr>
          <a:xfrm xmlns:a="http://schemas.openxmlformats.org/drawingml/2006/main">
            <a:off x="8039100" y="6007100"/>
            <a:ext cx="23495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A learning room</a:t>
            </a:r>
          </a:p>
        </p:txBody>
      </p:sp>
      <p:sp>
        <p:nvSpPr>
          <p:cNvPr id="146" name="Editable paragraph">
            <a:extLst xmlns:a="http://schemas.openxmlformats.org/drawingml/2006/main">
              <a:ext uri="{FF2B5EF4-FFF2-40B4-BE49-F238E27FC236}">
                <a16:creationId xmlns:a16="http://schemas.microsoft.com/office/drawing/2014/main" id="{BC13F091-7967-408B-BE97-818C5350598C}"/>
              </a:ext>
            </a:extLst>
          </p:cNvPr>
          <p:cNvSpPr>
            <a:spLocks xmlns:a="http://schemas.openxmlformats.org/drawingml/2006/main" noGrp="1"/>
          </p:cNvSpPr>
          <p:nvPr/>
        </p:nvSpPr>
        <p:spPr>
          <a:xfrm xmlns:a="http://schemas.openxmlformats.org/drawingml/2006/main">
            <a:off x="5549900" y="6261100"/>
            <a:ext cx="292100" cy="1827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81968A"/>
                </a:solidFill>
                <a:latin typeface="Arial"/>
                <a:ea typeface="Arial"/>
                <a:cs typeface="Arial"/>
              </a:defRPr>
            </a:defPPr>
          </a:lstStyle>
          <a:p xmlns:a="http://schemas.openxmlformats.org/drawingml/2006/main">
            <a:pPr>
              <a:buNone/>
              <a:defRPr sz="1050" b="1" i="0">
                <a:solidFill>
                  <a:srgbClr val="81968A"/>
                </a:solidFill>
                <a:latin typeface="Arial"/>
                <a:ea typeface="Arial"/>
                <a:cs typeface="Arial"/>
              </a:defRPr>
              <a:lnSpc>
                <a:spcPts val="1239"/>
              </a:lnSpc>
              <a:spcBef>
                <a:spcPts val="0"/>
              </a:spcBef>
              <a:spcAft>
                <a:spcPts val="0"/>
              </a:spcAft>
            </a:pPr>
            <a:r>
              <a:rPr sz="1050" b="1" i="0">
                <a:solidFill>
                  <a:srgbClr val="81968A"/>
                </a:solidFill>
                <a:latin typeface="Arial"/>
                <a:ea typeface="Arial"/>
                <a:cs typeface="Arial"/>
              </a:rPr>
              <a:t>01</a:t>
            </a:r>
          </a:p>
        </p:txBody>
      </p:sp>
      <p:sp>
        <p:nvSpPr>
          <p:cNvPr id="147" name="Editable paragraph">
            <a:extLst xmlns:a="http://schemas.openxmlformats.org/drawingml/2006/main">
              <a:ext uri="{FF2B5EF4-FFF2-40B4-BE49-F238E27FC236}">
                <a16:creationId xmlns:a16="http://schemas.microsoft.com/office/drawing/2014/main" id="{939D48C5-5F6E-47B0-86F9-FF30B2741D8F}"/>
              </a:ext>
            </a:extLst>
          </p:cNvPr>
          <p:cNvSpPr>
            <a:spLocks xmlns:a="http://schemas.openxmlformats.org/drawingml/2006/main" noGrp="1"/>
          </p:cNvSpPr>
          <p:nvPr/>
        </p:nvSpPr>
        <p:spPr>
          <a:xfrm xmlns:a="http://schemas.openxmlformats.org/drawingml/2006/main">
            <a:off x="5905500" y="6261100"/>
            <a:ext cx="19939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Use the edges</a:t>
            </a:r>
          </a:p>
        </p:txBody>
      </p:sp>
      <p:sp>
        <p:nvSpPr>
          <p:cNvPr id="148" name="Editable paragraph">
            <a:extLst xmlns:a="http://schemas.openxmlformats.org/drawingml/2006/main">
              <a:ext uri="{FF2B5EF4-FFF2-40B4-BE49-F238E27FC236}">
                <a16:creationId xmlns:a16="http://schemas.microsoft.com/office/drawing/2014/main" id="{79BD56A6-C4F1-4C23-BC8D-E5D4AC24FDB7}"/>
              </a:ext>
            </a:extLst>
          </p:cNvPr>
          <p:cNvSpPr>
            <a:spLocks xmlns:a="http://schemas.openxmlformats.org/drawingml/2006/main" noGrp="1"/>
          </p:cNvSpPr>
          <p:nvPr/>
        </p:nvSpPr>
        <p:spPr>
          <a:xfrm xmlns:a="http://schemas.openxmlformats.org/drawingml/2006/main">
            <a:off x="5905500" y="6413500"/>
            <a:ext cx="1993900" cy="1407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9"/>
              </a:lnSpc>
              <a:spcBef>
                <a:spcPts val="0"/>
              </a:spcBef>
              <a:spcAft>
                <a:spcPts val="0"/>
              </a:spcAft>
            </a:pPr>
            <a:r>
              <a:rPr sz="770" b="0" i="0">
                <a:solidFill>
                  <a:srgbClr val="252D2C"/>
                </a:solidFill>
                <a:latin typeface="Arial"/>
                <a:ea typeface="Arial"/>
                <a:cs typeface="Arial"/>
              </a:rPr>
              <a:t>Small-group settings close to lessons.</a:t>
            </a:r>
          </a:p>
        </p:txBody>
      </p:sp>
      <p:sp>
        <p:nvSpPr>
          <p:cNvPr id="149" name="Editable paragraph">
            <a:extLst xmlns:a="http://schemas.openxmlformats.org/drawingml/2006/main">
              <a:ext uri="{FF2B5EF4-FFF2-40B4-BE49-F238E27FC236}">
                <a16:creationId xmlns:a16="http://schemas.microsoft.com/office/drawing/2014/main" id="{971767FA-105C-4041-9F77-ACF91D288A26}"/>
              </a:ext>
            </a:extLst>
          </p:cNvPr>
          <p:cNvSpPr>
            <a:spLocks xmlns:a="http://schemas.openxmlformats.org/drawingml/2006/main" noGrp="1"/>
          </p:cNvSpPr>
          <p:nvPr/>
        </p:nvSpPr>
        <p:spPr>
          <a:xfrm xmlns:a="http://schemas.openxmlformats.org/drawingml/2006/main">
            <a:off x="8039100" y="6261100"/>
            <a:ext cx="292100" cy="1827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81968A"/>
                </a:solidFill>
                <a:latin typeface="Arial"/>
                <a:ea typeface="Arial"/>
                <a:cs typeface="Arial"/>
              </a:defRPr>
            </a:defPPr>
          </a:lstStyle>
          <a:p xmlns:a="http://schemas.openxmlformats.org/drawingml/2006/main">
            <a:pPr>
              <a:buNone/>
              <a:defRPr sz="1050" b="1" i="0">
                <a:solidFill>
                  <a:srgbClr val="81968A"/>
                </a:solidFill>
                <a:latin typeface="Arial"/>
                <a:ea typeface="Arial"/>
                <a:cs typeface="Arial"/>
              </a:defRPr>
              <a:lnSpc>
                <a:spcPts val="1239"/>
              </a:lnSpc>
              <a:spcBef>
                <a:spcPts val="0"/>
              </a:spcBef>
              <a:spcAft>
                <a:spcPts val="0"/>
              </a:spcAft>
            </a:pPr>
            <a:r>
              <a:rPr sz="1050" b="1" i="0">
                <a:solidFill>
                  <a:srgbClr val="81968A"/>
                </a:solidFill>
                <a:latin typeface="Arial"/>
                <a:ea typeface="Arial"/>
                <a:cs typeface="Arial"/>
              </a:rPr>
              <a:t>02</a:t>
            </a:r>
          </a:p>
        </p:txBody>
      </p:sp>
      <p:sp>
        <p:nvSpPr>
          <p:cNvPr id="150" name="Editable paragraph">
            <a:extLst xmlns:a="http://schemas.openxmlformats.org/drawingml/2006/main">
              <a:ext uri="{FF2B5EF4-FFF2-40B4-BE49-F238E27FC236}">
                <a16:creationId xmlns:a16="http://schemas.microsoft.com/office/drawing/2014/main" id="{2603BBF0-37F2-49CA-BDE3-AAB6DDA4329A}"/>
              </a:ext>
            </a:extLst>
          </p:cNvPr>
          <p:cNvSpPr>
            <a:spLocks xmlns:a="http://schemas.openxmlformats.org/drawingml/2006/main" noGrp="1"/>
          </p:cNvSpPr>
          <p:nvPr/>
        </p:nvSpPr>
        <p:spPr>
          <a:xfrm xmlns:a="http://schemas.openxmlformats.org/drawingml/2006/main">
            <a:off x="8394700" y="6261100"/>
            <a:ext cx="19939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Connect the essentials</a:t>
            </a:r>
          </a:p>
        </p:txBody>
      </p:sp>
      <p:sp>
        <p:nvSpPr>
          <p:cNvPr id="151" name="Editable paragraph">
            <a:extLst xmlns:a="http://schemas.openxmlformats.org/drawingml/2006/main">
              <a:ext uri="{FF2B5EF4-FFF2-40B4-BE49-F238E27FC236}">
                <a16:creationId xmlns:a16="http://schemas.microsoft.com/office/drawing/2014/main" id="{337FFAD3-6E75-4DC1-A002-4196B0A67A00}"/>
              </a:ext>
            </a:extLst>
          </p:cNvPr>
          <p:cNvSpPr>
            <a:spLocks xmlns:a="http://schemas.openxmlformats.org/drawingml/2006/main" noGrp="1"/>
          </p:cNvSpPr>
          <p:nvPr/>
        </p:nvSpPr>
        <p:spPr>
          <a:xfrm xmlns:a="http://schemas.openxmlformats.org/drawingml/2006/main">
            <a:off x="8394700" y="6413500"/>
            <a:ext cx="1993900" cy="1407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9"/>
              </a:lnSpc>
              <a:spcBef>
                <a:spcPts val="0"/>
              </a:spcBef>
              <a:spcAft>
                <a:spcPts val="0"/>
              </a:spcAft>
            </a:pPr>
            <a:r>
              <a:rPr sz="770" b="0" i="0">
                <a:solidFill>
                  <a:srgbClr val="252D2C"/>
                </a:solidFill>
                <a:latin typeface="Arial"/>
                <a:ea typeface="Arial"/>
                <a:cs typeface="Arial"/>
              </a:rPr>
              <a:t>Pair toilets, washing and legible routes.</a:t>
            </a:r>
          </a:p>
        </p:txBody>
      </p:sp>
      <p:sp>
        <p:nvSpPr>
          <p:cNvPr id="152" name="Editable paragraph">
            <a:extLst xmlns:a="http://schemas.openxmlformats.org/drawingml/2006/main">
              <a:ext uri="{FF2B5EF4-FFF2-40B4-BE49-F238E27FC236}">
                <a16:creationId xmlns:a16="http://schemas.microsoft.com/office/drawing/2014/main" id="{C15C8352-1B4D-4F3E-8790-3BCD18F9E54F}"/>
              </a:ext>
            </a:extLst>
          </p:cNvPr>
          <p:cNvSpPr>
            <a:spLocks xmlns:a="http://schemas.openxmlformats.org/drawingml/2006/main" noGrp="1"/>
          </p:cNvSpPr>
          <p:nvPr/>
        </p:nvSpPr>
        <p:spPr>
          <a:xfrm xmlns:a="http://schemas.openxmlformats.org/drawingml/2006/main">
            <a:off x="5549900" y="6692900"/>
            <a:ext cx="292100" cy="1827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81968A"/>
                </a:solidFill>
                <a:latin typeface="Arial"/>
                <a:ea typeface="Arial"/>
                <a:cs typeface="Arial"/>
              </a:defRPr>
            </a:defPPr>
          </a:lstStyle>
          <a:p xmlns:a="http://schemas.openxmlformats.org/drawingml/2006/main">
            <a:pPr>
              <a:buNone/>
              <a:defRPr sz="1050" b="1" i="0">
                <a:solidFill>
                  <a:srgbClr val="81968A"/>
                </a:solidFill>
                <a:latin typeface="Arial"/>
                <a:ea typeface="Arial"/>
                <a:cs typeface="Arial"/>
              </a:defRPr>
              <a:lnSpc>
                <a:spcPts val="1239"/>
              </a:lnSpc>
              <a:spcBef>
                <a:spcPts val="0"/>
              </a:spcBef>
              <a:spcAft>
                <a:spcPts val="0"/>
              </a:spcAft>
            </a:pPr>
            <a:r>
              <a:rPr sz="1050" b="1" i="0">
                <a:solidFill>
                  <a:srgbClr val="81968A"/>
                </a:solidFill>
                <a:latin typeface="Arial"/>
                <a:ea typeface="Arial"/>
                <a:cs typeface="Arial"/>
              </a:rPr>
              <a:t>03</a:t>
            </a:r>
          </a:p>
        </p:txBody>
      </p:sp>
      <p:sp>
        <p:nvSpPr>
          <p:cNvPr id="153" name="Editable paragraph">
            <a:extLst xmlns:a="http://schemas.openxmlformats.org/drawingml/2006/main">
              <a:ext uri="{FF2B5EF4-FFF2-40B4-BE49-F238E27FC236}">
                <a16:creationId xmlns:a16="http://schemas.microsoft.com/office/drawing/2014/main" id="{61243968-D7B1-42B5-84E3-86BD95722286}"/>
              </a:ext>
            </a:extLst>
          </p:cNvPr>
          <p:cNvSpPr>
            <a:spLocks xmlns:a="http://schemas.openxmlformats.org/drawingml/2006/main" noGrp="1"/>
          </p:cNvSpPr>
          <p:nvPr/>
        </p:nvSpPr>
        <p:spPr>
          <a:xfrm xmlns:a="http://schemas.openxmlformats.org/drawingml/2006/main">
            <a:off x="5905500" y="6692900"/>
            <a:ext cx="19939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Keep care nearby</a:t>
            </a:r>
          </a:p>
        </p:txBody>
      </p:sp>
      <p:sp>
        <p:nvSpPr>
          <p:cNvPr id="154" name="Editable paragraph">
            <a:extLst xmlns:a="http://schemas.openxmlformats.org/drawingml/2006/main">
              <a:ext uri="{FF2B5EF4-FFF2-40B4-BE49-F238E27FC236}">
                <a16:creationId xmlns:a16="http://schemas.microsoft.com/office/drawing/2014/main" id="{BE08564C-3E13-4C4B-9694-8FE2B3F5B3B5}"/>
              </a:ext>
            </a:extLst>
          </p:cNvPr>
          <p:cNvSpPr>
            <a:spLocks xmlns:a="http://schemas.openxmlformats.org/drawingml/2006/main" noGrp="1"/>
          </p:cNvSpPr>
          <p:nvPr/>
        </p:nvSpPr>
        <p:spPr>
          <a:xfrm xmlns:a="http://schemas.openxmlformats.org/drawingml/2006/main">
            <a:off x="5905500" y="6845300"/>
            <a:ext cx="1993900" cy="256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9"/>
              </a:lnSpc>
              <a:spcBef>
                <a:spcPts val="0"/>
              </a:spcBef>
              <a:spcAft>
                <a:spcPts val="0"/>
              </a:spcAft>
            </a:pPr>
            <a:r>
              <a:rPr sz="770" b="0" i="0">
                <a:solidFill>
                  <a:srgbClr val="252D2C"/>
                </a:solidFill>
                <a:latin typeface="Arial"/>
                <a:ea typeface="Arial"/>
                <a:cs typeface="Arial"/>
              </a:rPr>
              <a:t>Locate waiting and adult help along familiar paths.</a:t>
            </a:r>
          </a:p>
        </p:txBody>
      </p:sp>
      <p:sp>
        <p:nvSpPr>
          <p:cNvPr id="155" name="Editable paragraph">
            <a:extLst xmlns:a="http://schemas.openxmlformats.org/drawingml/2006/main">
              <a:ext uri="{FF2B5EF4-FFF2-40B4-BE49-F238E27FC236}">
                <a16:creationId xmlns:a16="http://schemas.microsoft.com/office/drawing/2014/main" id="{B7993710-3CF8-4DA5-B59D-FC88853A6D9C}"/>
              </a:ext>
            </a:extLst>
          </p:cNvPr>
          <p:cNvSpPr>
            <a:spLocks xmlns:a="http://schemas.openxmlformats.org/drawingml/2006/main" noGrp="1"/>
          </p:cNvSpPr>
          <p:nvPr/>
        </p:nvSpPr>
        <p:spPr>
          <a:xfrm xmlns:a="http://schemas.openxmlformats.org/drawingml/2006/main">
            <a:off x="8039100" y="6692900"/>
            <a:ext cx="292100" cy="1827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81968A"/>
                </a:solidFill>
                <a:latin typeface="Arial"/>
                <a:ea typeface="Arial"/>
                <a:cs typeface="Arial"/>
              </a:defRPr>
            </a:defPPr>
          </a:lstStyle>
          <a:p xmlns:a="http://schemas.openxmlformats.org/drawingml/2006/main">
            <a:pPr>
              <a:buNone/>
              <a:defRPr sz="1050" b="1" i="0">
                <a:solidFill>
                  <a:srgbClr val="81968A"/>
                </a:solidFill>
                <a:latin typeface="Arial"/>
                <a:ea typeface="Arial"/>
                <a:cs typeface="Arial"/>
              </a:defRPr>
              <a:lnSpc>
                <a:spcPts val="1239"/>
              </a:lnSpc>
              <a:spcBef>
                <a:spcPts val="0"/>
              </a:spcBef>
              <a:spcAft>
                <a:spcPts val="0"/>
              </a:spcAft>
            </a:pPr>
            <a:r>
              <a:rPr sz="1050" b="1" i="0">
                <a:solidFill>
                  <a:srgbClr val="81968A"/>
                </a:solidFill>
                <a:latin typeface="Arial"/>
                <a:ea typeface="Arial"/>
                <a:cs typeface="Arial"/>
              </a:rPr>
              <a:t>04</a:t>
            </a:r>
          </a:p>
        </p:txBody>
      </p:sp>
      <p:sp>
        <p:nvSpPr>
          <p:cNvPr id="156" name="Editable paragraph">
            <a:extLst xmlns:a="http://schemas.openxmlformats.org/drawingml/2006/main">
              <a:ext uri="{FF2B5EF4-FFF2-40B4-BE49-F238E27FC236}">
                <a16:creationId xmlns:a16="http://schemas.microsoft.com/office/drawing/2014/main" id="{673EA961-E8CC-45C2-88B5-9F5CBD02A13F}"/>
              </a:ext>
            </a:extLst>
          </p:cNvPr>
          <p:cNvSpPr>
            <a:spLocks xmlns:a="http://schemas.openxmlformats.org/drawingml/2006/main" noGrp="1"/>
          </p:cNvSpPr>
          <p:nvPr/>
        </p:nvSpPr>
        <p:spPr>
          <a:xfrm xmlns:a="http://schemas.openxmlformats.org/drawingml/2006/main">
            <a:off x="8394700" y="6692900"/>
            <a:ext cx="1993900" cy="143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90" b="1" i="0">
                <a:solidFill>
                  <a:srgbClr val="252D2C"/>
                </a:solidFill>
                <a:latin typeface="Arial"/>
                <a:ea typeface="Arial"/>
                <a:cs typeface="Arial"/>
              </a:defRPr>
            </a:defPPr>
          </a:lstStyle>
          <a:p xmlns:a="http://schemas.openxmlformats.org/drawingml/2006/main">
            <a:pPr>
              <a:buNone/>
              <a:defRPr sz="790" b="1" i="0">
                <a:solidFill>
                  <a:srgbClr val="252D2C"/>
                </a:solidFill>
                <a:latin typeface="Arial"/>
                <a:ea typeface="Arial"/>
                <a:cs typeface="Arial"/>
              </a:defRPr>
              <a:lnSpc>
                <a:spcPts val="932"/>
              </a:lnSpc>
              <a:spcBef>
                <a:spcPts val="0"/>
              </a:spcBef>
              <a:spcAft>
                <a:spcPts val="0"/>
              </a:spcAft>
            </a:pPr>
            <a:r>
              <a:rPr sz="790" b="1" i="0">
                <a:solidFill>
                  <a:srgbClr val="252D2C"/>
                </a:solidFill>
                <a:latin typeface="Arial"/>
                <a:ea typeface="Arial"/>
                <a:cs typeface="Arial"/>
              </a:rPr>
              <a:t>Plan for continued use</a:t>
            </a:r>
          </a:p>
        </p:txBody>
      </p:sp>
      <p:sp>
        <p:nvSpPr>
          <p:cNvPr id="157" name="Editable paragraph">
            <a:extLst xmlns:a="http://schemas.openxmlformats.org/drawingml/2006/main">
              <a:ext uri="{FF2B5EF4-FFF2-40B4-BE49-F238E27FC236}">
                <a16:creationId xmlns:a16="http://schemas.microsoft.com/office/drawing/2014/main" id="{A5F70402-1D79-4974-9730-052F6B130663}"/>
              </a:ext>
            </a:extLst>
          </p:cNvPr>
          <p:cNvSpPr>
            <a:spLocks xmlns:a="http://schemas.openxmlformats.org/drawingml/2006/main" noGrp="1"/>
          </p:cNvSpPr>
          <p:nvPr/>
        </p:nvSpPr>
        <p:spPr>
          <a:xfrm xmlns:a="http://schemas.openxmlformats.org/drawingml/2006/main">
            <a:off x="8394700" y="6845300"/>
            <a:ext cx="1993900" cy="256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252D2C"/>
                </a:solidFill>
                <a:latin typeface="Arial"/>
                <a:ea typeface="Arial"/>
                <a:cs typeface="Arial"/>
              </a:defRPr>
            </a:defPPr>
          </a:lstStyle>
          <a:p xmlns:a="http://schemas.openxmlformats.org/drawingml/2006/main">
            <a:pPr>
              <a:buNone/>
              <a:defRPr sz="770" b="0" i="0">
                <a:solidFill>
                  <a:srgbClr val="252D2C"/>
                </a:solidFill>
                <a:latin typeface="Arial"/>
                <a:ea typeface="Arial"/>
                <a:cs typeface="Arial"/>
              </a:defRPr>
              <a:lnSpc>
                <a:spcPts val="909"/>
              </a:lnSpc>
              <a:spcBef>
                <a:spcPts val="0"/>
              </a:spcBef>
              <a:spcAft>
                <a:spcPts val="0"/>
              </a:spcAft>
            </a:pPr>
            <a:r>
              <a:rPr sz="770" b="0" i="0">
                <a:solidFill>
                  <a:srgbClr val="252D2C"/>
                </a:solidFill>
                <a:latin typeface="Arial"/>
                <a:ea typeface="Arial"/>
                <a:cs typeface="Arial"/>
              </a:rPr>
              <a:t>Give shared spaces a program and a responsible adult.</a:t>
            </a:r>
          </a:p>
        </p:txBody>
      </p:sp>
      <p:sp>
        <p:nvSpPr>
          <p:cNvPr id="158" name="Editable paragraph">
            <a:extLst xmlns:a="http://schemas.openxmlformats.org/drawingml/2006/main">
              <a:ext uri="{FF2B5EF4-FFF2-40B4-BE49-F238E27FC236}">
                <a16:creationId xmlns:a16="http://schemas.microsoft.com/office/drawing/2014/main" id="{D0B731F3-0C1D-4608-8CB0-2FDD7291BB82}"/>
              </a:ext>
            </a:extLst>
          </p:cNvPr>
          <p:cNvSpPr>
            <a:spLocks xmlns:a="http://schemas.openxmlformats.org/drawingml/2006/main" noGrp="1"/>
          </p:cNvSpPr>
          <p:nvPr/>
        </p:nvSpPr>
        <p:spPr>
          <a:xfrm xmlns:a="http://schemas.openxmlformats.org/drawingml/2006/main">
            <a:off x="5549900" y="7175500"/>
            <a:ext cx="4838700" cy="1273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80" b="0" i="0">
                <a:solidFill>
                  <a:srgbClr val="65736D"/>
                </a:solidFill>
                <a:latin typeface="Arial"/>
                <a:ea typeface="Arial"/>
                <a:cs typeface="Arial"/>
              </a:defRPr>
            </a:defPPr>
          </a:lstStyle>
          <a:p xmlns:a="http://schemas.openxmlformats.org/drawingml/2006/main">
            <a:pPr>
              <a:buNone/>
              <a:defRPr sz="680" b="0" i="0">
                <a:solidFill>
                  <a:srgbClr val="65736D"/>
                </a:solidFill>
                <a:latin typeface="Arial"/>
                <a:ea typeface="Arial"/>
                <a:cs typeface="Arial"/>
              </a:defRPr>
              <a:lnSpc>
                <a:spcPts val="802"/>
              </a:lnSpc>
              <a:spcBef>
                <a:spcPts val="0"/>
              </a:spcBef>
              <a:spcAft>
                <a:spcPts val="0"/>
              </a:spcAft>
            </a:pPr>
            <a:r>
              <a:rPr sz="680" b="0" i="0">
                <a:solidFill>
                  <a:srgbClr val="65736D"/>
                </a:solidFill>
                <a:latin typeface="Arial"/>
                <a:ea typeface="Arial"/>
                <a:cs typeface="Arial"/>
              </a:rPr>
              <a:t>Existing school spaces and the design priorities they inform.</a:t>
            </a:r>
          </a:p>
        </p:txBody>
      </p:sp>
      <p:sp>
        <p:nvSpPr>
          <p:cNvPr id="159" name="Editable paragraph">
            <a:extLst xmlns:a="http://schemas.openxmlformats.org/drawingml/2006/main">
              <a:ext uri="{FF2B5EF4-FFF2-40B4-BE49-F238E27FC236}">
                <a16:creationId xmlns:a16="http://schemas.microsoft.com/office/drawing/2014/main" id="{2369A2FB-3584-47E6-956B-8EB9E359A8DB}"/>
              </a:ext>
            </a:extLst>
          </p:cNvPr>
          <p:cNvSpPr>
            <a:spLocks xmlns:a="http://schemas.openxmlformats.org/drawingml/2006/main" noGrp="1"/>
          </p:cNvSpPr>
          <p:nvPr/>
        </p:nvSpPr>
        <p:spPr>
          <a:xfrm xmlns:a="http://schemas.openxmlformats.org/drawingml/2006/main">
            <a:off x="5549900" y="1270000"/>
            <a:ext cx="4838700"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1" i="0">
                <a:solidFill>
                  <a:srgbClr val="345A60"/>
                </a:solidFill>
                <a:latin typeface="Arial"/>
                <a:ea typeface="Arial"/>
                <a:cs typeface="Arial"/>
              </a:defRPr>
            </a:defPPr>
          </a:lstStyle>
          <a:p xmlns:a="http://schemas.openxmlformats.org/drawingml/2006/main">
            <a:pPr>
              <a:buNone/>
              <a:defRPr sz="1000" b="1" i="0">
                <a:solidFill>
                  <a:srgbClr val="345A60"/>
                </a:solidFill>
                <a:latin typeface="Arial"/>
                <a:ea typeface="Arial"/>
                <a:cs typeface="Arial"/>
              </a:defRPr>
              <a:lnSpc>
                <a:spcPts val="1180"/>
              </a:lnSpc>
              <a:spcBef>
                <a:spcPts val="0"/>
              </a:spcBef>
              <a:spcAft>
                <a:spcPts val="0"/>
              </a:spcAft>
            </a:pPr>
            <a:r>
              <a:rPr sz="1000" b="1" i="0">
                <a:solidFill>
                  <a:srgbClr val="345A60"/>
                </a:solidFill>
                <a:latin typeface="Arial"/>
                <a:ea typeface="Arial"/>
                <a:cs typeface="Arial"/>
              </a:rPr>
              <a:t>Environmental audit: domain means</a:t>
            </a:r>
          </a:p>
        </p:txBody>
      </p:sp>
      <p:graphicFrame>
        <p:nvGraphicFramePr>
          <p:cNvPr id="160" name="Chart">
            <a:extLst xmlns:a="http://schemas.openxmlformats.org/drawingml/2006/main">
              <a:ext uri="{FF2B5EF4-FFF2-40B4-BE49-F238E27FC236}">
                <a16:creationId xmlns:a16="http://schemas.microsoft.com/office/drawing/2014/main" id="{2593AC00-5624-485C-918B-88EAB9C7AE8F}"/>
              </a:ext>
            </a:extLst>
          </p:cNvPr>
          <p:cNvGraphicFramePr/>
          <p:nvPr/>
        </p:nvGraphicFramePr>
        <p:xfrm>
          <a:off xmlns:a="http://schemas.openxmlformats.org/drawingml/2006/main" x="5524500" y="1524000"/>
          <a:ext xmlns:a="http://schemas.openxmlformats.org/drawingml/2006/main" cx="4864100" cy="1574800"/>
        </p:xfrm>
        <a:graphic xmlns:a="http://schemas.openxmlformats.org/drawingml/2006/main">
          <a:graphicData uri="http://schemas.openxmlformats.org/drawingml/2006/chart">
            <c:chart xmlns:r="http://schemas.openxmlformats.org/officeDocument/2006/relationships" xmlns:c="http://schemas.openxmlformats.org/drawingml/2006/chart" r:id="R1b01d3a6300a4967"/>
          </a:graphicData>
        </a:graphic>
      </p:graphicFrame>
      <p:sp>
        <p:nvSpPr>
          <p:cNvPr id="161" name="Editable paragraph">
            <a:extLst xmlns:a="http://schemas.openxmlformats.org/drawingml/2006/main">
              <a:ext uri="{FF2B5EF4-FFF2-40B4-BE49-F238E27FC236}">
                <a16:creationId xmlns:a16="http://schemas.microsoft.com/office/drawing/2014/main" id="{5DB9CCE5-71E5-4F51-9F97-AF23CD6CC784}"/>
              </a:ext>
            </a:extLst>
          </p:cNvPr>
          <p:cNvSpPr>
            <a:spLocks xmlns:a="http://schemas.openxmlformats.org/drawingml/2006/main" noGrp="1"/>
          </p:cNvSpPr>
          <p:nvPr/>
        </p:nvSpPr>
        <p:spPr>
          <a:xfrm xmlns:a="http://schemas.openxmlformats.org/drawingml/2006/main">
            <a:off x="5549900" y="3136900"/>
            <a:ext cx="609600" cy="1602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252D2C"/>
                </a:solidFill>
                <a:latin typeface="Arial"/>
                <a:ea typeface="Arial"/>
                <a:cs typeface="Arial"/>
              </a:defRPr>
            </a:defPPr>
          </a:lstStyle>
          <a:p xmlns:a="http://schemas.openxmlformats.org/drawingml/2006/main">
            <a:pPr>
              <a:buNone/>
              <a:defRPr sz="900" b="1" i="0">
                <a:solidFill>
                  <a:srgbClr val="252D2C"/>
                </a:solidFill>
                <a:latin typeface="Arial"/>
                <a:ea typeface="Arial"/>
                <a:cs typeface="Arial"/>
              </a:defRPr>
              <a:lnSpc>
                <a:spcPts val="1062"/>
              </a:lnSpc>
              <a:spcBef>
                <a:spcPts val="0"/>
              </a:spcBef>
              <a:spcAft>
                <a:spcPts val="0"/>
              </a:spcAft>
            </a:pPr>
            <a:r>
              <a:rPr sz="900" b="1" i="0">
                <a:solidFill>
                  <a:srgbClr val="252D2C"/>
                </a:solidFill>
                <a:latin typeface="Arial"/>
                <a:ea typeface="Arial"/>
                <a:cs typeface="Arial"/>
              </a:rPr>
              <a:t>10 / 35</a:t>
            </a:r>
          </a:p>
        </p:txBody>
      </p:sp>
      <p:sp>
        <p:nvSpPr>
          <p:cNvPr id="162" name="Editable paragraph">
            <a:extLst xmlns:a="http://schemas.openxmlformats.org/drawingml/2006/main">
              <a:ext uri="{FF2B5EF4-FFF2-40B4-BE49-F238E27FC236}">
                <a16:creationId xmlns:a16="http://schemas.microsoft.com/office/drawing/2014/main" id="{17357C1E-B79F-4B67-8D99-F75FA9424C11}"/>
              </a:ext>
            </a:extLst>
          </p:cNvPr>
          <p:cNvSpPr>
            <a:spLocks xmlns:a="http://schemas.openxmlformats.org/drawingml/2006/main" noGrp="1"/>
          </p:cNvSpPr>
          <p:nvPr/>
        </p:nvSpPr>
        <p:spPr>
          <a:xfrm xmlns:a="http://schemas.openxmlformats.org/drawingml/2006/main">
            <a:off x="6223000" y="3136900"/>
            <a:ext cx="1930400" cy="1422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20"/>
              </a:lnSpc>
              <a:spcBef>
                <a:spcPts val="0"/>
              </a:spcBef>
              <a:spcAft>
                <a:spcPts val="0"/>
              </a:spcAft>
            </a:pPr>
            <a:r>
              <a:rPr sz="780" b="0" i="0">
                <a:solidFill>
                  <a:srgbClr val="252D2C"/>
                </a:solidFill>
                <a:latin typeface="Arial"/>
                <a:ea typeface="Arial"/>
                <a:cs typeface="Arial"/>
              </a:rPr>
              <a:t>items marked 1 or 2</a:t>
            </a:r>
          </a:p>
        </p:txBody>
      </p:sp>
      <p:sp>
        <p:nvSpPr>
          <p:cNvPr id="163" name="Editable paragraph">
            <a:extLst xmlns:a="http://schemas.openxmlformats.org/drawingml/2006/main">
              <a:ext uri="{FF2B5EF4-FFF2-40B4-BE49-F238E27FC236}">
                <a16:creationId xmlns:a16="http://schemas.microsoft.com/office/drawing/2014/main" id="{10030461-2BBB-4318-8C86-356BD8005E7A}"/>
              </a:ext>
            </a:extLst>
          </p:cNvPr>
          <p:cNvSpPr>
            <a:spLocks xmlns:a="http://schemas.openxmlformats.org/drawingml/2006/main" noGrp="1"/>
          </p:cNvSpPr>
          <p:nvPr/>
        </p:nvSpPr>
        <p:spPr>
          <a:xfrm xmlns:a="http://schemas.openxmlformats.org/drawingml/2006/main">
            <a:off x="8102600" y="3136900"/>
            <a:ext cx="2286000" cy="1422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80" b="0" i="0">
                <a:solidFill>
                  <a:srgbClr val="252D2C"/>
                </a:solidFill>
                <a:latin typeface="Arial"/>
                <a:ea typeface="Arial"/>
                <a:cs typeface="Arial"/>
              </a:defRPr>
            </a:defPPr>
          </a:lstStyle>
          <a:p xmlns:a="http://schemas.openxmlformats.org/drawingml/2006/main">
            <a:pPr>
              <a:buNone/>
              <a:defRPr sz="780" b="0" i="0">
                <a:solidFill>
                  <a:srgbClr val="252D2C"/>
                </a:solidFill>
                <a:latin typeface="Arial"/>
                <a:ea typeface="Arial"/>
                <a:cs typeface="Arial"/>
              </a:defRPr>
              <a:lnSpc>
                <a:spcPts val="920"/>
              </a:lnSpc>
              <a:spcBef>
                <a:spcPts val="0"/>
              </a:spcBef>
              <a:spcAft>
                <a:spcPts val="0"/>
              </a:spcAft>
            </a:pPr>
            <a:r>
              <a:rPr sz="780" b="0" i="0">
                <a:solidFill>
                  <a:srgbClr val="252D2C"/>
                </a:solidFill>
                <a:latin typeface="Arial"/>
                <a:ea typeface="Arial"/>
                <a:cs typeface="Arial"/>
              </a:rPr>
              <a:t>28.6% of all recorded items</a:t>
            </a:r>
          </a:p>
        </p:txBody>
      </p:sp>
      <p:sp>
        <p:nvSpPr>
          <p:cNvPr id="164" name="Editable paragraph">
            <a:extLst xmlns:a="http://schemas.openxmlformats.org/drawingml/2006/main">
              <a:ext uri="{FF2B5EF4-FFF2-40B4-BE49-F238E27FC236}">
                <a16:creationId xmlns:a16="http://schemas.microsoft.com/office/drawing/2014/main" id="{4EAC3AF1-0B09-48FF-A650-C6693E0360C4}"/>
              </a:ext>
            </a:extLst>
          </p:cNvPr>
          <p:cNvSpPr>
            <a:spLocks xmlns:a="http://schemas.openxmlformats.org/drawingml/2006/main" noGrp="1"/>
          </p:cNvSpPr>
          <p:nvPr/>
        </p:nvSpPr>
        <p:spPr>
          <a:xfrm xmlns:a="http://schemas.openxmlformats.org/drawingml/2006/main">
            <a:off x="5549900" y="3314700"/>
            <a:ext cx="4838700" cy="1243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60" b="0" i="0">
                <a:solidFill>
                  <a:srgbClr val="252D2C"/>
                </a:solidFill>
                <a:latin typeface="Arial"/>
                <a:ea typeface="Arial"/>
                <a:cs typeface="Arial"/>
              </a:defRPr>
            </a:defPPr>
          </a:lstStyle>
          <a:p xmlns:a="http://schemas.openxmlformats.org/drawingml/2006/main">
            <a:pPr>
              <a:buNone/>
              <a:defRPr sz="660" b="0" i="0">
                <a:solidFill>
                  <a:srgbClr val="252D2C"/>
                </a:solidFill>
                <a:latin typeface="Arial"/>
                <a:ea typeface="Arial"/>
                <a:cs typeface="Arial"/>
              </a:defRPr>
              <a:lnSpc>
                <a:spcPts val="779"/>
              </a:lnSpc>
              <a:spcBef>
                <a:spcPts val="0"/>
              </a:spcBef>
              <a:spcAft>
                <a:spcPts val="0"/>
              </a:spcAft>
            </a:pPr>
            <a:r>
              <a:rPr sz="660" b="0" i="0">
                <a:solidFill>
                  <a:srgbClr val="252D2C"/>
                </a:solidFill>
                <a:latin typeface="Arial"/>
                <a:ea typeface="Arial"/>
                <a:cs typeface="Arial"/>
              </a:rPr>
              <a:t>Figure 4. Mean scores across five environmental domains (1–5).</a:t>
            </a:r>
          </a:p>
        </p:txBody>
      </p:sp>
    </p:spTree>
    <p:extLst>
      <p:ext uri="{BB962C8B-B14F-4D97-AF65-F5344CB8AC3E}">
        <p14:creationId xmlns:p14="http://schemas.microsoft.com/office/powerpoint/2010/main" val="733808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Editable paragraph">
            <a:extLst xmlns:a="http://schemas.openxmlformats.org/drawingml/2006/main">
              <a:ext uri="{FF2B5EF4-FFF2-40B4-BE49-F238E27FC236}">
                <a16:creationId xmlns:a16="http://schemas.microsoft.com/office/drawing/2014/main" id="{09F73DB2-97C3-48B8-BE47-68F1896E2C8B}"/>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053E857F-3017-4CCA-8549-BDEAD07332AB}"/>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4B618649-658E-4FE2-AC6E-7633EB2AEFE6}"/>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PORTFOLIO</a:t>
            </a:r>
          </a:p>
        </p:txBody>
      </p:sp>
      <p:sp>
        <p:nvSpPr>
          <p:cNvPr id="4" name="">
            <a:extLst xmlns:a="http://schemas.openxmlformats.org/drawingml/2006/main">
              <a:ext uri="{FF2B5EF4-FFF2-40B4-BE49-F238E27FC236}">
                <a16:creationId xmlns:a16="http://schemas.microsoft.com/office/drawing/2014/main" id="{057D6E95-3630-4A39-81E3-4D154D60BF2E}"/>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94A6B9F9-0A3A-478A-B7BC-46F16F73AB00}"/>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A connected campus, open grounds</a:t>
            </a:r>
          </a:p>
        </p:txBody>
      </p:sp>
      <p:sp>
        <p:nvSpPr>
          <p:cNvPr id="6" name="">
            <a:extLst xmlns:a="http://schemas.openxmlformats.org/drawingml/2006/main">
              <a:ext uri="{FF2B5EF4-FFF2-40B4-BE49-F238E27FC236}">
                <a16:creationId xmlns:a16="http://schemas.microsoft.com/office/drawing/2014/main" id="{2D006932-98A8-47BB-872E-7B8E0615DD51}"/>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3A91F75A-B77E-4789-8F58-1D04A3D20621}"/>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615C49AF-49A3-40A1-9C56-C36006DEF1D2}"/>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09 / 15</a:t>
            </a:r>
          </a:p>
        </p:txBody>
      </p:sp>
      <p:pic>
        <p:nvPicPr>
          <p:cNvPr id="9" name="">
            <a:extLst xmlns:a="http://schemas.openxmlformats.org/drawingml/2006/main">
              <a:ext uri="{FF2B5EF4-FFF2-40B4-BE49-F238E27FC236}">
                <a16:creationId xmlns:a16="http://schemas.microsoft.com/office/drawing/2014/main" id="{5B003353-6FA0-4150-B682-C1BD38C73071}"/>
              </a:ext>
            </a:extLst>
          </p:cNvPr>
          <p:cNvPicPr>
            <a:picLocks xmlns:a="http://schemas.openxmlformats.org/drawingml/2006/main" noChangeAspect="1"/>
          </p:cNvPicPr>
          <p:nvPr/>
        </p:nvPicPr>
        <p:blipFill>
          <a:blip xmlns:r="http://schemas.openxmlformats.org/officeDocument/2006/relationships" xmlns:a="http://schemas.openxmlformats.org/drawingml/2006/main" r:embed="Rf1e6784726c64c3c"/>
          <a:stretch xmlns:a="http://schemas.openxmlformats.org/drawingml/2006/main"/>
        </p:blipFill>
        <p:spPr>
          <a:xfrm xmlns:a="http://schemas.openxmlformats.org/drawingml/2006/main">
            <a:off x="313785" y="1028700"/>
            <a:ext cx="4947730" cy="5549900"/>
          </a:xfrm>
          <a:prstGeom xmlns:a="http://schemas.openxmlformats.org/drawingml/2006/main" prst="rect">
            <a:avLst/>
          </a:prstGeom>
        </p:spPr>
      </p:pic>
      <p:sp>
        <p:nvSpPr>
          <p:cNvPr id="10" name="Editable paragraph">
            <a:extLst xmlns:a="http://schemas.openxmlformats.org/drawingml/2006/main">
              <a:ext uri="{FF2B5EF4-FFF2-40B4-BE49-F238E27FC236}">
                <a16:creationId xmlns:a16="http://schemas.microsoft.com/office/drawing/2014/main" id="{90868423-BB72-4C26-96B6-4424E8A0BADE}"/>
              </a:ext>
            </a:extLst>
          </p:cNvPr>
          <p:cNvSpPr>
            <a:spLocks xmlns:a="http://schemas.openxmlformats.org/drawingml/2006/main" noGrp="1"/>
          </p:cNvSpPr>
          <p:nvPr/>
        </p:nvSpPr>
        <p:spPr>
          <a:xfrm xmlns:a="http://schemas.openxmlformats.org/drawingml/2006/main">
            <a:off x="5549900" y="1028700"/>
            <a:ext cx="4838700" cy="2675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50" b="1" i="0">
                <a:solidFill>
                  <a:srgbClr val="252D2C"/>
                </a:solidFill>
                <a:latin typeface="Arial"/>
                <a:ea typeface="Arial"/>
                <a:cs typeface="Arial"/>
              </a:defRPr>
            </a:defPPr>
          </a:lstStyle>
          <a:p xmlns:a="http://schemas.openxmlformats.org/drawingml/2006/main">
            <a:pPr>
              <a:buNone/>
              <a:defRPr sz="1550" b="1" i="0">
                <a:solidFill>
                  <a:srgbClr val="252D2C"/>
                </a:solidFill>
                <a:latin typeface="Arial"/>
                <a:ea typeface="Arial"/>
                <a:cs typeface="Arial"/>
              </a:defRPr>
              <a:lnSpc>
                <a:spcPts val="1907"/>
              </a:lnSpc>
              <a:spcBef>
                <a:spcPts val="0"/>
              </a:spcBef>
              <a:spcAft>
                <a:spcPts val="0"/>
              </a:spcAft>
            </a:pPr>
            <a:r>
              <a:rPr sz="1550" b="1" i="0">
                <a:solidFill>
                  <a:srgbClr val="252D2C"/>
                </a:solidFill>
                <a:latin typeface="Arial"/>
                <a:ea typeface="Arial"/>
                <a:cs typeface="Arial"/>
              </a:rPr>
              <a:t>Learning and shared life form one readable group.</a:t>
            </a:r>
          </a:p>
        </p:txBody>
      </p:sp>
      <p:sp>
        <p:nvSpPr>
          <p:cNvPr id="11" name="Editable paragraph">
            <a:extLst xmlns:a="http://schemas.openxmlformats.org/drawingml/2006/main">
              <a:ext uri="{FF2B5EF4-FFF2-40B4-BE49-F238E27FC236}">
                <a16:creationId xmlns:a16="http://schemas.microsoft.com/office/drawing/2014/main" id="{5B1F5D58-01D9-4A7A-A112-1F164A3C8C8B}"/>
              </a:ext>
            </a:extLst>
          </p:cNvPr>
          <p:cNvSpPr>
            <a:spLocks xmlns:a="http://schemas.openxmlformats.org/drawingml/2006/main" noGrp="1"/>
          </p:cNvSpPr>
          <p:nvPr/>
        </p:nvSpPr>
        <p:spPr>
          <a:xfrm xmlns:a="http://schemas.openxmlformats.org/drawingml/2006/main">
            <a:off x="5549900" y="1600200"/>
            <a:ext cx="4838700" cy="1878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40" b="1" i="0">
                <a:solidFill>
                  <a:srgbClr val="252D2C"/>
                </a:solidFill>
                <a:latin typeface="Arial"/>
                <a:ea typeface="Arial"/>
                <a:cs typeface="Arial"/>
              </a:defRPr>
            </a:defPPr>
          </a:lstStyle>
          <a:p xmlns:a="http://schemas.openxmlformats.org/drawingml/2006/main">
            <a:pPr>
              <a:buNone/>
              <a:defRPr sz="1040" b="1" i="0">
                <a:solidFill>
                  <a:srgbClr val="252D2C"/>
                </a:solidFill>
                <a:latin typeface="Arial"/>
                <a:ea typeface="Arial"/>
                <a:cs typeface="Arial"/>
              </a:defRPr>
              <a:lnSpc>
                <a:spcPts val="1279"/>
              </a:lnSpc>
              <a:spcBef>
                <a:spcPts val="0"/>
              </a:spcBef>
              <a:spcAft>
                <a:spcPts val="0"/>
              </a:spcAft>
            </a:pPr>
            <a:r>
              <a:rPr sz="1040" b="1" i="0">
                <a:solidFill>
                  <a:srgbClr val="252D2C"/>
                </a:solidFill>
                <a:latin typeface="Arial"/>
                <a:ea typeface="Arial"/>
                <a:cs typeface="Arial"/>
              </a:rPr>
              <a:t>Nearby choices make short breaks useful.</a:t>
            </a:r>
          </a:p>
        </p:txBody>
      </p:sp>
      <p:sp>
        <p:nvSpPr>
          <p:cNvPr id="12" name="">
            <a:extLst xmlns:a="http://schemas.openxmlformats.org/drawingml/2006/main">
              <a:ext uri="{FF2B5EF4-FFF2-40B4-BE49-F238E27FC236}">
                <a16:creationId xmlns:a16="http://schemas.microsoft.com/office/drawing/2014/main" id="{0A512DC6-F4C9-40B1-9DD4-A216A2D14D4B}"/>
              </a:ext>
            </a:extLst>
          </p:cNvPr>
          <p:cNvSpPr>
            <a:spLocks xmlns:a="http://schemas.openxmlformats.org/drawingml/2006/main" noGrp="1"/>
          </p:cNvSpPr>
          <p:nvPr/>
        </p:nvSpPr>
        <p:spPr>
          <a:xfrm xmlns:a="http://schemas.openxmlformats.org/drawingml/2006/main">
            <a:off x="6096000" y="2095500"/>
            <a:ext cx="3045460" cy="419100"/>
          </a:xfrm>
          <a:prstGeom xmlns:a="http://schemas.openxmlformats.org/drawingml/2006/main" prst="rect">
            <a:avLst/>
          </a:prstGeom>
          <a:solidFill xmlns:a="http://schemas.openxmlformats.org/drawingml/2006/main">
            <a:srgbClr val="DBE2D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F637DE-0B94-40AE-AC16-FAD7321FC5D8}"/>
              </a:ext>
            </a:extLst>
          </p:cNvPr>
          <p:cNvSpPr>
            <a:spLocks xmlns:a="http://schemas.openxmlformats.org/drawingml/2006/main" noGrp="1"/>
          </p:cNvSpPr>
          <p:nvPr/>
        </p:nvSpPr>
        <p:spPr>
          <a:xfrm xmlns:a="http://schemas.openxmlformats.org/drawingml/2006/main">
            <a:off x="6096000" y="3604260"/>
            <a:ext cx="3045460" cy="419100"/>
          </a:xfrm>
          <a:prstGeom xmlns:a="http://schemas.openxmlformats.org/drawingml/2006/main" prst="rect">
            <a:avLst/>
          </a:prstGeom>
          <a:solidFill xmlns:a="http://schemas.openxmlformats.org/drawingml/2006/main">
            <a:srgbClr val="DBE2D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519B68-BC50-43CB-BB7B-083BDFDFA52C}"/>
              </a:ext>
            </a:extLst>
          </p:cNvPr>
          <p:cNvSpPr>
            <a:spLocks xmlns:a="http://schemas.openxmlformats.org/drawingml/2006/main" noGrp="1"/>
          </p:cNvSpPr>
          <p:nvPr/>
        </p:nvSpPr>
        <p:spPr>
          <a:xfrm xmlns:a="http://schemas.openxmlformats.org/drawingml/2006/main">
            <a:off x="7241540" y="2395855"/>
            <a:ext cx="342265" cy="1362075"/>
          </a:xfrm>
          <a:prstGeom xmlns:a="http://schemas.openxmlformats.org/drawingml/2006/main" prst="rect">
            <a:avLst/>
          </a:prstGeom>
          <a:solidFill xmlns:a="http://schemas.openxmlformats.org/drawingml/2006/main">
            <a:srgbClr val="B6C8B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A9080DC-A47C-4AF0-B231-61FBE8D529D7}"/>
              </a:ext>
            </a:extLst>
          </p:cNvPr>
          <p:cNvSpPr>
            <a:spLocks xmlns:a="http://schemas.openxmlformats.org/drawingml/2006/main" noGrp="1"/>
          </p:cNvSpPr>
          <p:nvPr/>
        </p:nvSpPr>
        <p:spPr>
          <a:xfrm xmlns:a="http://schemas.openxmlformats.org/drawingml/2006/main">
            <a:off x="6096000" y="3604260"/>
            <a:ext cx="663575" cy="1096645"/>
          </a:xfrm>
          <a:prstGeom xmlns:a="http://schemas.openxmlformats.org/drawingml/2006/main" prst="rect">
            <a:avLst/>
          </a:prstGeom>
          <a:solidFill xmlns:a="http://schemas.openxmlformats.org/drawingml/2006/main">
            <a:srgbClr val="DCE5D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FA31D2-841A-46DD-ADB7-A6D1CACA3301}"/>
              </a:ext>
            </a:extLst>
          </p:cNvPr>
          <p:cNvSpPr>
            <a:spLocks xmlns:a="http://schemas.openxmlformats.org/drawingml/2006/main" noGrp="1"/>
          </p:cNvSpPr>
          <p:nvPr/>
        </p:nvSpPr>
        <p:spPr>
          <a:xfrm xmlns:a="http://schemas.openxmlformats.org/drawingml/2006/main">
            <a:off x="7667625" y="2668270"/>
            <a:ext cx="1264285" cy="810260"/>
          </a:xfrm>
          <a:prstGeom xmlns:a="http://schemas.openxmlformats.org/drawingml/2006/main" prst="rect">
            <a:avLst/>
          </a:prstGeom>
          <a:solidFill xmlns:a="http://schemas.openxmlformats.org/drawingml/2006/main">
            <a:srgbClr val="E5E8DE"/>
          </a:solidFill>
          <a:ln xmlns:a="http://schemas.openxmlformats.org/drawingml/2006/main" w="0">
            <a:noFill/>
            <a:prstDash val="solid"/>
          </a:ln>
        </p:spPr>
      </p:sp>
      <p:sp>
        <p:nvSpPr>
          <p:cNvPr id="17" name="Editable paragraph">
            <a:extLst xmlns:a="http://schemas.openxmlformats.org/drawingml/2006/main">
              <a:ext uri="{FF2B5EF4-FFF2-40B4-BE49-F238E27FC236}">
                <a16:creationId xmlns:a16="http://schemas.microsoft.com/office/drawing/2014/main" id="{7EB5AC6D-F5EA-4A51-8453-48D3FD600228}"/>
              </a:ext>
            </a:extLst>
          </p:cNvPr>
          <p:cNvSpPr>
            <a:spLocks xmlns:a="http://schemas.openxmlformats.org/drawingml/2006/main" noGrp="1"/>
          </p:cNvSpPr>
          <p:nvPr/>
        </p:nvSpPr>
        <p:spPr>
          <a:xfrm xmlns:a="http://schemas.openxmlformats.org/drawingml/2006/main">
            <a:off x="7695565" y="2381885"/>
            <a:ext cx="800332"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345A60"/>
                </a:solidFill>
                <a:latin typeface="Arial"/>
                <a:ea typeface="Arial"/>
                <a:cs typeface="Arial"/>
              </a:defRPr>
            </a:defPPr>
          </a:lstStyle>
          <a:p xmlns:a="http://schemas.openxmlformats.org/drawingml/2006/main">
            <a:pPr>
              <a:buNone/>
              <a:defRPr sz="730" b="1" i="0">
                <a:solidFill>
                  <a:srgbClr val="345A60"/>
                </a:solidFill>
                <a:latin typeface="Arial"/>
                <a:ea typeface="Arial"/>
                <a:cs typeface="Arial"/>
              </a:defRPr>
              <a:lnSpc>
                <a:spcPts val="847"/>
              </a:lnSpc>
              <a:spcBef>
                <a:spcPts val="0"/>
              </a:spcBef>
              <a:spcAft>
                <a:spcPts val="0"/>
              </a:spcAft>
            </a:pPr>
            <a:r>
              <a:rPr sz="730" b="1" i="0">
                <a:solidFill>
                  <a:srgbClr val="345A60"/>
                </a:solidFill>
                <a:latin typeface="Arial"/>
                <a:ea typeface="Arial"/>
                <a:cs typeface="Arial"/>
              </a:rPr>
              <a:t>LEARNING WING</a:t>
            </a:r>
          </a:p>
        </p:txBody>
      </p:sp>
      <p:sp>
        <p:nvSpPr>
          <p:cNvPr id="18" name="Editable paragraph">
            <a:extLst xmlns:a="http://schemas.openxmlformats.org/drawingml/2006/main">
              <a:ext uri="{FF2B5EF4-FFF2-40B4-BE49-F238E27FC236}">
                <a16:creationId xmlns:a16="http://schemas.microsoft.com/office/drawing/2014/main" id="{D4C4A993-F005-48D4-9662-85AC6983777D}"/>
              </a:ext>
            </a:extLst>
          </p:cNvPr>
          <p:cNvSpPr>
            <a:spLocks xmlns:a="http://schemas.openxmlformats.org/drawingml/2006/main" noGrp="1"/>
          </p:cNvSpPr>
          <p:nvPr/>
        </p:nvSpPr>
        <p:spPr>
          <a:xfrm xmlns:a="http://schemas.openxmlformats.org/drawingml/2006/main">
            <a:off x="7695565" y="3925570"/>
            <a:ext cx="800332"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345A60"/>
                </a:solidFill>
                <a:latin typeface="Arial"/>
                <a:ea typeface="Arial"/>
                <a:cs typeface="Arial"/>
              </a:defRPr>
            </a:defPPr>
          </a:lstStyle>
          <a:p xmlns:a="http://schemas.openxmlformats.org/drawingml/2006/main">
            <a:pPr>
              <a:buNone/>
              <a:defRPr sz="730" b="1" i="0">
                <a:solidFill>
                  <a:srgbClr val="345A60"/>
                </a:solidFill>
                <a:latin typeface="Arial"/>
                <a:ea typeface="Arial"/>
                <a:cs typeface="Arial"/>
              </a:defRPr>
              <a:lnSpc>
                <a:spcPts val="847"/>
              </a:lnSpc>
              <a:spcBef>
                <a:spcPts val="0"/>
              </a:spcBef>
              <a:spcAft>
                <a:spcPts val="0"/>
              </a:spcAft>
            </a:pPr>
            <a:r>
              <a:rPr sz="730" b="1" i="0">
                <a:solidFill>
                  <a:srgbClr val="345A60"/>
                </a:solidFill>
                <a:latin typeface="Arial"/>
                <a:ea typeface="Arial"/>
                <a:cs typeface="Arial"/>
              </a:rPr>
              <a:t>LEARNING WING</a:t>
            </a:r>
          </a:p>
        </p:txBody>
      </p:sp>
      <p:sp>
        <p:nvSpPr>
          <p:cNvPr id="19" name="Editable paragraph">
            <a:extLst xmlns:a="http://schemas.openxmlformats.org/drawingml/2006/main">
              <a:ext uri="{FF2B5EF4-FFF2-40B4-BE49-F238E27FC236}">
                <a16:creationId xmlns:a16="http://schemas.microsoft.com/office/drawing/2014/main" id="{42EA6C8C-818B-43C0-971C-DDCE5E6A39C5}"/>
              </a:ext>
            </a:extLst>
          </p:cNvPr>
          <p:cNvSpPr>
            <a:spLocks xmlns:a="http://schemas.openxmlformats.org/drawingml/2006/main" noGrp="1"/>
          </p:cNvSpPr>
          <p:nvPr/>
        </p:nvSpPr>
        <p:spPr>
          <a:xfrm xmlns:a="http://schemas.openxmlformats.org/drawingml/2006/main">
            <a:off x="6186805" y="4149090"/>
            <a:ext cx="642620" cy="2404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252D2C"/>
                </a:solidFill>
                <a:latin typeface="Arial"/>
                <a:ea typeface="Arial"/>
                <a:cs typeface="Arial"/>
              </a:defRPr>
            </a:defPPr>
          </a:lstStyle>
          <a:p xmlns:a="http://schemas.openxmlformats.org/drawingml/2006/main">
            <a:pPr>
              <a:buNone/>
              <a:defRPr sz="730" b="1" i="0">
                <a:solidFill>
                  <a:srgbClr val="252D2C"/>
                </a:solidFill>
                <a:latin typeface="Arial"/>
                <a:ea typeface="Arial"/>
                <a:cs typeface="Arial"/>
              </a:defRPr>
              <a:lnSpc>
                <a:spcPts val="847"/>
              </a:lnSpc>
              <a:spcBef>
                <a:spcPts val="0"/>
              </a:spcBef>
              <a:spcAft>
                <a:spcPts val="0"/>
              </a:spcAft>
            </a:pPr>
            <a:r>
              <a:rPr sz="730" b="1" i="0">
                <a:solidFill>
                  <a:srgbClr val="252D2C"/>
                </a:solidFill>
                <a:latin typeface="Arial"/>
                <a:ea typeface="Arial"/>
                <a:cs typeface="Arial"/>
              </a:rPr>
              <a:t>SHARED</a:t>
            </a:r>
          </a:p>
          <a:p xmlns:a="http://schemas.openxmlformats.org/drawingml/2006/main">
            <a:pPr>
              <a:buNone/>
              <a:defRPr sz="730" b="1" i="0">
                <a:solidFill>
                  <a:srgbClr val="252D2C"/>
                </a:solidFill>
                <a:latin typeface="Arial"/>
                <a:ea typeface="Arial"/>
                <a:cs typeface="Arial"/>
              </a:defRPr>
              <a:lnSpc>
                <a:spcPts val="847"/>
              </a:lnSpc>
              <a:spcBef>
                <a:spcPts val="0"/>
              </a:spcBef>
              <a:spcAft>
                <a:spcPts val="0"/>
              </a:spcAft>
            </a:pPr>
            <a:r>
              <a:rPr sz="730" b="1" i="0">
                <a:solidFill>
                  <a:srgbClr val="252D2C"/>
                </a:solidFill>
                <a:latin typeface="Arial"/>
                <a:ea typeface="Arial"/>
                <a:cs typeface="Arial"/>
              </a:rPr>
              <a:t>ACTIVITIES</a:t>
            </a:r>
          </a:p>
        </p:txBody>
      </p:sp>
      <p:sp>
        <p:nvSpPr>
          <p:cNvPr id="20" name="Editable paragraph">
            <a:extLst xmlns:a="http://schemas.openxmlformats.org/drawingml/2006/main">
              <a:ext uri="{FF2B5EF4-FFF2-40B4-BE49-F238E27FC236}">
                <a16:creationId xmlns:a16="http://schemas.microsoft.com/office/drawing/2014/main" id="{66899646-B119-41AD-9B60-05C3C0A331AD}"/>
              </a:ext>
            </a:extLst>
          </p:cNvPr>
          <p:cNvSpPr>
            <a:spLocks xmlns:a="http://schemas.openxmlformats.org/drawingml/2006/main" noGrp="1"/>
          </p:cNvSpPr>
          <p:nvPr/>
        </p:nvSpPr>
        <p:spPr>
          <a:xfrm xmlns:a="http://schemas.openxmlformats.org/drawingml/2006/main">
            <a:off x="7947025" y="3017520"/>
            <a:ext cx="630394"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65736D"/>
                </a:solidFill>
                <a:latin typeface="Arial"/>
                <a:ea typeface="Arial"/>
                <a:cs typeface="Arial"/>
              </a:defRPr>
            </a:defPPr>
          </a:lstStyle>
          <a:p xmlns:a="http://schemas.openxmlformats.org/drawingml/2006/main">
            <a:pPr>
              <a:buNone/>
              <a:defRPr sz="730" b="1" i="0">
                <a:solidFill>
                  <a:srgbClr val="65736D"/>
                </a:solidFill>
                <a:latin typeface="Arial"/>
                <a:ea typeface="Arial"/>
                <a:cs typeface="Arial"/>
              </a:defRPr>
              <a:lnSpc>
                <a:spcPts val="847"/>
              </a:lnSpc>
              <a:spcBef>
                <a:spcPts val="0"/>
              </a:spcBef>
              <a:spcAft>
                <a:spcPts val="0"/>
              </a:spcAft>
            </a:pPr>
            <a:r>
              <a:rPr sz="730" b="1" i="0">
                <a:solidFill>
                  <a:srgbClr val="65736D"/>
                </a:solidFill>
                <a:latin typeface="Arial"/>
                <a:ea typeface="Arial"/>
                <a:cs typeface="Arial"/>
              </a:rPr>
              <a:t>COURTYARD</a:t>
            </a:r>
          </a:p>
        </p:txBody>
      </p:sp>
      <p:sp>
        <p:nvSpPr>
          <p:cNvPr id="21" name="">
            <a:extLst xmlns:a="http://schemas.openxmlformats.org/drawingml/2006/main">
              <a:ext uri="{FF2B5EF4-FFF2-40B4-BE49-F238E27FC236}">
                <a16:creationId xmlns:a16="http://schemas.microsoft.com/office/drawing/2014/main" id="{96273D19-D86C-4D75-ACEB-7596472B643C}"/>
              </a:ext>
            </a:extLst>
          </p:cNvPr>
          <p:cNvSpPr>
            <a:spLocks xmlns:a="http://schemas.openxmlformats.org/drawingml/2006/main" noGrp="1"/>
          </p:cNvSpPr>
          <p:nvPr/>
        </p:nvSpPr>
        <p:spPr>
          <a:xfrm xmlns:a="http://schemas.openxmlformats.org/drawingml/2006/main">
            <a:off x="7423150" y="2291080"/>
            <a:ext cx="1634490" cy="1529715"/>
          </a:xfrm>
          <a:custGeom xmlns:a="http://schemas.openxmlformats.org/drawingml/2006/main">
            <a:pathLst>
              <a:path w="1634490" h="1529715">
                <a:moveTo>
                  <a:pt x="1634490" y="0"/>
                </a:moveTo>
                <a:lnTo>
                  <a:pt x="0" y="0"/>
                </a:lnTo>
                <a:lnTo>
                  <a:pt x="0" y="1529715"/>
                </a:lnTo>
                <a:lnTo>
                  <a:pt x="1606550" y="1529715"/>
                </a:lnTo>
              </a:path>
            </a:pathLst>
          </a:custGeom>
          <a:noFill xmlns:a="http://schemas.openxmlformats.org/drawingml/2006/main"/>
          <a:ln xmlns:a="http://schemas.openxmlformats.org/drawingml/2006/main" w="16065">
            <a:solidFill>
              <a:srgbClr val="345A60"/>
            </a:solidFill>
            <a:prstDash val="dash"/>
          </a:ln>
        </p:spPr>
      </p:sp>
      <p:sp>
        <p:nvSpPr>
          <p:cNvPr id="22" name="">
            <a:extLst xmlns:a="http://schemas.openxmlformats.org/drawingml/2006/main">
              <a:ext uri="{FF2B5EF4-FFF2-40B4-BE49-F238E27FC236}">
                <a16:creationId xmlns:a16="http://schemas.microsoft.com/office/drawing/2014/main" id="{9AD3D914-53E4-4E31-81D4-407A9D0E8280}"/>
              </a:ext>
            </a:extLst>
          </p:cNvPr>
          <p:cNvSpPr>
            <a:spLocks xmlns:a="http://schemas.openxmlformats.org/drawingml/2006/main" noGrp="1"/>
          </p:cNvSpPr>
          <p:nvPr/>
        </p:nvSpPr>
        <p:spPr>
          <a:xfrm xmlns:a="http://schemas.openxmlformats.org/drawingml/2006/main">
            <a:off x="7059930" y="2207260"/>
            <a:ext cx="167640" cy="167640"/>
          </a:xfrm>
          <a:prstGeom xmlns:a="http://schemas.openxmlformats.org/drawingml/2006/main" prst="ellipse">
            <a:avLst/>
          </a:prstGeom>
          <a:solidFill xmlns:a="http://schemas.openxmlformats.org/drawingml/2006/main">
            <a:srgbClr val="345A60"/>
          </a:solidFill>
          <a:ln xmlns:a="http://schemas.openxmlformats.org/drawingml/2006/main" w="0">
            <a:noFill/>
            <a:prstDash val="solid"/>
          </a:ln>
        </p:spPr>
      </p:sp>
      <p:sp>
        <p:nvSpPr>
          <p:cNvPr id="23" name="Editable paragraph">
            <a:extLst xmlns:a="http://schemas.openxmlformats.org/drawingml/2006/main">
              <a:ext uri="{FF2B5EF4-FFF2-40B4-BE49-F238E27FC236}">
                <a16:creationId xmlns:a16="http://schemas.microsoft.com/office/drawing/2014/main" id="{44F3BFED-8A6A-4DA0-AB4A-5F8B74CEC47C}"/>
              </a:ext>
            </a:extLst>
          </p:cNvPr>
          <p:cNvSpPr>
            <a:spLocks xmlns:a="http://schemas.openxmlformats.org/drawingml/2006/main" noGrp="1"/>
          </p:cNvSpPr>
          <p:nvPr/>
        </p:nvSpPr>
        <p:spPr>
          <a:xfrm xmlns:a="http://schemas.openxmlformats.org/drawingml/2006/main">
            <a:off x="7115810" y="2256155"/>
            <a:ext cx="125604"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FFFFFF"/>
                </a:solidFill>
                <a:latin typeface="Arial"/>
                <a:ea typeface="Arial"/>
                <a:cs typeface="Arial"/>
              </a:defRPr>
            </a:defPPr>
          </a:lstStyle>
          <a:p xmlns:a="http://schemas.openxmlformats.org/drawingml/2006/main">
            <a:pPr>
              <a:buNone/>
              <a:defRPr sz="730" b="1" i="0">
                <a:solidFill>
                  <a:srgbClr val="FFFFFF"/>
                </a:solidFill>
                <a:latin typeface="Arial"/>
                <a:ea typeface="Arial"/>
                <a:cs typeface="Arial"/>
              </a:defRPr>
              <a:lnSpc>
                <a:spcPts val="847"/>
              </a:lnSpc>
              <a:spcBef>
                <a:spcPts val="0"/>
              </a:spcBef>
              <a:spcAft>
                <a:spcPts val="0"/>
              </a:spcAft>
            </a:pPr>
            <a:r>
              <a:rPr sz="730" b="1" i="0">
                <a:solidFill>
                  <a:srgbClr val="FFFFFF"/>
                </a:solidFill>
                <a:latin typeface="Arial"/>
                <a:ea typeface="Arial"/>
                <a:cs typeface="Arial"/>
              </a:rPr>
              <a:t>W</a:t>
            </a:r>
          </a:p>
        </p:txBody>
      </p:sp>
      <p:sp>
        <p:nvSpPr>
          <p:cNvPr id="24" name="">
            <a:extLst xmlns:a="http://schemas.openxmlformats.org/drawingml/2006/main">
              <a:ext uri="{FF2B5EF4-FFF2-40B4-BE49-F238E27FC236}">
                <a16:creationId xmlns:a16="http://schemas.microsoft.com/office/drawing/2014/main" id="{2ACAC98C-843F-41D1-8AB2-810A6F88094B}"/>
              </a:ext>
            </a:extLst>
          </p:cNvPr>
          <p:cNvSpPr>
            <a:spLocks xmlns:a="http://schemas.openxmlformats.org/drawingml/2006/main" noGrp="1"/>
          </p:cNvSpPr>
          <p:nvPr/>
        </p:nvSpPr>
        <p:spPr>
          <a:xfrm xmlns:a="http://schemas.openxmlformats.org/drawingml/2006/main">
            <a:off x="7059930" y="3736975"/>
            <a:ext cx="167640" cy="167640"/>
          </a:xfrm>
          <a:prstGeom xmlns:a="http://schemas.openxmlformats.org/drawingml/2006/main" prst="ellipse">
            <a:avLst/>
          </a:prstGeom>
          <a:solidFill xmlns:a="http://schemas.openxmlformats.org/drawingml/2006/main">
            <a:srgbClr val="345A60"/>
          </a:solidFill>
          <a:ln xmlns:a="http://schemas.openxmlformats.org/drawingml/2006/main" w="0">
            <a:noFill/>
            <a:prstDash val="solid"/>
          </a:ln>
        </p:spPr>
      </p:sp>
      <p:sp>
        <p:nvSpPr>
          <p:cNvPr id="25" name="Editable paragraph">
            <a:extLst xmlns:a="http://schemas.openxmlformats.org/drawingml/2006/main">
              <a:ext uri="{FF2B5EF4-FFF2-40B4-BE49-F238E27FC236}">
                <a16:creationId xmlns:a16="http://schemas.microsoft.com/office/drawing/2014/main" id="{A80340DB-F5E4-407F-8EAB-DEA876299F0C}"/>
              </a:ext>
            </a:extLst>
          </p:cNvPr>
          <p:cNvSpPr>
            <a:spLocks xmlns:a="http://schemas.openxmlformats.org/drawingml/2006/main" noGrp="1"/>
          </p:cNvSpPr>
          <p:nvPr/>
        </p:nvSpPr>
        <p:spPr>
          <a:xfrm xmlns:a="http://schemas.openxmlformats.org/drawingml/2006/main">
            <a:off x="7115810" y="3785870"/>
            <a:ext cx="125604"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FFFFFF"/>
                </a:solidFill>
                <a:latin typeface="Arial"/>
                <a:ea typeface="Arial"/>
                <a:cs typeface="Arial"/>
              </a:defRPr>
            </a:defPPr>
          </a:lstStyle>
          <a:p xmlns:a="http://schemas.openxmlformats.org/drawingml/2006/main">
            <a:pPr>
              <a:buNone/>
              <a:defRPr sz="730" b="1" i="0">
                <a:solidFill>
                  <a:srgbClr val="FFFFFF"/>
                </a:solidFill>
                <a:latin typeface="Arial"/>
                <a:ea typeface="Arial"/>
                <a:cs typeface="Arial"/>
              </a:defRPr>
              <a:lnSpc>
                <a:spcPts val="847"/>
              </a:lnSpc>
              <a:spcBef>
                <a:spcPts val="0"/>
              </a:spcBef>
              <a:spcAft>
                <a:spcPts val="0"/>
              </a:spcAft>
            </a:pPr>
            <a:r>
              <a:rPr sz="730" b="1" i="0">
                <a:solidFill>
                  <a:srgbClr val="FFFFFF"/>
                </a:solidFill>
                <a:latin typeface="Arial"/>
                <a:ea typeface="Arial"/>
                <a:cs typeface="Arial"/>
              </a:rPr>
              <a:t>W</a:t>
            </a:r>
          </a:p>
        </p:txBody>
      </p:sp>
      <p:sp>
        <p:nvSpPr>
          <p:cNvPr id="26" name="">
            <a:extLst xmlns:a="http://schemas.openxmlformats.org/drawingml/2006/main">
              <a:ext uri="{FF2B5EF4-FFF2-40B4-BE49-F238E27FC236}">
                <a16:creationId xmlns:a16="http://schemas.microsoft.com/office/drawing/2014/main" id="{06CDD49D-8942-4CE5-B447-311EA5F1BBA3}"/>
              </a:ext>
            </a:extLst>
          </p:cNvPr>
          <p:cNvSpPr>
            <a:spLocks xmlns:a="http://schemas.openxmlformats.org/drawingml/2006/main" noGrp="1"/>
          </p:cNvSpPr>
          <p:nvPr/>
        </p:nvSpPr>
        <p:spPr>
          <a:xfrm xmlns:a="http://schemas.openxmlformats.org/drawingml/2006/main">
            <a:off x="7339330" y="2912745"/>
            <a:ext cx="167640" cy="167640"/>
          </a:xfrm>
          <a:prstGeom xmlns:a="http://schemas.openxmlformats.org/drawingml/2006/main" prst="ellipse">
            <a:avLst/>
          </a:prstGeom>
          <a:solidFill xmlns:a="http://schemas.openxmlformats.org/drawingml/2006/main">
            <a:srgbClr val="345A60"/>
          </a:solidFill>
          <a:ln xmlns:a="http://schemas.openxmlformats.org/drawingml/2006/main" w="0">
            <a:noFill/>
            <a:prstDash val="solid"/>
          </a:ln>
        </p:spPr>
      </p:sp>
      <p:sp>
        <p:nvSpPr>
          <p:cNvPr id="27" name="Editable paragraph">
            <a:extLst xmlns:a="http://schemas.openxmlformats.org/drawingml/2006/main">
              <a:ext uri="{FF2B5EF4-FFF2-40B4-BE49-F238E27FC236}">
                <a16:creationId xmlns:a16="http://schemas.microsoft.com/office/drawing/2014/main" id="{AE7ACA27-479B-44A8-89FA-5652A9474B11}"/>
              </a:ext>
            </a:extLst>
          </p:cNvPr>
          <p:cNvSpPr>
            <a:spLocks xmlns:a="http://schemas.openxmlformats.org/drawingml/2006/main" noGrp="1"/>
          </p:cNvSpPr>
          <p:nvPr/>
        </p:nvSpPr>
        <p:spPr>
          <a:xfrm xmlns:a="http://schemas.openxmlformats.org/drawingml/2006/main">
            <a:off x="7395210" y="2961640"/>
            <a:ext cx="105052"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FFFFFF"/>
                </a:solidFill>
                <a:latin typeface="Arial"/>
                <a:ea typeface="Arial"/>
                <a:cs typeface="Arial"/>
              </a:defRPr>
            </a:defPPr>
          </a:lstStyle>
          <a:p xmlns:a="http://schemas.openxmlformats.org/drawingml/2006/main">
            <a:pPr>
              <a:buNone/>
              <a:defRPr sz="730" b="1" i="0">
                <a:solidFill>
                  <a:srgbClr val="FFFFFF"/>
                </a:solidFill>
                <a:latin typeface="Arial"/>
                <a:ea typeface="Arial"/>
                <a:cs typeface="Arial"/>
              </a:defRPr>
              <a:lnSpc>
                <a:spcPts val="847"/>
              </a:lnSpc>
              <a:spcBef>
                <a:spcPts val="0"/>
              </a:spcBef>
              <a:spcAft>
                <a:spcPts val="0"/>
              </a:spcAft>
            </a:pPr>
            <a:r>
              <a:rPr sz="730" b="1" i="0">
                <a:solidFill>
                  <a:srgbClr val="FFFFFF"/>
                </a:solidFill>
                <a:latin typeface="Arial"/>
                <a:ea typeface="Arial"/>
                <a:cs typeface="Arial"/>
              </a:rPr>
              <a:t>A</a:t>
            </a:r>
          </a:p>
        </p:txBody>
      </p:sp>
      <p:sp>
        <p:nvSpPr>
          <p:cNvPr id="28" name="">
            <a:extLst xmlns:a="http://schemas.openxmlformats.org/drawingml/2006/main">
              <a:ext uri="{FF2B5EF4-FFF2-40B4-BE49-F238E27FC236}">
                <a16:creationId xmlns:a16="http://schemas.microsoft.com/office/drawing/2014/main" id="{16222B50-C6DA-4E93-AC6F-095E7BAAA34C}"/>
              </a:ext>
            </a:extLst>
          </p:cNvPr>
          <p:cNvSpPr>
            <a:spLocks xmlns:a="http://schemas.openxmlformats.org/drawingml/2006/main" noGrp="1"/>
          </p:cNvSpPr>
          <p:nvPr/>
        </p:nvSpPr>
        <p:spPr>
          <a:xfrm xmlns:a="http://schemas.openxmlformats.org/drawingml/2006/main">
            <a:off x="7681595" y="3485515"/>
            <a:ext cx="167640" cy="167640"/>
          </a:xfrm>
          <a:prstGeom xmlns:a="http://schemas.openxmlformats.org/drawingml/2006/main" prst="ellipse">
            <a:avLst/>
          </a:prstGeom>
          <a:solidFill xmlns:a="http://schemas.openxmlformats.org/drawingml/2006/main">
            <a:srgbClr val="81968A"/>
          </a:solidFill>
          <a:ln xmlns:a="http://schemas.openxmlformats.org/drawingml/2006/main" w="0">
            <a:noFill/>
            <a:prstDash val="solid"/>
          </a:ln>
        </p:spPr>
      </p:sp>
      <p:sp>
        <p:nvSpPr>
          <p:cNvPr id="29" name="Editable paragraph">
            <a:extLst xmlns:a="http://schemas.openxmlformats.org/drawingml/2006/main">
              <a:ext uri="{FF2B5EF4-FFF2-40B4-BE49-F238E27FC236}">
                <a16:creationId xmlns:a16="http://schemas.microsoft.com/office/drawing/2014/main" id="{74A74819-2A4D-4ED8-AF85-B977A75509D5}"/>
              </a:ext>
            </a:extLst>
          </p:cNvPr>
          <p:cNvSpPr>
            <a:spLocks xmlns:a="http://schemas.openxmlformats.org/drawingml/2006/main" noGrp="1"/>
          </p:cNvSpPr>
          <p:nvPr/>
        </p:nvSpPr>
        <p:spPr>
          <a:xfrm xmlns:a="http://schemas.openxmlformats.org/drawingml/2006/main">
            <a:off x="7737475" y="3534410"/>
            <a:ext cx="99937"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FFFFFF"/>
                </a:solidFill>
                <a:latin typeface="Arial"/>
                <a:ea typeface="Arial"/>
                <a:cs typeface="Arial"/>
              </a:defRPr>
            </a:defPPr>
          </a:lstStyle>
          <a:p xmlns:a="http://schemas.openxmlformats.org/drawingml/2006/main">
            <a:pPr>
              <a:buNone/>
              <a:defRPr sz="730" b="1" i="0">
                <a:solidFill>
                  <a:srgbClr val="FFFFFF"/>
                </a:solidFill>
                <a:latin typeface="Arial"/>
                <a:ea typeface="Arial"/>
                <a:cs typeface="Arial"/>
              </a:defRPr>
              <a:lnSpc>
                <a:spcPts val="847"/>
              </a:lnSpc>
              <a:spcBef>
                <a:spcPts val="0"/>
              </a:spcBef>
              <a:spcAft>
                <a:spcPts val="0"/>
              </a:spcAft>
            </a:pPr>
            <a:r>
              <a:rPr sz="730" b="1" i="0">
                <a:solidFill>
                  <a:srgbClr val="FFFFFF"/>
                </a:solidFill>
                <a:latin typeface="Arial"/>
                <a:ea typeface="Arial"/>
                <a:cs typeface="Arial"/>
              </a:rPr>
              <a:t>S</a:t>
            </a:r>
          </a:p>
        </p:txBody>
      </p:sp>
      <p:sp>
        <p:nvSpPr>
          <p:cNvPr id="30" name="">
            <a:extLst xmlns:a="http://schemas.openxmlformats.org/drawingml/2006/main">
              <a:ext uri="{FF2B5EF4-FFF2-40B4-BE49-F238E27FC236}">
                <a16:creationId xmlns:a16="http://schemas.microsoft.com/office/drawing/2014/main" id="{9D29AFCC-3040-454F-85F7-DC671B1907BE}"/>
              </a:ext>
            </a:extLst>
          </p:cNvPr>
          <p:cNvSpPr>
            <a:spLocks xmlns:a="http://schemas.openxmlformats.org/drawingml/2006/main" noGrp="1"/>
          </p:cNvSpPr>
          <p:nvPr/>
        </p:nvSpPr>
        <p:spPr>
          <a:xfrm xmlns:a="http://schemas.openxmlformats.org/drawingml/2006/main">
            <a:off x="7479030" y="2570480"/>
            <a:ext cx="167640" cy="167640"/>
          </a:xfrm>
          <a:prstGeom xmlns:a="http://schemas.openxmlformats.org/drawingml/2006/main" prst="ellipse">
            <a:avLst/>
          </a:prstGeom>
          <a:solidFill xmlns:a="http://schemas.openxmlformats.org/drawingml/2006/main">
            <a:srgbClr val="81968A"/>
          </a:solidFill>
          <a:ln xmlns:a="http://schemas.openxmlformats.org/drawingml/2006/main" w="0">
            <a:noFill/>
            <a:prstDash val="solid"/>
          </a:ln>
        </p:spPr>
      </p:sp>
      <p:sp>
        <p:nvSpPr>
          <p:cNvPr id="31" name="Editable paragraph">
            <a:extLst xmlns:a="http://schemas.openxmlformats.org/drawingml/2006/main">
              <a:ext uri="{FF2B5EF4-FFF2-40B4-BE49-F238E27FC236}">
                <a16:creationId xmlns:a16="http://schemas.microsoft.com/office/drawing/2014/main" id="{0ED48DDD-EFC5-43A4-8E50-B780C36FBB23}"/>
              </a:ext>
            </a:extLst>
          </p:cNvPr>
          <p:cNvSpPr>
            <a:spLocks xmlns:a="http://schemas.openxmlformats.org/drawingml/2006/main" noGrp="1"/>
          </p:cNvSpPr>
          <p:nvPr/>
        </p:nvSpPr>
        <p:spPr>
          <a:xfrm xmlns:a="http://schemas.openxmlformats.org/drawingml/2006/main">
            <a:off x="7534910" y="2619375"/>
            <a:ext cx="99937" cy="132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1" i="0">
                <a:solidFill>
                  <a:srgbClr val="FFFFFF"/>
                </a:solidFill>
                <a:latin typeface="Arial"/>
                <a:ea typeface="Arial"/>
                <a:cs typeface="Arial"/>
              </a:defRPr>
            </a:defPPr>
          </a:lstStyle>
          <a:p xmlns:a="http://schemas.openxmlformats.org/drawingml/2006/main">
            <a:pPr>
              <a:buNone/>
              <a:defRPr sz="730" b="1" i="0">
                <a:solidFill>
                  <a:srgbClr val="FFFFFF"/>
                </a:solidFill>
                <a:latin typeface="Arial"/>
                <a:ea typeface="Arial"/>
                <a:cs typeface="Arial"/>
              </a:defRPr>
              <a:lnSpc>
                <a:spcPts val="847"/>
              </a:lnSpc>
              <a:spcBef>
                <a:spcPts val="0"/>
              </a:spcBef>
              <a:spcAft>
                <a:spcPts val="0"/>
              </a:spcAft>
            </a:pPr>
            <a:r>
              <a:rPr sz="730" b="1" i="0">
                <a:solidFill>
                  <a:srgbClr val="FFFFFF"/>
                </a:solidFill>
                <a:latin typeface="Arial"/>
                <a:ea typeface="Arial"/>
                <a:cs typeface="Arial"/>
              </a:rPr>
              <a:t>S</a:t>
            </a:r>
          </a:p>
        </p:txBody>
      </p:sp>
      <p:sp>
        <p:nvSpPr>
          <p:cNvPr id="32" name="Editable paragraph">
            <a:extLst xmlns:a="http://schemas.openxmlformats.org/drawingml/2006/main">
              <a:ext uri="{FF2B5EF4-FFF2-40B4-BE49-F238E27FC236}">
                <a16:creationId xmlns:a16="http://schemas.microsoft.com/office/drawing/2014/main" id="{E9518277-0EB9-430C-8AEC-7B6E14253CE0}"/>
              </a:ext>
            </a:extLst>
          </p:cNvPr>
          <p:cNvSpPr>
            <a:spLocks xmlns:a="http://schemas.openxmlformats.org/drawingml/2006/main" noGrp="1"/>
          </p:cNvSpPr>
          <p:nvPr/>
        </p:nvSpPr>
        <p:spPr>
          <a:xfrm xmlns:a="http://schemas.openxmlformats.org/drawingml/2006/main">
            <a:off x="5549900" y="4787900"/>
            <a:ext cx="4838700" cy="1456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70" b="0" i="0">
                <a:solidFill>
                  <a:srgbClr val="65736D"/>
                </a:solidFill>
                <a:latin typeface="Arial"/>
                <a:ea typeface="Arial"/>
                <a:cs typeface="Arial"/>
              </a:defRPr>
            </a:defPPr>
          </a:lstStyle>
          <a:p xmlns:a="http://schemas.openxmlformats.org/drawingml/2006/main">
            <a:pPr>
              <a:buNone/>
              <a:defRPr sz="770" b="0" i="0">
                <a:solidFill>
                  <a:srgbClr val="65736D"/>
                </a:solidFill>
                <a:latin typeface="Arial"/>
                <a:ea typeface="Arial"/>
                <a:cs typeface="Arial"/>
              </a:defRPr>
              <a:lnSpc>
                <a:spcPts val="947"/>
              </a:lnSpc>
              <a:spcBef>
                <a:spcPts val="0"/>
              </a:spcBef>
              <a:spcAft>
                <a:spcPts val="0"/>
              </a:spcAft>
            </a:pPr>
            <a:r>
              <a:rPr sz="770" b="0" i="0">
                <a:solidFill>
                  <a:srgbClr val="65736D"/>
                </a:solidFill>
                <a:latin typeface="Arial"/>
                <a:ea typeface="Arial"/>
                <a:cs typeface="Arial"/>
              </a:rPr>
              <a:t>Care and activity along daily routes</a:t>
            </a:r>
          </a:p>
        </p:txBody>
      </p:sp>
      <p:sp>
        <p:nvSpPr>
          <p:cNvPr id="33" name="">
            <a:extLst xmlns:a="http://schemas.openxmlformats.org/drawingml/2006/main">
              <a:ext uri="{FF2B5EF4-FFF2-40B4-BE49-F238E27FC236}">
                <a16:creationId xmlns:a16="http://schemas.microsoft.com/office/drawing/2014/main" id="{2BD0F643-DBE2-4A81-96C5-38B62AFF8642}"/>
              </a:ext>
            </a:extLst>
          </p:cNvPr>
          <p:cNvSpPr>
            <a:spLocks xmlns:a="http://schemas.openxmlformats.org/drawingml/2006/main" noGrp="1"/>
          </p:cNvSpPr>
          <p:nvPr/>
        </p:nvSpPr>
        <p:spPr>
          <a:xfrm xmlns:a="http://schemas.openxmlformats.org/drawingml/2006/main">
            <a:off x="5549900" y="5080000"/>
            <a:ext cx="241300" cy="241300"/>
          </a:xfrm>
          <a:prstGeom xmlns:a="http://schemas.openxmlformats.org/drawingml/2006/main" prst="rect">
            <a:avLst/>
          </a:prstGeom>
          <a:solidFill xmlns:a="http://schemas.openxmlformats.org/drawingml/2006/main">
            <a:srgbClr val="345A60"/>
          </a:solidFill>
          <a:ln xmlns:a="http://schemas.openxmlformats.org/drawingml/2006/main" w="0">
            <a:noFill/>
            <a:prstDash val="solid"/>
          </a:ln>
        </p:spPr>
      </p:sp>
      <p:sp>
        <p:nvSpPr>
          <p:cNvPr id="34" name="Editable paragraph">
            <a:extLst xmlns:a="http://schemas.openxmlformats.org/drawingml/2006/main">
              <a:ext uri="{FF2B5EF4-FFF2-40B4-BE49-F238E27FC236}">
                <a16:creationId xmlns:a16="http://schemas.microsoft.com/office/drawing/2014/main" id="{A1F3A5B9-4F51-42C7-94CF-FF162CFBBE40}"/>
              </a:ext>
            </a:extLst>
          </p:cNvPr>
          <p:cNvSpPr>
            <a:spLocks xmlns:a="http://schemas.openxmlformats.org/drawingml/2006/main" noGrp="1"/>
          </p:cNvSpPr>
          <p:nvPr/>
        </p:nvSpPr>
        <p:spPr>
          <a:xfrm xmlns:a="http://schemas.openxmlformats.org/drawingml/2006/main">
            <a:off x="5613400" y="5118100"/>
            <a:ext cx="190500" cy="1675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1" i="0">
                <a:solidFill>
                  <a:srgbClr val="FFFFFF"/>
                </a:solidFill>
                <a:latin typeface="Arial"/>
                <a:ea typeface="Arial"/>
                <a:cs typeface="Arial"/>
              </a:defRPr>
            </a:defPPr>
          </a:lstStyle>
          <a:p xmlns:a="http://schemas.openxmlformats.org/drawingml/2006/main">
            <a:pPr>
              <a:buNone/>
              <a:defRPr sz="910" b="1" i="0">
                <a:solidFill>
                  <a:srgbClr val="FFFFFF"/>
                </a:solidFill>
                <a:latin typeface="Arial"/>
                <a:ea typeface="Arial"/>
                <a:cs typeface="Arial"/>
              </a:defRPr>
              <a:lnSpc>
                <a:spcPts val="1119"/>
              </a:lnSpc>
              <a:spcBef>
                <a:spcPts val="0"/>
              </a:spcBef>
              <a:spcAft>
                <a:spcPts val="0"/>
              </a:spcAft>
            </a:pPr>
            <a:r>
              <a:rPr sz="910" b="1" i="0">
                <a:solidFill>
                  <a:srgbClr val="FFFFFF"/>
                </a:solidFill>
                <a:latin typeface="Arial"/>
                <a:ea typeface="Arial"/>
                <a:cs typeface="Arial"/>
              </a:rPr>
              <a:t>W</a:t>
            </a:r>
          </a:p>
        </p:txBody>
      </p:sp>
      <p:sp>
        <p:nvSpPr>
          <p:cNvPr id="35" name="Editable paragraph">
            <a:extLst xmlns:a="http://schemas.openxmlformats.org/drawingml/2006/main">
              <a:ext uri="{FF2B5EF4-FFF2-40B4-BE49-F238E27FC236}">
                <a16:creationId xmlns:a16="http://schemas.microsoft.com/office/drawing/2014/main" id="{DEF61446-A766-40EA-A72C-331F04B6CE42}"/>
              </a:ext>
            </a:extLst>
          </p:cNvPr>
          <p:cNvSpPr>
            <a:spLocks xmlns:a="http://schemas.openxmlformats.org/drawingml/2006/main" noGrp="1"/>
          </p:cNvSpPr>
          <p:nvPr/>
        </p:nvSpPr>
        <p:spPr>
          <a:xfrm xmlns:a="http://schemas.openxmlformats.org/drawingml/2006/main">
            <a:off x="5918200" y="5067300"/>
            <a:ext cx="44704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345A60"/>
                </a:solidFill>
                <a:latin typeface="Arial"/>
                <a:ea typeface="Arial"/>
                <a:cs typeface="Arial"/>
              </a:defRPr>
            </a:defPPr>
          </a:lstStyle>
          <a:p xmlns:a="http://schemas.openxmlformats.org/drawingml/2006/main">
            <a:pPr>
              <a:buNone/>
              <a:defRPr sz="940" b="1" i="0">
                <a:solidFill>
                  <a:srgbClr val="345A60"/>
                </a:solidFill>
                <a:latin typeface="Arial"/>
                <a:ea typeface="Arial"/>
                <a:cs typeface="Arial"/>
              </a:defRPr>
              <a:lnSpc>
                <a:spcPts val="1156"/>
              </a:lnSpc>
              <a:spcBef>
                <a:spcPts val="0"/>
              </a:spcBef>
              <a:spcAft>
                <a:spcPts val="0"/>
              </a:spcAft>
            </a:pPr>
            <a:r>
              <a:rPr sz="940" b="1" i="0">
                <a:solidFill>
                  <a:srgbClr val="345A60"/>
                </a:solidFill>
                <a:latin typeface="Arial"/>
                <a:ea typeface="Arial"/>
                <a:cs typeface="Arial"/>
              </a:rPr>
              <a:t>Washing + toilets</a:t>
            </a:r>
          </a:p>
        </p:txBody>
      </p:sp>
      <p:sp>
        <p:nvSpPr>
          <p:cNvPr id="36" name="Editable paragraph">
            <a:extLst xmlns:a="http://schemas.openxmlformats.org/drawingml/2006/main">
              <a:ext uri="{FF2B5EF4-FFF2-40B4-BE49-F238E27FC236}">
                <a16:creationId xmlns:a16="http://schemas.microsoft.com/office/drawing/2014/main" id="{949446A0-C651-4717-A9E8-25C35518266D}"/>
              </a:ext>
            </a:extLst>
          </p:cNvPr>
          <p:cNvSpPr>
            <a:spLocks xmlns:a="http://schemas.openxmlformats.org/drawingml/2006/main" noGrp="1"/>
          </p:cNvSpPr>
          <p:nvPr/>
        </p:nvSpPr>
        <p:spPr>
          <a:xfrm xmlns:a="http://schemas.openxmlformats.org/drawingml/2006/main">
            <a:off x="5918200" y="5283200"/>
            <a:ext cx="4470400" cy="1675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19"/>
              </a:lnSpc>
              <a:spcBef>
                <a:spcPts val="0"/>
              </a:spcBef>
              <a:spcAft>
                <a:spcPts val="0"/>
              </a:spcAft>
            </a:pPr>
            <a:r>
              <a:rPr sz="910" b="0" i="0">
                <a:solidFill>
                  <a:srgbClr val="252D2C"/>
                </a:solidFill>
                <a:latin typeface="Arial"/>
                <a:ea typeface="Arial"/>
                <a:cs typeface="Arial"/>
              </a:rPr>
              <a:t>A clear connection to teaching and activity.</a:t>
            </a:r>
          </a:p>
        </p:txBody>
      </p:sp>
      <p:sp>
        <p:nvSpPr>
          <p:cNvPr id="37" name="">
            <a:extLst xmlns:a="http://schemas.openxmlformats.org/drawingml/2006/main">
              <a:ext uri="{FF2B5EF4-FFF2-40B4-BE49-F238E27FC236}">
                <a16:creationId xmlns:a16="http://schemas.microsoft.com/office/drawing/2014/main" id="{4BD543A5-7DAB-40FC-90EE-B13F6C32D4CC}"/>
              </a:ext>
            </a:extLst>
          </p:cNvPr>
          <p:cNvSpPr>
            <a:spLocks xmlns:a="http://schemas.openxmlformats.org/drawingml/2006/main" noGrp="1"/>
          </p:cNvSpPr>
          <p:nvPr/>
        </p:nvSpPr>
        <p:spPr>
          <a:xfrm xmlns:a="http://schemas.openxmlformats.org/drawingml/2006/main">
            <a:off x="5549900" y="5676900"/>
            <a:ext cx="241300" cy="241300"/>
          </a:xfrm>
          <a:prstGeom xmlns:a="http://schemas.openxmlformats.org/drawingml/2006/main" prst="rect">
            <a:avLst/>
          </a:prstGeom>
          <a:solidFill xmlns:a="http://schemas.openxmlformats.org/drawingml/2006/main">
            <a:srgbClr val="345A60"/>
          </a:solidFill>
          <a:ln xmlns:a="http://schemas.openxmlformats.org/drawingml/2006/main" w="0">
            <a:noFill/>
            <a:prstDash val="solid"/>
          </a:ln>
        </p:spPr>
      </p:sp>
      <p:sp>
        <p:nvSpPr>
          <p:cNvPr id="38" name="Editable paragraph">
            <a:extLst xmlns:a="http://schemas.openxmlformats.org/drawingml/2006/main">
              <a:ext uri="{FF2B5EF4-FFF2-40B4-BE49-F238E27FC236}">
                <a16:creationId xmlns:a16="http://schemas.microsoft.com/office/drawing/2014/main" id="{AE459AE2-B9DE-4C53-AB87-2B2310A2BB36}"/>
              </a:ext>
            </a:extLst>
          </p:cNvPr>
          <p:cNvSpPr>
            <a:spLocks xmlns:a="http://schemas.openxmlformats.org/drawingml/2006/main" noGrp="1"/>
          </p:cNvSpPr>
          <p:nvPr/>
        </p:nvSpPr>
        <p:spPr>
          <a:xfrm xmlns:a="http://schemas.openxmlformats.org/drawingml/2006/main">
            <a:off x="5613400" y="5715000"/>
            <a:ext cx="190500" cy="1675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1" i="0">
                <a:solidFill>
                  <a:srgbClr val="FFFFFF"/>
                </a:solidFill>
                <a:latin typeface="Arial"/>
                <a:ea typeface="Arial"/>
                <a:cs typeface="Arial"/>
              </a:defRPr>
            </a:defPPr>
          </a:lstStyle>
          <a:p xmlns:a="http://schemas.openxmlformats.org/drawingml/2006/main">
            <a:pPr>
              <a:buNone/>
              <a:defRPr sz="910" b="1" i="0">
                <a:solidFill>
                  <a:srgbClr val="FFFFFF"/>
                </a:solidFill>
                <a:latin typeface="Arial"/>
                <a:ea typeface="Arial"/>
                <a:cs typeface="Arial"/>
              </a:defRPr>
              <a:lnSpc>
                <a:spcPts val="1119"/>
              </a:lnSpc>
              <a:spcBef>
                <a:spcPts val="0"/>
              </a:spcBef>
              <a:spcAft>
                <a:spcPts val="0"/>
              </a:spcAft>
            </a:pPr>
            <a:r>
              <a:rPr sz="910" b="1" i="0">
                <a:solidFill>
                  <a:srgbClr val="FFFFFF"/>
                </a:solidFill>
                <a:latin typeface="Arial"/>
                <a:ea typeface="Arial"/>
                <a:cs typeface="Arial"/>
              </a:rPr>
              <a:t>A</a:t>
            </a:r>
          </a:p>
        </p:txBody>
      </p:sp>
      <p:sp>
        <p:nvSpPr>
          <p:cNvPr id="39" name="Editable paragraph">
            <a:extLst xmlns:a="http://schemas.openxmlformats.org/drawingml/2006/main">
              <a:ext uri="{FF2B5EF4-FFF2-40B4-BE49-F238E27FC236}">
                <a16:creationId xmlns:a16="http://schemas.microsoft.com/office/drawing/2014/main" id="{57AC1B77-5657-4B94-B98B-58C07395D953}"/>
              </a:ext>
            </a:extLst>
          </p:cNvPr>
          <p:cNvSpPr>
            <a:spLocks xmlns:a="http://schemas.openxmlformats.org/drawingml/2006/main" noGrp="1"/>
          </p:cNvSpPr>
          <p:nvPr/>
        </p:nvSpPr>
        <p:spPr>
          <a:xfrm xmlns:a="http://schemas.openxmlformats.org/drawingml/2006/main">
            <a:off x="5918200" y="5664200"/>
            <a:ext cx="44704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345A60"/>
                </a:solidFill>
                <a:latin typeface="Arial"/>
                <a:ea typeface="Arial"/>
                <a:cs typeface="Arial"/>
              </a:defRPr>
            </a:defPPr>
          </a:lstStyle>
          <a:p xmlns:a="http://schemas.openxmlformats.org/drawingml/2006/main">
            <a:pPr>
              <a:buNone/>
              <a:defRPr sz="940" b="1" i="0">
                <a:solidFill>
                  <a:srgbClr val="345A60"/>
                </a:solidFill>
                <a:latin typeface="Arial"/>
                <a:ea typeface="Arial"/>
                <a:cs typeface="Arial"/>
              </a:defRPr>
              <a:lnSpc>
                <a:spcPts val="1156"/>
              </a:lnSpc>
              <a:spcBef>
                <a:spcPts val="0"/>
              </a:spcBef>
              <a:spcAft>
                <a:spcPts val="0"/>
              </a:spcAft>
            </a:pPr>
            <a:r>
              <a:rPr sz="940" b="1" i="0">
                <a:solidFill>
                  <a:srgbClr val="345A60"/>
                </a:solidFill>
                <a:latin typeface="Arial"/>
                <a:ea typeface="Arial"/>
                <a:cs typeface="Arial"/>
              </a:rPr>
              <a:t>Adult support</a:t>
            </a:r>
          </a:p>
        </p:txBody>
      </p:sp>
      <p:sp>
        <p:nvSpPr>
          <p:cNvPr id="40" name="Editable paragraph">
            <a:extLst xmlns:a="http://schemas.openxmlformats.org/drawingml/2006/main">
              <a:ext uri="{FF2B5EF4-FFF2-40B4-BE49-F238E27FC236}">
                <a16:creationId xmlns:a16="http://schemas.microsoft.com/office/drawing/2014/main" id="{728361D2-1E98-435E-AA2A-FE018B2AC9CE}"/>
              </a:ext>
            </a:extLst>
          </p:cNvPr>
          <p:cNvSpPr>
            <a:spLocks xmlns:a="http://schemas.openxmlformats.org/drawingml/2006/main" noGrp="1"/>
          </p:cNvSpPr>
          <p:nvPr/>
        </p:nvSpPr>
        <p:spPr>
          <a:xfrm xmlns:a="http://schemas.openxmlformats.org/drawingml/2006/main">
            <a:off x="5918200" y="5880100"/>
            <a:ext cx="4470400" cy="1675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19"/>
              </a:lnSpc>
              <a:spcBef>
                <a:spcPts val="0"/>
              </a:spcBef>
              <a:spcAft>
                <a:spcPts val="0"/>
              </a:spcAft>
            </a:pPr>
            <a:r>
              <a:rPr sz="910" b="0" i="0">
                <a:solidFill>
                  <a:srgbClr val="252D2C"/>
                </a:solidFill>
                <a:latin typeface="Arial"/>
                <a:ea typeface="Arial"/>
                <a:cs typeface="Arial"/>
              </a:rPr>
              <a:t>An easy-to-find contact along everyday routes.</a:t>
            </a:r>
          </a:p>
        </p:txBody>
      </p:sp>
      <p:sp>
        <p:nvSpPr>
          <p:cNvPr id="41" name="">
            <a:extLst xmlns:a="http://schemas.openxmlformats.org/drawingml/2006/main">
              <a:ext uri="{FF2B5EF4-FFF2-40B4-BE49-F238E27FC236}">
                <a16:creationId xmlns:a16="http://schemas.microsoft.com/office/drawing/2014/main" id="{3935A82D-2CEE-4F27-AC28-A547F4328574}"/>
              </a:ext>
            </a:extLst>
          </p:cNvPr>
          <p:cNvSpPr>
            <a:spLocks xmlns:a="http://schemas.openxmlformats.org/drawingml/2006/main" noGrp="1"/>
          </p:cNvSpPr>
          <p:nvPr/>
        </p:nvSpPr>
        <p:spPr>
          <a:xfrm xmlns:a="http://schemas.openxmlformats.org/drawingml/2006/main">
            <a:off x="5549900" y="6273800"/>
            <a:ext cx="241300" cy="241300"/>
          </a:xfrm>
          <a:prstGeom xmlns:a="http://schemas.openxmlformats.org/drawingml/2006/main" prst="rect">
            <a:avLst/>
          </a:prstGeom>
          <a:solidFill xmlns:a="http://schemas.openxmlformats.org/drawingml/2006/main">
            <a:srgbClr val="345A60"/>
          </a:solidFill>
          <a:ln xmlns:a="http://schemas.openxmlformats.org/drawingml/2006/main" w="0">
            <a:noFill/>
            <a:prstDash val="solid"/>
          </a:ln>
        </p:spPr>
      </p:sp>
      <p:sp>
        <p:nvSpPr>
          <p:cNvPr id="42" name="Editable paragraph">
            <a:extLst xmlns:a="http://schemas.openxmlformats.org/drawingml/2006/main">
              <a:ext uri="{FF2B5EF4-FFF2-40B4-BE49-F238E27FC236}">
                <a16:creationId xmlns:a16="http://schemas.microsoft.com/office/drawing/2014/main" id="{B187BE3B-111A-4DEF-A452-8068239E8A59}"/>
              </a:ext>
            </a:extLst>
          </p:cNvPr>
          <p:cNvSpPr>
            <a:spLocks xmlns:a="http://schemas.openxmlformats.org/drawingml/2006/main" noGrp="1"/>
          </p:cNvSpPr>
          <p:nvPr/>
        </p:nvSpPr>
        <p:spPr>
          <a:xfrm xmlns:a="http://schemas.openxmlformats.org/drawingml/2006/main">
            <a:off x="5613400" y="6311900"/>
            <a:ext cx="190500" cy="1675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1" i="0">
                <a:solidFill>
                  <a:srgbClr val="FFFFFF"/>
                </a:solidFill>
                <a:latin typeface="Arial"/>
                <a:ea typeface="Arial"/>
                <a:cs typeface="Arial"/>
              </a:defRPr>
            </a:defPPr>
          </a:lstStyle>
          <a:p xmlns:a="http://schemas.openxmlformats.org/drawingml/2006/main">
            <a:pPr>
              <a:buNone/>
              <a:defRPr sz="910" b="1" i="0">
                <a:solidFill>
                  <a:srgbClr val="FFFFFF"/>
                </a:solidFill>
                <a:latin typeface="Arial"/>
                <a:ea typeface="Arial"/>
                <a:cs typeface="Arial"/>
              </a:defRPr>
              <a:lnSpc>
                <a:spcPts val="1119"/>
              </a:lnSpc>
              <a:spcBef>
                <a:spcPts val="0"/>
              </a:spcBef>
              <a:spcAft>
                <a:spcPts val="0"/>
              </a:spcAft>
            </a:pPr>
            <a:r>
              <a:rPr sz="910" b="1" i="0">
                <a:solidFill>
                  <a:srgbClr val="FFFFFF"/>
                </a:solidFill>
                <a:latin typeface="Arial"/>
                <a:ea typeface="Arial"/>
                <a:cs typeface="Arial"/>
              </a:rPr>
              <a:t>S</a:t>
            </a:r>
          </a:p>
        </p:txBody>
      </p:sp>
      <p:sp>
        <p:nvSpPr>
          <p:cNvPr id="43" name="Editable paragraph">
            <a:extLst xmlns:a="http://schemas.openxmlformats.org/drawingml/2006/main">
              <a:ext uri="{FF2B5EF4-FFF2-40B4-BE49-F238E27FC236}">
                <a16:creationId xmlns:a16="http://schemas.microsoft.com/office/drawing/2014/main" id="{4AF55FCC-30A1-4C66-9641-784EC38E7EAD}"/>
              </a:ext>
            </a:extLst>
          </p:cNvPr>
          <p:cNvSpPr>
            <a:spLocks xmlns:a="http://schemas.openxmlformats.org/drawingml/2006/main" noGrp="1"/>
          </p:cNvSpPr>
          <p:nvPr/>
        </p:nvSpPr>
        <p:spPr>
          <a:xfrm xmlns:a="http://schemas.openxmlformats.org/drawingml/2006/main">
            <a:off x="5918200" y="6261100"/>
            <a:ext cx="44704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345A60"/>
                </a:solidFill>
                <a:latin typeface="Arial"/>
                <a:ea typeface="Arial"/>
                <a:cs typeface="Arial"/>
              </a:defRPr>
            </a:defPPr>
          </a:lstStyle>
          <a:p xmlns:a="http://schemas.openxmlformats.org/drawingml/2006/main">
            <a:pPr>
              <a:buNone/>
              <a:defRPr sz="940" b="1" i="0">
                <a:solidFill>
                  <a:srgbClr val="345A60"/>
                </a:solidFill>
                <a:latin typeface="Arial"/>
                <a:ea typeface="Arial"/>
                <a:cs typeface="Arial"/>
              </a:defRPr>
              <a:lnSpc>
                <a:spcPts val="1156"/>
              </a:lnSpc>
              <a:spcBef>
                <a:spcPts val="0"/>
              </a:spcBef>
              <a:spcAft>
                <a:spcPts val="0"/>
              </a:spcAft>
            </a:pPr>
            <a:r>
              <a:rPr sz="940" b="1" i="0">
                <a:solidFill>
                  <a:srgbClr val="345A60"/>
                </a:solidFill>
                <a:latin typeface="Arial"/>
                <a:ea typeface="Arial"/>
                <a:cs typeface="Arial"/>
              </a:rPr>
              <a:t>Small-group settings</a:t>
            </a:r>
          </a:p>
        </p:txBody>
      </p:sp>
      <p:sp>
        <p:nvSpPr>
          <p:cNvPr id="44" name="Editable paragraph">
            <a:extLst xmlns:a="http://schemas.openxmlformats.org/drawingml/2006/main">
              <a:ext uri="{FF2B5EF4-FFF2-40B4-BE49-F238E27FC236}">
                <a16:creationId xmlns:a16="http://schemas.microsoft.com/office/drawing/2014/main" id="{FF51B0F6-8810-4B03-ACE7-979BE15F3FD7}"/>
              </a:ext>
            </a:extLst>
          </p:cNvPr>
          <p:cNvSpPr>
            <a:spLocks xmlns:a="http://schemas.openxmlformats.org/drawingml/2006/main" noGrp="1"/>
          </p:cNvSpPr>
          <p:nvPr/>
        </p:nvSpPr>
        <p:spPr>
          <a:xfrm xmlns:a="http://schemas.openxmlformats.org/drawingml/2006/main">
            <a:off x="5918200" y="6477000"/>
            <a:ext cx="4470400" cy="1675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19"/>
              </a:lnSpc>
              <a:spcBef>
                <a:spcPts val="0"/>
              </a:spcBef>
              <a:spcAft>
                <a:spcPts val="0"/>
              </a:spcAft>
            </a:pPr>
            <a:r>
              <a:rPr sz="910" b="0" i="0">
                <a:solidFill>
                  <a:srgbClr val="252D2C"/>
                </a:solidFill>
                <a:latin typeface="Arial"/>
                <a:ea typeface="Arial"/>
                <a:cs typeface="Arial"/>
              </a:rPr>
              <a:t>Seats and tables outside the main flow.</a:t>
            </a:r>
          </a:p>
        </p:txBody>
      </p:sp>
      <p:sp>
        <p:nvSpPr>
          <p:cNvPr id="45" name="Editable paragraph">
            <a:extLst xmlns:a="http://schemas.openxmlformats.org/drawingml/2006/main">
              <a:ext uri="{FF2B5EF4-FFF2-40B4-BE49-F238E27FC236}">
                <a16:creationId xmlns:a16="http://schemas.microsoft.com/office/drawing/2014/main" id="{ADB232A6-820B-4AB4-8BB9-35B933CF682F}"/>
              </a:ext>
            </a:extLst>
          </p:cNvPr>
          <p:cNvSpPr>
            <a:spLocks xmlns:a="http://schemas.openxmlformats.org/drawingml/2006/main" noGrp="1"/>
          </p:cNvSpPr>
          <p:nvPr/>
        </p:nvSpPr>
        <p:spPr>
          <a:xfrm xmlns:a="http://schemas.openxmlformats.org/drawingml/2006/main">
            <a:off x="304800" y="6654800"/>
            <a:ext cx="2667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1" i="0">
                <a:solidFill>
                  <a:srgbClr val="345A60"/>
                </a:solidFill>
                <a:latin typeface="Arial"/>
                <a:ea typeface="Arial"/>
                <a:cs typeface="Arial"/>
              </a:defRPr>
            </a:defPPr>
          </a:lstStyle>
          <a:p xmlns:a="http://schemas.openxmlformats.org/drawingml/2006/main">
            <a:pPr>
              <a:buNone/>
              <a:defRPr sz="850" b="1" i="0">
                <a:solidFill>
                  <a:srgbClr val="345A60"/>
                </a:solidFill>
                <a:latin typeface="Arial"/>
                <a:ea typeface="Arial"/>
                <a:cs typeface="Arial"/>
              </a:defRPr>
              <a:lnSpc>
                <a:spcPts val="1046"/>
              </a:lnSpc>
              <a:spcBef>
                <a:spcPts val="0"/>
              </a:spcBef>
              <a:spcAft>
                <a:spcPts val="0"/>
              </a:spcAft>
            </a:pPr>
            <a:r>
              <a:rPr sz="850" b="1" i="0">
                <a:solidFill>
                  <a:srgbClr val="345A60"/>
                </a:solidFill>
                <a:latin typeface="Arial"/>
                <a:ea typeface="Arial"/>
                <a:cs typeface="Arial"/>
              </a:rPr>
              <a:t>01</a:t>
            </a:r>
          </a:p>
        </p:txBody>
      </p:sp>
      <p:sp>
        <p:nvSpPr>
          <p:cNvPr id="46" name="Editable paragraph">
            <a:extLst xmlns:a="http://schemas.openxmlformats.org/drawingml/2006/main">
              <a:ext uri="{FF2B5EF4-FFF2-40B4-BE49-F238E27FC236}">
                <a16:creationId xmlns:a16="http://schemas.microsoft.com/office/drawing/2014/main" id="{07D56B26-6278-4C25-A6BC-02295A79026F}"/>
              </a:ext>
            </a:extLst>
          </p:cNvPr>
          <p:cNvSpPr>
            <a:spLocks xmlns:a="http://schemas.openxmlformats.org/drawingml/2006/main" noGrp="1"/>
          </p:cNvSpPr>
          <p:nvPr/>
        </p:nvSpPr>
        <p:spPr>
          <a:xfrm xmlns:a="http://schemas.openxmlformats.org/drawingml/2006/main">
            <a:off x="635000" y="6654800"/>
            <a:ext cx="21717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0" i="0">
                <a:solidFill>
                  <a:srgbClr val="252D2C"/>
                </a:solidFill>
                <a:latin typeface="Arial"/>
                <a:ea typeface="Arial"/>
                <a:cs typeface="Arial"/>
              </a:defRPr>
            </a:defPPr>
          </a:lstStyle>
          <a:p xmlns:a="http://schemas.openxmlformats.org/drawingml/2006/main">
            <a:pPr>
              <a:buNone/>
              <a:defRPr sz="810" b="0" i="0">
                <a:solidFill>
                  <a:srgbClr val="252D2C"/>
                </a:solidFill>
                <a:latin typeface="Arial"/>
                <a:ea typeface="Arial"/>
                <a:cs typeface="Arial"/>
              </a:defRPr>
              <a:lnSpc>
                <a:spcPts val="996"/>
              </a:lnSpc>
              <a:spcBef>
                <a:spcPts val="0"/>
              </a:spcBef>
              <a:spcAft>
                <a:spcPts val="0"/>
              </a:spcAft>
            </a:pPr>
            <a:r>
              <a:rPr sz="810" b="0" i="0">
                <a:solidFill>
                  <a:srgbClr val="252D2C"/>
                </a:solidFill>
                <a:latin typeface="Arial"/>
                <a:ea typeface="Arial"/>
                <a:cs typeface="Arial"/>
              </a:rPr>
              <a:t>Connected school wings</a:t>
            </a:r>
          </a:p>
        </p:txBody>
      </p:sp>
      <p:sp>
        <p:nvSpPr>
          <p:cNvPr id="47" name="Editable paragraph">
            <a:extLst xmlns:a="http://schemas.openxmlformats.org/drawingml/2006/main">
              <a:ext uri="{FF2B5EF4-FFF2-40B4-BE49-F238E27FC236}">
                <a16:creationId xmlns:a16="http://schemas.microsoft.com/office/drawing/2014/main" id="{4888410A-2637-4FBD-9130-54F0B5360500}"/>
              </a:ext>
            </a:extLst>
          </p:cNvPr>
          <p:cNvSpPr>
            <a:spLocks xmlns:a="http://schemas.openxmlformats.org/drawingml/2006/main" noGrp="1"/>
          </p:cNvSpPr>
          <p:nvPr/>
        </p:nvSpPr>
        <p:spPr>
          <a:xfrm xmlns:a="http://schemas.openxmlformats.org/drawingml/2006/main">
            <a:off x="2844800" y="6654800"/>
            <a:ext cx="2667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1" i="0">
                <a:solidFill>
                  <a:srgbClr val="345A60"/>
                </a:solidFill>
                <a:latin typeface="Arial"/>
                <a:ea typeface="Arial"/>
                <a:cs typeface="Arial"/>
              </a:defRPr>
            </a:defPPr>
          </a:lstStyle>
          <a:p xmlns:a="http://schemas.openxmlformats.org/drawingml/2006/main">
            <a:pPr>
              <a:buNone/>
              <a:defRPr sz="850" b="1" i="0">
                <a:solidFill>
                  <a:srgbClr val="345A60"/>
                </a:solidFill>
                <a:latin typeface="Arial"/>
                <a:ea typeface="Arial"/>
                <a:cs typeface="Arial"/>
              </a:defRPr>
              <a:lnSpc>
                <a:spcPts val="1046"/>
              </a:lnSpc>
              <a:spcBef>
                <a:spcPts val="0"/>
              </a:spcBef>
              <a:spcAft>
                <a:spcPts val="0"/>
              </a:spcAft>
            </a:pPr>
            <a:r>
              <a:rPr sz="850" b="1" i="0">
                <a:solidFill>
                  <a:srgbClr val="345A60"/>
                </a:solidFill>
                <a:latin typeface="Arial"/>
                <a:ea typeface="Arial"/>
                <a:cs typeface="Arial"/>
              </a:rPr>
              <a:t>02</a:t>
            </a:r>
          </a:p>
        </p:txBody>
      </p:sp>
      <p:sp>
        <p:nvSpPr>
          <p:cNvPr id="48" name="Editable paragraph">
            <a:extLst xmlns:a="http://schemas.openxmlformats.org/drawingml/2006/main">
              <a:ext uri="{FF2B5EF4-FFF2-40B4-BE49-F238E27FC236}">
                <a16:creationId xmlns:a16="http://schemas.microsoft.com/office/drawing/2014/main" id="{B8022034-7B2C-4B5E-9EB7-CF0281E21762}"/>
              </a:ext>
            </a:extLst>
          </p:cNvPr>
          <p:cNvSpPr>
            <a:spLocks xmlns:a="http://schemas.openxmlformats.org/drawingml/2006/main" noGrp="1"/>
          </p:cNvSpPr>
          <p:nvPr/>
        </p:nvSpPr>
        <p:spPr>
          <a:xfrm xmlns:a="http://schemas.openxmlformats.org/drawingml/2006/main">
            <a:off x="3175000" y="6654800"/>
            <a:ext cx="21717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0" i="0">
                <a:solidFill>
                  <a:srgbClr val="252D2C"/>
                </a:solidFill>
                <a:latin typeface="Arial"/>
                <a:ea typeface="Arial"/>
                <a:cs typeface="Arial"/>
              </a:defRPr>
            </a:defPPr>
          </a:lstStyle>
          <a:p xmlns:a="http://schemas.openxmlformats.org/drawingml/2006/main">
            <a:pPr>
              <a:buNone/>
              <a:defRPr sz="810" b="0" i="0">
                <a:solidFill>
                  <a:srgbClr val="252D2C"/>
                </a:solidFill>
                <a:latin typeface="Arial"/>
                <a:ea typeface="Arial"/>
                <a:cs typeface="Arial"/>
              </a:defRPr>
              <a:lnSpc>
                <a:spcPts val="996"/>
              </a:lnSpc>
              <a:spcBef>
                <a:spcPts val="0"/>
              </a:spcBef>
              <a:spcAft>
                <a:spcPts val="0"/>
              </a:spcAft>
            </a:pPr>
            <a:r>
              <a:rPr sz="810" b="0" i="0">
                <a:solidFill>
                  <a:srgbClr val="252D2C"/>
                </a:solidFill>
                <a:latin typeface="Arial"/>
                <a:ea typeface="Arial"/>
                <a:cs typeface="Arial"/>
              </a:rPr>
              <a:t>Dining and shared activity</a:t>
            </a:r>
          </a:p>
        </p:txBody>
      </p:sp>
      <p:sp>
        <p:nvSpPr>
          <p:cNvPr id="49" name="Editable paragraph">
            <a:extLst xmlns:a="http://schemas.openxmlformats.org/drawingml/2006/main">
              <a:ext uri="{FF2B5EF4-FFF2-40B4-BE49-F238E27FC236}">
                <a16:creationId xmlns:a16="http://schemas.microsoft.com/office/drawing/2014/main" id="{7B374923-F07D-4E0E-9BCC-15CAF17F14AB}"/>
              </a:ext>
            </a:extLst>
          </p:cNvPr>
          <p:cNvSpPr>
            <a:spLocks xmlns:a="http://schemas.openxmlformats.org/drawingml/2006/main" noGrp="1"/>
          </p:cNvSpPr>
          <p:nvPr/>
        </p:nvSpPr>
        <p:spPr>
          <a:xfrm xmlns:a="http://schemas.openxmlformats.org/drawingml/2006/main">
            <a:off x="304800" y="6845300"/>
            <a:ext cx="2667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1" i="0">
                <a:solidFill>
                  <a:srgbClr val="345A60"/>
                </a:solidFill>
                <a:latin typeface="Arial"/>
                <a:ea typeface="Arial"/>
                <a:cs typeface="Arial"/>
              </a:defRPr>
            </a:defPPr>
          </a:lstStyle>
          <a:p xmlns:a="http://schemas.openxmlformats.org/drawingml/2006/main">
            <a:pPr>
              <a:buNone/>
              <a:defRPr sz="850" b="1" i="0">
                <a:solidFill>
                  <a:srgbClr val="345A60"/>
                </a:solidFill>
                <a:latin typeface="Arial"/>
                <a:ea typeface="Arial"/>
                <a:cs typeface="Arial"/>
              </a:defRPr>
              <a:lnSpc>
                <a:spcPts val="1046"/>
              </a:lnSpc>
              <a:spcBef>
                <a:spcPts val="0"/>
              </a:spcBef>
              <a:spcAft>
                <a:spcPts val="0"/>
              </a:spcAft>
            </a:pPr>
            <a:r>
              <a:rPr sz="850" b="1" i="0">
                <a:solidFill>
                  <a:srgbClr val="345A60"/>
                </a:solidFill>
                <a:latin typeface="Arial"/>
                <a:ea typeface="Arial"/>
                <a:cs typeface="Arial"/>
              </a:rPr>
              <a:t>03</a:t>
            </a:r>
          </a:p>
        </p:txBody>
      </p:sp>
      <p:sp>
        <p:nvSpPr>
          <p:cNvPr id="50" name="Editable paragraph">
            <a:extLst xmlns:a="http://schemas.openxmlformats.org/drawingml/2006/main">
              <a:ext uri="{FF2B5EF4-FFF2-40B4-BE49-F238E27FC236}">
                <a16:creationId xmlns:a16="http://schemas.microsoft.com/office/drawing/2014/main" id="{1A1AFFCA-8C0C-4BF8-9030-C92520852284}"/>
              </a:ext>
            </a:extLst>
          </p:cNvPr>
          <p:cNvSpPr>
            <a:spLocks xmlns:a="http://schemas.openxmlformats.org/drawingml/2006/main" noGrp="1"/>
          </p:cNvSpPr>
          <p:nvPr/>
        </p:nvSpPr>
        <p:spPr>
          <a:xfrm xmlns:a="http://schemas.openxmlformats.org/drawingml/2006/main">
            <a:off x="635000" y="6845300"/>
            <a:ext cx="21717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0" i="0">
                <a:solidFill>
                  <a:srgbClr val="252D2C"/>
                </a:solidFill>
                <a:latin typeface="Arial"/>
                <a:ea typeface="Arial"/>
                <a:cs typeface="Arial"/>
              </a:defRPr>
            </a:defPPr>
          </a:lstStyle>
          <a:p xmlns:a="http://schemas.openxmlformats.org/drawingml/2006/main">
            <a:pPr>
              <a:buNone/>
              <a:defRPr sz="810" b="0" i="0">
                <a:solidFill>
                  <a:srgbClr val="252D2C"/>
                </a:solidFill>
                <a:latin typeface="Arial"/>
                <a:ea typeface="Arial"/>
                <a:cs typeface="Arial"/>
              </a:defRPr>
              <a:lnSpc>
                <a:spcPts val="996"/>
              </a:lnSpc>
              <a:spcBef>
                <a:spcPts val="0"/>
              </a:spcBef>
              <a:spcAft>
                <a:spcPts val="0"/>
              </a:spcAft>
            </a:pPr>
            <a:r>
              <a:rPr sz="810" b="0" i="0">
                <a:solidFill>
                  <a:srgbClr val="252D2C"/>
                </a:solidFill>
                <a:latin typeface="Arial"/>
                <a:ea typeface="Arial"/>
                <a:cs typeface="Arial"/>
              </a:rPr>
              <a:t>Sports grounds and track</a:t>
            </a:r>
          </a:p>
        </p:txBody>
      </p:sp>
      <p:sp>
        <p:nvSpPr>
          <p:cNvPr id="51" name="Editable paragraph">
            <a:extLst xmlns:a="http://schemas.openxmlformats.org/drawingml/2006/main">
              <a:ext uri="{FF2B5EF4-FFF2-40B4-BE49-F238E27FC236}">
                <a16:creationId xmlns:a16="http://schemas.microsoft.com/office/drawing/2014/main" id="{E7014E33-3BFB-429F-A804-427E6E4BF7C2}"/>
              </a:ext>
            </a:extLst>
          </p:cNvPr>
          <p:cNvSpPr>
            <a:spLocks xmlns:a="http://schemas.openxmlformats.org/drawingml/2006/main" noGrp="1"/>
          </p:cNvSpPr>
          <p:nvPr/>
        </p:nvSpPr>
        <p:spPr>
          <a:xfrm xmlns:a="http://schemas.openxmlformats.org/drawingml/2006/main">
            <a:off x="2844800" y="6845300"/>
            <a:ext cx="2667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1" i="0">
                <a:solidFill>
                  <a:srgbClr val="345A60"/>
                </a:solidFill>
                <a:latin typeface="Arial"/>
                <a:ea typeface="Arial"/>
                <a:cs typeface="Arial"/>
              </a:defRPr>
            </a:defPPr>
          </a:lstStyle>
          <a:p xmlns:a="http://schemas.openxmlformats.org/drawingml/2006/main">
            <a:pPr>
              <a:buNone/>
              <a:defRPr sz="850" b="1" i="0">
                <a:solidFill>
                  <a:srgbClr val="345A60"/>
                </a:solidFill>
                <a:latin typeface="Arial"/>
                <a:ea typeface="Arial"/>
                <a:cs typeface="Arial"/>
              </a:defRPr>
              <a:lnSpc>
                <a:spcPts val="1046"/>
              </a:lnSpc>
              <a:spcBef>
                <a:spcPts val="0"/>
              </a:spcBef>
              <a:spcAft>
                <a:spcPts val="0"/>
              </a:spcAft>
            </a:pPr>
            <a:r>
              <a:rPr sz="850" b="1" i="0">
                <a:solidFill>
                  <a:srgbClr val="345A60"/>
                </a:solidFill>
                <a:latin typeface="Arial"/>
                <a:ea typeface="Arial"/>
                <a:cs typeface="Arial"/>
              </a:rPr>
              <a:t>04</a:t>
            </a:r>
          </a:p>
        </p:txBody>
      </p:sp>
      <p:sp>
        <p:nvSpPr>
          <p:cNvPr id="52" name="Editable paragraph">
            <a:extLst xmlns:a="http://schemas.openxmlformats.org/drawingml/2006/main">
              <a:ext uri="{FF2B5EF4-FFF2-40B4-BE49-F238E27FC236}">
                <a16:creationId xmlns:a16="http://schemas.microsoft.com/office/drawing/2014/main" id="{113D39B9-40F9-4088-8375-A51F529A7814}"/>
              </a:ext>
            </a:extLst>
          </p:cNvPr>
          <p:cNvSpPr>
            <a:spLocks xmlns:a="http://schemas.openxmlformats.org/drawingml/2006/main" noGrp="1"/>
          </p:cNvSpPr>
          <p:nvPr/>
        </p:nvSpPr>
        <p:spPr>
          <a:xfrm xmlns:a="http://schemas.openxmlformats.org/drawingml/2006/main">
            <a:off x="3175000" y="6845300"/>
            <a:ext cx="21717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0" i="0">
                <a:solidFill>
                  <a:srgbClr val="252D2C"/>
                </a:solidFill>
                <a:latin typeface="Arial"/>
                <a:ea typeface="Arial"/>
                <a:cs typeface="Arial"/>
              </a:defRPr>
            </a:defPPr>
          </a:lstStyle>
          <a:p xmlns:a="http://schemas.openxmlformats.org/drawingml/2006/main">
            <a:pPr>
              <a:buNone/>
              <a:defRPr sz="810" b="0" i="0">
                <a:solidFill>
                  <a:srgbClr val="252D2C"/>
                </a:solidFill>
                <a:latin typeface="Arial"/>
                <a:ea typeface="Arial"/>
                <a:cs typeface="Arial"/>
              </a:defRPr>
              <a:lnSpc>
                <a:spcPts val="996"/>
              </a:lnSpc>
              <a:spcBef>
                <a:spcPts val="0"/>
              </a:spcBef>
              <a:spcAft>
                <a:spcPts val="0"/>
              </a:spcAft>
            </a:pPr>
            <a:r>
              <a:rPr sz="810" b="0" i="0">
                <a:solidFill>
                  <a:srgbClr val="252D2C"/>
                </a:solidFill>
                <a:latin typeface="Arial"/>
                <a:ea typeface="Arial"/>
                <a:cs typeface="Arial"/>
              </a:rPr>
              <a:t>Table-tennis area</a:t>
            </a:r>
          </a:p>
        </p:txBody>
      </p:sp>
      <p:sp>
        <p:nvSpPr>
          <p:cNvPr id="53" name="Editable paragraph">
            <a:extLst xmlns:a="http://schemas.openxmlformats.org/drawingml/2006/main">
              <a:ext uri="{FF2B5EF4-FFF2-40B4-BE49-F238E27FC236}">
                <a16:creationId xmlns:a16="http://schemas.microsoft.com/office/drawing/2014/main" id="{B371135C-AED2-485A-B68F-8727A441534F}"/>
              </a:ext>
            </a:extLst>
          </p:cNvPr>
          <p:cNvSpPr>
            <a:spLocks xmlns:a="http://schemas.openxmlformats.org/drawingml/2006/main" noGrp="1"/>
          </p:cNvSpPr>
          <p:nvPr/>
        </p:nvSpPr>
        <p:spPr>
          <a:xfrm xmlns:a="http://schemas.openxmlformats.org/drawingml/2006/main">
            <a:off x="304800" y="7035800"/>
            <a:ext cx="266700" cy="1581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50" b="1" i="0">
                <a:solidFill>
                  <a:srgbClr val="345A60"/>
                </a:solidFill>
                <a:latin typeface="Arial"/>
                <a:ea typeface="Arial"/>
                <a:cs typeface="Arial"/>
              </a:defRPr>
            </a:defPPr>
          </a:lstStyle>
          <a:p xmlns:a="http://schemas.openxmlformats.org/drawingml/2006/main">
            <a:pPr>
              <a:buNone/>
              <a:defRPr sz="850" b="1" i="0">
                <a:solidFill>
                  <a:srgbClr val="345A60"/>
                </a:solidFill>
                <a:latin typeface="Arial"/>
                <a:ea typeface="Arial"/>
                <a:cs typeface="Arial"/>
              </a:defRPr>
              <a:lnSpc>
                <a:spcPts val="1046"/>
              </a:lnSpc>
              <a:spcBef>
                <a:spcPts val="0"/>
              </a:spcBef>
              <a:spcAft>
                <a:spcPts val="0"/>
              </a:spcAft>
            </a:pPr>
            <a:r>
              <a:rPr sz="850" b="1" i="0">
                <a:solidFill>
                  <a:srgbClr val="345A60"/>
                </a:solidFill>
                <a:latin typeface="Arial"/>
                <a:ea typeface="Arial"/>
                <a:cs typeface="Arial"/>
              </a:rPr>
              <a:t>05</a:t>
            </a:r>
          </a:p>
        </p:txBody>
      </p:sp>
      <p:sp>
        <p:nvSpPr>
          <p:cNvPr id="54" name="Editable paragraph">
            <a:extLst xmlns:a="http://schemas.openxmlformats.org/drawingml/2006/main">
              <a:ext uri="{FF2B5EF4-FFF2-40B4-BE49-F238E27FC236}">
                <a16:creationId xmlns:a16="http://schemas.microsoft.com/office/drawing/2014/main" id="{E85C9901-2261-409D-8A48-87681BFF0E3E}"/>
              </a:ext>
            </a:extLst>
          </p:cNvPr>
          <p:cNvSpPr>
            <a:spLocks xmlns:a="http://schemas.openxmlformats.org/drawingml/2006/main" noGrp="1"/>
          </p:cNvSpPr>
          <p:nvPr/>
        </p:nvSpPr>
        <p:spPr>
          <a:xfrm xmlns:a="http://schemas.openxmlformats.org/drawingml/2006/main">
            <a:off x="635000" y="7035800"/>
            <a:ext cx="2171700" cy="151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10" b="0" i="0">
                <a:solidFill>
                  <a:srgbClr val="252D2C"/>
                </a:solidFill>
                <a:latin typeface="Arial"/>
                <a:ea typeface="Arial"/>
                <a:cs typeface="Arial"/>
              </a:defRPr>
            </a:defPPr>
          </a:lstStyle>
          <a:p xmlns:a="http://schemas.openxmlformats.org/drawingml/2006/main">
            <a:pPr>
              <a:buNone/>
              <a:defRPr sz="810" b="0" i="0">
                <a:solidFill>
                  <a:srgbClr val="252D2C"/>
                </a:solidFill>
                <a:latin typeface="Arial"/>
                <a:ea typeface="Arial"/>
                <a:cs typeface="Arial"/>
              </a:defRPr>
              <a:lnSpc>
                <a:spcPts val="996"/>
              </a:lnSpc>
              <a:spcBef>
                <a:spcPts val="0"/>
              </a:spcBef>
              <a:spcAft>
                <a:spcPts val="0"/>
              </a:spcAft>
            </a:pPr>
            <a:r>
              <a:rPr sz="810" b="0" i="0">
                <a:solidFill>
                  <a:srgbClr val="252D2C"/>
                </a:solidFill>
                <a:latin typeface="Arial"/>
                <a:ea typeface="Arial"/>
                <a:cs typeface="Arial"/>
              </a:rPr>
              <a:t>Flexible landscape reserve</a:t>
            </a:r>
          </a:p>
        </p:txBody>
      </p:sp>
      <p:sp>
        <p:nvSpPr>
          <p:cNvPr id="55" name="Editable paragraph">
            <a:extLst xmlns:a="http://schemas.openxmlformats.org/drawingml/2006/main">
              <a:ext uri="{FF2B5EF4-FFF2-40B4-BE49-F238E27FC236}">
                <a16:creationId xmlns:a16="http://schemas.microsoft.com/office/drawing/2014/main" id="{A27CFA02-AF7D-4080-9C3B-87A142F77E0F}"/>
              </a:ext>
            </a:extLst>
          </p:cNvPr>
          <p:cNvSpPr>
            <a:spLocks xmlns:a="http://schemas.openxmlformats.org/drawingml/2006/main" noGrp="1"/>
          </p:cNvSpPr>
          <p:nvPr/>
        </p:nvSpPr>
        <p:spPr>
          <a:xfrm xmlns:a="http://schemas.openxmlformats.org/drawingml/2006/main">
            <a:off x="304800" y="7200900"/>
            <a:ext cx="4965700" cy="12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0" b="0" i="0">
                <a:solidFill>
                  <a:srgbClr val="65736D"/>
                </a:solidFill>
                <a:latin typeface="Arial"/>
                <a:ea typeface="Arial"/>
                <a:cs typeface="Arial"/>
              </a:defRPr>
            </a:defPPr>
          </a:lstStyle>
          <a:p xmlns:a="http://schemas.openxmlformats.org/drawingml/2006/main">
            <a:pPr>
              <a:buNone/>
              <a:defRPr sz="640" b="0" i="0">
                <a:solidFill>
                  <a:srgbClr val="65736D"/>
                </a:solidFill>
                <a:latin typeface="Arial"/>
                <a:ea typeface="Arial"/>
                <a:cs typeface="Arial"/>
              </a:defRPr>
              <a:lnSpc>
                <a:spcPts val="750"/>
              </a:lnSpc>
              <a:spcBef>
                <a:spcPts val="0"/>
              </a:spcBef>
              <a:spcAft>
                <a:spcPts val="0"/>
              </a:spcAft>
            </a:pPr>
            <a:r>
              <a:rPr sz="640" b="0" i="0">
                <a:solidFill>
                  <a:srgbClr val="65736D"/>
                </a:solidFill>
                <a:latin typeface="Arial"/>
                <a:ea typeface="Arial"/>
                <a:cs typeface="Arial"/>
              </a:rPr>
              <a:t>Masterplan: connected teaching wings, shared facilities, sports grounds, and open space.</a:t>
            </a:r>
          </a:p>
        </p:txBody>
      </p:sp>
      <p:sp>
        <p:nvSpPr>
          <p:cNvPr id="56" name="Editable paragraph">
            <a:extLst xmlns:a="http://schemas.openxmlformats.org/drawingml/2006/main">
              <a:ext uri="{FF2B5EF4-FFF2-40B4-BE49-F238E27FC236}">
                <a16:creationId xmlns:a16="http://schemas.microsoft.com/office/drawing/2014/main" id="{1BB12EBF-B10A-4866-9200-4087FBCA60E6}"/>
              </a:ext>
            </a:extLst>
          </p:cNvPr>
          <p:cNvSpPr>
            <a:spLocks xmlns:a="http://schemas.openxmlformats.org/drawingml/2006/main" noGrp="1"/>
          </p:cNvSpPr>
          <p:nvPr/>
        </p:nvSpPr>
        <p:spPr>
          <a:xfrm xmlns:a="http://schemas.openxmlformats.org/drawingml/2006/main">
            <a:off x="5549900" y="7023100"/>
            <a:ext cx="4838700" cy="12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80" b="0" i="0">
                <a:solidFill>
                  <a:srgbClr val="65736D"/>
                </a:solidFill>
                <a:latin typeface="Arial"/>
                <a:ea typeface="Arial"/>
                <a:cs typeface="Arial"/>
              </a:defRPr>
            </a:defPPr>
          </a:lstStyle>
          <a:p xmlns:a="http://schemas.openxmlformats.org/drawingml/2006/main">
            <a:pPr>
              <a:buNone/>
              <a:defRPr sz="680" b="0" i="0">
                <a:solidFill>
                  <a:srgbClr val="65736D"/>
                </a:solidFill>
                <a:latin typeface="Arial"/>
                <a:ea typeface="Arial"/>
                <a:cs typeface="Arial"/>
              </a:defRPr>
              <a:lnSpc>
                <a:spcPts val="800"/>
              </a:lnSpc>
              <a:spcBef>
                <a:spcPts val="0"/>
              </a:spcBef>
              <a:spcAft>
                <a:spcPts val="0"/>
              </a:spcAft>
            </a:pPr>
            <a:r>
              <a:rPr sz="680" b="0" i="0">
                <a:solidFill>
                  <a:srgbClr val="65736D"/>
                </a:solidFill>
                <a:latin typeface="Arial"/>
                <a:ea typeface="Arial"/>
                <a:cs typeface="Arial"/>
              </a:rPr>
              <a:t>Washing, adult contact, and small-group activity placed near teaching and shared circulation.</a:t>
            </a:r>
          </a:p>
        </p:txBody>
      </p:sp>
    </p:spTree>
    <p:extLst>
      <p:ext uri="{BB962C8B-B14F-4D97-AF65-F5344CB8AC3E}">
        <p14:creationId xmlns:p14="http://schemas.microsoft.com/office/powerpoint/2010/main" val="9459867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Editable paragraph">
            <a:extLst xmlns:a="http://schemas.openxmlformats.org/drawingml/2006/main">
              <a:ext uri="{FF2B5EF4-FFF2-40B4-BE49-F238E27FC236}">
                <a16:creationId xmlns:a16="http://schemas.microsoft.com/office/drawing/2014/main" id="{416EB8AE-9D37-49C0-AD84-C7C63BAF4862}"/>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319AE00C-D29A-44E2-881F-CC9F49253B2F}"/>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513025AA-7969-40F3-83CF-B196FD3121D0}"/>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PORTFOLIO</a:t>
            </a:r>
          </a:p>
        </p:txBody>
      </p:sp>
      <p:sp>
        <p:nvSpPr>
          <p:cNvPr id="4" name="">
            <a:extLst xmlns:a="http://schemas.openxmlformats.org/drawingml/2006/main">
              <a:ext uri="{FF2B5EF4-FFF2-40B4-BE49-F238E27FC236}">
                <a16:creationId xmlns:a16="http://schemas.microsoft.com/office/drawing/2014/main" id="{86ADC1C2-D081-47B8-BC61-CC3144FB23D8}"/>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872A100C-86A6-4EE8-A645-81619CBBD7B2}"/>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Ground level: arrival and shared life</a:t>
            </a:r>
          </a:p>
        </p:txBody>
      </p:sp>
      <p:sp>
        <p:nvSpPr>
          <p:cNvPr id="6" name="">
            <a:extLst xmlns:a="http://schemas.openxmlformats.org/drawingml/2006/main">
              <a:ext uri="{FF2B5EF4-FFF2-40B4-BE49-F238E27FC236}">
                <a16:creationId xmlns:a16="http://schemas.microsoft.com/office/drawing/2014/main" id="{0DB00872-C185-4740-85E6-FB75B9966B56}"/>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AF790B1C-8A4F-4085-A1F5-316215B9B95D}"/>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9ABBA909-52C6-40D2-95A6-69CD34DE2C51}"/>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10 / 15</a:t>
            </a:r>
          </a:p>
        </p:txBody>
      </p:sp>
      <p:pic>
        <p:nvPicPr>
          <p:cNvPr id="9" name="">
            <a:extLst xmlns:a="http://schemas.openxmlformats.org/drawingml/2006/main">
              <a:ext uri="{FF2B5EF4-FFF2-40B4-BE49-F238E27FC236}">
                <a16:creationId xmlns:a16="http://schemas.microsoft.com/office/drawing/2014/main" id="{9F556242-5A1E-481F-A5C3-638798C76C50}"/>
              </a:ext>
            </a:extLst>
          </p:cNvPr>
          <p:cNvPicPr>
            <a:picLocks xmlns:a="http://schemas.openxmlformats.org/drawingml/2006/main" noChangeAspect="1"/>
          </p:cNvPicPr>
          <p:nvPr/>
        </p:nvPicPr>
        <p:blipFill>
          <a:blip xmlns:r="http://schemas.openxmlformats.org/officeDocument/2006/relationships" xmlns:a="http://schemas.openxmlformats.org/drawingml/2006/main" r:embed="Rbb6bfc78af944eab"/>
          <a:stretch xmlns:a="http://schemas.openxmlformats.org/drawingml/2006/main"/>
        </p:blipFill>
        <p:spPr>
          <a:xfrm xmlns:a="http://schemas.openxmlformats.org/drawingml/2006/main">
            <a:off x="356443" y="1029385"/>
            <a:ext cx="5814914" cy="6056531"/>
          </a:xfrm>
          <a:prstGeom xmlns:a="http://schemas.openxmlformats.org/drawingml/2006/main" prst="rect">
            <a:avLst/>
          </a:prstGeom>
        </p:spPr>
      </p:pic>
      <p:sp>
        <p:nvSpPr>
          <p:cNvPr id="10" name="Editable paragraph">
            <a:extLst xmlns:a="http://schemas.openxmlformats.org/drawingml/2006/main">
              <a:ext uri="{FF2B5EF4-FFF2-40B4-BE49-F238E27FC236}">
                <a16:creationId xmlns:a16="http://schemas.microsoft.com/office/drawing/2014/main" id="{FD2C1286-CFFB-4997-9DF2-4AAE1F246410}"/>
              </a:ext>
            </a:extLst>
          </p:cNvPr>
          <p:cNvSpPr>
            <a:spLocks xmlns:a="http://schemas.openxmlformats.org/drawingml/2006/main" noGrp="1"/>
          </p:cNvSpPr>
          <p:nvPr/>
        </p:nvSpPr>
        <p:spPr>
          <a:xfrm xmlns:a="http://schemas.openxmlformats.org/drawingml/2006/main">
            <a:off x="6540500" y="1054100"/>
            <a:ext cx="850900" cy="5096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00" b="1" i="0">
                <a:solidFill>
                  <a:srgbClr val="345A60"/>
                </a:solidFill>
                <a:latin typeface="Arial"/>
                <a:ea typeface="Arial"/>
                <a:cs typeface="Arial"/>
              </a:defRPr>
            </a:defPPr>
          </a:lstStyle>
          <a:p xmlns:a="http://schemas.openxmlformats.org/drawingml/2006/main">
            <a:pPr>
              <a:buNone/>
              <a:defRPr sz="3100" b="1" i="0">
                <a:solidFill>
                  <a:srgbClr val="345A60"/>
                </a:solidFill>
                <a:latin typeface="Arial"/>
                <a:ea typeface="Arial"/>
                <a:cs typeface="Arial"/>
              </a:defRPr>
              <a:lnSpc>
                <a:spcPts val="3813"/>
              </a:lnSpc>
              <a:spcBef>
                <a:spcPts val="0"/>
              </a:spcBef>
              <a:spcAft>
                <a:spcPts val="0"/>
              </a:spcAft>
            </a:pPr>
            <a:r>
              <a:rPr sz="3100" b="1" i="0">
                <a:solidFill>
                  <a:srgbClr val="345A60"/>
                </a:solidFill>
                <a:latin typeface="Arial"/>
                <a:ea typeface="Arial"/>
                <a:cs typeface="Arial"/>
              </a:rPr>
              <a:t>L1</a:t>
            </a:r>
          </a:p>
        </p:txBody>
      </p:sp>
      <p:sp>
        <p:nvSpPr>
          <p:cNvPr id="11" name="Editable paragraph">
            <a:extLst xmlns:a="http://schemas.openxmlformats.org/drawingml/2006/main">
              <a:ext uri="{FF2B5EF4-FFF2-40B4-BE49-F238E27FC236}">
                <a16:creationId xmlns:a16="http://schemas.microsoft.com/office/drawing/2014/main" id="{78114911-3959-4EAB-A5C8-19B329384221}"/>
              </a:ext>
            </a:extLst>
          </p:cNvPr>
          <p:cNvSpPr>
            <a:spLocks xmlns:a="http://schemas.openxmlformats.org/drawingml/2006/main" noGrp="1"/>
          </p:cNvSpPr>
          <p:nvPr/>
        </p:nvSpPr>
        <p:spPr>
          <a:xfrm xmlns:a="http://schemas.openxmlformats.org/drawingml/2006/main">
            <a:off x="7505700" y="1079500"/>
            <a:ext cx="2882900" cy="4940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i="0">
                <a:solidFill>
                  <a:srgbClr val="252D2C"/>
                </a:solidFill>
                <a:latin typeface="Arial"/>
                <a:ea typeface="Arial"/>
                <a:cs typeface="Arial"/>
              </a:defRPr>
            </a:defPPr>
          </a:lstStyle>
          <a:p xmlns:a="http://schemas.openxmlformats.org/drawingml/2006/main">
            <a:pPr>
              <a:buNone/>
              <a:defRPr sz="1500" b="1" i="0">
                <a:solidFill>
                  <a:srgbClr val="252D2C"/>
                </a:solidFill>
                <a:latin typeface="Arial"/>
                <a:ea typeface="Arial"/>
                <a:cs typeface="Arial"/>
              </a:defRPr>
              <a:lnSpc>
                <a:spcPts val="1845"/>
              </a:lnSpc>
              <a:spcBef>
                <a:spcPts val="0"/>
              </a:spcBef>
              <a:spcAft>
                <a:spcPts val="0"/>
              </a:spcAft>
            </a:pPr>
            <a:r>
              <a:rPr sz="1500" b="1" i="0">
                <a:solidFill>
                  <a:srgbClr val="252D2C"/>
                </a:solidFill>
                <a:latin typeface="Arial"/>
                <a:ea typeface="Arial"/>
                <a:cs typeface="Arial"/>
              </a:rPr>
              <a:t>A public beginning to the school day.</a:t>
            </a:r>
          </a:p>
        </p:txBody>
      </p:sp>
      <p:sp>
        <p:nvSpPr>
          <p:cNvPr id="12" name="Editable paragraph">
            <a:extLst xmlns:a="http://schemas.openxmlformats.org/drawingml/2006/main">
              <a:ext uri="{FF2B5EF4-FFF2-40B4-BE49-F238E27FC236}">
                <a16:creationId xmlns:a16="http://schemas.microsoft.com/office/drawing/2014/main" id="{FAACF51D-EEAD-4BDA-B548-5835EFD04151}"/>
              </a:ext>
            </a:extLst>
          </p:cNvPr>
          <p:cNvSpPr>
            <a:spLocks xmlns:a="http://schemas.openxmlformats.org/drawingml/2006/main" noGrp="1"/>
          </p:cNvSpPr>
          <p:nvPr/>
        </p:nvSpPr>
        <p:spPr>
          <a:xfrm xmlns:a="http://schemas.openxmlformats.org/drawingml/2006/main">
            <a:off x="6540500" y="19431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01</a:t>
            </a:r>
          </a:p>
        </p:txBody>
      </p:sp>
      <p:sp>
        <p:nvSpPr>
          <p:cNvPr id="13" name="Editable paragraph">
            <a:extLst xmlns:a="http://schemas.openxmlformats.org/drawingml/2006/main">
              <a:ext uri="{FF2B5EF4-FFF2-40B4-BE49-F238E27FC236}">
                <a16:creationId xmlns:a16="http://schemas.microsoft.com/office/drawing/2014/main" id="{86FBBC33-82E8-409A-B699-55868B65E7FD}"/>
              </a:ext>
            </a:extLst>
          </p:cNvPr>
          <p:cNvSpPr>
            <a:spLocks xmlns:a="http://schemas.openxmlformats.org/drawingml/2006/main" noGrp="1"/>
          </p:cNvSpPr>
          <p:nvPr/>
        </p:nvSpPr>
        <p:spPr>
          <a:xfrm xmlns:a="http://schemas.openxmlformats.org/drawingml/2006/main">
            <a:off x="6934200" y="19431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Multifunction classroom</a:t>
            </a:r>
          </a:p>
        </p:txBody>
      </p:sp>
      <p:sp>
        <p:nvSpPr>
          <p:cNvPr id="14" name="Editable paragraph">
            <a:extLst xmlns:a="http://schemas.openxmlformats.org/drawingml/2006/main">
              <a:ext uri="{FF2B5EF4-FFF2-40B4-BE49-F238E27FC236}">
                <a16:creationId xmlns:a16="http://schemas.microsoft.com/office/drawing/2014/main" id="{A71C670A-E683-47DB-9B14-117D34360BE0}"/>
              </a:ext>
            </a:extLst>
          </p:cNvPr>
          <p:cNvSpPr>
            <a:spLocks xmlns:a="http://schemas.openxmlformats.org/drawingml/2006/main" noGrp="1"/>
          </p:cNvSpPr>
          <p:nvPr/>
        </p:nvSpPr>
        <p:spPr>
          <a:xfrm xmlns:a="http://schemas.openxmlformats.org/drawingml/2006/main">
            <a:off x="6540500" y="22860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03</a:t>
            </a:r>
          </a:p>
        </p:txBody>
      </p:sp>
      <p:sp>
        <p:nvSpPr>
          <p:cNvPr id="15" name="Editable paragraph">
            <a:extLst xmlns:a="http://schemas.openxmlformats.org/drawingml/2006/main">
              <a:ext uri="{FF2B5EF4-FFF2-40B4-BE49-F238E27FC236}">
                <a16:creationId xmlns:a16="http://schemas.microsoft.com/office/drawing/2014/main" id="{1DA8D023-3C32-4BCF-ADA1-BA7560C0DE41}"/>
              </a:ext>
            </a:extLst>
          </p:cNvPr>
          <p:cNvSpPr>
            <a:spLocks xmlns:a="http://schemas.openxmlformats.org/drawingml/2006/main" noGrp="1"/>
          </p:cNvSpPr>
          <p:nvPr/>
        </p:nvSpPr>
        <p:spPr>
          <a:xfrm xmlns:a="http://schemas.openxmlformats.org/drawingml/2006/main">
            <a:off x="6934200" y="22860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Administration / archive</a:t>
            </a:r>
          </a:p>
        </p:txBody>
      </p:sp>
      <p:sp>
        <p:nvSpPr>
          <p:cNvPr id="16" name="Editable paragraph">
            <a:extLst xmlns:a="http://schemas.openxmlformats.org/drawingml/2006/main">
              <a:ext uri="{FF2B5EF4-FFF2-40B4-BE49-F238E27FC236}">
                <a16:creationId xmlns:a16="http://schemas.microsoft.com/office/drawing/2014/main" id="{B6BD3BD6-1158-4D2D-80D6-9E355B86590B}"/>
              </a:ext>
            </a:extLst>
          </p:cNvPr>
          <p:cNvSpPr>
            <a:spLocks xmlns:a="http://schemas.openxmlformats.org/drawingml/2006/main" noGrp="1"/>
          </p:cNvSpPr>
          <p:nvPr/>
        </p:nvSpPr>
        <p:spPr>
          <a:xfrm xmlns:a="http://schemas.openxmlformats.org/drawingml/2006/main">
            <a:off x="6540500" y="26289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04</a:t>
            </a:r>
          </a:p>
        </p:txBody>
      </p:sp>
      <p:sp>
        <p:nvSpPr>
          <p:cNvPr id="17" name="Editable paragraph">
            <a:extLst xmlns:a="http://schemas.openxmlformats.org/drawingml/2006/main">
              <a:ext uri="{FF2B5EF4-FFF2-40B4-BE49-F238E27FC236}">
                <a16:creationId xmlns:a16="http://schemas.microsoft.com/office/drawing/2014/main" id="{7DA788A4-8058-4429-BEE5-0871F189EA14}"/>
              </a:ext>
            </a:extLst>
          </p:cNvPr>
          <p:cNvSpPr>
            <a:spLocks xmlns:a="http://schemas.openxmlformats.org/drawingml/2006/main" noGrp="1"/>
          </p:cNvSpPr>
          <p:nvPr/>
        </p:nvSpPr>
        <p:spPr>
          <a:xfrm xmlns:a="http://schemas.openxmlformats.org/drawingml/2006/main">
            <a:off x="6934200" y="26289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Toilets</a:t>
            </a:r>
          </a:p>
        </p:txBody>
      </p:sp>
      <p:sp>
        <p:nvSpPr>
          <p:cNvPr id="18" name="Editable paragraph">
            <a:extLst xmlns:a="http://schemas.openxmlformats.org/drawingml/2006/main">
              <a:ext uri="{FF2B5EF4-FFF2-40B4-BE49-F238E27FC236}">
                <a16:creationId xmlns:a16="http://schemas.microsoft.com/office/drawing/2014/main" id="{1CA8140F-D032-4553-B462-7A5DB69F65BB}"/>
              </a:ext>
            </a:extLst>
          </p:cNvPr>
          <p:cNvSpPr>
            <a:spLocks xmlns:a="http://schemas.openxmlformats.org/drawingml/2006/main" noGrp="1"/>
          </p:cNvSpPr>
          <p:nvPr/>
        </p:nvSpPr>
        <p:spPr>
          <a:xfrm xmlns:a="http://schemas.openxmlformats.org/drawingml/2006/main">
            <a:off x="6540500" y="29718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05</a:t>
            </a:r>
          </a:p>
        </p:txBody>
      </p:sp>
      <p:sp>
        <p:nvSpPr>
          <p:cNvPr id="19" name="Editable paragraph">
            <a:extLst xmlns:a="http://schemas.openxmlformats.org/drawingml/2006/main">
              <a:ext uri="{FF2B5EF4-FFF2-40B4-BE49-F238E27FC236}">
                <a16:creationId xmlns:a16="http://schemas.microsoft.com/office/drawing/2014/main" id="{ABF679B2-88FC-4183-AA7A-EEA9C07782C5}"/>
              </a:ext>
            </a:extLst>
          </p:cNvPr>
          <p:cNvSpPr>
            <a:spLocks xmlns:a="http://schemas.openxmlformats.org/drawingml/2006/main" noGrp="1"/>
          </p:cNvSpPr>
          <p:nvPr/>
        </p:nvSpPr>
        <p:spPr>
          <a:xfrm xmlns:a="http://schemas.openxmlformats.org/drawingml/2006/main">
            <a:off x="6934200" y="29718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Dining and catering wing</a:t>
            </a:r>
          </a:p>
        </p:txBody>
      </p:sp>
      <p:sp>
        <p:nvSpPr>
          <p:cNvPr id="20" name="Editable paragraph">
            <a:extLst xmlns:a="http://schemas.openxmlformats.org/drawingml/2006/main">
              <a:ext uri="{FF2B5EF4-FFF2-40B4-BE49-F238E27FC236}">
                <a16:creationId xmlns:a16="http://schemas.microsoft.com/office/drawing/2014/main" id="{5C8C350F-E786-462B-803B-A3C11C421B5F}"/>
              </a:ext>
            </a:extLst>
          </p:cNvPr>
          <p:cNvSpPr>
            <a:spLocks xmlns:a="http://schemas.openxmlformats.org/drawingml/2006/main" noGrp="1"/>
          </p:cNvSpPr>
          <p:nvPr/>
        </p:nvSpPr>
        <p:spPr>
          <a:xfrm xmlns:a="http://schemas.openxmlformats.org/drawingml/2006/main">
            <a:off x="6540500" y="33147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06</a:t>
            </a:r>
          </a:p>
        </p:txBody>
      </p:sp>
      <p:sp>
        <p:nvSpPr>
          <p:cNvPr id="21" name="Editable paragraph">
            <a:extLst xmlns:a="http://schemas.openxmlformats.org/drawingml/2006/main">
              <a:ext uri="{FF2B5EF4-FFF2-40B4-BE49-F238E27FC236}">
                <a16:creationId xmlns:a16="http://schemas.microsoft.com/office/drawing/2014/main" id="{8FA5707D-59DB-4FC0-A2C6-1F9BB8AE6591}"/>
              </a:ext>
            </a:extLst>
          </p:cNvPr>
          <p:cNvSpPr>
            <a:spLocks xmlns:a="http://schemas.openxmlformats.org/drawingml/2006/main" noGrp="1"/>
          </p:cNvSpPr>
          <p:nvPr/>
        </p:nvSpPr>
        <p:spPr>
          <a:xfrm xmlns:a="http://schemas.openxmlformats.org/drawingml/2006/main">
            <a:off x="6934200" y="33147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Library</a:t>
            </a:r>
          </a:p>
        </p:txBody>
      </p:sp>
      <p:sp>
        <p:nvSpPr>
          <p:cNvPr id="22" name="Editable paragraph">
            <a:extLst xmlns:a="http://schemas.openxmlformats.org/drawingml/2006/main">
              <a:ext uri="{FF2B5EF4-FFF2-40B4-BE49-F238E27FC236}">
                <a16:creationId xmlns:a16="http://schemas.microsoft.com/office/drawing/2014/main" id="{6DC54622-29F1-42C5-8AFB-F750C091ED25}"/>
              </a:ext>
            </a:extLst>
          </p:cNvPr>
          <p:cNvSpPr>
            <a:spLocks xmlns:a="http://schemas.openxmlformats.org/drawingml/2006/main" noGrp="1"/>
          </p:cNvSpPr>
          <p:nvPr/>
        </p:nvSpPr>
        <p:spPr>
          <a:xfrm xmlns:a="http://schemas.openxmlformats.org/drawingml/2006/main">
            <a:off x="6540500" y="36576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07</a:t>
            </a:r>
          </a:p>
        </p:txBody>
      </p:sp>
      <p:sp>
        <p:nvSpPr>
          <p:cNvPr id="23" name="Editable paragraph">
            <a:extLst xmlns:a="http://schemas.openxmlformats.org/drawingml/2006/main">
              <a:ext uri="{FF2B5EF4-FFF2-40B4-BE49-F238E27FC236}">
                <a16:creationId xmlns:a16="http://schemas.microsoft.com/office/drawing/2014/main" id="{4F416E3A-59C3-4A72-AD9D-E34FDE603A95}"/>
              </a:ext>
            </a:extLst>
          </p:cNvPr>
          <p:cNvSpPr>
            <a:spLocks xmlns:a="http://schemas.openxmlformats.org/drawingml/2006/main" noGrp="1"/>
          </p:cNvSpPr>
          <p:nvPr/>
        </p:nvSpPr>
        <p:spPr>
          <a:xfrm xmlns:a="http://schemas.openxmlformats.org/drawingml/2006/main">
            <a:off x="6934200" y="36576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Entrance hall / connection</a:t>
            </a:r>
          </a:p>
        </p:txBody>
      </p:sp>
      <p:sp>
        <p:nvSpPr>
          <p:cNvPr id="24" name="Editable paragraph">
            <a:extLst xmlns:a="http://schemas.openxmlformats.org/drawingml/2006/main">
              <a:ext uri="{FF2B5EF4-FFF2-40B4-BE49-F238E27FC236}">
                <a16:creationId xmlns:a16="http://schemas.microsoft.com/office/drawing/2014/main" id="{2238E4C3-9624-454A-BEA4-FC2A69026593}"/>
              </a:ext>
            </a:extLst>
          </p:cNvPr>
          <p:cNvSpPr>
            <a:spLocks xmlns:a="http://schemas.openxmlformats.org/drawingml/2006/main" noGrp="1"/>
          </p:cNvSpPr>
          <p:nvPr/>
        </p:nvSpPr>
        <p:spPr>
          <a:xfrm xmlns:a="http://schemas.openxmlformats.org/drawingml/2006/main">
            <a:off x="6540500" y="40005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08</a:t>
            </a:r>
          </a:p>
        </p:txBody>
      </p:sp>
      <p:sp>
        <p:nvSpPr>
          <p:cNvPr id="25" name="Editable paragraph">
            <a:extLst xmlns:a="http://schemas.openxmlformats.org/drawingml/2006/main">
              <a:ext uri="{FF2B5EF4-FFF2-40B4-BE49-F238E27FC236}">
                <a16:creationId xmlns:a16="http://schemas.microsoft.com/office/drawing/2014/main" id="{E83D3E76-B56F-4551-8731-A8FD22A5F932}"/>
              </a:ext>
            </a:extLst>
          </p:cNvPr>
          <p:cNvSpPr>
            <a:spLocks xmlns:a="http://schemas.openxmlformats.org/drawingml/2006/main" noGrp="1"/>
          </p:cNvSpPr>
          <p:nvPr/>
        </p:nvSpPr>
        <p:spPr>
          <a:xfrm xmlns:a="http://schemas.openxmlformats.org/drawingml/2006/main">
            <a:off x="6934200" y="40005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School-history display</a:t>
            </a:r>
          </a:p>
        </p:txBody>
      </p:sp>
      <p:sp>
        <p:nvSpPr>
          <p:cNvPr id="26" name="Editable paragraph">
            <a:extLst xmlns:a="http://schemas.openxmlformats.org/drawingml/2006/main">
              <a:ext uri="{FF2B5EF4-FFF2-40B4-BE49-F238E27FC236}">
                <a16:creationId xmlns:a16="http://schemas.microsoft.com/office/drawing/2014/main" id="{E390F7A4-AFEA-4E30-9AD1-2FCB72F7F2A8}"/>
              </a:ext>
            </a:extLst>
          </p:cNvPr>
          <p:cNvSpPr>
            <a:spLocks xmlns:a="http://schemas.openxmlformats.org/drawingml/2006/main" noGrp="1"/>
          </p:cNvSpPr>
          <p:nvPr/>
        </p:nvSpPr>
        <p:spPr>
          <a:xfrm xmlns:a="http://schemas.openxmlformats.org/drawingml/2006/main">
            <a:off x="6540500" y="4343400"/>
            <a:ext cx="3048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1" i="0">
                <a:solidFill>
                  <a:srgbClr val="345A60"/>
                </a:solidFill>
                <a:latin typeface="Arial"/>
                <a:ea typeface="Arial"/>
                <a:cs typeface="Arial"/>
              </a:defRPr>
            </a:defPPr>
          </a:lstStyle>
          <a:p xmlns:a="http://schemas.openxmlformats.org/drawingml/2006/main">
            <a:pPr>
              <a:buNone/>
              <a:defRPr sz="1030" b="1" i="0">
                <a:solidFill>
                  <a:srgbClr val="345A60"/>
                </a:solidFill>
                <a:latin typeface="Arial"/>
                <a:ea typeface="Arial"/>
                <a:cs typeface="Arial"/>
              </a:defRPr>
              <a:lnSpc>
                <a:spcPts val="1267"/>
              </a:lnSpc>
              <a:spcBef>
                <a:spcPts val="0"/>
              </a:spcBef>
              <a:spcAft>
                <a:spcPts val="0"/>
              </a:spcAft>
            </a:pPr>
            <a:r>
              <a:rPr sz="1030" b="1" i="0">
                <a:solidFill>
                  <a:srgbClr val="345A60"/>
                </a:solidFill>
                <a:latin typeface="Arial"/>
                <a:ea typeface="Arial"/>
                <a:cs typeface="Arial"/>
              </a:rPr>
              <a:t>09</a:t>
            </a:r>
          </a:p>
        </p:txBody>
      </p:sp>
      <p:sp>
        <p:nvSpPr>
          <p:cNvPr id="27" name="Editable paragraph">
            <a:extLst xmlns:a="http://schemas.openxmlformats.org/drawingml/2006/main">
              <a:ext uri="{FF2B5EF4-FFF2-40B4-BE49-F238E27FC236}">
                <a16:creationId xmlns:a16="http://schemas.microsoft.com/office/drawing/2014/main" id="{457C4A40-C820-4368-AA90-DAEBA6579298}"/>
              </a:ext>
            </a:extLst>
          </p:cNvPr>
          <p:cNvSpPr>
            <a:spLocks xmlns:a="http://schemas.openxmlformats.org/drawingml/2006/main" noGrp="1"/>
          </p:cNvSpPr>
          <p:nvPr/>
        </p:nvSpPr>
        <p:spPr>
          <a:xfrm xmlns:a="http://schemas.openxmlformats.org/drawingml/2006/main">
            <a:off x="6934200" y="4343400"/>
            <a:ext cx="3454400" cy="181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30"/>
              </a:lnSpc>
              <a:spcBef>
                <a:spcPts val="0"/>
              </a:spcBef>
              <a:spcAft>
                <a:spcPts val="0"/>
              </a:spcAft>
            </a:pPr>
            <a:r>
              <a:rPr sz="1000" b="0" i="0">
                <a:solidFill>
                  <a:srgbClr val="252D2C"/>
                </a:solidFill>
                <a:latin typeface="Arial"/>
                <a:ea typeface="Arial"/>
                <a:cs typeface="Arial"/>
              </a:rPr>
              <a:t>Reception / discussion</a:t>
            </a:r>
          </a:p>
        </p:txBody>
      </p:sp>
      <p:sp>
        <p:nvSpPr>
          <p:cNvPr id="28" name="Editable paragraph">
            <a:extLst xmlns:a="http://schemas.openxmlformats.org/drawingml/2006/main">
              <a:ext uri="{FF2B5EF4-FFF2-40B4-BE49-F238E27FC236}">
                <a16:creationId xmlns:a16="http://schemas.microsoft.com/office/drawing/2014/main" id="{2C7D67A3-44FE-44B9-831B-C957D2657C85}"/>
              </a:ext>
            </a:extLst>
          </p:cNvPr>
          <p:cNvSpPr>
            <a:spLocks xmlns:a="http://schemas.openxmlformats.org/drawingml/2006/main" noGrp="1"/>
          </p:cNvSpPr>
          <p:nvPr/>
        </p:nvSpPr>
        <p:spPr>
          <a:xfrm xmlns:a="http://schemas.openxmlformats.org/drawingml/2006/main">
            <a:off x="6540500" y="4851400"/>
            <a:ext cx="38481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300"/>
              </a:lnSpc>
              <a:spcBef>
                <a:spcPts val="0"/>
              </a:spcBef>
              <a:spcAft>
                <a:spcPts val="0"/>
              </a:spcAft>
            </a:pPr>
            <a:r>
              <a:rPr sz="1000" b="0" i="0">
                <a:solidFill>
                  <a:srgbClr val="252D2C"/>
                </a:solidFill>
                <a:latin typeface="Arial"/>
                <a:ea typeface="Arial"/>
                <a:cs typeface="Arial"/>
              </a:rPr>
              <a:t>Reception has an adjacent waiting place, clear access to washing, and small-group activity beside shared circulation.</a:t>
            </a:r>
          </a:p>
        </p:txBody>
      </p:sp>
      <p:sp>
        <p:nvSpPr>
          <p:cNvPr id="29" name="">
            <a:extLst xmlns:a="http://schemas.openxmlformats.org/drawingml/2006/main">
              <a:ext uri="{FF2B5EF4-FFF2-40B4-BE49-F238E27FC236}">
                <a16:creationId xmlns:a16="http://schemas.microsoft.com/office/drawing/2014/main" id="{28E1982D-92B0-4657-BC32-1F31742CF7C2}"/>
              </a:ext>
            </a:extLst>
          </p:cNvPr>
          <p:cNvSpPr>
            <a:spLocks xmlns:a="http://schemas.openxmlformats.org/drawingml/2006/main" noGrp="1"/>
          </p:cNvSpPr>
          <p:nvPr/>
        </p:nvSpPr>
        <p:spPr>
          <a:xfrm xmlns:a="http://schemas.openxmlformats.org/drawingml/2006/main">
            <a:off x="6540500" y="5626100"/>
            <a:ext cx="3848100" cy="953"/>
          </a:xfrm>
          <a:custGeom xmlns:a="http://schemas.openxmlformats.org/drawingml/2006/main">
            <a:pathLst>
              <a:path w="3848100" h="953">
                <a:moveTo>
                  <a:pt x="0" y="0"/>
                </a:moveTo>
                <a:lnTo>
                  <a:pt x="3848100" y="0"/>
                </a:lnTo>
              </a:path>
            </a:pathLst>
          </a:custGeom>
          <a:noFill xmlns:a="http://schemas.openxmlformats.org/drawingml/2006/main"/>
          <a:ln xmlns:a="http://schemas.openxmlformats.org/drawingml/2006/main" w="6985">
            <a:solidFill>
              <a:srgbClr val="CAD3CF"/>
            </a:solidFill>
            <a:prstDash val="solid"/>
          </a:ln>
        </p:spPr>
      </p:sp>
      <p:pic>
        <p:nvPicPr>
          <p:cNvPr id="30" name="">
            <a:extLst xmlns:a="http://schemas.openxmlformats.org/drawingml/2006/main">
              <a:ext uri="{FF2B5EF4-FFF2-40B4-BE49-F238E27FC236}">
                <a16:creationId xmlns:a16="http://schemas.microsoft.com/office/drawing/2014/main" id="{614289D9-0CC3-458F-AC9F-5257C577B53A}"/>
              </a:ext>
            </a:extLst>
          </p:cNvPr>
          <p:cNvPicPr>
            <a:picLocks xmlns:a="http://schemas.openxmlformats.org/drawingml/2006/main" noChangeAspect="1"/>
          </p:cNvPicPr>
          <p:nvPr/>
        </p:nvPicPr>
        <p:blipFill>
          <a:blip xmlns:r="http://schemas.openxmlformats.org/officeDocument/2006/relationships" xmlns:a="http://schemas.openxmlformats.org/drawingml/2006/main" r:embed="R91b01a0c95eb408a"/>
          <a:stretch xmlns:a="http://schemas.openxmlformats.org/drawingml/2006/main"/>
        </p:blipFill>
        <p:spPr>
          <a:xfrm xmlns:a="http://schemas.openxmlformats.org/drawingml/2006/main">
            <a:off x="6542986" y="5744455"/>
            <a:ext cx="3843129" cy="1007890"/>
          </a:xfrm>
          <a:prstGeom xmlns:a="http://schemas.openxmlformats.org/drawingml/2006/main" prst="rect">
            <a:avLst/>
          </a:prstGeom>
        </p:spPr>
      </p:pic>
      <p:sp>
        <p:nvSpPr>
          <p:cNvPr id="31" name="Editable paragraph">
            <a:extLst xmlns:a="http://schemas.openxmlformats.org/drawingml/2006/main">
              <a:ext uri="{FF2B5EF4-FFF2-40B4-BE49-F238E27FC236}">
                <a16:creationId xmlns:a16="http://schemas.microsoft.com/office/drawing/2014/main" id="{14CDCA1F-CAF3-4260-BD1C-ECF173FF29F9}"/>
              </a:ext>
            </a:extLst>
          </p:cNvPr>
          <p:cNvSpPr>
            <a:spLocks xmlns:a="http://schemas.openxmlformats.org/drawingml/2006/main" noGrp="1"/>
          </p:cNvSpPr>
          <p:nvPr/>
        </p:nvSpPr>
        <p:spPr>
          <a:xfrm xmlns:a="http://schemas.openxmlformats.org/drawingml/2006/main">
            <a:off x="6540500" y="6845300"/>
            <a:ext cx="3848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252D2C"/>
                </a:solidFill>
                <a:latin typeface="Arial"/>
                <a:ea typeface="Arial"/>
                <a:cs typeface="Arial"/>
              </a:defRPr>
            </a:defPPr>
          </a:lstStyle>
          <a:p xmlns:a="http://schemas.openxmlformats.org/drawingml/2006/main">
            <a:pPr>
              <a:buNone/>
              <a:defRPr sz="700" b="0" i="0">
                <a:solidFill>
                  <a:srgbClr val="252D2C"/>
                </a:solidFill>
                <a:latin typeface="Arial"/>
                <a:ea typeface="Arial"/>
                <a:cs typeface="Arial"/>
              </a:defRPr>
              <a:lnSpc>
                <a:spcPts val="850"/>
              </a:lnSpc>
              <a:spcBef>
                <a:spcPts val="0"/>
              </a:spcBef>
              <a:spcAft>
                <a:spcPts val="0"/>
              </a:spcAft>
            </a:pPr>
            <a:r>
              <a:rPr sz="700" b="0" i="0">
                <a:solidFill>
                  <a:srgbClr val="252D2C"/>
                </a:solidFill>
                <a:latin typeface="Arial"/>
                <a:ea typeface="Arial"/>
                <a:cs typeface="Arial"/>
              </a:rPr>
              <a:t>Figure 11. Entrance elevation and the rhythm of sheltered circulation.</a:t>
            </a:r>
          </a:p>
        </p:txBody>
      </p:sp>
      <p:sp>
        <p:nvSpPr>
          <p:cNvPr id="32" name="Editable paragraph">
            <a:extLst xmlns:a="http://schemas.openxmlformats.org/drawingml/2006/main">
              <a:ext uri="{FF2B5EF4-FFF2-40B4-BE49-F238E27FC236}">
                <a16:creationId xmlns:a16="http://schemas.microsoft.com/office/drawing/2014/main" id="{248CBE03-E909-4866-8D8E-3376B3E36459}"/>
              </a:ext>
            </a:extLst>
          </p:cNvPr>
          <p:cNvSpPr>
            <a:spLocks xmlns:a="http://schemas.openxmlformats.org/drawingml/2006/main" noGrp="1"/>
          </p:cNvSpPr>
          <p:nvPr/>
        </p:nvSpPr>
        <p:spPr>
          <a:xfrm xmlns:a="http://schemas.openxmlformats.org/drawingml/2006/main">
            <a:off x="304800" y="7175500"/>
            <a:ext cx="5918200" cy="13787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20" b="0" i="0">
                <a:solidFill>
                  <a:srgbClr val="65736D"/>
                </a:solidFill>
                <a:latin typeface="Arial"/>
                <a:ea typeface="Arial"/>
                <a:cs typeface="Arial"/>
              </a:defRPr>
            </a:defPPr>
          </a:lstStyle>
          <a:p xmlns:a="http://schemas.openxmlformats.org/drawingml/2006/main">
            <a:pPr>
              <a:buNone/>
              <a:defRPr sz="720" b="0" i="0">
                <a:solidFill>
                  <a:srgbClr val="65736D"/>
                </a:solidFill>
                <a:latin typeface="Arial"/>
                <a:ea typeface="Arial"/>
                <a:cs typeface="Arial"/>
              </a:defRPr>
              <a:lnSpc>
                <a:spcPts val="886"/>
              </a:lnSpc>
              <a:spcBef>
                <a:spcPts val="0"/>
              </a:spcBef>
              <a:spcAft>
                <a:spcPts val="0"/>
              </a:spcAft>
            </a:pPr>
            <a:r>
              <a:rPr sz="720" b="0" i="0">
                <a:solidFill>
                  <a:srgbClr val="65736D"/>
                </a:solidFill>
                <a:latin typeface="Arial"/>
                <a:ea typeface="Arial"/>
                <a:cs typeface="Arial"/>
              </a:rPr>
              <a:t>Ground floor: arrival, reception, learning, and dining.</a:t>
            </a:r>
          </a:p>
        </p:txBody>
      </p:sp>
    </p:spTree>
    <p:extLst>
      <p:ext uri="{BB962C8B-B14F-4D97-AF65-F5344CB8AC3E}">
        <p14:creationId xmlns:p14="http://schemas.microsoft.com/office/powerpoint/2010/main" val="9078955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Editable paragraph">
            <a:extLst xmlns:a="http://schemas.openxmlformats.org/drawingml/2006/main">
              <a:ext uri="{FF2B5EF4-FFF2-40B4-BE49-F238E27FC236}">
                <a16:creationId xmlns:a16="http://schemas.microsoft.com/office/drawing/2014/main" id="{36579A93-8B2A-4E43-92E3-DCDACA990E0D}"/>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A0998D54-6D1D-4BC2-B3CC-9B95E4B3AE14}"/>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CF91C604-AB23-4BF4-8171-590224A621F1}"/>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PORTFOLIO</a:t>
            </a:r>
          </a:p>
        </p:txBody>
      </p:sp>
      <p:sp>
        <p:nvSpPr>
          <p:cNvPr id="4" name="">
            <a:extLst xmlns:a="http://schemas.openxmlformats.org/drawingml/2006/main">
              <a:ext uri="{FF2B5EF4-FFF2-40B4-BE49-F238E27FC236}">
                <a16:creationId xmlns:a16="http://schemas.microsoft.com/office/drawing/2014/main" id="{2D059EA5-9680-4FA4-B7BF-28D5AE9ECBB9}"/>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D63A8BEF-91F4-4672-ADC9-46B85E0B0E31}"/>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Level 2: learning with support nearby</a:t>
            </a:r>
          </a:p>
        </p:txBody>
      </p:sp>
      <p:sp>
        <p:nvSpPr>
          <p:cNvPr id="6" name="">
            <a:extLst xmlns:a="http://schemas.openxmlformats.org/drawingml/2006/main">
              <a:ext uri="{FF2B5EF4-FFF2-40B4-BE49-F238E27FC236}">
                <a16:creationId xmlns:a16="http://schemas.microsoft.com/office/drawing/2014/main" id="{4ECD758B-324C-4B9C-8596-06988921C426}"/>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9F574649-DB86-45E3-97A6-5BD7A7DFF796}"/>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DFA46D74-6A18-4BD9-8B4C-AFABA32E3532}"/>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11 / 15</a:t>
            </a:r>
          </a:p>
        </p:txBody>
      </p:sp>
      <p:pic>
        <p:nvPicPr>
          <p:cNvPr id="9" name="">
            <a:extLst xmlns:a="http://schemas.openxmlformats.org/drawingml/2006/main">
              <a:ext uri="{FF2B5EF4-FFF2-40B4-BE49-F238E27FC236}">
                <a16:creationId xmlns:a16="http://schemas.microsoft.com/office/drawing/2014/main" id="{2D72B881-D17F-4B63-8BC5-406021EBD96F}"/>
              </a:ext>
            </a:extLst>
          </p:cNvPr>
          <p:cNvPicPr>
            <a:picLocks xmlns:a="http://schemas.openxmlformats.org/drawingml/2006/main" noChangeAspect="1"/>
          </p:cNvPicPr>
          <p:nvPr/>
        </p:nvPicPr>
        <p:blipFill>
          <a:blip xmlns:r="http://schemas.openxmlformats.org/officeDocument/2006/relationships" xmlns:a="http://schemas.openxmlformats.org/drawingml/2006/main" r:embed="Re147750013cf4c33"/>
          <a:stretch xmlns:a="http://schemas.openxmlformats.org/drawingml/2006/main"/>
        </p:blipFill>
        <p:spPr>
          <a:xfrm xmlns:a="http://schemas.openxmlformats.org/drawingml/2006/main">
            <a:off x="451693" y="1029385"/>
            <a:ext cx="5814914" cy="6056531"/>
          </a:xfrm>
          <a:prstGeom xmlns:a="http://schemas.openxmlformats.org/drawingml/2006/main" prst="rect">
            <a:avLst/>
          </a:prstGeom>
        </p:spPr>
      </p:pic>
      <p:sp>
        <p:nvSpPr>
          <p:cNvPr id="10" name="Editable paragraph">
            <a:extLst xmlns:a="http://schemas.openxmlformats.org/drawingml/2006/main">
              <a:ext uri="{FF2B5EF4-FFF2-40B4-BE49-F238E27FC236}">
                <a16:creationId xmlns:a16="http://schemas.microsoft.com/office/drawing/2014/main" id="{C0FDC1A4-C703-4B14-85EA-F44EEC03AE9E}"/>
              </a:ext>
            </a:extLst>
          </p:cNvPr>
          <p:cNvSpPr>
            <a:spLocks xmlns:a="http://schemas.openxmlformats.org/drawingml/2006/main" noGrp="1"/>
          </p:cNvSpPr>
          <p:nvPr/>
        </p:nvSpPr>
        <p:spPr>
          <a:xfrm xmlns:a="http://schemas.openxmlformats.org/drawingml/2006/main">
            <a:off x="6705600" y="1092200"/>
            <a:ext cx="850900" cy="5252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00" b="1" i="0">
                <a:solidFill>
                  <a:srgbClr val="345A60"/>
                </a:solidFill>
                <a:latin typeface="Arial"/>
                <a:ea typeface="Arial"/>
                <a:cs typeface="Arial"/>
              </a:defRPr>
            </a:defPPr>
          </a:lstStyle>
          <a:p xmlns:a="http://schemas.openxmlformats.org/drawingml/2006/main">
            <a:pPr>
              <a:buNone/>
              <a:defRPr sz="3200" b="1" i="0">
                <a:solidFill>
                  <a:srgbClr val="345A60"/>
                </a:solidFill>
                <a:latin typeface="Arial"/>
                <a:ea typeface="Arial"/>
                <a:cs typeface="Arial"/>
              </a:defRPr>
              <a:lnSpc>
                <a:spcPts val="3936"/>
              </a:lnSpc>
              <a:spcBef>
                <a:spcPts val="0"/>
              </a:spcBef>
              <a:spcAft>
                <a:spcPts val="0"/>
              </a:spcAft>
            </a:pPr>
            <a:r>
              <a:rPr sz="3200" b="1" i="0">
                <a:solidFill>
                  <a:srgbClr val="345A60"/>
                </a:solidFill>
                <a:latin typeface="Arial"/>
                <a:ea typeface="Arial"/>
                <a:cs typeface="Arial"/>
              </a:rPr>
              <a:t>L2</a:t>
            </a:r>
          </a:p>
        </p:txBody>
      </p:sp>
      <p:sp>
        <p:nvSpPr>
          <p:cNvPr id="11" name="Editable paragraph">
            <a:extLst xmlns:a="http://schemas.openxmlformats.org/drawingml/2006/main">
              <a:ext uri="{FF2B5EF4-FFF2-40B4-BE49-F238E27FC236}">
                <a16:creationId xmlns:a16="http://schemas.microsoft.com/office/drawing/2014/main" id="{0761AFE7-C9CC-4901-BF8A-FDB6C7ACAA1F}"/>
              </a:ext>
            </a:extLst>
          </p:cNvPr>
          <p:cNvSpPr>
            <a:spLocks xmlns:a="http://schemas.openxmlformats.org/drawingml/2006/main" noGrp="1"/>
          </p:cNvSpPr>
          <p:nvPr/>
        </p:nvSpPr>
        <p:spPr>
          <a:xfrm xmlns:a="http://schemas.openxmlformats.org/drawingml/2006/main">
            <a:off x="7683500" y="1117600"/>
            <a:ext cx="2705100" cy="5252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00" b="1" i="0">
                <a:solidFill>
                  <a:srgbClr val="252D2C"/>
                </a:solidFill>
                <a:latin typeface="Arial"/>
                <a:ea typeface="Arial"/>
                <a:cs typeface="Arial"/>
              </a:defRPr>
            </a:defPPr>
          </a:lstStyle>
          <a:p xmlns:a="http://schemas.openxmlformats.org/drawingml/2006/main">
            <a:pPr>
              <a:buNone/>
              <a:defRPr sz="1600" b="1" i="0">
                <a:solidFill>
                  <a:srgbClr val="252D2C"/>
                </a:solidFill>
                <a:latin typeface="Arial"/>
                <a:ea typeface="Arial"/>
                <a:cs typeface="Arial"/>
              </a:defRPr>
              <a:lnSpc>
                <a:spcPts val="1968"/>
              </a:lnSpc>
              <a:spcBef>
                <a:spcPts val="0"/>
              </a:spcBef>
              <a:spcAft>
                <a:spcPts val="0"/>
              </a:spcAft>
            </a:pPr>
            <a:r>
              <a:rPr sz="1600" b="1" i="0">
                <a:solidFill>
                  <a:srgbClr val="252D2C"/>
                </a:solidFill>
                <a:latin typeface="Arial"/>
                <a:ea typeface="Arial"/>
                <a:cs typeface="Arial"/>
              </a:rPr>
              <a:t>Adult support within the learning network.</a:t>
            </a:r>
          </a:p>
        </p:txBody>
      </p:sp>
      <p:sp>
        <p:nvSpPr>
          <p:cNvPr id="12" name="Editable paragraph">
            <a:extLst xmlns:a="http://schemas.openxmlformats.org/drawingml/2006/main">
              <a:ext uri="{FF2B5EF4-FFF2-40B4-BE49-F238E27FC236}">
                <a16:creationId xmlns:a16="http://schemas.microsoft.com/office/drawing/2014/main" id="{149A79BD-7DC6-43EB-8E31-7F2252CE748F}"/>
              </a:ext>
            </a:extLst>
          </p:cNvPr>
          <p:cNvSpPr>
            <a:spLocks xmlns:a="http://schemas.openxmlformats.org/drawingml/2006/main" noGrp="1"/>
          </p:cNvSpPr>
          <p:nvPr/>
        </p:nvSpPr>
        <p:spPr>
          <a:xfrm xmlns:a="http://schemas.openxmlformats.org/drawingml/2006/main">
            <a:off x="6705600" y="2298700"/>
            <a:ext cx="3175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01</a:t>
            </a:r>
          </a:p>
        </p:txBody>
      </p:sp>
      <p:sp>
        <p:nvSpPr>
          <p:cNvPr id="13" name="Editable paragraph">
            <a:extLst xmlns:a="http://schemas.openxmlformats.org/drawingml/2006/main">
              <a:ext uri="{FF2B5EF4-FFF2-40B4-BE49-F238E27FC236}">
                <a16:creationId xmlns:a16="http://schemas.microsoft.com/office/drawing/2014/main" id="{F9ECF40E-A49E-4B5E-A3B4-341C21203457}"/>
              </a:ext>
            </a:extLst>
          </p:cNvPr>
          <p:cNvSpPr>
            <a:spLocks xmlns:a="http://schemas.openxmlformats.org/drawingml/2006/main" noGrp="1"/>
          </p:cNvSpPr>
          <p:nvPr/>
        </p:nvSpPr>
        <p:spPr>
          <a:xfrm xmlns:a="http://schemas.openxmlformats.org/drawingml/2006/main">
            <a:off x="7112000" y="2298700"/>
            <a:ext cx="32766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0" i="0">
                <a:solidFill>
                  <a:srgbClr val="252D2C"/>
                </a:solidFill>
                <a:latin typeface="Arial"/>
                <a:ea typeface="Arial"/>
                <a:cs typeface="Arial"/>
              </a:defRPr>
            </a:defPPr>
          </a:lstStyle>
          <a:p xmlns:a="http://schemas.openxmlformats.org/drawingml/2006/main">
            <a:pPr>
              <a:buNone/>
              <a:defRPr sz="1030" b="0" i="0">
                <a:solidFill>
                  <a:srgbClr val="252D2C"/>
                </a:solidFill>
                <a:latin typeface="Arial"/>
                <a:ea typeface="Arial"/>
                <a:cs typeface="Arial"/>
              </a:defRPr>
              <a:lnSpc>
                <a:spcPts val="1267"/>
              </a:lnSpc>
              <a:spcBef>
                <a:spcPts val="0"/>
              </a:spcBef>
              <a:spcAft>
                <a:spcPts val="0"/>
              </a:spcAft>
            </a:pPr>
            <a:r>
              <a:rPr sz="1030" b="0" i="0">
                <a:solidFill>
                  <a:srgbClr val="252D2C"/>
                </a:solidFill>
                <a:latin typeface="Arial"/>
                <a:ea typeface="Arial"/>
                <a:cs typeface="Arial"/>
              </a:rPr>
              <a:t>Multifunction classroom</a:t>
            </a:r>
          </a:p>
        </p:txBody>
      </p:sp>
      <p:sp>
        <p:nvSpPr>
          <p:cNvPr id="14" name="Editable paragraph">
            <a:extLst xmlns:a="http://schemas.openxmlformats.org/drawingml/2006/main">
              <a:ext uri="{FF2B5EF4-FFF2-40B4-BE49-F238E27FC236}">
                <a16:creationId xmlns:a16="http://schemas.microsoft.com/office/drawing/2014/main" id="{353C5600-B440-42B6-9F3F-90F88A7E4819}"/>
              </a:ext>
            </a:extLst>
          </p:cNvPr>
          <p:cNvSpPr>
            <a:spLocks xmlns:a="http://schemas.openxmlformats.org/drawingml/2006/main" noGrp="1"/>
          </p:cNvSpPr>
          <p:nvPr/>
        </p:nvSpPr>
        <p:spPr>
          <a:xfrm xmlns:a="http://schemas.openxmlformats.org/drawingml/2006/main">
            <a:off x="6705600" y="2768600"/>
            <a:ext cx="3175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02</a:t>
            </a:r>
          </a:p>
        </p:txBody>
      </p:sp>
      <p:sp>
        <p:nvSpPr>
          <p:cNvPr id="15" name="Editable paragraph">
            <a:extLst xmlns:a="http://schemas.openxmlformats.org/drawingml/2006/main">
              <a:ext uri="{FF2B5EF4-FFF2-40B4-BE49-F238E27FC236}">
                <a16:creationId xmlns:a16="http://schemas.microsoft.com/office/drawing/2014/main" id="{D75963A8-68C1-43B8-A325-53BB5700A528}"/>
              </a:ext>
            </a:extLst>
          </p:cNvPr>
          <p:cNvSpPr>
            <a:spLocks xmlns:a="http://schemas.openxmlformats.org/drawingml/2006/main" noGrp="1"/>
          </p:cNvSpPr>
          <p:nvPr/>
        </p:nvSpPr>
        <p:spPr>
          <a:xfrm xmlns:a="http://schemas.openxmlformats.org/drawingml/2006/main">
            <a:off x="7112000" y="2768600"/>
            <a:ext cx="32766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0" i="0">
                <a:solidFill>
                  <a:srgbClr val="252D2C"/>
                </a:solidFill>
                <a:latin typeface="Arial"/>
                <a:ea typeface="Arial"/>
                <a:cs typeface="Arial"/>
              </a:defRPr>
            </a:defPPr>
          </a:lstStyle>
          <a:p xmlns:a="http://schemas.openxmlformats.org/drawingml/2006/main">
            <a:pPr>
              <a:buNone/>
              <a:defRPr sz="1030" b="0" i="0">
                <a:solidFill>
                  <a:srgbClr val="252D2C"/>
                </a:solidFill>
                <a:latin typeface="Arial"/>
                <a:ea typeface="Arial"/>
                <a:cs typeface="Arial"/>
              </a:defRPr>
              <a:lnSpc>
                <a:spcPts val="1267"/>
              </a:lnSpc>
              <a:spcBef>
                <a:spcPts val="0"/>
              </a:spcBef>
              <a:spcAft>
                <a:spcPts val="0"/>
              </a:spcAft>
            </a:pPr>
            <a:r>
              <a:rPr sz="1030" b="0" i="0">
                <a:solidFill>
                  <a:srgbClr val="252D2C"/>
                </a:solidFill>
                <a:latin typeface="Arial"/>
                <a:ea typeface="Arial"/>
                <a:cs typeface="Arial"/>
              </a:rPr>
              <a:t>Rest, consultation and support</a:t>
            </a:r>
          </a:p>
        </p:txBody>
      </p:sp>
      <p:sp>
        <p:nvSpPr>
          <p:cNvPr id="16" name="Editable paragraph">
            <a:extLst xmlns:a="http://schemas.openxmlformats.org/drawingml/2006/main">
              <a:ext uri="{FF2B5EF4-FFF2-40B4-BE49-F238E27FC236}">
                <a16:creationId xmlns:a16="http://schemas.microsoft.com/office/drawing/2014/main" id="{14BE39A1-D43D-4059-B425-09B2D935F12D}"/>
              </a:ext>
            </a:extLst>
          </p:cNvPr>
          <p:cNvSpPr>
            <a:spLocks xmlns:a="http://schemas.openxmlformats.org/drawingml/2006/main" noGrp="1"/>
          </p:cNvSpPr>
          <p:nvPr/>
        </p:nvSpPr>
        <p:spPr>
          <a:xfrm xmlns:a="http://schemas.openxmlformats.org/drawingml/2006/main">
            <a:off x="6705600" y="3238500"/>
            <a:ext cx="3175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03</a:t>
            </a:r>
          </a:p>
        </p:txBody>
      </p:sp>
      <p:sp>
        <p:nvSpPr>
          <p:cNvPr id="17" name="Editable paragraph">
            <a:extLst xmlns:a="http://schemas.openxmlformats.org/drawingml/2006/main">
              <a:ext uri="{FF2B5EF4-FFF2-40B4-BE49-F238E27FC236}">
                <a16:creationId xmlns:a16="http://schemas.microsoft.com/office/drawing/2014/main" id="{6FEA1184-3414-40FD-AC2D-7FC80C6B72A1}"/>
              </a:ext>
            </a:extLst>
          </p:cNvPr>
          <p:cNvSpPr>
            <a:spLocks xmlns:a="http://schemas.openxmlformats.org/drawingml/2006/main" noGrp="1"/>
          </p:cNvSpPr>
          <p:nvPr/>
        </p:nvSpPr>
        <p:spPr>
          <a:xfrm xmlns:a="http://schemas.openxmlformats.org/drawingml/2006/main">
            <a:off x="7112000" y="3238500"/>
            <a:ext cx="32766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0" i="0">
                <a:solidFill>
                  <a:srgbClr val="252D2C"/>
                </a:solidFill>
                <a:latin typeface="Arial"/>
                <a:ea typeface="Arial"/>
                <a:cs typeface="Arial"/>
              </a:defRPr>
            </a:defPPr>
          </a:lstStyle>
          <a:p xmlns:a="http://schemas.openxmlformats.org/drawingml/2006/main">
            <a:pPr>
              <a:buNone/>
              <a:defRPr sz="1030" b="0" i="0">
                <a:solidFill>
                  <a:srgbClr val="252D2C"/>
                </a:solidFill>
                <a:latin typeface="Arial"/>
                <a:ea typeface="Arial"/>
                <a:cs typeface="Arial"/>
              </a:defRPr>
              <a:lnSpc>
                <a:spcPts val="1267"/>
              </a:lnSpc>
              <a:spcBef>
                <a:spcPts val="0"/>
              </a:spcBef>
              <a:spcAft>
                <a:spcPts val="0"/>
              </a:spcAft>
            </a:pPr>
            <a:r>
              <a:rPr sz="1030" b="0" i="0">
                <a:solidFill>
                  <a:srgbClr val="252D2C"/>
                </a:solidFill>
                <a:latin typeface="Arial"/>
                <a:ea typeface="Arial"/>
                <a:cs typeface="Arial"/>
              </a:rPr>
              <a:t>Offices in the connecting block</a:t>
            </a:r>
          </a:p>
        </p:txBody>
      </p:sp>
      <p:sp>
        <p:nvSpPr>
          <p:cNvPr id="18" name="Editable paragraph">
            <a:extLst xmlns:a="http://schemas.openxmlformats.org/drawingml/2006/main">
              <a:ext uri="{FF2B5EF4-FFF2-40B4-BE49-F238E27FC236}">
                <a16:creationId xmlns:a16="http://schemas.microsoft.com/office/drawing/2014/main" id="{FD7E81A6-021E-4A45-B82C-0FA3743558AB}"/>
              </a:ext>
            </a:extLst>
          </p:cNvPr>
          <p:cNvSpPr>
            <a:spLocks xmlns:a="http://schemas.openxmlformats.org/drawingml/2006/main" noGrp="1"/>
          </p:cNvSpPr>
          <p:nvPr/>
        </p:nvSpPr>
        <p:spPr>
          <a:xfrm xmlns:a="http://schemas.openxmlformats.org/drawingml/2006/main">
            <a:off x="6705600" y="3708400"/>
            <a:ext cx="3175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04</a:t>
            </a:r>
          </a:p>
        </p:txBody>
      </p:sp>
      <p:sp>
        <p:nvSpPr>
          <p:cNvPr id="19" name="Editable paragraph">
            <a:extLst xmlns:a="http://schemas.openxmlformats.org/drawingml/2006/main">
              <a:ext uri="{FF2B5EF4-FFF2-40B4-BE49-F238E27FC236}">
                <a16:creationId xmlns:a16="http://schemas.microsoft.com/office/drawing/2014/main" id="{F405B5B4-0FBE-4FD4-95A6-1C628AF87B29}"/>
              </a:ext>
            </a:extLst>
          </p:cNvPr>
          <p:cNvSpPr>
            <a:spLocks xmlns:a="http://schemas.openxmlformats.org/drawingml/2006/main" noGrp="1"/>
          </p:cNvSpPr>
          <p:nvPr/>
        </p:nvSpPr>
        <p:spPr>
          <a:xfrm xmlns:a="http://schemas.openxmlformats.org/drawingml/2006/main">
            <a:off x="7112000" y="3708400"/>
            <a:ext cx="32766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0" i="0">
                <a:solidFill>
                  <a:srgbClr val="252D2C"/>
                </a:solidFill>
                <a:latin typeface="Arial"/>
                <a:ea typeface="Arial"/>
                <a:cs typeface="Arial"/>
              </a:defRPr>
            </a:defPPr>
          </a:lstStyle>
          <a:p xmlns:a="http://schemas.openxmlformats.org/drawingml/2006/main">
            <a:pPr>
              <a:buNone/>
              <a:defRPr sz="1030" b="0" i="0">
                <a:solidFill>
                  <a:srgbClr val="252D2C"/>
                </a:solidFill>
                <a:latin typeface="Arial"/>
                <a:ea typeface="Arial"/>
                <a:cs typeface="Arial"/>
              </a:defRPr>
              <a:lnSpc>
                <a:spcPts val="1267"/>
              </a:lnSpc>
              <a:spcBef>
                <a:spcPts val="0"/>
              </a:spcBef>
              <a:spcAft>
                <a:spcPts val="0"/>
              </a:spcAft>
            </a:pPr>
            <a:r>
              <a:rPr sz="1030" b="0" i="0">
                <a:solidFill>
                  <a:srgbClr val="252D2C"/>
                </a:solidFill>
                <a:latin typeface="Arial"/>
                <a:ea typeface="Arial"/>
                <a:cs typeface="Arial"/>
              </a:rPr>
              <a:t>Toilets</a:t>
            </a:r>
          </a:p>
        </p:txBody>
      </p:sp>
      <p:sp>
        <p:nvSpPr>
          <p:cNvPr id="20" name="Editable paragraph">
            <a:extLst xmlns:a="http://schemas.openxmlformats.org/drawingml/2006/main">
              <a:ext uri="{FF2B5EF4-FFF2-40B4-BE49-F238E27FC236}">
                <a16:creationId xmlns:a16="http://schemas.microsoft.com/office/drawing/2014/main" id="{91FFD303-E50F-4E38-B9AA-28C55DE16506}"/>
              </a:ext>
            </a:extLst>
          </p:cNvPr>
          <p:cNvSpPr>
            <a:spLocks xmlns:a="http://schemas.openxmlformats.org/drawingml/2006/main" noGrp="1"/>
          </p:cNvSpPr>
          <p:nvPr/>
        </p:nvSpPr>
        <p:spPr>
          <a:xfrm xmlns:a="http://schemas.openxmlformats.org/drawingml/2006/main">
            <a:off x="6705600" y="4178300"/>
            <a:ext cx="3175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05</a:t>
            </a:r>
          </a:p>
        </p:txBody>
      </p:sp>
      <p:sp>
        <p:nvSpPr>
          <p:cNvPr id="21" name="Editable paragraph">
            <a:extLst xmlns:a="http://schemas.openxmlformats.org/drawingml/2006/main">
              <a:ext uri="{FF2B5EF4-FFF2-40B4-BE49-F238E27FC236}">
                <a16:creationId xmlns:a16="http://schemas.microsoft.com/office/drawing/2014/main" id="{A321285F-5A8C-469A-A442-2EEA1C18D6FD}"/>
              </a:ext>
            </a:extLst>
          </p:cNvPr>
          <p:cNvSpPr>
            <a:spLocks xmlns:a="http://schemas.openxmlformats.org/drawingml/2006/main" noGrp="1"/>
          </p:cNvSpPr>
          <p:nvPr/>
        </p:nvSpPr>
        <p:spPr>
          <a:xfrm xmlns:a="http://schemas.openxmlformats.org/drawingml/2006/main">
            <a:off x="7112000" y="4178300"/>
            <a:ext cx="32766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0" i="0">
                <a:solidFill>
                  <a:srgbClr val="252D2C"/>
                </a:solidFill>
                <a:latin typeface="Arial"/>
                <a:ea typeface="Arial"/>
                <a:cs typeface="Arial"/>
              </a:defRPr>
            </a:defPPr>
          </a:lstStyle>
          <a:p xmlns:a="http://schemas.openxmlformats.org/drawingml/2006/main">
            <a:pPr>
              <a:buNone/>
              <a:defRPr sz="1030" b="0" i="0">
                <a:solidFill>
                  <a:srgbClr val="252D2C"/>
                </a:solidFill>
                <a:latin typeface="Arial"/>
                <a:ea typeface="Arial"/>
                <a:cs typeface="Arial"/>
              </a:defRPr>
              <a:lnSpc>
                <a:spcPts val="1267"/>
              </a:lnSpc>
              <a:spcBef>
                <a:spcPts val="0"/>
              </a:spcBef>
              <a:spcAft>
                <a:spcPts val="0"/>
              </a:spcAft>
            </a:pPr>
            <a:r>
              <a:rPr sz="1030" b="0" i="0">
                <a:solidFill>
                  <a:srgbClr val="252D2C"/>
                </a:solidFill>
                <a:latin typeface="Arial"/>
                <a:ea typeface="Arial"/>
                <a:cs typeface="Arial"/>
              </a:rPr>
              <a:t>Dining and catering wing</a:t>
            </a:r>
          </a:p>
        </p:txBody>
      </p:sp>
      <p:sp>
        <p:nvSpPr>
          <p:cNvPr id="22" name="Editable paragraph">
            <a:extLst xmlns:a="http://schemas.openxmlformats.org/drawingml/2006/main">
              <a:ext uri="{FF2B5EF4-FFF2-40B4-BE49-F238E27FC236}">
                <a16:creationId xmlns:a16="http://schemas.microsoft.com/office/drawing/2014/main" id="{7FD8F614-26C2-46A9-9AE4-CDCCE220D628}"/>
              </a:ext>
            </a:extLst>
          </p:cNvPr>
          <p:cNvSpPr>
            <a:spLocks xmlns:a="http://schemas.openxmlformats.org/drawingml/2006/main" noGrp="1"/>
          </p:cNvSpPr>
          <p:nvPr/>
        </p:nvSpPr>
        <p:spPr>
          <a:xfrm xmlns:a="http://schemas.openxmlformats.org/drawingml/2006/main">
            <a:off x="6705600" y="4648200"/>
            <a:ext cx="317500" cy="1972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1" i="0">
                <a:solidFill>
                  <a:srgbClr val="345A60"/>
                </a:solidFill>
                <a:latin typeface="Arial"/>
                <a:ea typeface="Arial"/>
                <a:cs typeface="Arial"/>
              </a:defRPr>
            </a:defPPr>
          </a:lstStyle>
          <a:p xmlns:a="http://schemas.openxmlformats.org/drawingml/2006/main">
            <a:pPr>
              <a:buNone/>
              <a:defRPr sz="1100" b="1" i="0">
                <a:solidFill>
                  <a:srgbClr val="345A60"/>
                </a:solidFill>
                <a:latin typeface="Arial"/>
                <a:ea typeface="Arial"/>
                <a:cs typeface="Arial"/>
              </a:defRPr>
              <a:lnSpc>
                <a:spcPts val="1353"/>
              </a:lnSpc>
              <a:spcBef>
                <a:spcPts val="0"/>
              </a:spcBef>
              <a:spcAft>
                <a:spcPts val="0"/>
              </a:spcAft>
            </a:pPr>
            <a:r>
              <a:rPr sz="1100" b="1" i="0">
                <a:solidFill>
                  <a:srgbClr val="345A60"/>
                </a:solidFill>
                <a:latin typeface="Arial"/>
                <a:ea typeface="Arial"/>
                <a:cs typeface="Arial"/>
              </a:rPr>
              <a:t>07</a:t>
            </a:r>
          </a:p>
        </p:txBody>
      </p:sp>
      <p:sp>
        <p:nvSpPr>
          <p:cNvPr id="23" name="Editable paragraph">
            <a:extLst xmlns:a="http://schemas.openxmlformats.org/drawingml/2006/main">
              <a:ext uri="{FF2B5EF4-FFF2-40B4-BE49-F238E27FC236}">
                <a16:creationId xmlns:a16="http://schemas.microsoft.com/office/drawing/2014/main" id="{FE3E7008-F21E-45B7-B3FE-EA444D1BAB6A}"/>
              </a:ext>
            </a:extLst>
          </p:cNvPr>
          <p:cNvSpPr>
            <a:spLocks xmlns:a="http://schemas.openxmlformats.org/drawingml/2006/main" noGrp="1"/>
          </p:cNvSpPr>
          <p:nvPr/>
        </p:nvSpPr>
        <p:spPr>
          <a:xfrm xmlns:a="http://schemas.openxmlformats.org/drawingml/2006/main">
            <a:off x="7112000" y="4648200"/>
            <a:ext cx="3276600" cy="1862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30" b="0" i="0">
                <a:solidFill>
                  <a:srgbClr val="252D2C"/>
                </a:solidFill>
                <a:latin typeface="Arial"/>
                <a:ea typeface="Arial"/>
                <a:cs typeface="Arial"/>
              </a:defRPr>
            </a:defPPr>
          </a:lstStyle>
          <a:p xmlns:a="http://schemas.openxmlformats.org/drawingml/2006/main">
            <a:pPr>
              <a:buNone/>
              <a:defRPr sz="1030" b="0" i="0">
                <a:solidFill>
                  <a:srgbClr val="252D2C"/>
                </a:solidFill>
                <a:latin typeface="Arial"/>
                <a:ea typeface="Arial"/>
                <a:cs typeface="Arial"/>
              </a:defRPr>
              <a:lnSpc>
                <a:spcPts val="1267"/>
              </a:lnSpc>
              <a:spcBef>
                <a:spcPts val="0"/>
              </a:spcBef>
              <a:spcAft>
                <a:spcPts val="0"/>
              </a:spcAft>
            </a:pPr>
            <a:r>
              <a:rPr sz="1030" b="0" i="0">
                <a:solidFill>
                  <a:srgbClr val="252D2C"/>
                </a:solidFill>
                <a:latin typeface="Arial"/>
                <a:ea typeface="Arial"/>
                <a:cs typeface="Arial"/>
              </a:rPr>
              <a:t>Activity / circulation junction</a:t>
            </a:r>
          </a:p>
        </p:txBody>
      </p:sp>
      <p:sp>
        <p:nvSpPr>
          <p:cNvPr id="24" name="">
            <a:extLst xmlns:a="http://schemas.openxmlformats.org/drawingml/2006/main">
              <a:ext uri="{FF2B5EF4-FFF2-40B4-BE49-F238E27FC236}">
                <a16:creationId xmlns:a16="http://schemas.microsoft.com/office/drawing/2014/main" id="{B54CCDB5-0E4A-49D1-B96F-498C83AC4AED}"/>
              </a:ext>
            </a:extLst>
          </p:cNvPr>
          <p:cNvSpPr>
            <a:spLocks xmlns:a="http://schemas.openxmlformats.org/drawingml/2006/main" noGrp="1"/>
          </p:cNvSpPr>
          <p:nvPr/>
        </p:nvSpPr>
        <p:spPr>
          <a:xfrm xmlns:a="http://schemas.openxmlformats.org/drawingml/2006/main">
            <a:off x="6705600" y="5334000"/>
            <a:ext cx="3683000" cy="953"/>
          </a:xfrm>
          <a:custGeom xmlns:a="http://schemas.openxmlformats.org/drawingml/2006/main">
            <a:pathLst>
              <a:path w="3683000" h="953">
                <a:moveTo>
                  <a:pt x="0" y="0"/>
                </a:moveTo>
                <a:lnTo>
                  <a:pt x="3683000" y="0"/>
                </a:lnTo>
              </a:path>
            </a:pathLst>
          </a:custGeom>
          <a:noFill xmlns:a="http://schemas.openxmlformats.org/drawingml/2006/main"/>
          <a:ln xmlns:a="http://schemas.openxmlformats.org/drawingml/2006/main" w="6985">
            <a:solidFill>
              <a:srgbClr val="CAD3CF"/>
            </a:solidFill>
            <a:prstDash val="solid"/>
          </a:ln>
        </p:spPr>
      </p:sp>
      <p:sp>
        <p:nvSpPr>
          <p:cNvPr id="25" name="Editable paragraph">
            <a:extLst xmlns:a="http://schemas.openxmlformats.org/drawingml/2006/main">
              <a:ext uri="{FF2B5EF4-FFF2-40B4-BE49-F238E27FC236}">
                <a16:creationId xmlns:a16="http://schemas.microsoft.com/office/drawing/2014/main" id="{E94CCA41-1C58-4616-848C-4E991C5004F2}"/>
              </a:ext>
            </a:extLst>
          </p:cNvPr>
          <p:cNvSpPr>
            <a:spLocks xmlns:a="http://schemas.openxmlformats.org/drawingml/2006/main" noGrp="1"/>
          </p:cNvSpPr>
          <p:nvPr/>
        </p:nvSpPr>
        <p:spPr>
          <a:xfrm xmlns:a="http://schemas.openxmlformats.org/drawingml/2006/main">
            <a:off x="6705600" y="5575300"/>
            <a:ext cx="3683000" cy="59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0" i="0">
                <a:solidFill>
                  <a:srgbClr val="252D2C"/>
                </a:solidFill>
                <a:latin typeface="Arial"/>
                <a:ea typeface="Arial"/>
                <a:cs typeface="Arial"/>
              </a:defRPr>
            </a:defPPr>
          </a:lstStyle>
          <a:p xmlns:a="http://schemas.openxmlformats.org/drawingml/2006/main">
            <a:pPr>
              <a:buNone/>
              <a:defRPr sz="1100" b="0" i="0">
                <a:solidFill>
                  <a:srgbClr val="252D2C"/>
                </a:solidFill>
                <a:latin typeface="Arial"/>
                <a:ea typeface="Arial"/>
                <a:cs typeface="Arial"/>
              </a:defRPr>
              <a:lnSpc>
                <a:spcPts val="1500"/>
              </a:lnSpc>
              <a:spcBef>
                <a:spcPts val="0"/>
              </a:spcBef>
              <a:spcAft>
                <a:spcPts val="0"/>
              </a:spcAft>
            </a:pPr>
            <a:r>
              <a:rPr sz="1100" b="0" i="0">
                <a:solidFill>
                  <a:srgbClr val="252D2C"/>
                </a:solidFill>
                <a:latin typeface="Arial"/>
                <a:ea typeface="Arial"/>
                <a:cs typeface="Arial"/>
              </a:rPr>
              <a:t>A calm waiting place sits beside the support suite; movable furniture allows shared classrooms to accommodate different activities.</a:t>
            </a:r>
          </a:p>
        </p:txBody>
      </p:sp>
      <p:sp>
        <p:nvSpPr>
          <p:cNvPr id="26" name="Editable paragraph">
            <a:extLst xmlns:a="http://schemas.openxmlformats.org/drawingml/2006/main">
              <a:ext uri="{FF2B5EF4-FFF2-40B4-BE49-F238E27FC236}">
                <a16:creationId xmlns:a16="http://schemas.microsoft.com/office/drawing/2014/main" id="{0C9290EF-61C7-49AB-9450-E5684C15FE4A}"/>
              </a:ext>
            </a:extLst>
          </p:cNvPr>
          <p:cNvSpPr>
            <a:spLocks xmlns:a="http://schemas.openxmlformats.org/drawingml/2006/main" noGrp="1"/>
          </p:cNvSpPr>
          <p:nvPr/>
        </p:nvSpPr>
        <p:spPr>
          <a:xfrm xmlns:a="http://schemas.openxmlformats.org/drawingml/2006/main">
            <a:off x="304800" y="7175500"/>
            <a:ext cx="10083800" cy="13787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20" b="0" i="0">
                <a:solidFill>
                  <a:srgbClr val="65736D"/>
                </a:solidFill>
                <a:latin typeface="Arial"/>
                <a:ea typeface="Arial"/>
                <a:cs typeface="Arial"/>
              </a:defRPr>
            </a:defPPr>
          </a:lstStyle>
          <a:p xmlns:a="http://schemas.openxmlformats.org/drawingml/2006/main">
            <a:pPr>
              <a:buNone/>
              <a:defRPr sz="720" b="0" i="0">
                <a:solidFill>
                  <a:srgbClr val="65736D"/>
                </a:solidFill>
                <a:latin typeface="Arial"/>
                <a:ea typeface="Arial"/>
                <a:cs typeface="Arial"/>
              </a:defRPr>
              <a:lnSpc>
                <a:spcPts val="886"/>
              </a:lnSpc>
              <a:spcBef>
                <a:spcPts val="0"/>
              </a:spcBef>
              <a:spcAft>
                <a:spcPts val="0"/>
              </a:spcAft>
            </a:pPr>
            <a:r>
              <a:rPr sz="720" b="0" i="0">
                <a:solidFill>
                  <a:srgbClr val="65736D"/>
                </a:solidFill>
                <a:latin typeface="Arial"/>
                <a:ea typeface="Arial"/>
                <a:cs typeface="Arial"/>
              </a:rPr>
              <a:t>Level 2: teaching spaces connected to staff offices and care facilities.</a:t>
            </a:r>
          </a:p>
        </p:txBody>
      </p:sp>
    </p:spTree>
    <p:extLst>
      <p:ext uri="{BB962C8B-B14F-4D97-AF65-F5344CB8AC3E}">
        <p14:creationId xmlns:p14="http://schemas.microsoft.com/office/powerpoint/2010/main" val="10667001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ditable paragraph">
            <a:extLst xmlns:a="http://schemas.openxmlformats.org/drawingml/2006/main">
              <a:ext uri="{FF2B5EF4-FFF2-40B4-BE49-F238E27FC236}">
                <a16:creationId xmlns:a16="http://schemas.microsoft.com/office/drawing/2014/main" id="{BB25C9F0-75EA-4AA1-AFCF-76E679B078E9}"/>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82066C44-C3B1-4E38-90DA-1B6F10F16CCE}"/>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8F66AF66-E381-429A-9CD4-F668D1171F88}"/>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PORTFOLIO</a:t>
            </a:r>
          </a:p>
        </p:txBody>
      </p:sp>
      <p:sp>
        <p:nvSpPr>
          <p:cNvPr id="4" name="">
            <a:extLst xmlns:a="http://schemas.openxmlformats.org/drawingml/2006/main">
              <a:ext uri="{FF2B5EF4-FFF2-40B4-BE49-F238E27FC236}">
                <a16:creationId xmlns:a16="http://schemas.microsoft.com/office/drawing/2014/main" id="{9033F3A6-250C-4FB1-B036-A52F7B985712}"/>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D5A57898-0CC6-4B2F-A59F-208EBBA94B95}"/>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Upper levels: continuity and variety</a:t>
            </a:r>
          </a:p>
        </p:txBody>
      </p:sp>
      <p:sp>
        <p:nvSpPr>
          <p:cNvPr id="6" name="">
            <a:extLst xmlns:a="http://schemas.openxmlformats.org/drawingml/2006/main">
              <a:ext uri="{FF2B5EF4-FFF2-40B4-BE49-F238E27FC236}">
                <a16:creationId xmlns:a16="http://schemas.microsoft.com/office/drawing/2014/main" id="{416A0256-04E1-4FF9-8EBC-E6EA7D7ADE2F}"/>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1866A5F0-E75B-43A5-8923-1F841F1B2BCD}"/>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9B6EA3E7-CB00-4E20-AE92-DAEDD1DE48D7}"/>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12 / 15</a:t>
            </a:r>
          </a:p>
        </p:txBody>
      </p:sp>
      <p:sp>
        <p:nvSpPr>
          <p:cNvPr id="9" name="Editable paragraph">
            <a:extLst xmlns:a="http://schemas.openxmlformats.org/drawingml/2006/main">
              <a:ext uri="{FF2B5EF4-FFF2-40B4-BE49-F238E27FC236}">
                <a16:creationId xmlns:a16="http://schemas.microsoft.com/office/drawing/2014/main" id="{37F07631-2A3B-4F2A-A19F-177372A618F6}"/>
              </a:ext>
            </a:extLst>
          </p:cNvPr>
          <p:cNvSpPr>
            <a:spLocks xmlns:a="http://schemas.openxmlformats.org/drawingml/2006/main" noGrp="1"/>
          </p:cNvSpPr>
          <p:nvPr/>
        </p:nvSpPr>
        <p:spPr>
          <a:xfrm xmlns:a="http://schemas.openxmlformats.org/drawingml/2006/main">
            <a:off x="304800" y="1028700"/>
            <a:ext cx="49657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345A60"/>
                </a:solidFill>
                <a:latin typeface="Arial"/>
                <a:ea typeface="Arial"/>
                <a:cs typeface="Arial"/>
              </a:defRPr>
            </a:defPPr>
          </a:lstStyle>
          <a:p xmlns:a="http://schemas.openxmlformats.org/drawingml/2006/main">
            <a:pPr>
              <a:buNone/>
              <a:defRPr sz="1900" b="1" i="0">
                <a:solidFill>
                  <a:srgbClr val="345A60"/>
                </a:solidFill>
                <a:latin typeface="Arial"/>
                <a:ea typeface="Arial"/>
                <a:cs typeface="Arial"/>
              </a:defRPr>
              <a:lnSpc>
                <a:spcPts val="2337"/>
              </a:lnSpc>
              <a:spcBef>
                <a:spcPts val="0"/>
              </a:spcBef>
              <a:spcAft>
                <a:spcPts val="0"/>
              </a:spcAft>
            </a:pPr>
            <a:r>
              <a:rPr sz="1900" b="1" i="0">
                <a:solidFill>
                  <a:srgbClr val="345A60"/>
                </a:solidFill>
                <a:latin typeface="Arial"/>
                <a:ea typeface="Arial"/>
                <a:cs typeface="Arial"/>
              </a:rPr>
              <a:t>L3</a:t>
            </a:r>
          </a:p>
        </p:txBody>
      </p:sp>
      <p:sp>
        <p:nvSpPr>
          <p:cNvPr id="10" name="Editable paragraph">
            <a:extLst xmlns:a="http://schemas.openxmlformats.org/drawingml/2006/main">
              <a:ext uri="{FF2B5EF4-FFF2-40B4-BE49-F238E27FC236}">
                <a16:creationId xmlns:a16="http://schemas.microsoft.com/office/drawing/2014/main" id="{BA637214-CAC4-4EA0-B39C-4C2D7782A744}"/>
              </a:ext>
            </a:extLst>
          </p:cNvPr>
          <p:cNvSpPr>
            <a:spLocks xmlns:a="http://schemas.openxmlformats.org/drawingml/2006/main" noGrp="1"/>
          </p:cNvSpPr>
          <p:nvPr/>
        </p:nvSpPr>
        <p:spPr>
          <a:xfrm xmlns:a="http://schemas.openxmlformats.org/drawingml/2006/main">
            <a:off x="5422900" y="1028700"/>
            <a:ext cx="49657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345A60"/>
                </a:solidFill>
                <a:latin typeface="Arial"/>
                <a:ea typeface="Arial"/>
                <a:cs typeface="Arial"/>
              </a:defRPr>
            </a:defPPr>
          </a:lstStyle>
          <a:p xmlns:a="http://schemas.openxmlformats.org/drawingml/2006/main">
            <a:pPr>
              <a:buNone/>
              <a:defRPr sz="1900" b="1" i="0">
                <a:solidFill>
                  <a:srgbClr val="345A60"/>
                </a:solidFill>
                <a:latin typeface="Arial"/>
                <a:ea typeface="Arial"/>
                <a:cs typeface="Arial"/>
              </a:defRPr>
              <a:lnSpc>
                <a:spcPts val="2337"/>
              </a:lnSpc>
              <a:spcBef>
                <a:spcPts val="0"/>
              </a:spcBef>
              <a:spcAft>
                <a:spcPts val="0"/>
              </a:spcAft>
            </a:pPr>
            <a:r>
              <a:rPr sz="1900" b="1" i="0">
                <a:solidFill>
                  <a:srgbClr val="345A60"/>
                </a:solidFill>
                <a:latin typeface="Arial"/>
                <a:ea typeface="Arial"/>
                <a:cs typeface="Arial"/>
              </a:rPr>
              <a:t>L4</a:t>
            </a:r>
          </a:p>
        </p:txBody>
      </p:sp>
      <p:pic>
        <p:nvPicPr>
          <p:cNvPr id="11" name="">
            <a:extLst xmlns:a="http://schemas.openxmlformats.org/drawingml/2006/main">
              <a:ext uri="{FF2B5EF4-FFF2-40B4-BE49-F238E27FC236}">
                <a16:creationId xmlns:a16="http://schemas.microsoft.com/office/drawing/2014/main" id="{D49A57D9-105A-4B0C-BBF9-C77E9926ECAA}"/>
              </a:ext>
            </a:extLst>
          </p:cNvPr>
          <p:cNvPicPr>
            <a:picLocks xmlns:a="http://schemas.openxmlformats.org/drawingml/2006/main" noChangeAspect="1"/>
          </p:cNvPicPr>
          <p:nvPr/>
        </p:nvPicPr>
        <p:blipFill>
          <a:blip xmlns:r="http://schemas.openxmlformats.org/officeDocument/2006/relationships" xmlns:a="http://schemas.openxmlformats.org/drawingml/2006/main" r:embed="R81636c95dc51427c"/>
          <a:stretch xmlns:a="http://schemas.openxmlformats.org/drawingml/2006/main"/>
        </p:blipFill>
        <p:spPr>
          <a:xfrm xmlns:a="http://schemas.openxmlformats.org/drawingml/2006/main">
            <a:off x="304800" y="1413938"/>
            <a:ext cx="4965700" cy="51731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4B2D4956-85CD-4209-852C-E53DCC4AF753}"/>
              </a:ext>
            </a:extLst>
          </p:cNvPr>
          <p:cNvPicPr>
            <a:picLocks xmlns:a="http://schemas.openxmlformats.org/drawingml/2006/main" noChangeAspect="1"/>
          </p:cNvPicPr>
          <p:nvPr/>
        </p:nvPicPr>
        <p:blipFill>
          <a:blip xmlns:r="http://schemas.openxmlformats.org/officeDocument/2006/relationships" xmlns:a="http://schemas.openxmlformats.org/drawingml/2006/main" r:embed="R35218f9dc3d94f4d"/>
          <a:stretch xmlns:a="http://schemas.openxmlformats.org/drawingml/2006/main"/>
        </p:blipFill>
        <p:spPr>
          <a:xfrm xmlns:a="http://schemas.openxmlformats.org/drawingml/2006/main">
            <a:off x="5422900" y="1413938"/>
            <a:ext cx="4965700" cy="5173125"/>
          </a:xfrm>
          <a:prstGeom xmlns:a="http://schemas.openxmlformats.org/drawingml/2006/main" prst="rect">
            <a:avLst/>
          </a:prstGeom>
        </p:spPr>
      </p:pic>
      <p:sp>
        <p:nvSpPr>
          <p:cNvPr id="13" name="Editable paragraph">
            <a:extLst xmlns:a="http://schemas.openxmlformats.org/drawingml/2006/main">
              <a:ext uri="{FF2B5EF4-FFF2-40B4-BE49-F238E27FC236}">
                <a16:creationId xmlns:a16="http://schemas.microsoft.com/office/drawing/2014/main" id="{C6E575F8-CDD8-494C-A1F3-4F8CB8F8E24C}"/>
              </a:ext>
            </a:extLst>
          </p:cNvPr>
          <p:cNvSpPr>
            <a:spLocks xmlns:a="http://schemas.openxmlformats.org/drawingml/2006/main" noGrp="1"/>
          </p:cNvSpPr>
          <p:nvPr/>
        </p:nvSpPr>
        <p:spPr>
          <a:xfrm xmlns:a="http://schemas.openxmlformats.org/drawingml/2006/main">
            <a:off x="304800" y="6718300"/>
            <a:ext cx="4965700" cy="314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40"/>
              </a:lnSpc>
              <a:spcBef>
                <a:spcPts val="0"/>
              </a:spcBef>
              <a:spcAft>
                <a:spcPts val="0"/>
              </a:spcAft>
            </a:pPr>
            <a:r>
              <a:rPr sz="920" b="0" i="0">
                <a:solidFill>
                  <a:srgbClr val="252D2C"/>
                </a:solidFill>
                <a:latin typeface="Arial"/>
                <a:ea typeface="Arial"/>
                <a:cs typeface="Arial"/>
              </a:rPr>
              <a:t>01 Learning  /  02 Support  /  03 Offices  /  04 Toilets</a:t>
            </a:r>
          </a:p>
          <a:p xmlns:a="http://schemas.openxmlformats.org/drawingml/2006/main">
            <a:pPr>
              <a:buNone/>
              <a:defRPr sz="920" b="0" i="0">
                <a:solidFill>
                  <a:srgbClr val="252D2C"/>
                </a:solidFill>
                <a:latin typeface="Arial"/>
                <a:ea typeface="Arial"/>
                <a:cs typeface="Arial"/>
              </a:defRPr>
              <a:lnSpc>
                <a:spcPts val="1140"/>
              </a:lnSpc>
              <a:spcBef>
                <a:spcPts val="0"/>
              </a:spcBef>
              <a:spcAft>
                <a:spcPts val="0"/>
              </a:spcAft>
            </a:pPr>
            <a:r>
              <a:rPr sz="920" b="0" i="0">
                <a:solidFill>
                  <a:srgbClr val="252D2C"/>
                </a:solidFill>
                <a:latin typeface="Arial"/>
                <a:ea typeface="Arial"/>
                <a:cs typeface="Arial"/>
              </a:rPr>
              <a:t>10 Meeting and activity rooms in the lower wing</a:t>
            </a:r>
          </a:p>
        </p:txBody>
      </p:sp>
      <p:sp>
        <p:nvSpPr>
          <p:cNvPr id="14" name="Editable paragraph">
            <a:extLst xmlns:a="http://schemas.openxmlformats.org/drawingml/2006/main">
              <a:ext uri="{FF2B5EF4-FFF2-40B4-BE49-F238E27FC236}">
                <a16:creationId xmlns:a16="http://schemas.microsoft.com/office/drawing/2014/main" id="{D53286D7-9C97-4132-B331-295733DF3DC5}"/>
              </a:ext>
            </a:extLst>
          </p:cNvPr>
          <p:cNvSpPr>
            <a:spLocks xmlns:a="http://schemas.openxmlformats.org/drawingml/2006/main" noGrp="1"/>
          </p:cNvSpPr>
          <p:nvPr/>
        </p:nvSpPr>
        <p:spPr>
          <a:xfrm xmlns:a="http://schemas.openxmlformats.org/drawingml/2006/main">
            <a:off x="5422900" y="6718300"/>
            <a:ext cx="4965700" cy="314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40"/>
              </a:lnSpc>
              <a:spcBef>
                <a:spcPts val="0"/>
              </a:spcBef>
              <a:spcAft>
                <a:spcPts val="0"/>
              </a:spcAft>
            </a:pPr>
            <a:r>
              <a:rPr sz="920" b="0" i="0">
                <a:solidFill>
                  <a:srgbClr val="252D2C"/>
                </a:solidFill>
                <a:latin typeface="Arial"/>
                <a:ea typeface="Arial"/>
                <a:cs typeface="Arial"/>
              </a:rPr>
              <a:t>Learning and support continue in the main wings.</a:t>
            </a:r>
          </a:p>
          <a:p xmlns:a="http://schemas.openxmlformats.org/drawingml/2006/main">
            <a:pPr>
              <a:buNone/>
              <a:defRPr sz="920" b="0" i="0">
                <a:solidFill>
                  <a:srgbClr val="252D2C"/>
                </a:solidFill>
                <a:latin typeface="Arial"/>
                <a:ea typeface="Arial"/>
                <a:cs typeface="Arial"/>
              </a:defRPr>
              <a:lnSpc>
                <a:spcPts val="1140"/>
              </a:lnSpc>
              <a:spcBef>
                <a:spcPts val="0"/>
              </a:spcBef>
              <a:spcAft>
                <a:spcPts val="0"/>
              </a:spcAft>
            </a:pPr>
            <a:r>
              <a:rPr sz="920" b="0" i="0">
                <a:solidFill>
                  <a:srgbClr val="252D2C"/>
                </a:solidFill>
                <a:latin typeface="Arial"/>
                <a:ea typeface="Arial"/>
                <a:cs typeface="Arial"/>
              </a:rPr>
              <a:t>The lower wing is shown as a roof at this level.</a:t>
            </a:r>
          </a:p>
        </p:txBody>
      </p:sp>
      <p:sp>
        <p:nvSpPr>
          <p:cNvPr id="15" name="Editable paragraph">
            <a:extLst xmlns:a="http://schemas.openxmlformats.org/drawingml/2006/main">
              <a:ext uri="{FF2B5EF4-FFF2-40B4-BE49-F238E27FC236}">
                <a16:creationId xmlns:a16="http://schemas.microsoft.com/office/drawing/2014/main" id="{38B1C1CF-6216-4E4D-A942-D1D3314F5143}"/>
              </a:ext>
            </a:extLst>
          </p:cNvPr>
          <p:cNvSpPr>
            <a:spLocks xmlns:a="http://schemas.openxmlformats.org/drawingml/2006/main" noGrp="1"/>
          </p:cNvSpPr>
          <p:nvPr/>
        </p:nvSpPr>
        <p:spPr>
          <a:xfrm xmlns:a="http://schemas.openxmlformats.org/drawingml/2006/main">
            <a:off x="304800" y="7188200"/>
            <a:ext cx="10083800" cy="13787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20" b="0" i="0">
                <a:solidFill>
                  <a:srgbClr val="65736D"/>
                </a:solidFill>
                <a:latin typeface="Arial"/>
                <a:ea typeface="Arial"/>
                <a:cs typeface="Arial"/>
              </a:defRPr>
            </a:defPPr>
          </a:lstStyle>
          <a:p xmlns:a="http://schemas.openxmlformats.org/drawingml/2006/main">
            <a:pPr>
              <a:buNone/>
              <a:defRPr sz="720" b="0" i="0">
                <a:solidFill>
                  <a:srgbClr val="65736D"/>
                </a:solidFill>
                <a:latin typeface="Arial"/>
                <a:ea typeface="Arial"/>
                <a:cs typeface="Arial"/>
              </a:defRPr>
              <a:lnSpc>
                <a:spcPts val="886"/>
              </a:lnSpc>
              <a:spcBef>
                <a:spcPts val="0"/>
              </a:spcBef>
              <a:spcAft>
                <a:spcPts val="0"/>
              </a:spcAft>
            </a:pPr>
            <a:r>
              <a:rPr sz="720" b="0" i="0">
                <a:solidFill>
                  <a:srgbClr val="65736D"/>
                </a:solidFill>
                <a:latin typeface="Arial"/>
                <a:ea typeface="Arial"/>
                <a:cs typeface="Arial"/>
              </a:rPr>
              <a:t>Levels 3 and 4: learning, shared activities, and the roof over the lower wing.</a:t>
            </a:r>
          </a:p>
        </p:txBody>
      </p:sp>
    </p:spTree>
    <p:extLst>
      <p:ext uri="{BB962C8B-B14F-4D97-AF65-F5344CB8AC3E}">
        <p14:creationId xmlns:p14="http://schemas.microsoft.com/office/powerpoint/2010/main" val="8458292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Editable paragraph">
            <a:extLst xmlns:a="http://schemas.openxmlformats.org/drawingml/2006/main">
              <a:ext uri="{FF2B5EF4-FFF2-40B4-BE49-F238E27FC236}">
                <a16:creationId xmlns:a16="http://schemas.microsoft.com/office/drawing/2014/main" id="{7010E1C5-315A-4161-8545-79C2530A6025}"/>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9DE0AEC1-71B4-42C3-BF53-18698AD1523A}"/>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3E43092F-7473-4D40-AE73-561F08B6F1E3}"/>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PORTFOLIO</a:t>
            </a:r>
          </a:p>
        </p:txBody>
      </p:sp>
      <p:sp>
        <p:nvSpPr>
          <p:cNvPr id="4" name="">
            <a:extLst xmlns:a="http://schemas.openxmlformats.org/drawingml/2006/main">
              <a:ext uri="{FF2B5EF4-FFF2-40B4-BE49-F238E27FC236}">
                <a16:creationId xmlns:a16="http://schemas.microsoft.com/office/drawing/2014/main" id="{D50C2626-1E39-461A-B7FE-77A19A85A78A}"/>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603E77B2-9398-42C3-B465-07ED685BD32F}"/>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Elevations &amp; sections</a:t>
            </a:r>
          </a:p>
        </p:txBody>
      </p:sp>
      <p:sp>
        <p:nvSpPr>
          <p:cNvPr id="6" name="">
            <a:extLst xmlns:a="http://schemas.openxmlformats.org/drawingml/2006/main">
              <a:ext uri="{FF2B5EF4-FFF2-40B4-BE49-F238E27FC236}">
                <a16:creationId xmlns:a16="http://schemas.microsoft.com/office/drawing/2014/main" id="{58BB182D-2B6D-4050-BF0A-61E130317458}"/>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E10A4F8C-1740-495F-9A0F-1603C53E5719}"/>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F694419B-2B20-4910-8788-2E91DD46BD56}"/>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13 / 15</a:t>
            </a:r>
          </a:p>
        </p:txBody>
      </p:sp>
      <p:pic>
        <p:nvPicPr>
          <p:cNvPr id="9" name="">
            <a:extLst xmlns:a="http://schemas.openxmlformats.org/drawingml/2006/main">
              <a:ext uri="{FF2B5EF4-FFF2-40B4-BE49-F238E27FC236}">
                <a16:creationId xmlns:a16="http://schemas.microsoft.com/office/drawing/2014/main" id="{9BDF6E03-71D6-4F45-8B7D-88DCCE66BA26}"/>
              </a:ext>
            </a:extLst>
          </p:cNvPr>
          <p:cNvPicPr>
            <a:picLocks xmlns:a="http://schemas.openxmlformats.org/drawingml/2006/main" noChangeAspect="1"/>
          </p:cNvPicPr>
          <p:nvPr/>
        </p:nvPicPr>
        <p:blipFill>
          <a:blip xmlns:r="http://schemas.openxmlformats.org/officeDocument/2006/relationships" xmlns:a="http://schemas.openxmlformats.org/drawingml/2006/main" r:embed="R6637b8926f744b59"/>
          <a:stretch xmlns:a="http://schemas.openxmlformats.org/drawingml/2006/main"/>
        </p:blipFill>
        <p:spPr>
          <a:xfrm xmlns:a="http://schemas.openxmlformats.org/drawingml/2006/main">
            <a:off x="304957" y="1059379"/>
            <a:ext cx="4965385" cy="1792842"/>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C860EAF-F98F-471B-A27A-67E2CA3EBF17}"/>
              </a:ext>
            </a:extLst>
          </p:cNvPr>
          <p:cNvPicPr>
            <a:picLocks xmlns:a="http://schemas.openxmlformats.org/drawingml/2006/main" noChangeAspect="1"/>
          </p:cNvPicPr>
          <p:nvPr/>
        </p:nvPicPr>
        <p:blipFill>
          <a:blip xmlns:r="http://schemas.openxmlformats.org/officeDocument/2006/relationships" xmlns:a="http://schemas.openxmlformats.org/drawingml/2006/main" r:embed="Rfe736ee69f624edd"/>
          <a:stretch xmlns:a="http://schemas.openxmlformats.org/drawingml/2006/main"/>
        </p:blipFill>
        <p:spPr>
          <a:xfrm xmlns:a="http://schemas.openxmlformats.org/drawingml/2006/main">
            <a:off x="5426107" y="1305495"/>
            <a:ext cx="4959285" cy="1300611"/>
          </a:xfrm>
          <a:prstGeom xmlns:a="http://schemas.openxmlformats.org/drawingml/2006/main" prst="rect">
            <a:avLst/>
          </a:prstGeom>
        </p:spPr>
      </p:pic>
      <p:sp>
        <p:nvSpPr>
          <p:cNvPr id="11" name="Editable paragraph">
            <a:extLst xmlns:a="http://schemas.openxmlformats.org/drawingml/2006/main">
              <a:ext uri="{FF2B5EF4-FFF2-40B4-BE49-F238E27FC236}">
                <a16:creationId xmlns:a16="http://schemas.microsoft.com/office/drawing/2014/main" id="{F04DCCBE-BCFE-4EC6-AE09-87F9F0EAFBF2}"/>
              </a:ext>
            </a:extLst>
          </p:cNvPr>
          <p:cNvSpPr>
            <a:spLocks xmlns:a="http://schemas.openxmlformats.org/drawingml/2006/main" noGrp="1"/>
          </p:cNvSpPr>
          <p:nvPr/>
        </p:nvSpPr>
        <p:spPr>
          <a:xfrm xmlns:a="http://schemas.openxmlformats.org/drawingml/2006/main">
            <a:off x="304800" y="2984500"/>
            <a:ext cx="3238500" cy="2003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0" b="1" i="0">
                <a:solidFill>
                  <a:srgbClr val="252D2C"/>
                </a:solidFill>
                <a:latin typeface="Arial"/>
                <a:ea typeface="Arial"/>
                <a:cs typeface="Arial"/>
              </a:defRPr>
            </a:defPPr>
          </a:lstStyle>
          <a:p xmlns:a="http://schemas.openxmlformats.org/drawingml/2006/main">
            <a:pPr>
              <a:buNone/>
              <a:defRPr sz="1120" b="1" i="0">
                <a:solidFill>
                  <a:srgbClr val="252D2C"/>
                </a:solidFill>
                <a:latin typeface="Arial"/>
                <a:ea typeface="Arial"/>
                <a:cs typeface="Arial"/>
              </a:defRPr>
              <a:lnSpc>
                <a:spcPts val="1378"/>
              </a:lnSpc>
              <a:spcBef>
                <a:spcPts val="0"/>
              </a:spcBef>
              <a:spcAft>
                <a:spcPts val="0"/>
              </a:spcAft>
            </a:pPr>
            <a:r>
              <a:rPr sz="1120" b="1" i="0">
                <a:solidFill>
                  <a:srgbClr val="252D2C"/>
                </a:solidFill>
                <a:latin typeface="Arial"/>
                <a:ea typeface="Arial"/>
                <a:cs typeface="Arial"/>
              </a:rPr>
              <a:t>Repeated bays</a:t>
            </a:r>
          </a:p>
        </p:txBody>
      </p:sp>
      <p:sp>
        <p:nvSpPr>
          <p:cNvPr id="12" name="Editable paragraph">
            <a:extLst xmlns:a="http://schemas.openxmlformats.org/drawingml/2006/main">
              <a:ext uri="{FF2B5EF4-FFF2-40B4-BE49-F238E27FC236}">
                <a16:creationId xmlns:a16="http://schemas.microsoft.com/office/drawing/2014/main" id="{91F6A0BE-6C73-404F-A9BC-126B23493ABC}"/>
              </a:ext>
            </a:extLst>
          </p:cNvPr>
          <p:cNvSpPr>
            <a:spLocks xmlns:a="http://schemas.openxmlformats.org/drawingml/2006/main" noGrp="1"/>
          </p:cNvSpPr>
          <p:nvPr/>
        </p:nvSpPr>
        <p:spPr>
          <a:xfrm xmlns:a="http://schemas.openxmlformats.org/drawingml/2006/main">
            <a:off x="304800" y="3238500"/>
            <a:ext cx="3238500" cy="1752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80"/>
              </a:lnSpc>
              <a:spcBef>
                <a:spcPts val="0"/>
              </a:spcBef>
              <a:spcAft>
                <a:spcPts val="0"/>
              </a:spcAft>
            </a:pPr>
            <a:r>
              <a:rPr sz="920" b="0" i="0">
                <a:solidFill>
                  <a:srgbClr val="252D2C"/>
                </a:solidFill>
                <a:latin typeface="Arial"/>
                <a:ea typeface="Arial"/>
                <a:cs typeface="Arial"/>
              </a:rPr>
              <a:t>A steady rhythm gives the long wings a recognizable order.</a:t>
            </a:r>
          </a:p>
        </p:txBody>
      </p:sp>
      <p:sp>
        <p:nvSpPr>
          <p:cNvPr id="13" name="Editable paragraph">
            <a:extLst xmlns:a="http://schemas.openxmlformats.org/drawingml/2006/main">
              <a:ext uri="{FF2B5EF4-FFF2-40B4-BE49-F238E27FC236}">
                <a16:creationId xmlns:a16="http://schemas.microsoft.com/office/drawing/2014/main" id="{C955385C-DFE8-4ECA-8E9A-AD172FEA9152}"/>
              </a:ext>
            </a:extLst>
          </p:cNvPr>
          <p:cNvSpPr>
            <a:spLocks xmlns:a="http://schemas.openxmlformats.org/drawingml/2006/main" noGrp="1"/>
          </p:cNvSpPr>
          <p:nvPr/>
        </p:nvSpPr>
        <p:spPr>
          <a:xfrm xmlns:a="http://schemas.openxmlformats.org/drawingml/2006/main">
            <a:off x="3733800" y="2984500"/>
            <a:ext cx="3238500" cy="2003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0" b="1" i="0">
                <a:solidFill>
                  <a:srgbClr val="252D2C"/>
                </a:solidFill>
                <a:latin typeface="Arial"/>
                <a:ea typeface="Arial"/>
                <a:cs typeface="Arial"/>
              </a:defRPr>
            </a:defPPr>
          </a:lstStyle>
          <a:p xmlns:a="http://schemas.openxmlformats.org/drawingml/2006/main">
            <a:pPr>
              <a:buNone/>
              <a:defRPr sz="1120" b="1" i="0">
                <a:solidFill>
                  <a:srgbClr val="252D2C"/>
                </a:solidFill>
                <a:latin typeface="Arial"/>
                <a:ea typeface="Arial"/>
                <a:cs typeface="Arial"/>
              </a:defRPr>
              <a:lnSpc>
                <a:spcPts val="1378"/>
              </a:lnSpc>
              <a:spcBef>
                <a:spcPts val="0"/>
              </a:spcBef>
              <a:spcAft>
                <a:spcPts val="0"/>
              </a:spcAft>
            </a:pPr>
            <a:r>
              <a:rPr sz="1120" b="1" i="0">
                <a:solidFill>
                  <a:srgbClr val="252D2C"/>
                </a:solidFill>
                <a:latin typeface="Arial"/>
                <a:ea typeface="Arial"/>
                <a:cs typeface="Arial"/>
              </a:rPr>
              <a:t>Deep thresholds</a:t>
            </a:r>
          </a:p>
        </p:txBody>
      </p:sp>
      <p:sp>
        <p:nvSpPr>
          <p:cNvPr id="14" name="Editable paragraph">
            <a:extLst xmlns:a="http://schemas.openxmlformats.org/drawingml/2006/main">
              <a:ext uri="{FF2B5EF4-FFF2-40B4-BE49-F238E27FC236}">
                <a16:creationId xmlns:a16="http://schemas.microsoft.com/office/drawing/2014/main" id="{DC602DF1-D3BE-4536-AF47-B5DDA1A12C9A}"/>
              </a:ext>
            </a:extLst>
          </p:cNvPr>
          <p:cNvSpPr>
            <a:spLocks xmlns:a="http://schemas.openxmlformats.org/drawingml/2006/main" noGrp="1"/>
          </p:cNvSpPr>
          <p:nvPr/>
        </p:nvSpPr>
        <p:spPr>
          <a:xfrm xmlns:a="http://schemas.openxmlformats.org/drawingml/2006/main">
            <a:off x="3733800" y="3238500"/>
            <a:ext cx="3238500" cy="325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80"/>
              </a:lnSpc>
              <a:spcBef>
                <a:spcPts val="0"/>
              </a:spcBef>
              <a:spcAft>
                <a:spcPts val="0"/>
              </a:spcAft>
            </a:pPr>
            <a:r>
              <a:rPr sz="920" b="0" i="0">
                <a:solidFill>
                  <a:srgbClr val="252D2C"/>
                </a:solidFill>
                <a:latin typeface="Arial"/>
                <a:ea typeface="Arial"/>
                <a:cs typeface="Arial"/>
              </a:rPr>
              <a:t>Open corridors and recessed faces mediate between rooms and shared ground.</a:t>
            </a:r>
          </a:p>
        </p:txBody>
      </p:sp>
      <p:sp>
        <p:nvSpPr>
          <p:cNvPr id="15" name="Editable paragraph">
            <a:extLst xmlns:a="http://schemas.openxmlformats.org/drawingml/2006/main">
              <a:ext uri="{FF2B5EF4-FFF2-40B4-BE49-F238E27FC236}">
                <a16:creationId xmlns:a16="http://schemas.microsoft.com/office/drawing/2014/main" id="{54ED050E-1E3F-41B2-B56B-8C7DBD4C8290}"/>
              </a:ext>
            </a:extLst>
          </p:cNvPr>
          <p:cNvSpPr>
            <a:spLocks xmlns:a="http://schemas.openxmlformats.org/drawingml/2006/main" noGrp="1"/>
          </p:cNvSpPr>
          <p:nvPr/>
        </p:nvSpPr>
        <p:spPr>
          <a:xfrm xmlns:a="http://schemas.openxmlformats.org/drawingml/2006/main">
            <a:off x="7162800" y="2984500"/>
            <a:ext cx="3238500" cy="2003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0" b="1" i="0">
                <a:solidFill>
                  <a:srgbClr val="252D2C"/>
                </a:solidFill>
                <a:latin typeface="Arial"/>
                <a:ea typeface="Arial"/>
                <a:cs typeface="Arial"/>
              </a:defRPr>
            </a:defPPr>
          </a:lstStyle>
          <a:p xmlns:a="http://schemas.openxmlformats.org/drawingml/2006/main">
            <a:pPr>
              <a:buNone/>
              <a:defRPr sz="1120" b="1" i="0">
                <a:solidFill>
                  <a:srgbClr val="252D2C"/>
                </a:solidFill>
                <a:latin typeface="Arial"/>
                <a:ea typeface="Arial"/>
                <a:cs typeface="Arial"/>
              </a:defRPr>
              <a:lnSpc>
                <a:spcPts val="1378"/>
              </a:lnSpc>
              <a:spcBef>
                <a:spcPts val="0"/>
              </a:spcBef>
              <a:spcAft>
                <a:spcPts val="0"/>
              </a:spcAft>
            </a:pPr>
            <a:r>
              <a:rPr sz="1120" b="1" i="0">
                <a:solidFill>
                  <a:srgbClr val="252D2C"/>
                </a:solidFill>
                <a:latin typeface="Arial"/>
                <a:ea typeface="Arial"/>
                <a:cs typeface="Arial"/>
              </a:rPr>
              <a:t>A limited palette</a:t>
            </a:r>
          </a:p>
        </p:txBody>
      </p:sp>
      <p:sp>
        <p:nvSpPr>
          <p:cNvPr id="16" name="Editable paragraph">
            <a:extLst xmlns:a="http://schemas.openxmlformats.org/drawingml/2006/main">
              <a:ext uri="{FF2B5EF4-FFF2-40B4-BE49-F238E27FC236}">
                <a16:creationId xmlns:a16="http://schemas.microsoft.com/office/drawing/2014/main" id="{A6A10424-CA2F-4F4C-89F2-DE90D064C53B}"/>
              </a:ext>
            </a:extLst>
          </p:cNvPr>
          <p:cNvSpPr>
            <a:spLocks xmlns:a="http://schemas.openxmlformats.org/drawingml/2006/main" noGrp="1"/>
          </p:cNvSpPr>
          <p:nvPr/>
        </p:nvSpPr>
        <p:spPr>
          <a:xfrm xmlns:a="http://schemas.openxmlformats.org/drawingml/2006/main">
            <a:off x="7162800" y="3238500"/>
            <a:ext cx="3238500" cy="325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20" b="0" i="0">
                <a:solidFill>
                  <a:srgbClr val="252D2C"/>
                </a:solidFill>
                <a:latin typeface="Arial"/>
                <a:ea typeface="Arial"/>
                <a:cs typeface="Arial"/>
              </a:defRPr>
            </a:defPPr>
          </a:lstStyle>
          <a:p xmlns:a="http://schemas.openxmlformats.org/drawingml/2006/main">
            <a:pPr>
              <a:buNone/>
              <a:defRPr sz="920" b="0" i="0">
                <a:solidFill>
                  <a:srgbClr val="252D2C"/>
                </a:solidFill>
                <a:latin typeface="Arial"/>
                <a:ea typeface="Arial"/>
                <a:cs typeface="Arial"/>
              </a:defRPr>
              <a:lnSpc>
                <a:spcPts val="1180"/>
              </a:lnSpc>
              <a:spcBef>
                <a:spcPts val="0"/>
              </a:spcBef>
              <a:spcAft>
                <a:spcPts val="0"/>
              </a:spcAft>
            </a:pPr>
            <a:r>
              <a:rPr sz="920" b="0" i="0">
                <a:solidFill>
                  <a:srgbClr val="252D2C"/>
                </a:solidFill>
                <a:latin typeface="Arial"/>
                <a:ea typeface="Arial"/>
                <a:cs typeface="Arial"/>
              </a:rPr>
              <a:t>Pale walls, gray roofs and warm screens keep the building legible.</a:t>
            </a:r>
          </a:p>
        </p:txBody>
      </p:sp>
      <p:sp>
        <p:nvSpPr>
          <p:cNvPr id="17" name="Editable paragraph">
            <a:extLst xmlns:a="http://schemas.openxmlformats.org/drawingml/2006/main">
              <a:ext uri="{FF2B5EF4-FFF2-40B4-BE49-F238E27FC236}">
                <a16:creationId xmlns:a16="http://schemas.microsoft.com/office/drawing/2014/main" id="{FBA1E76B-0BFF-445A-8320-2410F6E973C7}"/>
              </a:ext>
            </a:extLst>
          </p:cNvPr>
          <p:cNvSpPr>
            <a:spLocks xmlns:a="http://schemas.openxmlformats.org/drawingml/2006/main" noGrp="1"/>
          </p:cNvSpPr>
          <p:nvPr/>
        </p:nvSpPr>
        <p:spPr>
          <a:xfrm xmlns:a="http://schemas.openxmlformats.org/drawingml/2006/main">
            <a:off x="304800" y="3721100"/>
            <a:ext cx="10083800" cy="13787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20" b="0" i="0">
                <a:solidFill>
                  <a:srgbClr val="65736D"/>
                </a:solidFill>
                <a:latin typeface="Arial"/>
                <a:ea typeface="Arial"/>
                <a:cs typeface="Arial"/>
              </a:defRPr>
            </a:defPPr>
          </a:lstStyle>
          <a:p xmlns:a="http://schemas.openxmlformats.org/drawingml/2006/main">
            <a:pPr>
              <a:buNone/>
              <a:defRPr sz="720" b="0" i="0">
                <a:solidFill>
                  <a:srgbClr val="65736D"/>
                </a:solidFill>
                <a:latin typeface="Arial"/>
                <a:ea typeface="Arial"/>
                <a:cs typeface="Arial"/>
              </a:defRPr>
              <a:lnSpc>
                <a:spcPts val="886"/>
              </a:lnSpc>
              <a:spcBef>
                <a:spcPts val="0"/>
              </a:spcBef>
              <a:spcAft>
                <a:spcPts val="0"/>
              </a:spcAft>
            </a:pPr>
            <a:r>
              <a:rPr sz="720" b="0" i="0">
                <a:solidFill>
                  <a:srgbClr val="65736D"/>
                </a:solidFill>
                <a:latin typeface="Arial"/>
                <a:ea typeface="Arial"/>
                <a:cs typeface="Arial"/>
              </a:rPr>
              <a:t>Elevations: pitched roofs, repeated bays, and sheltered thresholds.</a:t>
            </a:r>
          </a:p>
        </p:txBody>
      </p:sp>
      <p:sp>
        <p:nvSpPr>
          <p:cNvPr id="18" name="">
            <a:extLst xmlns:a="http://schemas.openxmlformats.org/drawingml/2006/main">
              <a:ext uri="{FF2B5EF4-FFF2-40B4-BE49-F238E27FC236}">
                <a16:creationId xmlns:a16="http://schemas.microsoft.com/office/drawing/2014/main" id="{24113643-66FD-4FB0-902C-F68C2AC26B5C}"/>
              </a:ext>
            </a:extLst>
          </p:cNvPr>
          <p:cNvSpPr>
            <a:spLocks xmlns:a="http://schemas.openxmlformats.org/drawingml/2006/main" noGrp="1"/>
          </p:cNvSpPr>
          <p:nvPr/>
        </p:nvSpPr>
        <p:spPr>
          <a:xfrm xmlns:a="http://schemas.openxmlformats.org/drawingml/2006/main">
            <a:off x="304800" y="39370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pic>
        <p:nvPicPr>
          <p:cNvPr id="19" name="">
            <a:extLst xmlns:a="http://schemas.openxmlformats.org/drawingml/2006/main">
              <a:ext uri="{FF2B5EF4-FFF2-40B4-BE49-F238E27FC236}">
                <a16:creationId xmlns:a16="http://schemas.microsoft.com/office/drawing/2014/main" id="{9DE5512C-EFCA-4104-AEFF-15A776C89A17}"/>
              </a:ext>
            </a:extLst>
          </p:cNvPr>
          <p:cNvPicPr>
            <a:picLocks xmlns:a="http://schemas.openxmlformats.org/drawingml/2006/main" noChangeAspect="1"/>
          </p:cNvPicPr>
          <p:nvPr/>
        </p:nvPicPr>
        <p:blipFill>
          <a:blip xmlns:r="http://schemas.openxmlformats.org/officeDocument/2006/relationships" xmlns:a="http://schemas.openxmlformats.org/drawingml/2006/main" r:embed="R78c3328c0a454323"/>
          <a:stretch xmlns:a="http://schemas.openxmlformats.org/drawingml/2006/main"/>
        </p:blipFill>
        <p:spPr>
          <a:xfrm xmlns:a="http://schemas.openxmlformats.org/drawingml/2006/main">
            <a:off x="606249" y="4076700"/>
            <a:ext cx="4362802" cy="236220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19CEE5C3-00D8-42FC-9D2D-4C436991B512}"/>
              </a:ext>
            </a:extLst>
          </p:cNvPr>
          <p:cNvPicPr>
            <a:picLocks xmlns:a="http://schemas.openxmlformats.org/drawingml/2006/main" noChangeAspect="1"/>
          </p:cNvPicPr>
          <p:nvPr/>
        </p:nvPicPr>
        <p:blipFill>
          <a:blip xmlns:r="http://schemas.openxmlformats.org/officeDocument/2006/relationships" xmlns:a="http://schemas.openxmlformats.org/drawingml/2006/main" r:embed="R32b94a8440a04520"/>
          <a:stretch xmlns:a="http://schemas.openxmlformats.org/drawingml/2006/main"/>
        </p:blipFill>
        <p:spPr>
          <a:xfrm xmlns:a="http://schemas.openxmlformats.org/drawingml/2006/main">
            <a:off x="6311098" y="4076770"/>
            <a:ext cx="3189305" cy="2362060"/>
          </a:xfrm>
          <a:prstGeom xmlns:a="http://schemas.openxmlformats.org/drawingml/2006/main" prst="rect">
            <a:avLst/>
          </a:prstGeom>
        </p:spPr>
      </p:pic>
      <p:sp>
        <p:nvSpPr>
          <p:cNvPr id="21" name="Editable paragraph">
            <a:extLst xmlns:a="http://schemas.openxmlformats.org/drawingml/2006/main">
              <a:ext uri="{FF2B5EF4-FFF2-40B4-BE49-F238E27FC236}">
                <a16:creationId xmlns:a16="http://schemas.microsoft.com/office/drawing/2014/main" id="{9275F65D-6839-4F8C-BC99-5E0F342F534A}"/>
              </a:ext>
            </a:extLst>
          </p:cNvPr>
          <p:cNvSpPr>
            <a:spLocks xmlns:a="http://schemas.openxmlformats.org/drawingml/2006/main" noGrp="1"/>
          </p:cNvSpPr>
          <p:nvPr/>
        </p:nvSpPr>
        <p:spPr>
          <a:xfrm xmlns:a="http://schemas.openxmlformats.org/drawingml/2006/main">
            <a:off x="304800" y="6553200"/>
            <a:ext cx="4965700" cy="170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30" b="1" i="0">
                <a:solidFill>
                  <a:srgbClr val="345A60"/>
                </a:solidFill>
                <a:latin typeface="Arial"/>
                <a:ea typeface="Arial"/>
                <a:cs typeface="Arial"/>
              </a:defRPr>
            </a:defPPr>
          </a:lstStyle>
          <a:p xmlns:a="http://schemas.openxmlformats.org/drawingml/2006/main">
            <a:pPr>
              <a:buNone/>
              <a:defRPr sz="930" b="1" i="0">
                <a:solidFill>
                  <a:srgbClr val="345A60"/>
                </a:solidFill>
                <a:latin typeface="Arial"/>
                <a:ea typeface="Arial"/>
                <a:cs typeface="Arial"/>
              </a:defRPr>
              <a:lnSpc>
                <a:spcPts val="1144"/>
              </a:lnSpc>
              <a:spcBef>
                <a:spcPts val="0"/>
              </a:spcBef>
              <a:spcAft>
                <a:spcPts val="0"/>
              </a:spcAft>
            </a:pPr>
            <a:r>
              <a:rPr sz="930" b="1" i="0">
                <a:solidFill>
                  <a:srgbClr val="345A60"/>
                </a:solidFill>
                <a:latin typeface="Arial"/>
                <a:ea typeface="Arial"/>
                <a:cs typeface="Arial"/>
              </a:rPr>
              <a:t>THE LOWER SHARED WING</a:t>
            </a:r>
          </a:p>
        </p:txBody>
      </p:sp>
      <p:sp>
        <p:nvSpPr>
          <p:cNvPr id="22" name="Editable paragraph">
            <a:extLst xmlns:a="http://schemas.openxmlformats.org/drawingml/2006/main">
              <a:ext uri="{FF2B5EF4-FFF2-40B4-BE49-F238E27FC236}">
                <a16:creationId xmlns:a16="http://schemas.microsoft.com/office/drawing/2014/main" id="{2A577E60-4C2C-44E4-97BB-6A0436824EDD}"/>
              </a:ext>
            </a:extLst>
          </p:cNvPr>
          <p:cNvSpPr>
            <a:spLocks xmlns:a="http://schemas.openxmlformats.org/drawingml/2006/main" noGrp="1"/>
          </p:cNvSpPr>
          <p:nvPr/>
        </p:nvSpPr>
        <p:spPr>
          <a:xfrm xmlns:a="http://schemas.openxmlformats.org/drawingml/2006/main">
            <a:off x="304800" y="6794500"/>
            <a:ext cx="4965700" cy="2971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70" b="0" i="0">
                <a:solidFill>
                  <a:srgbClr val="252D2C"/>
                </a:solidFill>
                <a:latin typeface="Arial"/>
                <a:ea typeface="Arial"/>
                <a:cs typeface="Arial"/>
              </a:defRPr>
            </a:defPPr>
          </a:lstStyle>
          <a:p xmlns:a="http://schemas.openxmlformats.org/drawingml/2006/main">
            <a:pPr>
              <a:buNone/>
              <a:defRPr sz="870" b="0" i="0">
                <a:solidFill>
                  <a:srgbClr val="252D2C"/>
                </a:solidFill>
                <a:latin typeface="Arial"/>
                <a:ea typeface="Arial"/>
                <a:cs typeface="Arial"/>
              </a:defRPr>
              <a:lnSpc>
                <a:spcPts val="1070"/>
              </a:lnSpc>
              <a:spcBef>
                <a:spcPts val="0"/>
              </a:spcBef>
              <a:spcAft>
                <a:spcPts val="0"/>
              </a:spcAft>
            </a:pPr>
            <a:r>
              <a:rPr sz="870" b="0" i="0">
                <a:solidFill>
                  <a:srgbClr val="252D2C"/>
                </a:solidFill>
                <a:latin typeface="Arial"/>
                <a:ea typeface="Arial"/>
                <a:cs typeface="Arial"/>
              </a:rPr>
              <a:t>Three occupied levels connect dining and collective activities. The section clarifies the relationship between the entry, upper rooms and pitched roof.</a:t>
            </a:r>
          </a:p>
        </p:txBody>
      </p:sp>
      <p:sp>
        <p:nvSpPr>
          <p:cNvPr id="23" name="Editable paragraph">
            <a:extLst xmlns:a="http://schemas.openxmlformats.org/drawingml/2006/main">
              <a:ext uri="{FF2B5EF4-FFF2-40B4-BE49-F238E27FC236}">
                <a16:creationId xmlns:a16="http://schemas.microsoft.com/office/drawing/2014/main" id="{7D174F30-D1FE-4BB1-83E5-4EC34547D036}"/>
              </a:ext>
            </a:extLst>
          </p:cNvPr>
          <p:cNvSpPr>
            <a:spLocks xmlns:a="http://schemas.openxmlformats.org/drawingml/2006/main" noGrp="1"/>
          </p:cNvSpPr>
          <p:nvPr/>
        </p:nvSpPr>
        <p:spPr>
          <a:xfrm xmlns:a="http://schemas.openxmlformats.org/drawingml/2006/main">
            <a:off x="5422900" y="6553200"/>
            <a:ext cx="4965700" cy="170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30" b="1" i="0">
                <a:solidFill>
                  <a:srgbClr val="345A60"/>
                </a:solidFill>
                <a:latin typeface="Arial"/>
                <a:ea typeface="Arial"/>
                <a:cs typeface="Arial"/>
              </a:defRPr>
            </a:defPPr>
          </a:lstStyle>
          <a:p xmlns:a="http://schemas.openxmlformats.org/drawingml/2006/main">
            <a:pPr>
              <a:buNone/>
              <a:defRPr sz="930" b="1" i="0">
                <a:solidFill>
                  <a:srgbClr val="345A60"/>
                </a:solidFill>
                <a:latin typeface="Arial"/>
                <a:ea typeface="Arial"/>
                <a:cs typeface="Arial"/>
              </a:defRPr>
              <a:lnSpc>
                <a:spcPts val="1144"/>
              </a:lnSpc>
              <a:spcBef>
                <a:spcPts val="0"/>
              </a:spcBef>
              <a:spcAft>
                <a:spcPts val="0"/>
              </a:spcAft>
            </a:pPr>
            <a:r>
              <a:rPr sz="930" b="1" i="0">
                <a:solidFill>
                  <a:srgbClr val="345A60"/>
                </a:solidFill>
                <a:latin typeface="Arial"/>
                <a:ea typeface="Arial"/>
                <a:cs typeface="Arial"/>
              </a:rPr>
              <a:t>THE FOUR-LEVEL LEARNING WING</a:t>
            </a:r>
          </a:p>
        </p:txBody>
      </p:sp>
      <p:sp>
        <p:nvSpPr>
          <p:cNvPr id="24" name="Editable paragraph">
            <a:extLst xmlns:a="http://schemas.openxmlformats.org/drawingml/2006/main">
              <a:ext uri="{FF2B5EF4-FFF2-40B4-BE49-F238E27FC236}">
                <a16:creationId xmlns:a16="http://schemas.microsoft.com/office/drawing/2014/main" id="{2400A286-5B08-47A5-B9CF-C7DA75357130}"/>
              </a:ext>
            </a:extLst>
          </p:cNvPr>
          <p:cNvSpPr>
            <a:spLocks xmlns:a="http://schemas.openxmlformats.org/drawingml/2006/main" noGrp="1"/>
          </p:cNvSpPr>
          <p:nvPr/>
        </p:nvSpPr>
        <p:spPr>
          <a:xfrm xmlns:a="http://schemas.openxmlformats.org/drawingml/2006/main">
            <a:off x="5422900" y="6794500"/>
            <a:ext cx="4965700" cy="2971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870" b="0" i="0">
                <a:solidFill>
                  <a:srgbClr val="252D2C"/>
                </a:solidFill>
                <a:latin typeface="Arial"/>
                <a:ea typeface="Arial"/>
                <a:cs typeface="Arial"/>
              </a:defRPr>
            </a:defPPr>
          </a:lstStyle>
          <a:p xmlns:a="http://schemas.openxmlformats.org/drawingml/2006/main">
            <a:pPr>
              <a:buNone/>
              <a:defRPr sz="870" b="0" i="0">
                <a:solidFill>
                  <a:srgbClr val="252D2C"/>
                </a:solidFill>
                <a:latin typeface="Arial"/>
                <a:ea typeface="Arial"/>
                <a:cs typeface="Arial"/>
              </a:defRPr>
              <a:lnSpc>
                <a:spcPts val="1070"/>
              </a:lnSpc>
              <a:spcBef>
                <a:spcPts val="0"/>
              </a:spcBef>
              <a:spcAft>
                <a:spcPts val="0"/>
              </a:spcAft>
            </a:pPr>
            <a:r>
              <a:rPr sz="870" b="0" i="0">
                <a:solidFill>
                  <a:srgbClr val="252D2C"/>
                </a:solidFill>
                <a:latin typeface="Arial"/>
                <a:ea typeface="Arial"/>
                <a:cs typeface="Arial"/>
              </a:rPr>
              <a:t>The teaching wing connects rooms vertically through a regular sequence of floors, stairs, and shared circulation.</a:t>
            </a:r>
          </a:p>
        </p:txBody>
      </p:sp>
      <p:sp>
        <p:nvSpPr>
          <p:cNvPr id="25" name="Editable paragraph">
            <a:extLst xmlns:a="http://schemas.openxmlformats.org/drawingml/2006/main">
              <a:ext uri="{FF2B5EF4-FFF2-40B4-BE49-F238E27FC236}">
                <a16:creationId xmlns:a16="http://schemas.microsoft.com/office/drawing/2014/main" id="{AC6C8CA3-D8D3-483B-B940-C2D0FFAE1C72}"/>
              </a:ext>
            </a:extLst>
          </p:cNvPr>
          <p:cNvSpPr>
            <a:spLocks xmlns:a="http://schemas.openxmlformats.org/drawingml/2006/main" noGrp="1"/>
          </p:cNvSpPr>
          <p:nvPr/>
        </p:nvSpPr>
        <p:spPr>
          <a:xfrm xmlns:a="http://schemas.openxmlformats.org/drawingml/2006/main">
            <a:off x="304800" y="7213600"/>
            <a:ext cx="10083800" cy="1316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80" b="0" i="0">
                <a:solidFill>
                  <a:srgbClr val="65736D"/>
                </a:solidFill>
                <a:latin typeface="Arial"/>
                <a:ea typeface="Arial"/>
                <a:cs typeface="Arial"/>
              </a:defRPr>
            </a:defPPr>
          </a:lstStyle>
          <a:p xmlns:a="http://schemas.openxmlformats.org/drawingml/2006/main">
            <a:pPr>
              <a:buNone/>
              <a:defRPr sz="680" b="0" i="0">
                <a:solidFill>
                  <a:srgbClr val="65736D"/>
                </a:solidFill>
                <a:latin typeface="Arial"/>
                <a:ea typeface="Arial"/>
                <a:cs typeface="Arial"/>
              </a:defRPr>
              <a:lnSpc>
                <a:spcPts val="836"/>
              </a:lnSpc>
              <a:spcBef>
                <a:spcPts val="0"/>
              </a:spcBef>
              <a:spcAft>
                <a:spcPts val="0"/>
              </a:spcAft>
            </a:pPr>
            <a:r>
              <a:rPr sz="680" b="0" i="0">
                <a:solidFill>
                  <a:srgbClr val="65736D"/>
                </a:solidFill>
                <a:latin typeface="Arial"/>
                <a:ea typeface="Arial"/>
                <a:cs typeface="Arial"/>
              </a:rPr>
              <a:t>Sections through the shared wing and the main teaching wing.</a:t>
            </a:r>
          </a:p>
        </p:txBody>
      </p:sp>
    </p:spTree>
    <p:extLst>
      <p:ext uri="{BB962C8B-B14F-4D97-AF65-F5344CB8AC3E}">
        <p14:creationId xmlns:p14="http://schemas.microsoft.com/office/powerpoint/2010/main" val="18756423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Editable paragraph">
            <a:extLst xmlns:a="http://schemas.openxmlformats.org/drawingml/2006/main">
              <a:ext uri="{FF2B5EF4-FFF2-40B4-BE49-F238E27FC236}">
                <a16:creationId xmlns:a16="http://schemas.microsoft.com/office/drawing/2014/main" id="{BEDBDA37-6071-49C5-BE03-9FA0A21FC033}"/>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4EE9188D-4628-4475-AD25-25D6E3000021}"/>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F6B48AC2-39AA-4C11-813E-3ED41B9AE463}"/>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PORTFOLIO</a:t>
            </a:r>
          </a:p>
        </p:txBody>
      </p:sp>
      <p:sp>
        <p:nvSpPr>
          <p:cNvPr id="4" name="">
            <a:extLst xmlns:a="http://schemas.openxmlformats.org/drawingml/2006/main">
              <a:ext uri="{FF2B5EF4-FFF2-40B4-BE49-F238E27FC236}">
                <a16:creationId xmlns:a16="http://schemas.microsoft.com/office/drawing/2014/main" id="{907000A2-E391-4FED-9B88-FFACD0F84A32}"/>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EEFE5B6D-D0C5-4C8C-A580-1A3B6601E7AF}"/>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Courtyard, material &amp; a human scale</a:t>
            </a:r>
          </a:p>
        </p:txBody>
      </p:sp>
      <p:sp>
        <p:nvSpPr>
          <p:cNvPr id="6" name="">
            <a:extLst xmlns:a="http://schemas.openxmlformats.org/drawingml/2006/main">
              <a:ext uri="{FF2B5EF4-FFF2-40B4-BE49-F238E27FC236}">
                <a16:creationId xmlns:a16="http://schemas.microsoft.com/office/drawing/2014/main" id="{773F549F-3F24-4D21-92CE-9D00BF1F8DE6}"/>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95F30BDA-4192-4BC7-8B77-EC92E4B9EC05}"/>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1B6F2EE4-8681-43BF-BA2E-90327B10AC17}"/>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14 / 15</a:t>
            </a:r>
          </a:p>
        </p:txBody>
      </p:sp>
      <p:pic>
        <p:nvPicPr>
          <p:cNvPr id="9" name="">
            <a:extLst xmlns:a="http://schemas.openxmlformats.org/drawingml/2006/main">
              <a:ext uri="{FF2B5EF4-FFF2-40B4-BE49-F238E27FC236}">
                <a16:creationId xmlns:a16="http://schemas.microsoft.com/office/drawing/2014/main" id="{245BAB02-D11E-451E-A1F8-D368D0EB9E7A}"/>
              </a:ext>
            </a:extLst>
          </p:cNvPr>
          <p:cNvPicPr>
            <a:picLocks xmlns:a="http://schemas.openxmlformats.org/drawingml/2006/main" noChangeAspect="1"/>
          </p:cNvPicPr>
          <p:nvPr/>
        </p:nvPicPr>
        <p:blipFill>
          <a:blip xmlns:r="http://schemas.openxmlformats.org/officeDocument/2006/relationships" xmlns:a="http://schemas.openxmlformats.org/drawingml/2006/main" r:embed="R024372850f7444e0"/>
          <a:stretch xmlns:a="http://schemas.openxmlformats.org/drawingml/2006/main"/>
        </p:blipFill>
        <p:spPr>
          <a:xfrm xmlns:a="http://schemas.openxmlformats.org/drawingml/2006/main">
            <a:off x="304800" y="1044348"/>
            <a:ext cx="4838700" cy="3283404"/>
          </a:xfrm>
          <a:prstGeom xmlns:a="http://schemas.openxmlformats.org/drawingml/2006/main" prst="rect">
            <a:avLst/>
          </a:prstGeom>
        </p:spPr>
      </p:pic>
      <p:sp>
        <p:nvSpPr>
          <p:cNvPr id="10" name="Editable paragraph">
            <a:extLst xmlns:a="http://schemas.openxmlformats.org/drawingml/2006/main">
              <a:ext uri="{FF2B5EF4-FFF2-40B4-BE49-F238E27FC236}">
                <a16:creationId xmlns:a16="http://schemas.microsoft.com/office/drawing/2014/main" id="{CB08C63D-03EF-42EB-ADFF-CAD2E74D8B0B}"/>
              </a:ext>
            </a:extLst>
          </p:cNvPr>
          <p:cNvSpPr>
            <a:spLocks xmlns:a="http://schemas.openxmlformats.org/drawingml/2006/main" noGrp="1"/>
          </p:cNvSpPr>
          <p:nvPr/>
        </p:nvSpPr>
        <p:spPr>
          <a:xfrm xmlns:a="http://schemas.openxmlformats.org/drawingml/2006/main">
            <a:off x="5473700" y="1066800"/>
            <a:ext cx="4914900" cy="38468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00" b="1" i="0">
                <a:solidFill>
                  <a:srgbClr val="252D2C"/>
                </a:solidFill>
                <a:latin typeface="Arial"/>
                <a:ea typeface="Arial"/>
                <a:cs typeface="Arial"/>
              </a:defRPr>
            </a:defPPr>
          </a:lstStyle>
          <a:p xmlns:a="http://schemas.openxmlformats.org/drawingml/2006/main">
            <a:pPr>
              <a:buNone/>
              <a:defRPr sz="2300" b="1" i="0">
                <a:solidFill>
                  <a:srgbClr val="252D2C"/>
                </a:solidFill>
                <a:latin typeface="Arial"/>
                <a:ea typeface="Arial"/>
                <a:cs typeface="Arial"/>
              </a:defRPr>
              <a:lnSpc>
                <a:spcPts val="2829"/>
              </a:lnSpc>
              <a:spcBef>
                <a:spcPts val="0"/>
              </a:spcBef>
              <a:spcAft>
                <a:spcPts val="0"/>
              </a:spcAft>
            </a:pPr>
            <a:r>
              <a:rPr sz="2300" b="1" i="0">
                <a:solidFill>
                  <a:srgbClr val="252D2C"/>
                </a:solidFill>
                <a:latin typeface="Arial"/>
                <a:ea typeface="Arial"/>
                <a:cs typeface="Arial"/>
              </a:rPr>
              <a:t>A place between lessons.</a:t>
            </a:r>
          </a:p>
        </p:txBody>
      </p:sp>
      <p:sp>
        <p:nvSpPr>
          <p:cNvPr id="11" name="Editable paragraph">
            <a:extLst xmlns:a="http://schemas.openxmlformats.org/drawingml/2006/main">
              <a:ext uri="{FF2B5EF4-FFF2-40B4-BE49-F238E27FC236}">
                <a16:creationId xmlns:a16="http://schemas.microsoft.com/office/drawing/2014/main" id="{5467D47C-26D4-4E13-B8DD-2093F681C84C}"/>
              </a:ext>
            </a:extLst>
          </p:cNvPr>
          <p:cNvSpPr>
            <a:spLocks xmlns:a="http://schemas.openxmlformats.org/drawingml/2006/main" noGrp="1"/>
          </p:cNvSpPr>
          <p:nvPr/>
        </p:nvSpPr>
        <p:spPr>
          <a:xfrm xmlns:a="http://schemas.openxmlformats.org/drawingml/2006/main">
            <a:off x="5473700" y="2044700"/>
            <a:ext cx="4914900" cy="59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50" b="0" i="0">
                <a:solidFill>
                  <a:srgbClr val="252D2C"/>
                </a:solidFill>
                <a:latin typeface="Arial"/>
                <a:ea typeface="Arial"/>
                <a:cs typeface="Arial"/>
              </a:defRPr>
            </a:defPPr>
          </a:lstStyle>
          <a:p xmlns:a="http://schemas.openxmlformats.org/drawingml/2006/main">
            <a:pPr>
              <a:buNone/>
              <a:defRPr sz="1150" b="0" i="0">
                <a:solidFill>
                  <a:srgbClr val="252D2C"/>
                </a:solidFill>
                <a:latin typeface="Arial"/>
                <a:ea typeface="Arial"/>
                <a:cs typeface="Arial"/>
              </a:defRPr>
              <a:lnSpc>
                <a:spcPts val="1500"/>
              </a:lnSpc>
              <a:spcBef>
                <a:spcPts val="0"/>
              </a:spcBef>
              <a:spcAft>
                <a:spcPts val="0"/>
              </a:spcAft>
            </a:pPr>
            <a:r>
              <a:rPr sz="1150" b="0" i="0">
                <a:solidFill>
                  <a:srgbClr val="252D2C"/>
                </a:solidFill>
                <a:latin typeface="Arial"/>
                <a:ea typeface="Arial"/>
                <a:cs typeface="Arial"/>
              </a:rPr>
              <a:t>The connected wings define a common outdoor room. Its value comes from how easily children can reach it and how many kinds of activity its edges can support.</a:t>
            </a:r>
          </a:p>
        </p:txBody>
      </p:sp>
      <p:sp>
        <p:nvSpPr>
          <p:cNvPr id="12" name="Editable paragraph">
            <a:extLst xmlns:a="http://schemas.openxmlformats.org/drawingml/2006/main">
              <a:ext uri="{FF2B5EF4-FFF2-40B4-BE49-F238E27FC236}">
                <a16:creationId xmlns:a16="http://schemas.microsoft.com/office/drawing/2014/main" id="{970FA5FA-0211-449E-8A9B-B7E4E4D04DC7}"/>
              </a:ext>
            </a:extLst>
          </p:cNvPr>
          <p:cNvSpPr>
            <a:spLocks xmlns:a="http://schemas.openxmlformats.org/drawingml/2006/main" noGrp="1"/>
          </p:cNvSpPr>
          <p:nvPr/>
        </p:nvSpPr>
        <p:spPr>
          <a:xfrm xmlns:a="http://schemas.openxmlformats.org/drawingml/2006/main">
            <a:off x="5473700" y="3213100"/>
            <a:ext cx="4914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70" b="0" i="0">
                <a:solidFill>
                  <a:srgbClr val="252D2C"/>
                </a:solidFill>
                <a:latin typeface="Arial"/>
                <a:ea typeface="Arial"/>
                <a:cs typeface="Arial"/>
              </a:defRPr>
            </a:defPPr>
          </a:lstStyle>
          <a:p xmlns:a="http://schemas.openxmlformats.org/drawingml/2006/main">
            <a:pPr>
              <a:buNone/>
              <a:defRPr sz="1070" b="0" i="0">
                <a:solidFill>
                  <a:srgbClr val="252D2C"/>
                </a:solidFill>
                <a:latin typeface="Arial"/>
                <a:ea typeface="Arial"/>
                <a:cs typeface="Arial"/>
              </a:defRPr>
              <a:lnSpc>
                <a:spcPts val="1400"/>
              </a:lnSpc>
              <a:spcBef>
                <a:spcPts val="0"/>
              </a:spcBef>
              <a:spcAft>
                <a:spcPts val="0"/>
              </a:spcAft>
            </a:pPr>
            <a:r>
              <a:rPr sz="1070" b="0" i="0">
                <a:solidFill>
                  <a:srgbClr val="252D2C"/>
                </a:solidFill>
                <a:latin typeface="Arial"/>
                <a:ea typeface="Arial"/>
                <a:cs typeface="Arial"/>
              </a:rPr>
              <a:t>Courtyard settings</a:t>
            </a:r>
          </a:p>
          <a:p xmlns:a="http://schemas.openxmlformats.org/drawingml/2006/main">
            <a:pPr>
              <a:buNone/>
              <a:defRPr sz="1070" b="0" i="0">
                <a:solidFill>
                  <a:srgbClr val="252D2C"/>
                </a:solidFill>
                <a:latin typeface="Arial"/>
                <a:ea typeface="Arial"/>
                <a:cs typeface="Arial"/>
              </a:defRPr>
              <a:lnSpc>
                <a:spcPts val="1400"/>
              </a:lnSpc>
              <a:spcBef>
                <a:spcPts val="0"/>
              </a:spcBef>
              <a:spcAft>
                <a:spcPts val="0"/>
              </a:spcAft>
            </a:pPr>
            <a:r>
              <a:rPr sz="1070" b="0" i="0">
                <a:solidFill>
                  <a:srgbClr val="252D2C"/>
                </a:solidFill>
                <a:latin typeface="Arial"/>
                <a:ea typeface="Arial"/>
                <a:cs typeface="Arial"/>
              </a:rPr>
              <a:t>A quiet edge / a small-group table / an open center / nearby adult support</a:t>
            </a:r>
          </a:p>
        </p:txBody>
      </p:sp>
      <p:sp>
        <p:nvSpPr>
          <p:cNvPr id="13" name="Editable paragraph">
            <a:extLst xmlns:a="http://schemas.openxmlformats.org/drawingml/2006/main">
              <a:ext uri="{FF2B5EF4-FFF2-40B4-BE49-F238E27FC236}">
                <a16:creationId xmlns:a16="http://schemas.microsoft.com/office/drawing/2014/main" id="{29603939-EFBB-4E1D-8B93-5AED69C160B1}"/>
              </a:ext>
            </a:extLst>
          </p:cNvPr>
          <p:cNvSpPr>
            <a:spLocks xmlns:a="http://schemas.openxmlformats.org/drawingml/2006/main" noGrp="1"/>
          </p:cNvSpPr>
          <p:nvPr/>
        </p:nvSpPr>
        <p:spPr>
          <a:xfrm xmlns:a="http://schemas.openxmlformats.org/drawingml/2006/main">
            <a:off x="5473700" y="4013200"/>
            <a:ext cx="4914900" cy="1409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910"/>
              </a:lnSpc>
              <a:spcBef>
                <a:spcPts val="0"/>
              </a:spcBef>
              <a:spcAft>
                <a:spcPts val="0"/>
              </a:spcAft>
            </a:pPr>
            <a:r>
              <a:rPr sz="730" b="0" i="0">
                <a:solidFill>
                  <a:srgbClr val="65736D"/>
                </a:solidFill>
                <a:latin typeface="Arial"/>
                <a:ea typeface="Arial"/>
                <a:cs typeface="Arial"/>
              </a:rPr>
              <a:t>Courtyard perspective: connected wings frame a shared outdoor setting.</a:t>
            </a:r>
          </a:p>
        </p:txBody>
      </p:sp>
      <p:sp>
        <p:nvSpPr>
          <p:cNvPr id="14" name="">
            <a:extLst xmlns:a="http://schemas.openxmlformats.org/drawingml/2006/main">
              <a:ext uri="{FF2B5EF4-FFF2-40B4-BE49-F238E27FC236}">
                <a16:creationId xmlns:a16="http://schemas.microsoft.com/office/drawing/2014/main" id="{C1CCA6BF-5DAC-4FA7-9812-567D0A01A926}"/>
              </a:ext>
            </a:extLst>
          </p:cNvPr>
          <p:cNvSpPr>
            <a:spLocks xmlns:a="http://schemas.openxmlformats.org/drawingml/2006/main" noGrp="1"/>
          </p:cNvSpPr>
          <p:nvPr/>
        </p:nvSpPr>
        <p:spPr>
          <a:xfrm xmlns:a="http://schemas.openxmlformats.org/drawingml/2006/main">
            <a:off x="304800" y="44450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pic>
        <p:nvPicPr>
          <p:cNvPr id="15" name="">
            <a:extLst xmlns:a="http://schemas.openxmlformats.org/drawingml/2006/main">
              <a:ext uri="{FF2B5EF4-FFF2-40B4-BE49-F238E27FC236}">
                <a16:creationId xmlns:a16="http://schemas.microsoft.com/office/drawing/2014/main" id="{605394A4-3426-4CC3-BC40-F37973ADE41E}"/>
              </a:ext>
            </a:extLst>
          </p:cNvPr>
          <p:cNvPicPr>
            <a:picLocks xmlns:a="http://schemas.openxmlformats.org/drawingml/2006/main" noChangeAspect="1"/>
          </p:cNvPicPr>
          <p:nvPr/>
        </p:nvPicPr>
        <p:blipFill>
          <a:blip xmlns:r="http://schemas.openxmlformats.org/officeDocument/2006/relationships" xmlns:a="http://schemas.openxmlformats.org/drawingml/2006/main" r:embed="Rcbcc8d9a288946d3"/>
          <a:stretch xmlns:a="http://schemas.openxmlformats.org/drawingml/2006/main"/>
        </p:blipFill>
        <p:spPr>
          <a:xfrm xmlns:a="http://schemas.openxmlformats.org/drawingml/2006/main">
            <a:off x="410425" y="4546600"/>
            <a:ext cx="6583250" cy="2628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430E304-BA6B-493E-B25E-DE3413712D2F}"/>
              </a:ext>
            </a:extLst>
          </p:cNvPr>
          <p:cNvSpPr>
            <a:spLocks xmlns:a="http://schemas.openxmlformats.org/drawingml/2006/main" noGrp="1"/>
          </p:cNvSpPr>
          <p:nvPr/>
        </p:nvSpPr>
        <p:spPr>
          <a:xfrm xmlns:a="http://schemas.openxmlformats.org/drawingml/2006/main">
            <a:off x="7429500" y="4724400"/>
            <a:ext cx="241300" cy="152400"/>
          </a:xfrm>
          <a:prstGeom xmlns:a="http://schemas.openxmlformats.org/drawingml/2006/main" prst="rect">
            <a:avLst/>
          </a:prstGeom>
          <a:solidFill xmlns:a="http://schemas.openxmlformats.org/drawingml/2006/main">
            <a:srgbClr val="D6D7D1"/>
          </a:solidFill>
          <a:ln xmlns:a="http://schemas.openxmlformats.org/drawingml/2006/main" w="0">
            <a:noFill/>
            <a:prstDash val="solid"/>
          </a:ln>
        </p:spPr>
      </p:sp>
      <p:sp>
        <p:nvSpPr>
          <p:cNvPr id="17" name="Editable paragraph">
            <a:extLst xmlns:a="http://schemas.openxmlformats.org/drawingml/2006/main">
              <a:ext uri="{FF2B5EF4-FFF2-40B4-BE49-F238E27FC236}">
                <a16:creationId xmlns:a16="http://schemas.microsoft.com/office/drawing/2014/main" id="{9E33C03F-7B98-468A-B21B-ECA9EA1351FB}"/>
              </a:ext>
            </a:extLst>
          </p:cNvPr>
          <p:cNvSpPr>
            <a:spLocks xmlns:a="http://schemas.openxmlformats.org/drawingml/2006/main" noGrp="1"/>
          </p:cNvSpPr>
          <p:nvPr/>
        </p:nvSpPr>
        <p:spPr>
          <a:xfrm xmlns:a="http://schemas.openxmlformats.org/drawingml/2006/main">
            <a:off x="7429500" y="4978400"/>
            <a:ext cx="14097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252D2C"/>
                </a:solidFill>
                <a:latin typeface="Arial"/>
                <a:ea typeface="Arial"/>
                <a:cs typeface="Arial"/>
              </a:defRPr>
            </a:defPPr>
          </a:lstStyle>
          <a:p xmlns:a="http://schemas.openxmlformats.org/drawingml/2006/main">
            <a:pPr>
              <a:buNone/>
              <a:defRPr sz="940" b="1" i="0">
                <a:solidFill>
                  <a:srgbClr val="252D2C"/>
                </a:solidFill>
                <a:latin typeface="Arial"/>
                <a:ea typeface="Arial"/>
                <a:cs typeface="Arial"/>
              </a:defRPr>
              <a:lnSpc>
                <a:spcPts val="1156"/>
              </a:lnSpc>
              <a:spcBef>
                <a:spcPts val="0"/>
              </a:spcBef>
              <a:spcAft>
                <a:spcPts val="0"/>
              </a:spcAft>
            </a:pPr>
            <a:r>
              <a:rPr sz="940" b="1" i="0">
                <a:solidFill>
                  <a:srgbClr val="252D2C"/>
                </a:solidFill>
                <a:latin typeface="Arial"/>
                <a:ea typeface="Arial"/>
                <a:cs typeface="Arial"/>
              </a:rPr>
              <a:t>Pale mineral walls</a:t>
            </a:r>
          </a:p>
        </p:txBody>
      </p:sp>
      <p:sp>
        <p:nvSpPr>
          <p:cNvPr id="18" name="Editable paragraph">
            <a:extLst xmlns:a="http://schemas.openxmlformats.org/drawingml/2006/main">
              <a:ext uri="{FF2B5EF4-FFF2-40B4-BE49-F238E27FC236}">
                <a16:creationId xmlns:a16="http://schemas.microsoft.com/office/drawing/2014/main" id="{90CA7B3B-154E-4FF1-B8AC-850A6D43BF45}"/>
              </a:ext>
            </a:extLst>
          </p:cNvPr>
          <p:cNvSpPr>
            <a:spLocks xmlns:a="http://schemas.openxmlformats.org/drawingml/2006/main" noGrp="1"/>
          </p:cNvSpPr>
          <p:nvPr/>
        </p:nvSpPr>
        <p:spPr>
          <a:xfrm xmlns:a="http://schemas.openxmlformats.org/drawingml/2006/main">
            <a:off x="7429500" y="5346700"/>
            <a:ext cx="1409700" cy="1689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30"/>
              </a:lnSpc>
              <a:spcBef>
                <a:spcPts val="0"/>
              </a:spcBef>
              <a:spcAft>
                <a:spcPts val="0"/>
              </a:spcAft>
            </a:pPr>
            <a:r>
              <a:rPr sz="900" b="0" i="0">
                <a:solidFill>
                  <a:srgbClr val="252D2C"/>
                </a:solidFill>
                <a:latin typeface="Arial"/>
                <a:ea typeface="Arial"/>
                <a:cs typeface="Arial"/>
              </a:rPr>
              <a:t>A bright, quiet background.</a:t>
            </a:r>
          </a:p>
        </p:txBody>
      </p:sp>
      <p:sp>
        <p:nvSpPr>
          <p:cNvPr id="19" name="">
            <a:extLst xmlns:a="http://schemas.openxmlformats.org/drawingml/2006/main">
              <a:ext uri="{FF2B5EF4-FFF2-40B4-BE49-F238E27FC236}">
                <a16:creationId xmlns:a16="http://schemas.microsoft.com/office/drawing/2014/main" id="{EA24752A-19DF-4192-8F6E-FB1621CA3B74}"/>
              </a:ext>
            </a:extLst>
          </p:cNvPr>
          <p:cNvSpPr>
            <a:spLocks xmlns:a="http://schemas.openxmlformats.org/drawingml/2006/main" noGrp="1"/>
          </p:cNvSpPr>
          <p:nvPr/>
        </p:nvSpPr>
        <p:spPr>
          <a:xfrm xmlns:a="http://schemas.openxmlformats.org/drawingml/2006/main">
            <a:off x="8978900" y="4724400"/>
            <a:ext cx="241300" cy="152400"/>
          </a:xfrm>
          <a:prstGeom xmlns:a="http://schemas.openxmlformats.org/drawingml/2006/main" prst="rect">
            <a:avLst/>
          </a:prstGeom>
          <a:solidFill xmlns:a="http://schemas.openxmlformats.org/drawingml/2006/main">
            <a:srgbClr val="9BA3A1"/>
          </a:solidFill>
          <a:ln xmlns:a="http://schemas.openxmlformats.org/drawingml/2006/main" w="0">
            <a:noFill/>
            <a:prstDash val="solid"/>
          </a:ln>
        </p:spPr>
      </p:sp>
      <p:sp>
        <p:nvSpPr>
          <p:cNvPr id="20" name="Editable paragraph">
            <a:extLst xmlns:a="http://schemas.openxmlformats.org/drawingml/2006/main">
              <a:ext uri="{FF2B5EF4-FFF2-40B4-BE49-F238E27FC236}">
                <a16:creationId xmlns:a16="http://schemas.microsoft.com/office/drawing/2014/main" id="{F030419F-532A-40FB-B043-439688C9AD73}"/>
              </a:ext>
            </a:extLst>
          </p:cNvPr>
          <p:cNvSpPr>
            <a:spLocks xmlns:a="http://schemas.openxmlformats.org/drawingml/2006/main" noGrp="1"/>
          </p:cNvSpPr>
          <p:nvPr/>
        </p:nvSpPr>
        <p:spPr>
          <a:xfrm xmlns:a="http://schemas.openxmlformats.org/drawingml/2006/main">
            <a:off x="8978900" y="4978400"/>
            <a:ext cx="14097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252D2C"/>
                </a:solidFill>
                <a:latin typeface="Arial"/>
                <a:ea typeface="Arial"/>
                <a:cs typeface="Arial"/>
              </a:defRPr>
            </a:defPPr>
          </a:lstStyle>
          <a:p xmlns:a="http://schemas.openxmlformats.org/drawingml/2006/main">
            <a:pPr>
              <a:buNone/>
              <a:defRPr sz="940" b="1" i="0">
                <a:solidFill>
                  <a:srgbClr val="252D2C"/>
                </a:solidFill>
                <a:latin typeface="Arial"/>
                <a:ea typeface="Arial"/>
                <a:cs typeface="Arial"/>
              </a:defRPr>
              <a:lnSpc>
                <a:spcPts val="1156"/>
              </a:lnSpc>
              <a:spcBef>
                <a:spcPts val="0"/>
              </a:spcBef>
              <a:spcAft>
                <a:spcPts val="0"/>
              </a:spcAft>
            </a:pPr>
            <a:r>
              <a:rPr sz="940" b="1" i="0">
                <a:solidFill>
                  <a:srgbClr val="252D2C"/>
                </a:solidFill>
                <a:latin typeface="Arial"/>
                <a:ea typeface="Arial"/>
                <a:cs typeface="Arial"/>
              </a:rPr>
              <a:t>Gray roof surfaces</a:t>
            </a:r>
          </a:p>
        </p:txBody>
      </p:sp>
      <p:sp>
        <p:nvSpPr>
          <p:cNvPr id="21" name="Editable paragraph">
            <a:extLst xmlns:a="http://schemas.openxmlformats.org/drawingml/2006/main">
              <a:ext uri="{FF2B5EF4-FFF2-40B4-BE49-F238E27FC236}">
                <a16:creationId xmlns:a16="http://schemas.microsoft.com/office/drawing/2014/main" id="{FB146D54-326E-4746-9672-4C8445118719}"/>
              </a:ext>
            </a:extLst>
          </p:cNvPr>
          <p:cNvSpPr>
            <a:spLocks xmlns:a="http://schemas.openxmlformats.org/drawingml/2006/main" noGrp="1"/>
          </p:cNvSpPr>
          <p:nvPr/>
        </p:nvSpPr>
        <p:spPr>
          <a:xfrm xmlns:a="http://schemas.openxmlformats.org/drawingml/2006/main">
            <a:off x="8978900" y="5346700"/>
            <a:ext cx="1409700" cy="1689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30"/>
              </a:lnSpc>
              <a:spcBef>
                <a:spcPts val="0"/>
              </a:spcBef>
              <a:spcAft>
                <a:spcPts val="0"/>
              </a:spcAft>
            </a:pPr>
            <a:r>
              <a:rPr sz="900" b="0" i="0">
                <a:solidFill>
                  <a:srgbClr val="252D2C"/>
                </a:solidFill>
                <a:latin typeface="Arial"/>
                <a:ea typeface="Arial"/>
                <a:cs typeface="Arial"/>
              </a:rPr>
              <a:t>A continuous roofscape.</a:t>
            </a:r>
          </a:p>
        </p:txBody>
      </p:sp>
      <p:sp>
        <p:nvSpPr>
          <p:cNvPr id="22" name="">
            <a:extLst xmlns:a="http://schemas.openxmlformats.org/drawingml/2006/main">
              <a:ext uri="{FF2B5EF4-FFF2-40B4-BE49-F238E27FC236}">
                <a16:creationId xmlns:a16="http://schemas.microsoft.com/office/drawing/2014/main" id="{3728D04F-73DD-4CB4-B258-5E3FF5B01851}"/>
              </a:ext>
            </a:extLst>
          </p:cNvPr>
          <p:cNvSpPr>
            <a:spLocks xmlns:a="http://schemas.openxmlformats.org/drawingml/2006/main" noGrp="1"/>
          </p:cNvSpPr>
          <p:nvPr/>
        </p:nvSpPr>
        <p:spPr>
          <a:xfrm xmlns:a="http://schemas.openxmlformats.org/drawingml/2006/main">
            <a:off x="7429500" y="5880100"/>
            <a:ext cx="241300" cy="152400"/>
          </a:xfrm>
          <a:prstGeom xmlns:a="http://schemas.openxmlformats.org/drawingml/2006/main" prst="rect">
            <a:avLst/>
          </a:prstGeom>
          <a:solidFill xmlns:a="http://schemas.openxmlformats.org/drawingml/2006/main">
            <a:srgbClr val="ACAA96"/>
          </a:solidFill>
          <a:ln xmlns:a="http://schemas.openxmlformats.org/drawingml/2006/main" w="0">
            <a:noFill/>
            <a:prstDash val="solid"/>
          </a:ln>
        </p:spPr>
      </p:sp>
      <p:sp>
        <p:nvSpPr>
          <p:cNvPr id="23" name="Editable paragraph">
            <a:extLst xmlns:a="http://schemas.openxmlformats.org/drawingml/2006/main">
              <a:ext uri="{FF2B5EF4-FFF2-40B4-BE49-F238E27FC236}">
                <a16:creationId xmlns:a16="http://schemas.microsoft.com/office/drawing/2014/main" id="{972E5FB9-810D-4D21-8DDA-4C4FD913AD5A}"/>
              </a:ext>
            </a:extLst>
          </p:cNvPr>
          <p:cNvSpPr>
            <a:spLocks xmlns:a="http://schemas.openxmlformats.org/drawingml/2006/main" noGrp="1"/>
          </p:cNvSpPr>
          <p:nvPr/>
        </p:nvSpPr>
        <p:spPr>
          <a:xfrm xmlns:a="http://schemas.openxmlformats.org/drawingml/2006/main">
            <a:off x="7429500" y="6134100"/>
            <a:ext cx="14097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252D2C"/>
                </a:solidFill>
                <a:latin typeface="Arial"/>
                <a:ea typeface="Arial"/>
                <a:cs typeface="Arial"/>
              </a:defRPr>
            </a:defPPr>
          </a:lstStyle>
          <a:p xmlns:a="http://schemas.openxmlformats.org/drawingml/2006/main">
            <a:pPr>
              <a:buNone/>
              <a:defRPr sz="940" b="1" i="0">
                <a:solidFill>
                  <a:srgbClr val="252D2C"/>
                </a:solidFill>
                <a:latin typeface="Arial"/>
                <a:ea typeface="Arial"/>
                <a:cs typeface="Arial"/>
              </a:defRPr>
              <a:lnSpc>
                <a:spcPts val="1156"/>
              </a:lnSpc>
              <a:spcBef>
                <a:spcPts val="0"/>
              </a:spcBef>
              <a:spcAft>
                <a:spcPts val="0"/>
              </a:spcAft>
            </a:pPr>
            <a:r>
              <a:rPr sz="940" b="1" i="0">
                <a:solidFill>
                  <a:srgbClr val="252D2C"/>
                </a:solidFill>
                <a:latin typeface="Arial"/>
                <a:ea typeface="Arial"/>
                <a:cs typeface="Arial"/>
              </a:rPr>
              <a:t>Warm vertical screens</a:t>
            </a:r>
          </a:p>
        </p:txBody>
      </p:sp>
      <p:sp>
        <p:nvSpPr>
          <p:cNvPr id="24" name="Editable paragraph">
            <a:extLst xmlns:a="http://schemas.openxmlformats.org/drawingml/2006/main">
              <a:ext uri="{FF2B5EF4-FFF2-40B4-BE49-F238E27FC236}">
                <a16:creationId xmlns:a16="http://schemas.microsoft.com/office/drawing/2014/main" id="{90C27B96-2686-4B03-8157-646C682A5944}"/>
              </a:ext>
            </a:extLst>
          </p:cNvPr>
          <p:cNvSpPr>
            <a:spLocks xmlns:a="http://schemas.openxmlformats.org/drawingml/2006/main" noGrp="1"/>
          </p:cNvSpPr>
          <p:nvPr/>
        </p:nvSpPr>
        <p:spPr>
          <a:xfrm xmlns:a="http://schemas.openxmlformats.org/drawingml/2006/main">
            <a:off x="7429500" y="6502400"/>
            <a:ext cx="1409700" cy="1689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30"/>
              </a:lnSpc>
              <a:spcBef>
                <a:spcPts val="0"/>
              </a:spcBef>
              <a:spcAft>
                <a:spcPts val="0"/>
              </a:spcAft>
            </a:pPr>
            <a:r>
              <a:rPr sz="900" b="0" i="0">
                <a:solidFill>
                  <a:srgbClr val="252D2C"/>
                </a:solidFill>
                <a:latin typeface="Arial"/>
                <a:ea typeface="Arial"/>
                <a:cs typeface="Arial"/>
              </a:rPr>
              <a:t>Rhythm at close range.</a:t>
            </a:r>
          </a:p>
        </p:txBody>
      </p:sp>
      <p:sp>
        <p:nvSpPr>
          <p:cNvPr id="25" name="">
            <a:extLst xmlns:a="http://schemas.openxmlformats.org/drawingml/2006/main">
              <a:ext uri="{FF2B5EF4-FFF2-40B4-BE49-F238E27FC236}">
                <a16:creationId xmlns:a16="http://schemas.microsoft.com/office/drawing/2014/main" id="{43FFD442-586B-49AF-9337-49774BECAB92}"/>
              </a:ext>
            </a:extLst>
          </p:cNvPr>
          <p:cNvSpPr>
            <a:spLocks xmlns:a="http://schemas.openxmlformats.org/drawingml/2006/main" noGrp="1"/>
          </p:cNvSpPr>
          <p:nvPr/>
        </p:nvSpPr>
        <p:spPr>
          <a:xfrm xmlns:a="http://schemas.openxmlformats.org/drawingml/2006/main">
            <a:off x="8978900" y="5880100"/>
            <a:ext cx="241300" cy="152400"/>
          </a:xfrm>
          <a:prstGeom xmlns:a="http://schemas.openxmlformats.org/drawingml/2006/main" prst="rect">
            <a:avLst/>
          </a:prstGeom>
          <a:solidFill xmlns:a="http://schemas.openxmlformats.org/drawingml/2006/main">
            <a:srgbClr val="81968A"/>
          </a:solidFill>
          <a:ln xmlns:a="http://schemas.openxmlformats.org/drawingml/2006/main" w="0">
            <a:noFill/>
            <a:prstDash val="solid"/>
          </a:ln>
        </p:spPr>
      </p:sp>
      <p:sp>
        <p:nvSpPr>
          <p:cNvPr id="26" name="Editable paragraph">
            <a:extLst xmlns:a="http://schemas.openxmlformats.org/drawingml/2006/main">
              <a:ext uri="{FF2B5EF4-FFF2-40B4-BE49-F238E27FC236}">
                <a16:creationId xmlns:a16="http://schemas.microsoft.com/office/drawing/2014/main" id="{993044DE-652E-45EB-AB9C-6EC5C7EC0636}"/>
              </a:ext>
            </a:extLst>
          </p:cNvPr>
          <p:cNvSpPr>
            <a:spLocks xmlns:a="http://schemas.openxmlformats.org/drawingml/2006/main" noGrp="1"/>
          </p:cNvSpPr>
          <p:nvPr/>
        </p:nvSpPr>
        <p:spPr>
          <a:xfrm xmlns:a="http://schemas.openxmlformats.org/drawingml/2006/main">
            <a:off x="8978900" y="6134100"/>
            <a:ext cx="1409700" cy="172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40" b="1" i="0">
                <a:solidFill>
                  <a:srgbClr val="252D2C"/>
                </a:solidFill>
                <a:latin typeface="Arial"/>
                <a:ea typeface="Arial"/>
                <a:cs typeface="Arial"/>
              </a:defRPr>
            </a:defPPr>
          </a:lstStyle>
          <a:p xmlns:a="http://schemas.openxmlformats.org/drawingml/2006/main">
            <a:pPr>
              <a:buNone/>
              <a:defRPr sz="940" b="1" i="0">
                <a:solidFill>
                  <a:srgbClr val="252D2C"/>
                </a:solidFill>
                <a:latin typeface="Arial"/>
                <a:ea typeface="Arial"/>
                <a:cs typeface="Arial"/>
              </a:defRPr>
              <a:lnSpc>
                <a:spcPts val="1156"/>
              </a:lnSpc>
              <a:spcBef>
                <a:spcPts val="0"/>
              </a:spcBef>
              <a:spcAft>
                <a:spcPts val="0"/>
              </a:spcAft>
            </a:pPr>
            <a:r>
              <a:rPr sz="940" b="1" i="0">
                <a:solidFill>
                  <a:srgbClr val="252D2C"/>
                </a:solidFill>
                <a:latin typeface="Arial"/>
                <a:ea typeface="Arial"/>
                <a:cs typeface="Arial"/>
              </a:rPr>
              <a:t>Restrained landscape</a:t>
            </a:r>
          </a:p>
        </p:txBody>
      </p:sp>
      <p:sp>
        <p:nvSpPr>
          <p:cNvPr id="27" name="Editable paragraph">
            <a:extLst xmlns:a="http://schemas.openxmlformats.org/drawingml/2006/main">
              <a:ext uri="{FF2B5EF4-FFF2-40B4-BE49-F238E27FC236}">
                <a16:creationId xmlns:a16="http://schemas.microsoft.com/office/drawing/2014/main" id="{67216216-5B5C-4B6F-B1D7-330D12B4F330}"/>
              </a:ext>
            </a:extLst>
          </p:cNvPr>
          <p:cNvSpPr>
            <a:spLocks xmlns:a="http://schemas.openxmlformats.org/drawingml/2006/main" noGrp="1"/>
          </p:cNvSpPr>
          <p:nvPr/>
        </p:nvSpPr>
        <p:spPr>
          <a:xfrm xmlns:a="http://schemas.openxmlformats.org/drawingml/2006/main">
            <a:off x="8978900" y="6502400"/>
            <a:ext cx="1409700" cy="1689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0" i="0">
                <a:solidFill>
                  <a:srgbClr val="252D2C"/>
                </a:solidFill>
                <a:latin typeface="Arial"/>
                <a:ea typeface="Arial"/>
                <a:cs typeface="Arial"/>
              </a:defRPr>
            </a:defPPr>
          </a:lstStyle>
          <a:p xmlns:a="http://schemas.openxmlformats.org/drawingml/2006/main">
            <a:pPr>
              <a:buNone/>
              <a:defRPr sz="900" b="0" i="0">
                <a:solidFill>
                  <a:srgbClr val="252D2C"/>
                </a:solidFill>
                <a:latin typeface="Arial"/>
                <a:ea typeface="Arial"/>
                <a:cs typeface="Arial"/>
              </a:defRPr>
              <a:lnSpc>
                <a:spcPts val="1130"/>
              </a:lnSpc>
              <a:spcBef>
                <a:spcPts val="0"/>
              </a:spcBef>
              <a:spcAft>
                <a:spcPts val="0"/>
              </a:spcAft>
            </a:pPr>
            <a:r>
              <a:rPr sz="900" b="0" i="0">
                <a:solidFill>
                  <a:srgbClr val="252D2C"/>
                </a:solidFill>
                <a:latin typeface="Arial"/>
                <a:ea typeface="Arial"/>
                <a:cs typeface="Arial"/>
              </a:rPr>
              <a:t>Simple edges to maintain.</a:t>
            </a:r>
          </a:p>
        </p:txBody>
      </p:sp>
      <p:sp>
        <p:nvSpPr>
          <p:cNvPr id="28" name="Editable paragraph">
            <a:extLst xmlns:a="http://schemas.openxmlformats.org/drawingml/2006/main">
              <a:ext uri="{FF2B5EF4-FFF2-40B4-BE49-F238E27FC236}">
                <a16:creationId xmlns:a16="http://schemas.microsoft.com/office/drawing/2014/main" id="{E36291D8-EF91-4135-8E86-F9E4DFC32622}"/>
              </a:ext>
            </a:extLst>
          </p:cNvPr>
          <p:cNvSpPr>
            <a:spLocks xmlns:a="http://schemas.openxmlformats.org/drawingml/2006/main" noGrp="1"/>
          </p:cNvSpPr>
          <p:nvPr/>
        </p:nvSpPr>
        <p:spPr>
          <a:xfrm xmlns:a="http://schemas.openxmlformats.org/drawingml/2006/main">
            <a:off x="304800" y="7200900"/>
            <a:ext cx="10083800" cy="13474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00" b="0" i="0">
                <a:solidFill>
                  <a:srgbClr val="65736D"/>
                </a:solidFill>
                <a:latin typeface="Arial"/>
                <a:ea typeface="Arial"/>
                <a:cs typeface="Arial"/>
              </a:defRPr>
            </a:defPPr>
          </a:lstStyle>
          <a:p xmlns:a="http://schemas.openxmlformats.org/drawingml/2006/main">
            <a:pPr>
              <a:buNone/>
              <a:defRPr sz="700" b="0" i="0">
                <a:solidFill>
                  <a:srgbClr val="65736D"/>
                </a:solidFill>
                <a:latin typeface="Arial"/>
                <a:ea typeface="Arial"/>
                <a:cs typeface="Arial"/>
              </a:defRPr>
              <a:lnSpc>
                <a:spcPts val="861"/>
              </a:lnSpc>
              <a:spcBef>
                <a:spcPts val="0"/>
              </a:spcBef>
              <a:spcAft>
                <a:spcPts val="0"/>
              </a:spcAft>
            </a:pPr>
            <a:r>
              <a:rPr sz="700" b="0" i="0">
                <a:solidFill>
                  <a:srgbClr val="65736D"/>
                </a:solidFill>
                <a:latin typeface="Arial"/>
                <a:ea typeface="Arial"/>
                <a:cs typeface="Arial"/>
              </a:rPr>
              <a:t>Pale walls, gray roofs, vertical screens, and planting define the campus character.</a:t>
            </a:r>
          </a:p>
        </p:txBody>
      </p:sp>
    </p:spTree>
    <p:extLst>
      <p:ext uri="{BB962C8B-B14F-4D97-AF65-F5344CB8AC3E}">
        <p14:creationId xmlns:p14="http://schemas.microsoft.com/office/powerpoint/2010/main" val="981498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Editable paragraph">
            <a:extLst xmlns:a="http://schemas.openxmlformats.org/drawingml/2006/main">
              <a:ext uri="{FF2B5EF4-FFF2-40B4-BE49-F238E27FC236}">
                <a16:creationId xmlns:a16="http://schemas.microsoft.com/office/drawing/2014/main" id="{C212FF20-D5A9-4EEA-845F-48093BA22E97}"/>
              </a:ext>
            </a:extLst>
          </p:cNvPr>
          <p:cNvSpPr>
            <a:spLocks xmlns:a="http://schemas.openxmlformats.org/drawingml/2006/main" noGrp="1"/>
          </p:cNvSpPr>
          <p:nvPr/>
        </p:nvSpPr>
        <p:spPr>
          <a:xfrm xmlns:a="http://schemas.openxmlformats.org/drawingml/2006/main">
            <a:off x="304800" y="165100"/>
            <a:ext cx="1333500" cy="144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60" b="1" i="0">
                <a:solidFill>
                  <a:srgbClr val="345A60"/>
                </a:solidFill>
                <a:latin typeface="Arial"/>
                <a:ea typeface="Arial"/>
                <a:cs typeface="Arial"/>
              </a:defRPr>
            </a:defPPr>
          </a:lstStyle>
          <a:p xmlns:a="http://schemas.openxmlformats.org/drawingml/2006/main">
            <a:pPr>
              <a:buNone/>
              <a:defRPr sz="760" b="1" i="0">
                <a:solidFill>
                  <a:srgbClr val="345A60"/>
                </a:solidFill>
                <a:latin typeface="Arial"/>
                <a:ea typeface="Arial"/>
                <a:cs typeface="Arial"/>
              </a:defRPr>
              <a:lnSpc>
                <a:spcPts val="935"/>
              </a:lnSpc>
              <a:spcBef>
                <a:spcPts val="0"/>
              </a:spcBef>
              <a:spcAft>
                <a:spcPts val="0"/>
              </a:spcAft>
            </a:pPr>
            <a:r>
              <a:rPr sz="760" b="1" i="0">
                <a:solidFill>
                  <a:srgbClr val="345A60"/>
                </a:solidFill>
                <a:latin typeface="Arial"/>
                <a:ea typeface="Arial"/>
                <a:cs typeface="Arial"/>
              </a:rPr>
              <a:t>KUZHI YUCAI</a:t>
            </a:r>
          </a:p>
        </p:txBody>
      </p:sp>
      <p:sp>
        <p:nvSpPr>
          <p:cNvPr id="2" name="Editable paragraph">
            <a:extLst xmlns:a="http://schemas.openxmlformats.org/drawingml/2006/main">
              <a:ext uri="{FF2B5EF4-FFF2-40B4-BE49-F238E27FC236}">
                <a16:creationId xmlns:a16="http://schemas.microsoft.com/office/drawing/2014/main" id="{9A8DFF0B-18AE-422D-8EF7-092BAB383FAD}"/>
              </a:ext>
            </a:extLst>
          </p:cNvPr>
          <p:cNvSpPr>
            <a:spLocks xmlns:a="http://schemas.openxmlformats.org/drawingml/2006/main" noGrp="1"/>
          </p:cNvSpPr>
          <p:nvPr/>
        </p:nvSpPr>
        <p:spPr>
          <a:xfrm xmlns:a="http://schemas.openxmlformats.org/drawingml/2006/main">
            <a:off x="1739900" y="165100"/>
            <a:ext cx="48260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GUIYANG COUNTY / HUNAN / CHINA</a:t>
            </a:r>
          </a:p>
        </p:txBody>
      </p:sp>
      <p:sp>
        <p:nvSpPr>
          <p:cNvPr id="3" name="Editable paragraph">
            <a:extLst xmlns:a="http://schemas.openxmlformats.org/drawingml/2006/main">
              <a:ext uri="{FF2B5EF4-FFF2-40B4-BE49-F238E27FC236}">
                <a16:creationId xmlns:a16="http://schemas.microsoft.com/office/drawing/2014/main" id="{ABA07B03-7824-40BC-B6A0-87A83AC9C9A6}"/>
              </a:ext>
            </a:extLst>
          </p:cNvPr>
          <p:cNvSpPr>
            <a:spLocks xmlns:a="http://schemas.openxmlformats.org/drawingml/2006/main" noGrp="1"/>
          </p:cNvSpPr>
          <p:nvPr/>
        </p:nvSpPr>
        <p:spPr>
          <a:xfrm xmlns:a="http://schemas.openxmlformats.org/drawingml/2006/main">
            <a:off x="8902700" y="165100"/>
            <a:ext cx="14859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PORTFOLIO</a:t>
            </a:r>
          </a:p>
        </p:txBody>
      </p:sp>
      <p:sp>
        <p:nvSpPr>
          <p:cNvPr id="4" name="">
            <a:extLst xmlns:a="http://schemas.openxmlformats.org/drawingml/2006/main">
              <a:ext uri="{FF2B5EF4-FFF2-40B4-BE49-F238E27FC236}">
                <a16:creationId xmlns:a16="http://schemas.microsoft.com/office/drawing/2014/main" id="{A0791729-D7E0-4F75-A21B-15B9C0238F55}"/>
              </a:ext>
            </a:extLst>
          </p:cNvPr>
          <p:cNvSpPr>
            <a:spLocks xmlns:a="http://schemas.openxmlformats.org/drawingml/2006/main" noGrp="1"/>
          </p:cNvSpPr>
          <p:nvPr/>
        </p:nvSpPr>
        <p:spPr>
          <a:xfrm xmlns:a="http://schemas.openxmlformats.org/drawingml/2006/main">
            <a:off x="304800" y="3937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5" name="Editable paragraph">
            <a:extLst xmlns:a="http://schemas.openxmlformats.org/drawingml/2006/main">
              <a:ext uri="{FF2B5EF4-FFF2-40B4-BE49-F238E27FC236}">
                <a16:creationId xmlns:a16="http://schemas.microsoft.com/office/drawing/2014/main" id="{822CF32B-DA05-4C6A-A305-B06A495B398D}"/>
              </a:ext>
            </a:extLst>
          </p:cNvPr>
          <p:cNvSpPr>
            <a:spLocks xmlns:a="http://schemas.openxmlformats.org/drawingml/2006/main" noGrp="1"/>
          </p:cNvSpPr>
          <p:nvPr/>
        </p:nvSpPr>
        <p:spPr>
          <a:xfrm xmlns:a="http://schemas.openxmlformats.org/drawingml/2006/main">
            <a:off x="304800" y="546100"/>
            <a:ext cx="10083800" cy="3221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00" b="1" i="0">
                <a:solidFill>
                  <a:srgbClr val="252D2C"/>
                </a:solidFill>
                <a:latin typeface="Arial"/>
                <a:ea typeface="Arial"/>
                <a:cs typeface="Arial"/>
              </a:defRPr>
            </a:defPPr>
          </a:lstStyle>
          <a:p xmlns:a="http://schemas.openxmlformats.org/drawingml/2006/main">
            <a:pPr>
              <a:buNone/>
              <a:defRPr sz="1900" b="1" i="0">
                <a:solidFill>
                  <a:srgbClr val="252D2C"/>
                </a:solidFill>
                <a:latin typeface="Arial"/>
                <a:ea typeface="Arial"/>
                <a:cs typeface="Arial"/>
              </a:defRPr>
              <a:lnSpc>
                <a:spcPts val="2337"/>
              </a:lnSpc>
              <a:spcBef>
                <a:spcPts val="0"/>
              </a:spcBef>
              <a:spcAft>
                <a:spcPts val="0"/>
              </a:spcAft>
            </a:pPr>
            <a:r>
              <a:rPr sz="1900" b="1" i="0">
                <a:solidFill>
                  <a:srgbClr val="252D2C"/>
                </a:solidFill>
                <a:latin typeface="Arial"/>
                <a:ea typeface="Arial"/>
                <a:cs typeface="Arial"/>
              </a:rPr>
              <a:t>Keep the campus working</a:t>
            </a:r>
          </a:p>
        </p:txBody>
      </p:sp>
      <p:sp>
        <p:nvSpPr>
          <p:cNvPr id="6" name="">
            <a:extLst xmlns:a="http://schemas.openxmlformats.org/drawingml/2006/main">
              <a:ext uri="{FF2B5EF4-FFF2-40B4-BE49-F238E27FC236}">
                <a16:creationId xmlns:a16="http://schemas.microsoft.com/office/drawing/2014/main" id="{50DAD283-2058-4984-822E-7A9A3FC5D30E}"/>
              </a:ext>
            </a:extLst>
          </p:cNvPr>
          <p:cNvSpPr>
            <a:spLocks xmlns:a="http://schemas.openxmlformats.org/drawingml/2006/main" noGrp="1"/>
          </p:cNvSpPr>
          <p:nvPr/>
        </p:nvSpPr>
        <p:spPr>
          <a:xfrm xmlns:a="http://schemas.openxmlformats.org/drawingml/2006/main">
            <a:off x="304800" y="73533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7" name="Editable paragraph">
            <a:extLst xmlns:a="http://schemas.openxmlformats.org/drawingml/2006/main">
              <a:ext uri="{FF2B5EF4-FFF2-40B4-BE49-F238E27FC236}">
                <a16:creationId xmlns:a16="http://schemas.microsoft.com/office/drawing/2014/main" id="{B487AAF0-1ACE-460C-8725-C5A87B9A3F32}"/>
              </a:ext>
            </a:extLst>
          </p:cNvPr>
          <p:cNvSpPr>
            <a:spLocks xmlns:a="http://schemas.openxmlformats.org/drawingml/2006/main" noGrp="1"/>
          </p:cNvSpPr>
          <p:nvPr/>
        </p:nvSpPr>
        <p:spPr>
          <a:xfrm xmlns:a="http://schemas.openxmlformats.org/drawingml/2006/main">
            <a:off x="304800" y="7404100"/>
            <a:ext cx="9017000" cy="1269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50" b="0" i="0">
                <a:solidFill>
                  <a:srgbClr val="65736D"/>
                </a:solidFill>
                <a:latin typeface="Arial"/>
                <a:ea typeface="Arial"/>
                <a:cs typeface="Arial"/>
              </a:defRPr>
            </a:defPPr>
          </a:lstStyle>
          <a:p xmlns:a="http://schemas.openxmlformats.org/drawingml/2006/main">
            <a:pPr>
              <a:buNone/>
              <a:defRPr sz="650" b="0" i="0">
                <a:solidFill>
                  <a:srgbClr val="65736D"/>
                </a:solidFill>
                <a:latin typeface="Arial"/>
                <a:ea typeface="Arial"/>
                <a:cs typeface="Arial"/>
              </a:defRPr>
              <a:lnSpc>
                <a:spcPts val="800"/>
              </a:lnSpc>
              <a:spcBef>
                <a:spcPts val="0"/>
              </a:spcBef>
              <a:spcAft>
                <a:spcPts val="0"/>
              </a:spcAft>
            </a:pPr>
            <a:r>
              <a:rPr sz="650" b="0" i="0">
                <a:solidFill>
                  <a:srgbClr val="65736D"/>
                </a:solidFill>
                <a:latin typeface="Arial"/>
                <a:ea typeface="Arial"/>
                <a:cs typeface="Arial"/>
              </a:rPr>
              <a:t>EVERYDAY CARE, SPATIAL CHOICE</a:t>
            </a:r>
          </a:p>
        </p:txBody>
      </p:sp>
      <p:sp>
        <p:nvSpPr>
          <p:cNvPr id="8" name="Editable paragraph">
            <a:extLst xmlns:a="http://schemas.openxmlformats.org/drawingml/2006/main">
              <a:ext uri="{FF2B5EF4-FFF2-40B4-BE49-F238E27FC236}">
                <a16:creationId xmlns:a16="http://schemas.microsoft.com/office/drawing/2014/main" id="{2EA36284-34CE-4D36-802C-3B2D591A6C55}"/>
              </a:ext>
            </a:extLst>
          </p:cNvPr>
          <p:cNvSpPr>
            <a:spLocks xmlns:a="http://schemas.openxmlformats.org/drawingml/2006/main" noGrp="1"/>
          </p:cNvSpPr>
          <p:nvPr/>
        </p:nvSpPr>
        <p:spPr>
          <a:xfrm xmlns:a="http://schemas.openxmlformats.org/drawingml/2006/main">
            <a:off x="9867900" y="7391400"/>
            <a:ext cx="533400" cy="14255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 b="0" i="0">
                <a:solidFill>
                  <a:srgbClr val="65736D"/>
                </a:solidFill>
                <a:latin typeface="Arial"/>
                <a:ea typeface="Arial"/>
                <a:cs typeface="Arial"/>
              </a:defRPr>
            </a:defPPr>
          </a:lstStyle>
          <a:p xmlns:a="http://schemas.openxmlformats.org/drawingml/2006/main">
            <a:pPr>
              <a:buNone/>
              <a:defRPr sz="750" b="0" i="0">
                <a:solidFill>
                  <a:srgbClr val="65736D"/>
                </a:solidFill>
                <a:latin typeface="Arial"/>
                <a:ea typeface="Arial"/>
                <a:cs typeface="Arial"/>
              </a:defRPr>
              <a:lnSpc>
                <a:spcPts val="922"/>
              </a:lnSpc>
              <a:spcBef>
                <a:spcPts val="0"/>
              </a:spcBef>
              <a:spcAft>
                <a:spcPts val="0"/>
              </a:spcAft>
            </a:pPr>
            <a:r>
              <a:rPr sz="750" b="0" i="0">
                <a:solidFill>
                  <a:srgbClr val="65736D"/>
                </a:solidFill>
                <a:latin typeface="Arial"/>
                <a:ea typeface="Arial"/>
                <a:cs typeface="Arial"/>
              </a:rPr>
              <a:t>15 / 15</a:t>
            </a:r>
          </a:p>
        </p:txBody>
      </p:sp>
      <p:sp>
        <p:nvSpPr>
          <p:cNvPr id="9" name="Editable paragraph">
            <a:extLst xmlns:a="http://schemas.openxmlformats.org/drawingml/2006/main">
              <a:ext uri="{FF2B5EF4-FFF2-40B4-BE49-F238E27FC236}">
                <a16:creationId xmlns:a16="http://schemas.microsoft.com/office/drawing/2014/main" id="{472CE6E6-BFCE-4CA1-9297-62B0855B6580}"/>
              </a:ext>
            </a:extLst>
          </p:cNvPr>
          <p:cNvSpPr>
            <a:spLocks xmlns:a="http://schemas.openxmlformats.org/drawingml/2006/main" noGrp="1"/>
          </p:cNvSpPr>
          <p:nvPr/>
        </p:nvSpPr>
        <p:spPr>
          <a:xfrm xmlns:a="http://schemas.openxmlformats.org/drawingml/2006/main">
            <a:off x="304800" y="1054100"/>
            <a:ext cx="19939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345A60"/>
                </a:solidFill>
                <a:latin typeface="Arial"/>
                <a:ea typeface="Arial"/>
                <a:cs typeface="Arial"/>
              </a:defRPr>
            </a:defPPr>
          </a:lstStyle>
          <a:p xmlns:a="http://schemas.openxmlformats.org/drawingml/2006/main">
            <a:pPr>
              <a:buNone/>
              <a:defRPr sz="900" b="1" i="0">
                <a:solidFill>
                  <a:srgbClr val="345A60"/>
                </a:solidFill>
                <a:latin typeface="Arial"/>
                <a:ea typeface="Arial"/>
                <a:cs typeface="Arial"/>
              </a:defRPr>
              <a:lnSpc>
                <a:spcPts val="1107"/>
              </a:lnSpc>
              <a:spcBef>
                <a:spcPts val="0"/>
              </a:spcBef>
              <a:spcAft>
                <a:spcPts val="0"/>
              </a:spcAft>
            </a:pPr>
            <a:r>
              <a:rPr sz="900" b="1" i="0">
                <a:solidFill>
                  <a:srgbClr val="345A60"/>
                </a:solidFill>
                <a:latin typeface="Arial"/>
                <a:ea typeface="Arial"/>
                <a:cs typeface="Arial"/>
              </a:rPr>
              <a:t>PRIORITY</a:t>
            </a:r>
          </a:p>
        </p:txBody>
      </p:sp>
      <p:sp>
        <p:nvSpPr>
          <p:cNvPr id="10" name="Editable paragraph">
            <a:extLst xmlns:a="http://schemas.openxmlformats.org/drawingml/2006/main">
              <a:ext uri="{FF2B5EF4-FFF2-40B4-BE49-F238E27FC236}">
                <a16:creationId xmlns:a16="http://schemas.microsoft.com/office/drawing/2014/main" id="{21CA48FD-47C8-4936-8E19-A542CA18F30E}"/>
              </a:ext>
            </a:extLst>
          </p:cNvPr>
          <p:cNvSpPr>
            <a:spLocks xmlns:a="http://schemas.openxmlformats.org/drawingml/2006/main" noGrp="1"/>
          </p:cNvSpPr>
          <p:nvPr/>
        </p:nvSpPr>
        <p:spPr>
          <a:xfrm xmlns:a="http://schemas.openxmlformats.org/drawingml/2006/main">
            <a:off x="2641600" y="1054100"/>
            <a:ext cx="35306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345A60"/>
                </a:solidFill>
                <a:latin typeface="Arial"/>
                <a:ea typeface="Arial"/>
                <a:cs typeface="Arial"/>
              </a:defRPr>
            </a:defPPr>
          </a:lstStyle>
          <a:p xmlns:a="http://schemas.openxmlformats.org/drawingml/2006/main">
            <a:pPr>
              <a:buNone/>
              <a:defRPr sz="900" b="1" i="0">
                <a:solidFill>
                  <a:srgbClr val="345A60"/>
                </a:solidFill>
                <a:latin typeface="Arial"/>
                <a:ea typeface="Arial"/>
                <a:cs typeface="Arial"/>
              </a:defRPr>
              <a:lnSpc>
                <a:spcPts val="1107"/>
              </a:lnSpc>
              <a:spcBef>
                <a:spcPts val="0"/>
              </a:spcBef>
              <a:spcAft>
                <a:spcPts val="0"/>
              </a:spcAft>
            </a:pPr>
            <a:r>
              <a:rPr sz="900" b="1" i="0">
                <a:solidFill>
                  <a:srgbClr val="345A60"/>
                </a:solidFill>
                <a:latin typeface="Arial"/>
                <a:ea typeface="Arial"/>
                <a:cs typeface="Arial"/>
              </a:rPr>
              <a:t>SPATIAL ACTION</a:t>
            </a:r>
          </a:p>
        </p:txBody>
      </p:sp>
      <p:sp>
        <p:nvSpPr>
          <p:cNvPr id="11" name="Editable paragraph">
            <a:extLst xmlns:a="http://schemas.openxmlformats.org/drawingml/2006/main">
              <a:ext uri="{FF2B5EF4-FFF2-40B4-BE49-F238E27FC236}">
                <a16:creationId xmlns:a16="http://schemas.microsoft.com/office/drawing/2014/main" id="{C15AD873-2870-4E6E-AF26-C79276616C30}"/>
              </a:ext>
            </a:extLst>
          </p:cNvPr>
          <p:cNvSpPr>
            <a:spLocks xmlns:a="http://schemas.openxmlformats.org/drawingml/2006/main" noGrp="1"/>
          </p:cNvSpPr>
          <p:nvPr/>
        </p:nvSpPr>
        <p:spPr>
          <a:xfrm xmlns:a="http://schemas.openxmlformats.org/drawingml/2006/main">
            <a:off x="6451600" y="1054100"/>
            <a:ext cx="3937000" cy="1659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00" b="1" i="0">
                <a:solidFill>
                  <a:srgbClr val="345A60"/>
                </a:solidFill>
                <a:latin typeface="Arial"/>
                <a:ea typeface="Arial"/>
                <a:cs typeface="Arial"/>
              </a:defRPr>
            </a:defPPr>
          </a:lstStyle>
          <a:p xmlns:a="http://schemas.openxmlformats.org/drawingml/2006/main">
            <a:pPr>
              <a:buNone/>
              <a:defRPr sz="900" b="1" i="0">
                <a:solidFill>
                  <a:srgbClr val="345A60"/>
                </a:solidFill>
                <a:latin typeface="Arial"/>
                <a:ea typeface="Arial"/>
                <a:cs typeface="Arial"/>
              </a:defRPr>
              <a:lnSpc>
                <a:spcPts val="1107"/>
              </a:lnSpc>
              <a:spcBef>
                <a:spcPts val="0"/>
              </a:spcBef>
              <a:spcAft>
                <a:spcPts val="0"/>
              </a:spcAft>
            </a:pPr>
            <a:r>
              <a:rPr sz="900" b="1" i="0">
                <a:solidFill>
                  <a:srgbClr val="345A60"/>
                </a:solidFill>
                <a:latin typeface="Arial"/>
                <a:ea typeface="Arial"/>
                <a:cs typeface="Arial"/>
              </a:rPr>
              <a:t>OPERATING ARRANGEMENT</a:t>
            </a:r>
          </a:p>
        </p:txBody>
      </p:sp>
      <p:sp>
        <p:nvSpPr>
          <p:cNvPr id="12" name="">
            <a:extLst xmlns:a="http://schemas.openxmlformats.org/drawingml/2006/main">
              <a:ext uri="{FF2B5EF4-FFF2-40B4-BE49-F238E27FC236}">
                <a16:creationId xmlns:a16="http://schemas.microsoft.com/office/drawing/2014/main" id="{AA4AD8AF-3404-474E-99ED-EBBF4A8BC14B}"/>
              </a:ext>
            </a:extLst>
          </p:cNvPr>
          <p:cNvSpPr>
            <a:spLocks xmlns:a="http://schemas.openxmlformats.org/drawingml/2006/main" noGrp="1"/>
          </p:cNvSpPr>
          <p:nvPr/>
        </p:nvSpPr>
        <p:spPr>
          <a:xfrm xmlns:a="http://schemas.openxmlformats.org/drawingml/2006/main">
            <a:off x="304800" y="1295400"/>
            <a:ext cx="10083800" cy="953"/>
          </a:xfrm>
          <a:custGeom xmlns:a="http://schemas.openxmlformats.org/drawingml/2006/main">
            <a:pathLst>
              <a:path w="10083800" h="953">
                <a:moveTo>
                  <a:pt x="0" y="0"/>
                </a:moveTo>
                <a:lnTo>
                  <a:pt x="10083800" y="0"/>
                </a:lnTo>
              </a:path>
            </a:pathLst>
          </a:custGeom>
          <a:noFill xmlns:a="http://schemas.openxmlformats.org/drawingml/2006/main"/>
          <a:ln xmlns:a="http://schemas.openxmlformats.org/drawingml/2006/main" w="6985">
            <a:solidFill>
              <a:srgbClr val="CAD3CF"/>
            </a:solidFill>
            <a:prstDash val="solid"/>
          </a:ln>
        </p:spPr>
      </p:sp>
      <p:sp>
        <p:nvSpPr>
          <p:cNvPr id="13" name="">
            <a:extLst xmlns:a="http://schemas.openxmlformats.org/drawingml/2006/main">
              <a:ext uri="{FF2B5EF4-FFF2-40B4-BE49-F238E27FC236}">
                <a16:creationId xmlns:a16="http://schemas.microsoft.com/office/drawing/2014/main" id="{7A5DACDD-EFD6-4014-955D-05813CC51D3E}"/>
              </a:ext>
            </a:extLst>
          </p:cNvPr>
          <p:cNvSpPr>
            <a:spLocks xmlns:a="http://schemas.openxmlformats.org/drawingml/2006/main" noGrp="1"/>
          </p:cNvSpPr>
          <p:nvPr/>
        </p:nvSpPr>
        <p:spPr>
          <a:xfrm xmlns:a="http://schemas.openxmlformats.org/drawingml/2006/main">
            <a:off x="304800" y="1384300"/>
            <a:ext cx="10083800" cy="50800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14" name="Editable paragraph">
            <a:extLst xmlns:a="http://schemas.openxmlformats.org/drawingml/2006/main">
              <a:ext uri="{FF2B5EF4-FFF2-40B4-BE49-F238E27FC236}">
                <a16:creationId xmlns:a16="http://schemas.microsoft.com/office/drawing/2014/main" id="{ABC68422-ACD8-47C8-AB26-932D6A1CC534}"/>
              </a:ext>
            </a:extLst>
          </p:cNvPr>
          <p:cNvSpPr>
            <a:spLocks xmlns:a="http://schemas.openxmlformats.org/drawingml/2006/main" noGrp="1"/>
          </p:cNvSpPr>
          <p:nvPr/>
        </p:nvSpPr>
        <p:spPr>
          <a:xfrm xmlns:a="http://schemas.openxmlformats.org/drawingml/2006/main">
            <a:off x="304800" y="1447800"/>
            <a:ext cx="2120900" cy="189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252D2C"/>
                </a:solidFill>
                <a:latin typeface="Arial"/>
                <a:ea typeface="Arial"/>
                <a:cs typeface="Arial"/>
              </a:defRPr>
            </a:defPPr>
          </a:lstStyle>
          <a:p xmlns:a="http://schemas.openxmlformats.org/drawingml/2006/main">
            <a:pPr>
              <a:buNone/>
              <a:defRPr sz="1050" b="1" i="0">
                <a:solidFill>
                  <a:srgbClr val="252D2C"/>
                </a:solidFill>
                <a:latin typeface="Arial"/>
                <a:ea typeface="Arial"/>
                <a:cs typeface="Arial"/>
              </a:defRPr>
              <a:lnSpc>
                <a:spcPts val="1292"/>
              </a:lnSpc>
              <a:spcBef>
                <a:spcPts val="0"/>
              </a:spcBef>
              <a:spcAft>
                <a:spcPts val="0"/>
              </a:spcAft>
            </a:pPr>
            <a:r>
              <a:rPr sz="1050" b="1" i="0">
                <a:solidFill>
                  <a:srgbClr val="252D2C"/>
                </a:solidFill>
                <a:latin typeface="Arial"/>
                <a:ea typeface="Arial"/>
                <a:cs typeface="Arial"/>
              </a:rPr>
              <a:t>Daily essentials</a:t>
            </a:r>
          </a:p>
        </p:txBody>
      </p:sp>
      <p:sp>
        <p:nvSpPr>
          <p:cNvPr id="15" name="Editable paragraph">
            <a:extLst xmlns:a="http://schemas.openxmlformats.org/drawingml/2006/main">
              <a:ext uri="{FF2B5EF4-FFF2-40B4-BE49-F238E27FC236}">
                <a16:creationId xmlns:a16="http://schemas.microsoft.com/office/drawing/2014/main" id="{4AAAEF7D-A991-4CE3-B5CE-94960553160D}"/>
              </a:ext>
            </a:extLst>
          </p:cNvPr>
          <p:cNvSpPr>
            <a:spLocks xmlns:a="http://schemas.openxmlformats.org/drawingml/2006/main" noGrp="1"/>
          </p:cNvSpPr>
          <p:nvPr/>
        </p:nvSpPr>
        <p:spPr>
          <a:xfrm xmlns:a="http://schemas.openxmlformats.org/drawingml/2006/main">
            <a:off x="2641600" y="1447800"/>
            <a:ext cx="35306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Toilets, washing and repaired surfaces.</a:t>
            </a:r>
          </a:p>
        </p:txBody>
      </p:sp>
      <p:sp>
        <p:nvSpPr>
          <p:cNvPr id="16" name="Editable paragraph">
            <a:extLst xmlns:a="http://schemas.openxmlformats.org/drawingml/2006/main">
              <a:ext uri="{FF2B5EF4-FFF2-40B4-BE49-F238E27FC236}">
                <a16:creationId xmlns:a16="http://schemas.microsoft.com/office/drawing/2014/main" id="{594982AE-C237-4A77-8374-F13BD57E268C}"/>
              </a:ext>
            </a:extLst>
          </p:cNvPr>
          <p:cNvSpPr>
            <a:spLocks xmlns:a="http://schemas.openxmlformats.org/drawingml/2006/main" noGrp="1"/>
          </p:cNvSpPr>
          <p:nvPr/>
        </p:nvSpPr>
        <p:spPr>
          <a:xfrm xmlns:a="http://schemas.openxmlformats.org/drawingml/2006/main">
            <a:off x="6451600" y="1447800"/>
            <a:ext cx="39370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Assign checks, cleaning and repair responsibilities.</a:t>
            </a:r>
          </a:p>
        </p:txBody>
      </p:sp>
      <p:sp>
        <p:nvSpPr>
          <p:cNvPr id="17" name="Editable paragraph">
            <a:extLst xmlns:a="http://schemas.openxmlformats.org/drawingml/2006/main">
              <a:ext uri="{FF2B5EF4-FFF2-40B4-BE49-F238E27FC236}">
                <a16:creationId xmlns:a16="http://schemas.microsoft.com/office/drawing/2014/main" id="{7F9D92EC-9FA3-49DB-A128-0738D7B75A61}"/>
              </a:ext>
            </a:extLst>
          </p:cNvPr>
          <p:cNvSpPr>
            <a:spLocks xmlns:a="http://schemas.openxmlformats.org/drawingml/2006/main" noGrp="1"/>
          </p:cNvSpPr>
          <p:nvPr/>
        </p:nvSpPr>
        <p:spPr>
          <a:xfrm xmlns:a="http://schemas.openxmlformats.org/drawingml/2006/main">
            <a:off x="304800" y="1955800"/>
            <a:ext cx="2120900" cy="189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252D2C"/>
                </a:solidFill>
                <a:latin typeface="Arial"/>
                <a:ea typeface="Arial"/>
                <a:cs typeface="Arial"/>
              </a:defRPr>
            </a:defPPr>
          </a:lstStyle>
          <a:p xmlns:a="http://schemas.openxmlformats.org/drawingml/2006/main">
            <a:pPr>
              <a:buNone/>
              <a:defRPr sz="1050" b="1" i="0">
                <a:solidFill>
                  <a:srgbClr val="252D2C"/>
                </a:solidFill>
                <a:latin typeface="Arial"/>
                <a:ea typeface="Arial"/>
                <a:cs typeface="Arial"/>
              </a:defRPr>
              <a:lnSpc>
                <a:spcPts val="1292"/>
              </a:lnSpc>
              <a:spcBef>
                <a:spcPts val="0"/>
              </a:spcBef>
              <a:spcAft>
                <a:spcPts val="0"/>
              </a:spcAft>
            </a:pPr>
            <a:r>
              <a:rPr sz="1050" b="1" i="0">
                <a:solidFill>
                  <a:srgbClr val="252D2C"/>
                </a:solidFill>
                <a:latin typeface="Arial"/>
                <a:ea typeface="Arial"/>
                <a:cs typeface="Arial"/>
              </a:rPr>
              <a:t>Choice in short breaks</a:t>
            </a:r>
          </a:p>
        </p:txBody>
      </p:sp>
      <p:sp>
        <p:nvSpPr>
          <p:cNvPr id="18" name="Editable paragraph">
            <a:extLst xmlns:a="http://schemas.openxmlformats.org/drawingml/2006/main">
              <a:ext uri="{FF2B5EF4-FFF2-40B4-BE49-F238E27FC236}">
                <a16:creationId xmlns:a16="http://schemas.microsoft.com/office/drawing/2014/main" id="{A468ED86-2AEF-4ECE-80BA-16AC477B6E71}"/>
              </a:ext>
            </a:extLst>
          </p:cNvPr>
          <p:cNvSpPr>
            <a:spLocks xmlns:a="http://schemas.openxmlformats.org/drawingml/2006/main" noGrp="1"/>
          </p:cNvSpPr>
          <p:nvPr/>
        </p:nvSpPr>
        <p:spPr>
          <a:xfrm xmlns:a="http://schemas.openxmlformats.org/drawingml/2006/main">
            <a:off x="2641600" y="1955800"/>
            <a:ext cx="35306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Seats, movable tables and accessible storage.</a:t>
            </a:r>
          </a:p>
        </p:txBody>
      </p:sp>
      <p:sp>
        <p:nvSpPr>
          <p:cNvPr id="19" name="Editable paragraph">
            <a:extLst xmlns:a="http://schemas.openxmlformats.org/drawingml/2006/main">
              <a:ext uri="{FF2B5EF4-FFF2-40B4-BE49-F238E27FC236}">
                <a16:creationId xmlns:a16="http://schemas.microsoft.com/office/drawing/2014/main" id="{2D760714-A1A8-4B37-8AA3-5C7A79EA86C9}"/>
              </a:ext>
            </a:extLst>
          </p:cNvPr>
          <p:cNvSpPr>
            <a:spLocks xmlns:a="http://schemas.openxmlformats.org/drawingml/2006/main" noGrp="1"/>
          </p:cNvSpPr>
          <p:nvPr/>
        </p:nvSpPr>
        <p:spPr>
          <a:xfrm xmlns:a="http://schemas.openxmlformats.org/drawingml/2006/main">
            <a:off x="6451600" y="1955800"/>
            <a:ext cx="39370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Agree when and how children can use them.</a:t>
            </a:r>
          </a:p>
        </p:txBody>
      </p:sp>
      <p:sp>
        <p:nvSpPr>
          <p:cNvPr id="20" name="">
            <a:extLst xmlns:a="http://schemas.openxmlformats.org/drawingml/2006/main">
              <a:ext uri="{FF2B5EF4-FFF2-40B4-BE49-F238E27FC236}">
                <a16:creationId xmlns:a16="http://schemas.microsoft.com/office/drawing/2014/main" id="{17D09BB0-E74B-46E0-82CE-3B95521EABBA}"/>
              </a:ext>
            </a:extLst>
          </p:cNvPr>
          <p:cNvSpPr>
            <a:spLocks xmlns:a="http://schemas.openxmlformats.org/drawingml/2006/main" noGrp="1"/>
          </p:cNvSpPr>
          <p:nvPr/>
        </p:nvSpPr>
        <p:spPr>
          <a:xfrm xmlns:a="http://schemas.openxmlformats.org/drawingml/2006/main">
            <a:off x="304800" y="2400300"/>
            <a:ext cx="10083800" cy="50800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21" name="Editable paragraph">
            <a:extLst xmlns:a="http://schemas.openxmlformats.org/drawingml/2006/main">
              <a:ext uri="{FF2B5EF4-FFF2-40B4-BE49-F238E27FC236}">
                <a16:creationId xmlns:a16="http://schemas.microsoft.com/office/drawing/2014/main" id="{8BB6AED9-9FBC-41CF-AD7C-84CE0581333B}"/>
              </a:ext>
            </a:extLst>
          </p:cNvPr>
          <p:cNvSpPr>
            <a:spLocks xmlns:a="http://schemas.openxmlformats.org/drawingml/2006/main" noGrp="1"/>
          </p:cNvSpPr>
          <p:nvPr/>
        </p:nvSpPr>
        <p:spPr>
          <a:xfrm xmlns:a="http://schemas.openxmlformats.org/drawingml/2006/main">
            <a:off x="304800" y="2463800"/>
            <a:ext cx="2120900" cy="189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252D2C"/>
                </a:solidFill>
                <a:latin typeface="Arial"/>
                <a:ea typeface="Arial"/>
                <a:cs typeface="Arial"/>
              </a:defRPr>
            </a:defPPr>
          </a:lstStyle>
          <a:p xmlns:a="http://schemas.openxmlformats.org/drawingml/2006/main">
            <a:pPr>
              <a:buNone/>
              <a:defRPr sz="1050" b="1" i="0">
                <a:solidFill>
                  <a:srgbClr val="252D2C"/>
                </a:solidFill>
                <a:latin typeface="Arial"/>
                <a:ea typeface="Arial"/>
                <a:cs typeface="Arial"/>
              </a:defRPr>
              <a:lnSpc>
                <a:spcPts val="1292"/>
              </a:lnSpc>
              <a:spcBef>
                <a:spcPts val="0"/>
              </a:spcBef>
              <a:spcAft>
                <a:spcPts val="0"/>
              </a:spcAft>
            </a:pPr>
            <a:r>
              <a:rPr sz="1050" b="1" i="0">
                <a:solidFill>
                  <a:srgbClr val="252D2C"/>
                </a:solidFill>
                <a:latin typeface="Arial"/>
                <a:ea typeface="Arial"/>
                <a:cs typeface="Arial"/>
              </a:rPr>
              <a:t>Support close by</a:t>
            </a:r>
          </a:p>
        </p:txBody>
      </p:sp>
      <p:sp>
        <p:nvSpPr>
          <p:cNvPr id="22" name="Editable paragraph">
            <a:extLst xmlns:a="http://schemas.openxmlformats.org/drawingml/2006/main">
              <a:ext uri="{FF2B5EF4-FFF2-40B4-BE49-F238E27FC236}">
                <a16:creationId xmlns:a16="http://schemas.microsoft.com/office/drawing/2014/main" id="{9B27BF80-89D9-415D-8FE8-14444ACCD4A9}"/>
              </a:ext>
            </a:extLst>
          </p:cNvPr>
          <p:cNvSpPr>
            <a:spLocks xmlns:a="http://schemas.openxmlformats.org/drawingml/2006/main" noGrp="1"/>
          </p:cNvSpPr>
          <p:nvPr/>
        </p:nvSpPr>
        <p:spPr>
          <a:xfrm xmlns:a="http://schemas.openxmlformats.org/drawingml/2006/main">
            <a:off x="2641600" y="2463800"/>
            <a:ext cx="35306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Waiting and private conversation near staff.</a:t>
            </a:r>
          </a:p>
        </p:txBody>
      </p:sp>
      <p:sp>
        <p:nvSpPr>
          <p:cNvPr id="23" name="Editable paragraph">
            <a:extLst xmlns:a="http://schemas.openxmlformats.org/drawingml/2006/main">
              <a:ext uri="{FF2B5EF4-FFF2-40B4-BE49-F238E27FC236}">
                <a16:creationId xmlns:a16="http://schemas.microsoft.com/office/drawing/2014/main" id="{46F9C147-D42B-431F-A460-3C6DD4326EEE}"/>
              </a:ext>
            </a:extLst>
          </p:cNvPr>
          <p:cNvSpPr>
            <a:spLocks xmlns:a="http://schemas.openxmlformats.org/drawingml/2006/main" noGrp="1"/>
          </p:cNvSpPr>
          <p:nvPr/>
        </p:nvSpPr>
        <p:spPr>
          <a:xfrm xmlns:a="http://schemas.openxmlformats.org/drawingml/2006/main">
            <a:off x="6451600" y="2463800"/>
            <a:ext cx="39370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Name a contact and arrange access to outside help.</a:t>
            </a:r>
          </a:p>
        </p:txBody>
      </p:sp>
      <p:sp>
        <p:nvSpPr>
          <p:cNvPr id="24" name="Editable paragraph">
            <a:extLst xmlns:a="http://schemas.openxmlformats.org/drawingml/2006/main">
              <a:ext uri="{FF2B5EF4-FFF2-40B4-BE49-F238E27FC236}">
                <a16:creationId xmlns:a16="http://schemas.microsoft.com/office/drawing/2014/main" id="{8CCAAB30-7DD1-46FA-B6A4-12083A0F2E42}"/>
              </a:ext>
            </a:extLst>
          </p:cNvPr>
          <p:cNvSpPr>
            <a:spLocks xmlns:a="http://schemas.openxmlformats.org/drawingml/2006/main" noGrp="1"/>
          </p:cNvSpPr>
          <p:nvPr/>
        </p:nvSpPr>
        <p:spPr>
          <a:xfrm xmlns:a="http://schemas.openxmlformats.org/drawingml/2006/main">
            <a:off x="304800" y="2971800"/>
            <a:ext cx="2120900" cy="189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252D2C"/>
                </a:solidFill>
                <a:latin typeface="Arial"/>
                <a:ea typeface="Arial"/>
                <a:cs typeface="Arial"/>
              </a:defRPr>
            </a:defPPr>
          </a:lstStyle>
          <a:p xmlns:a="http://schemas.openxmlformats.org/drawingml/2006/main">
            <a:pPr>
              <a:buNone/>
              <a:defRPr sz="1050" b="1" i="0">
                <a:solidFill>
                  <a:srgbClr val="252D2C"/>
                </a:solidFill>
                <a:latin typeface="Arial"/>
                <a:ea typeface="Arial"/>
                <a:cs typeface="Arial"/>
              </a:defRPr>
              <a:lnSpc>
                <a:spcPts val="1292"/>
              </a:lnSpc>
              <a:spcBef>
                <a:spcPts val="0"/>
              </a:spcBef>
              <a:spcAft>
                <a:spcPts val="0"/>
              </a:spcAft>
            </a:pPr>
            <a:r>
              <a:rPr sz="1050" b="1" i="0">
                <a:solidFill>
                  <a:srgbClr val="252D2C"/>
                </a:solidFill>
                <a:latin typeface="Arial"/>
                <a:ea typeface="Arial"/>
                <a:cs typeface="Arial"/>
              </a:rPr>
              <a:t>Shared activity</a:t>
            </a:r>
          </a:p>
        </p:txBody>
      </p:sp>
      <p:sp>
        <p:nvSpPr>
          <p:cNvPr id="25" name="Editable paragraph">
            <a:extLst xmlns:a="http://schemas.openxmlformats.org/drawingml/2006/main">
              <a:ext uri="{FF2B5EF4-FFF2-40B4-BE49-F238E27FC236}">
                <a16:creationId xmlns:a16="http://schemas.microsoft.com/office/drawing/2014/main" id="{1DDAD90A-6B1E-4FE0-A67F-D9CE65D9D637}"/>
              </a:ext>
            </a:extLst>
          </p:cNvPr>
          <p:cNvSpPr>
            <a:spLocks xmlns:a="http://schemas.openxmlformats.org/drawingml/2006/main" noGrp="1"/>
          </p:cNvSpPr>
          <p:nvPr/>
        </p:nvSpPr>
        <p:spPr>
          <a:xfrm xmlns:a="http://schemas.openxmlformats.org/drawingml/2006/main">
            <a:off x="2641600" y="2971800"/>
            <a:ext cx="35306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Adaptable rooms and courtyard edges.</a:t>
            </a:r>
          </a:p>
        </p:txBody>
      </p:sp>
      <p:sp>
        <p:nvSpPr>
          <p:cNvPr id="26" name="Editable paragraph">
            <a:extLst xmlns:a="http://schemas.openxmlformats.org/drawingml/2006/main">
              <a:ext uri="{FF2B5EF4-FFF2-40B4-BE49-F238E27FC236}">
                <a16:creationId xmlns:a16="http://schemas.microsoft.com/office/drawing/2014/main" id="{DD00B048-CAD7-4F69-B254-2C8B1D66E3D0}"/>
              </a:ext>
            </a:extLst>
          </p:cNvPr>
          <p:cNvSpPr>
            <a:spLocks xmlns:a="http://schemas.openxmlformats.org/drawingml/2006/main" noGrp="1"/>
          </p:cNvSpPr>
          <p:nvPr/>
        </p:nvSpPr>
        <p:spPr>
          <a:xfrm xmlns:a="http://schemas.openxmlformats.org/drawingml/2006/main">
            <a:off x="6451600" y="2971800"/>
            <a:ext cx="39370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Match a weekly program with available teachers.</a:t>
            </a:r>
          </a:p>
        </p:txBody>
      </p:sp>
      <p:sp>
        <p:nvSpPr>
          <p:cNvPr id="27" name="">
            <a:extLst xmlns:a="http://schemas.openxmlformats.org/drawingml/2006/main">
              <a:ext uri="{FF2B5EF4-FFF2-40B4-BE49-F238E27FC236}">
                <a16:creationId xmlns:a16="http://schemas.microsoft.com/office/drawing/2014/main" id="{2BD88DD5-4E9F-4BB2-8D01-A97EBE74094C}"/>
              </a:ext>
            </a:extLst>
          </p:cNvPr>
          <p:cNvSpPr>
            <a:spLocks xmlns:a="http://schemas.openxmlformats.org/drawingml/2006/main" noGrp="1"/>
          </p:cNvSpPr>
          <p:nvPr/>
        </p:nvSpPr>
        <p:spPr>
          <a:xfrm xmlns:a="http://schemas.openxmlformats.org/drawingml/2006/main">
            <a:off x="304800" y="3416300"/>
            <a:ext cx="10083800" cy="508000"/>
          </a:xfrm>
          <a:prstGeom xmlns:a="http://schemas.openxmlformats.org/drawingml/2006/main" prst="rect">
            <a:avLst/>
          </a:prstGeom>
          <a:solidFill xmlns:a="http://schemas.openxmlformats.org/drawingml/2006/main">
            <a:srgbClr val="F2F5F2"/>
          </a:solidFill>
          <a:ln xmlns:a="http://schemas.openxmlformats.org/drawingml/2006/main" w="0">
            <a:noFill/>
            <a:prstDash val="solid"/>
          </a:ln>
        </p:spPr>
      </p:sp>
      <p:sp>
        <p:nvSpPr>
          <p:cNvPr id="28" name="Editable paragraph">
            <a:extLst xmlns:a="http://schemas.openxmlformats.org/drawingml/2006/main">
              <a:ext uri="{FF2B5EF4-FFF2-40B4-BE49-F238E27FC236}">
                <a16:creationId xmlns:a16="http://schemas.microsoft.com/office/drawing/2014/main" id="{BEAAB2BE-4E74-4C27-AF6D-5BA9205EAC17}"/>
              </a:ext>
            </a:extLst>
          </p:cNvPr>
          <p:cNvSpPr>
            <a:spLocks xmlns:a="http://schemas.openxmlformats.org/drawingml/2006/main" noGrp="1"/>
          </p:cNvSpPr>
          <p:nvPr/>
        </p:nvSpPr>
        <p:spPr>
          <a:xfrm xmlns:a="http://schemas.openxmlformats.org/drawingml/2006/main">
            <a:off x="304800" y="3479800"/>
            <a:ext cx="2120900" cy="189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i="0">
                <a:solidFill>
                  <a:srgbClr val="252D2C"/>
                </a:solidFill>
                <a:latin typeface="Arial"/>
                <a:ea typeface="Arial"/>
                <a:cs typeface="Arial"/>
              </a:defRPr>
            </a:defPPr>
          </a:lstStyle>
          <a:p xmlns:a="http://schemas.openxmlformats.org/drawingml/2006/main">
            <a:pPr>
              <a:buNone/>
              <a:defRPr sz="1050" b="1" i="0">
                <a:solidFill>
                  <a:srgbClr val="252D2C"/>
                </a:solidFill>
                <a:latin typeface="Arial"/>
                <a:ea typeface="Arial"/>
                <a:cs typeface="Arial"/>
              </a:defRPr>
              <a:lnSpc>
                <a:spcPts val="1292"/>
              </a:lnSpc>
              <a:spcBef>
                <a:spcPts val="0"/>
              </a:spcBef>
              <a:spcAft>
                <a:spcPts val="0"/>
              </a:spcAft>
            </a:pPr>
            <a:r>
              <a:rPr sz="1050" b="1" i="0">
                <a:solidFill>
                  <a:srgbClr val="252D2C"/>
                </a:solidFill>
                <a:latin typeface="Arial"/>
                <a:ea typeface="Arial"/>
                <a:cs typeface="Arial"/>
              </a:rPr>
              <a:t>Long-term campus</a:t>
            </a:r>
          </a:p>
        </p:txBody>
      </p:sp>
      <p:sp>
        <p:nvSpPr>
          <p:cNvPr id="29" name="Editable paragraph">
            <a:extLst xmlns:a="http://schemas.openxmlformats.org/drawingml/2006/main">
              <a:ext uri="{FF2B5EF4-FFF2-40B4-BE49-F238E27FC236}">
                <a16:creationId xmlns:a16="http://schemas.microsoft.com/office/drawing/2014/main" id="{E97E6142-C4BA-4F5D-91D7-2C6FC528E76C}"/>
              </a:ext>
            </a:extLst>
          </p:cNvPr>
          <p:cNvSpPr>
            <a:spLocks xmlns:a="http://schemas.openxmlformats.org/drawingml/2006/main" noGrp="1"/>
          </p:cNvSpPr>
          <p:nvPr/>
        </p:nvSpPr>
        <p:spPr>
          <a:xfrm xmlns:a="http://schemas.openxmlformats.org/drawingml/2006/main">
            <a:off x="2641600" y="3479800"/>
            <a:ext cx="35306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Coordinate wings, grounds and service access.</a:t>
            </a:r>
          </a:p>
        </p:txBody>
      </p:sp>
      <p:sp>
        <p:nvSpPr>
          <p:cNvPr id="30" name="Editable paragraph">
            <a:extLst xmlns:a="http://schemas.openxmlformats.org/drawingml/2006/main">
              <a:ext uri="{FF2B5EF4-FFF2-40B4-BE49-F238E27FC236}">
                <a16:creationId xmlns:a16="http://schemas.microsoft.com/office/drawing/2014/main" id="{39E34455-3BA8-403C-8B2E-A841E133C153}"/>
              </a:ext>
            </a:extLst>
          </p:cNvPr>
          <p:cNvSpPr>
            <a:spLocks xmlns:a="http://schemas.openxmlformats.org/drawingml/2006/main" noGrp="1"/>
          </p:cNvSpPr>
          <p:nvPr/>
        </p:nvSpPr>
        <p:spPr>
          <a:xfrm xmlns:a="http://schemas.openxmlformats.org/drawingml/2006/main">
            <a:off x="6451600" y="3479800"/>
            <a:ext cx="3937000"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00" b="0" i="0">
                <a:solidFill>
                  <a:srgbClr val="252D2C"/>
                </a:solidFill>
                <a:latin typeface="Arial"/>
                <a:ea typeface="Arial"/>
                <a:cs typeface="Arial"/>
              </a:defRPr>
            </a:defPPr>
          </a:lstStyle>
          <a:p xmlns:a="http://schemas.openxmlformats.org/drawingml/2006/main">
            <a:pPr>
              <a:buNone/>
              <a:defRPr sz="1000" b="0" i="0">
                <a:solidFill>
                  <a:srgbClr val="252D2C"/>
                </a:solidFill>
                <a:latin typeface="Arial"/>
                <a:ea typeface="Arial"/>
                <a:cs typeface="Arial"/>
              </a:defRPr>
              <a:lnSpc>
                <a:spcPts val="1240"/>
              </a:lnSpc>
              <a:spcBef>
                <a:spcPts val="0"/>
              </a:spcBef>
              <a:spcAft>
                <a:spcPts val="0"/>
              </a:spcAft>
            </a:pPr>
            <a:r>
              <a:rPr sz="1000" b="0" i="0">
                <a:solidFill>
                  <a:srgbClr val="252D2C"/>
                </a:solidFill>
                <a:latin typeface="Arial"/>
                <a:ea typeface="Arial"/>
                <a:cs typeface="Arial"/>
              </a:rPr>
              <a:t>Plan maintenance and recurring resources with construction.</a:t>
            </a:r>
          </a:p>
        </p:txBody>
      </p:sp>
      <p:sp>
        <p:nvSpPr>
          <p:cNvPr id="31" name="Editable paragraph">
            <a:extLst xmlns:a="http://schemas.openxmlformats.org/drawingml/2006/main">
              <a:ext uri="{FF2B5EF4-FFF2-40B4-BE49-F238E27FC236}">
                <a16:creationId xmlns:a16="http://schemas.microsoft.com/office/drawing/2014/main" id="{9742BBF8-3C5B-4895-BC86-21DAED2BDB16}"/>
              </a:ext>
            </a:extLst>
          </p:cNvPr>
          <p:cNvSpPr>
            <a:spLocks xmlns:a="http://schemas.openxmlformats.org/drawingml/2006/main" noGrp="1"/>
          </p:cNvSpPr>
          <p:nvPr/>
        </p:nvSpPr>
        <p:spPr>
          <a:xfrm xmlns:a="http://schemas.openxmlformats.org/drawingml/2006/main">
            <a:off x="304800" y="4089400"/>
            <a:ext cx="330200" cy="259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i="0">
                <a:solidFill>
                  <a:srgbClr val="345A60"/>
                </a:solidFill>
                <a:latin typeface="Arial"/>
                <a:ea typeface="Arial"/>
                <a:cs typeface="Arial"/>
              </a:defRPr>
            </a:defPPr>
          </a:lstStyle>
          <a:p xmlns:a="http://schemas.openxmlformats.org/drawingml/2006/main">
            <a:pPr>
              <a:buNone/>
              <a:defRPr sz="1500" b="1" i="0">
                <a:solidFill>
                  <a:srgbClr val="345A60"/>
                </a:solidFill>
                <a:latin typeface="Arial"/>
                <a:ea typeface="Arial"/>
                <a:cs typeface="Arial"/>
              </a:defRPr>
              <a:lnSpc>
                <a:spcPts val="1845"/>
              </a:lnSpc>
              <a:spcBef>
                <a:spcPts val="0"/>
              </a:spcBef>
              <a:spcAft>
                <a:spcPts val="0"/>
              </a:spcAft>
            </a:pPr>
            <a:r>
              <a:rPr sz="1500" b="1" i="0">
                <a:solidFill>
                  <a:srgbClr val="345A60"/>
                </a:solidFill>
                <a:latin typeface="Arial"/>
                <a:ea typeface="Arial"/>
                <a:cs typeface="Arial"/>
              </a:rPr>
              <a:t>01</a:t>
            </a:r>
          </a:p>
        </p:txBody>
      </p:sp>
      <p:sp>
        <p:nvSpPr>
          <p:cNvPr id="32" name="Editable paragraph">
            <a:extLst xmlns:a="http://schemas.openxmlformats.org/drawingml/2006/main">
              <a:ext uri="{FF2B5EF4-FFF2-40B4-BE49-F238E27FC236}">
                <a16:creationId xmlns:a16="http://schemas.microsoft.com/office/drawing/2014/main" id="{4E0F6FC3-C23C-4787-A193-283E7F865221}"/>
              </a:ext>
            </a:extLst>
          </p:cNvPr>
          <p:cNvSpPr>
            <a:spLocks xmlns:a="http://schemas.openxmlformats.org/drawingml/2006/main" noGrp="1"/>
          </p:cNvSpPr>
          <p:nvPr/>
        </p:nvSpPr>
        <p:spPr>
          <a:xfrm xmlns:a="http://schemas.openxmlformats.org/drawingml/2006/main">
            <a:off x="723900" y="4089400"/>
            <a:ext cx="2794000" cy="1784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80" b="1" i="0">
                <a:solidFill>
                  <a:srgbClr val="345A60"/>
                </a:solidFill>
                <a:latin typeface="Arial"/>
                <a:ea typeface="Arial"/>
                <a:cs typeface="Arial"/>
              </a:defRPr>
            </a:defPPr>
          </a:lstStyle>
          <a:p xmlns:a="http://schemas.openxmlformats.org/drawingml/2006/main">
            <a:pPr>
              <a:buNone/>
              <a:defRPr sz="980" b="1" i="0">
                <a:solidFill>
                  <a:srgbClr val="345A60"/>
                </a:solidFill>
                <a:latin typeface="Arial"/>
                <a:ea typeface="Arial"/>
                <a:cs typeface="Arial"/>
              </a:defRPr>
              <a:lnSpc>
                <a:spcPts val="1205"/>
              </a:lnSpc>
              <a:spcBef>
                <a:spcPts val="0"/>
              </a:spcBef>
              <a:spcAft>
                <a:spcPts val="0"/>
              </a:spcAft>
            </a:pPr>
            <a:r>
              <a:rPr sz="980" b="1" i="0">
                <a:solidFill>
                  <a:srgbClr val="345A60"/>
                </a:solidFill>
                <a:latin typeface="Arial"/>
                <a:ea typeface="Arial"/>
                <a:cs typeface="Arial"/>
              </a:rPr>
              <a:t>Make daily use easier</a:t>
            </a:r>
          </a:p>
        </p:txBody>
      </p:sp>
      <p:sp>
        <p:nvSpPr>
          <p:cNvPr id="33" name="Editable paragraph">
            <a:extLst xmlns:a="http://schemas.openxmlformats.org/drawingml/2006/main">
              <a:ext uri="{FF2B5EF4-FFF2-40B4-BE49-F238E27FC236}">
                <a16:creationId xmlns:a16="http://schemas.microsoft.com/office/drawing/2014/main" id="{B4303DE3-86B2-439B-AD68-E11104FF5FBB}"/>
              </a:ext>
            </a:extLst>
          </p:cNvPr>
          <p:cNvSpPr>
            <a:spLocks xmlns:a="http://schemas.openxmlformats.org/drawingml/2006/main" noGrp="1"/>
          </p:cNvSpPr>
          <p:nvPr/>
        </p:nvSpPr>
        <p:spPr>
          <a:xfrm xmlns:a="http://schemas.openxmlformats.org/drawingml/2006/main">
            <a:off x="723900" y="4343400"/>
            <a:ext cx="2794000" cy="1701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40"/>
              </a:lnSpc>
              <a:spcBef>
                <a:spcPts val="0"/>
              </a:spcBef>
              <a:spcAft>
                <a:spcPts val="0"/>
              </a:spcAft>
            </a:pPr>
            <a:r>
              <a:rPr sz="910" b="0" i="0">
                <a:solidFill>
                  <a:srgbClr val="252D2C"/>
                </a:solidFill>
                <a:latin typeface="Arial"/>
                <a:ea typeface="Arial"/>
                <a:cs typeface="Arial"/>
              </a:rPr>
              <a:t>Washing, surfaces, seats, waiting and simple storage.</a:t>
            </a:r>
          </a:p>
        </p:txBody>
      </p:sp>
      <p:sp>
        <p:nvSpPr>
          <p:cNvPr id="34" name="Editable paragraph">
            <a:extLst xmlns:a="http://schemas.openxmlformats.org/drawingml/2006/main">
              <a:ext uri="{FF2B5EF4-FFF2-40B4-BE49-F238E27FC236}">
                <a16:creationId xmlns:a16="http://schemas.microsoft.com/office/drawing/2014/main" id="{E374EABF-1406-43AB-BCFE-CBDA0418C37D}"/>
              </a:ext>
            </a:extLst>
          </p:cNvPr>
          <p:cNvSpPr>
            <a:spLocks xmlns:a="http://schemas.openxmlformats.org/drawingml/2006/main" noGrp="1"/>
          </p:cNvSpPr>
          <p:nvPr/>
        </p:nvSpPr>
        <p:spPr>
          <a:xfrm xmlns:a="http://schemas.openxmlformats.org/drawingml/2006/main">
            <a:off x="3733800" y="4089400"/>
            <a:ext cx="330200" cy="259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i="0">
                <a:solidFill>
                  <a:srgbClr val="345A60"/>
                </a:solidFill>
                <a:latin typeface="Arial"/>
                <a:ea typeface="Arial"/>
                <a:cs typeface="Arial"/>
              </a:defRPr>
            </a:defPPr>
          </a:lstStyle>
          <a:p xmlns:a="http://schemas.openxmlformats.org/drawingml/2006/main">
            <a:pPr>
              <a:buNone/>
              <a:defRPr sz="1500" b="1" i="0">
                <a:solidFill>
                  <a:srgbClr val="345A60"/>
                </a:solidFill>
                <a:latin typeface="Arial"/>
                <a:ea typeface="Arial"/>
                <a:cs typeface="Arial"/>
              </a:defRPr>
              <a:lnSpc>
                <a:spcPts val="1845"/>
              </a:lnSpc>
              <a:spcBef>
                <a:spcPts val="0"/>
              </a:spcBef>
              <a:spcAft>
                <a:spcPts val="0"/>
              </a:spcAft>
            </a:pPr>
            <a:r>
              <a:rPr sz="1500" b="1" i="0">
                <a:solidFill>
                  <a:srgbClr val="345A60"/>
                </a:solidFill>
                <a:latin typeface="Arial"/>
                <a:ea typeface="Arial"/>
                <a:cs typeface="Arial"/>
              </a:rPr>
              <a:t>02</a:t>
            </a:r>
          </a:p>
        </p:txBody>
      </p:sp>
      <p:sp>
        <p:nvSpPr>
          <p:cNvPr id="35" name="Editable paragraph">
            <a:extLst xmlns:a="http://schemas.openxmlformats.org/drawingml/2006/main">
              <a:ext uri="{FF2B5EF4-FFF2-40B4-BE49-F238E27FC236}">
                <a16:creationId xmlns:a16="http://schemas.microsoft.com/office/drawing/2014/main" id="{11039303-A45B-4C73-A0AC-0E770E231596}"/>
              </a:ext>
            </a:extLst>
          </p:cNvPr>
          <p:cNvSpPr>
            <a:spLocks xmlns:a="http://schemas.openxmlformats.org/drawingml/2006/main" noGrp="1"/>
          </p:cNvSpPr>
          <p:nvPr/>
        </p:nvSpPr>
        <p:spPr>
          <a:xfrm xmlns:a="http://schemas.openxmlformats.org/drawingml/2006/main">
            <a:off x="4152900" y="4089400"/>
            <a:ext cx="2794000" cy="1784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80" b="1" i="0">
                <a:solidFill>
                  <a:srgbClr val="345A60"/>
                </a:solidFill>
                <a:latin typeface="Arial"/>
                <a:ea typeface="Arial"/>
                <a:cs typeface="Arial"/>
              </a:defRPr>
            </a:defPPr>
          </a:lstStyle>
          <a:p xmlns:a="http://schemas.openxmlformats.org/drawingml/2006/main">
            <a:pPr>
              <a:buNone/>
              <a:defRPr sz="980" b="1" i="0">
                <a:solidFill>
                  <a:srgbClr val="345A60"/>
                </a:solidFill>
                <a:latin typeface="Arial"/>
                <a:ea typeface="Arial"/>
                <a:cs typeface="Arial"/>
              </a:defRPr>
              <a:lnSpc>
                <a:spcPts val="1205"/>
              </a:lnSpc>
              <a:spcBef>
                <a:spcPts val="0"/>
              </a:spcBef>
              <a:spcAft>
                <a:spcPts val="0"/>
              </a:spcAft>
            </a:pPr>
            <a:r>
              <a:rPr sz="980" b="1" i="0">
                <a:solidFill>
                  <a:srgbClr val="345A60"/>
                </a:solidFill>
                <a:latin typeface="Arial"/>
                <a:ea typeface="Arial"/>
                <a:cs typeface="Arial"/>
              </a:rPr>
              <a:t>Establish a routine</a:t>
            </a:r>
          </a:p>
        </p:txBody>
      </p:sp>
      <p:sp>
        <p:nvSpPr>
          <p:cNvPr id="36" name="Editable paragraph">
            <a:extLst xmlns:a="http://schemas.openxmlformats.org/drawingml/2006/main">
              <a:ext uri="{FF2B5EF4-FFF2-40B4-BE49-F238E27FC236}">
                <a16:creationId xmlns:a16="http://schemas.microsoft.com/office/drawing/2014/main" id="{F9CBF779-C782-47C0-85A1-3F944982EDDB}"/>
              </a:ext>
            </a:extLst>
          </p:cNvPr>
          <p:cNvSpPr>
            <a:spLocks xmlns:a="http://schemas.openxmlformats.org/drawingml/2006/main" noGrp="1"/>
          </p:cNvSpPr>
          <p:nvPr/>
        </p:nvSpPr>
        <p:spPr>
          <a:xfrm xmlns:a="http://schemas.openxmlformats.org/drawingml/2006/main">
            <a:off x="4152900" y="4343400"/>
            <a:ext cx="2794000" cy="314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40"/>
              </a:lnSpc>
              <a:spcBef>
                <a:spcPts val="0"/>
              </a:spcBef>
              <a:spcAft>
                <a:spcPts val="0"/>
              </a:spcAft>
            </a:pPr>
            <a:r>
              <a:rPr sz="910" b="0" i="0">
                <a:solidFill>
                  <a:srgbClr val="252D2C"/>
                </a:solidFill>
                <a:latin typeface="Arial"/>
                <a:ea typeface="Arial"/>
                <a:cs typeface="Arial"/>
              </a:rPr>
              <a:t>Match flexible rooms to people and a weekly schedule.</a:t>
            </a:r>
          </a:p>
        </p:txBody>
      </p:sp>
      <p:sp>
        <p:nvSpPr>
          <p:cNvPr id="37" name="Editable paragraph">
            <a:extLst xmlns:a="http://schemas.openxmlformats.org/drawingml/2006/main">
              <a:ext uri="{FF2B5EF4-FFF2-40B4-BE49-F238E27FC236}">
                <a16:creationId xmlns:a16="http://schemas.microsoft.com/office/drawing/2014/main" id="{F330093E-77E6-4679-854C-FFC0FE8D06E2}"/>
              </a:ext>
            </a:extLst>
          </p:cNvPr>
          <p:cNvSpPr>
            <a:spLocks xmlns:a="http://schemas.openxmlformats.org/drawingml/2006/main" noGrp="1"/>
          </p:cNvSpPr>
          <p:nvPr/>
        </p:nvSpPr>
        <p:spPr>
          <a:xfrm xmlns:a="http://schemas.openxmlformats.org/drawingml/2006/main">
            <a:off x="7162800" y="4089400"/>
            <a:ext cx="330200" cy="259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i="0">
                <a:solidFill>
                  <a:srgbClr val="345A60"/>
                </a:solidFill>
                <a:latin typeface="Arial"/>
                <a:ea typeface="Arial"/>
                <a:cs typeface="Arial"/>
              </a:defRPr>
            </a:defPPr>
          </a:lstStyle>
          <a:p xmlns:a="http://schemas.openxmlformats.org/drawingml/2006/main">
            <a:pPr>
              <a:buNone/>
              <a:defRPr sz="1500" b="1" i="0">
                <a:solidFill>
                  <a:srgbClr val="345A60"/>
                </a:solidFill>
                <a:latin typeface="Arial"/>
                <a:ea typeface="Arial"/>
                <a:cs typeface="Arial"/>
              </a:defRPr>
              <a:lnSpc>
                <a:spcPts val="1845"/>
              </a:lnSpc>
              <a:spcBef>
                <a:spcPts val="0"/>
              </a:spcBef>
              <a:spcAft>
                <a:spcPts val="0"/>
              </a:spcAft>
            </a:pPr>
            <a:r>
              <a:rPr sz="1500" b="1" i="0">
                <a:solidFill>
                  <a:srgbClr val="345A60"/>
                </a:solidFill>
                <a:latin typeface="Arial"/>
                <a:ea typeface="Arial"/>
                <a:cs typeface="Arial"/>
              </a:rPr>
              <a:t>03</a:t>
            </a:r>
          </a:p>
        </p:txBody>
      </p:sp>
      <p:sp>
        <p:nvSpPr>
          <p:cNvPr id="38" name="Editable paragraph">
            <a:extLst xmlns:a="http://schemas.openxmlformats.org/drawingml/2006/main">
              <a:ext uri="{FF2B5EF4-FFF2-40B4-BE49-F238E27FC236}">
                <a16:creationId xmlns:a16="http://schemas.microsoft.com/office/drawing/2014/main" id="{0C185F2D-DE22-44FB-905D-FBBD64620AD0}"/>
              </a:ext>
            </a:extLst>
          </p:cNvPr>
          <p:cNvSpPr>
            <a:spLocks xmlns:a="http://schemas.openxmlformats.org/drawingml/2006/main" noGrp="1"/>
          </p:cNvSpPr>
          <p:nvPr/>
        </p:nvSpPr>
        <p:spPr>
          <a:xfrm xmlns:a="http://schemas.openxmlformats.org/drawingml/2006/main">
            <a:off x="7581900" y="4089400"/>
            <a:ext cx="2794000" cy="1784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80" b="1" i="0">
                <a:solidFill>
                  <a:srgbClr val="345A60"/>
                </a:solidFill>
                <a:latin typeface="Arial"/>
                <a:ea typeface="Arial"/>
                <a:cs typeface="Arial"/>
              </a:defRPr>
            </a:defPPr>
          </a:lstStyle>
          <a:p xmlns:a="http://schemas.openxmlformats.org/drawingml/2006/main">
            <a:pPr>
              <a:buNone/>
              <a:defRPr sz="980" b="1" i="0">
                <a:solidFill>
                  <a:srgbClr val="345A60"/>
                </a:solidFill>
                <a:latin typeface="Arial"/>
                <a:ea typeface="Arial"/>
                <a:cs typeface="Arial"/>
              </a:defRPr>
              <a:lnSpc>
                <a:spcPts val="1205"/>
              </a:lnSpc>
              <a:spcBef>
                <a:spcPts val="0"/>
              </a:spcBef>
              <a:spcAft>
                <a:spcPts val="0"/>
              </a:spcAft>
            </a:pPr>
            <a:r>
              <a:rPr sz="980" b="1" i="0">
                <a:solidFill>
                  <a:srgbClr val="345A60"/>
                </a:solidFill>
                <a:latin typeface="Arial"/>
                <a:ea typeface="Arial"/>
                <a:cs typeface="Arial"/>
              </a:rPr>
              <a:t>Build the whole campus</a:t>
            </a:r>
          </a:p>
        </p:txBody>
      </p:sp>
      <p:sp>
        <p:nvSpPr>
          <p:cNvPr id="39" name="Editable paragraph">
            <a:extLst xmlns:a="http://schemas.openxmlformats.org/drawingml/2006/main">
              <a:ext uri="{FF2B5EF4-FFF2-40B4-BE49-F238E27FC236}">
                <a16:creationId xmlns:a16="http://schemas.microsoft.com/office/drawing/2014/main" id="{C5472E2A-4A22-4877-B4B0-103BEA4CDE83}"/>
              </a:ext>
            </a:extLst>
          </p:cNvPr>
          <p:cNvSpPr>
            <a:spLocks xmlns:a="http://schemas.openxmlformats.org/drawingml/2006/main" noGrp="1"/>
          </p:cNvSpPr>
          <p:nvPr/>
        </p:nvSpPr>
        <p:spPr>
          <a:xfrm xmlns:a="http://schemas.openxmlformats.org/drawingml/2006/main">
            <a:off x="7581900" y="4343400"/>
            <a:ext cx="2794000" cy="314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910" b="0" i="0">
                <a:solidFill>
                  <a:srgbClr val="252D2C"/>
                </a:solidFill>
                <a:latin typeface="Arial"/>
                <a:ea typeface="Arial"/>
                <a:cs typeface="Arial"/>
              </a:defRPr>
            </a:defPPr>
          </a:lstStyle>
          <a:p xmlns:a="http://schemas.openxmlformats.org/drawingml/2006/main">
            <a:pPr>
              <a:buNone/>
              <a:defRPr sz="910" b="0" i="0">
                <a:solidFill>
                  <a:srgbClr val="252D2C"/>
                </a:solidFill>
                <a:latin typeface="Arial"/>
                <a:ea typeface="Arial"/>
                <a:cs typeface="Arial"/>
              </a:defRPr>
              <a:lnSpc>
                <a:spcPts val="1140"/>
              </a:lnSpc>
              <a:spcBef>
                <a:spcPts val="0"/>
              </a:spcBef>
              <a:spcAft>
                <a:spcPts val="0"/>
              </a:spcAft>
            </a:pPr>
            <a:r>
              <a:rPr sz="910" b="0" i="0">
                <a:solidFill>
                  <a:srgbClr val="252D2C"/>
                </a:solidFill>
                <a:latin typeface="Arial"/>
                <a:ea typeface="Arial"/>
                <a:cs typeface="Arial"/>
              </a:rPr>
              <a:t>Coordinate buildings, landscape, access and maintenance.</a:t>
            </a:r>
          </a:p>
        </p:txBody>
      </p:sp>
      <p:sp>
        <p:nvSpPr>
          <p:cNvPr id="40" name="Editable paragraph">
            <a:extLst xmlns:a="http://schemas.openxmlformats.org/drawingml/2006/main">
              <a:ext uri="{FF2B5EF4-FFF2-40B4-BE49-F238E27FC236}">
                <a16:creationId xmlns:a16="http://schemas.microsoft.com/office/drawing/2014/main" id="{5ECC291C-90CC-49D0-A81A-8093CF701F71}"/>
              </a:ext>
            </a:extLst>
          </p:cNvPr>
          <p:cNvSpPr>
            <a:spLocks xmlns:a="http://schemas.openxmlformats.org/drawingml/2006/main" noGrp="1"/>
          </p:cNvSpPr>
          <p:nvPr/>
        </p:nvSpPr>
        <p:spPr>
          <a:xfrm xmlns:a="http://schemas.openxmlformats.org/drawingml/2006/main">
            <a:off x="304800" y="4813300"/>
            <a:ext cx="10083800" cy="13787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20" b="0" i="0">
                <a:solidFill>
                  <a:srgbClr val="252D2C"/>
                </a:solidFill>
                <a:latin typeface="Arial"/>
                <a:ea typeface="Arial"/>
                <a:cs typeface="Arial"/>
              </a:defRPr>
            </a:defPPr>
          </a:lstStyle>
          <a:p xmlns:a="http://schemas.openxmlformats.org/drawingml/2006/main">
            <a:pPr>
              <a:buNone/>
              <a:defRPr sz="720" b="0" i="0">
                <a:solidFill>
                  <a:srgbClr val="252D2C"/>
                </a:solidFill>
                <a:latin typeface="Arial"/>
                <a:ea typeface="Arial"/>
                <a:cs typeface="Arial"/>
              </a:defRPr>
              <a:lnSpc>
                <a:spcPts val="886"/>
              </a:lnSpc>
              <a:spcBef>
                <a:spcPts val="0"/>
              </a:spcBef>
              <a:spcAft>
                <a:spcPts val="0"/>
              </a:spcAft>
            </a:pPr>
            <a:r>
              <a:rPr sz="720" b="0" i="0">
                <a:solidFill>
                  <a:srgbClr val="252D2C"/>
                </a:solidFill>
                <a:latin typeface="Arial"/>
                <a:ea typeface="Arial"/>
                <a:cs typeface="Arial"/>
              </a:rPr>
              <a:t>Figure 10. Immediate improvements, regular activities, and coordinated campus development.</a:t>
            </a:r>
          </a:p>
        </p:txBody>
      </p:sp>
      <p:pic>
        <p:nvPicPr>
          <p:cNvPr id="41" name="">
            <a:extLst xmlns:a="http://schemas.openxmlformats.org/drawingml/2006/main">
              <a:ext uri="{FF2B5EF4-FFF2-40B4-BE49-F238E27FC236}">
                <a16:creationId xmlns:a16="http://schemas.microsoft.com/office/drawing/2014/main" id="{E5339F33-6413-4237-B5A8-A0076AE1EE52}"/>
              </a:ext>
            </a:extLst>
          </p:cNvPr>
          <p:cNvPicPr>
            <a:picLocks xmlns:a="http://schemas.openxmlformats.org/drawingml/2006/main" noChangeAspect="1"/>
          </p:cNvPicPr>
          <p:nvPr/>
        </p:nvPicPr>
        <p:blipFill>
          <a:blip xmlns:r="http://schemas.openxmlformats.org/officeDocument/2006/relationships" xmlns:a="http://schemas.openxmlformats.org/drawingml/2006/main" r:embed="R7988c66ecf84498a"/>
          <a:stretch xmlns:a="http://schemas.openxmlformats.org/drawingml/2006/main"/>
        </p:blipFill>
        <p:spPr>
          <a:xfrm xmlns:a="http://schemas.openxmlformats.org/drawingml/2006/main">
            <a:off x="1337176" y="5029200"/>
            <a:ext cx="2900947" cy="1968500"/>
          </a:xfrm>
          <a:prstGeom xmlns:a="http://schemas.openxmlformats.org/drawingml/2006/main" prst="rect">
            <a:avLst/>
          </a:prstGeom>
        </p:spPr>
      </p:pic>
      <p:pic>
        <p:nvPicPr>
          <p:cNvPr id="42" name="">
            <a:extLst xmlns:a="http://schemas.openxmlformats.org/drawingml/2006/main">
              <a:ext uri="{FF2B5EF4-FFF2-40B4-BE49-F238E27FC236}">
                <a16:creationId xmlns:a16="http://schemas.microsoft.com/office/drawing/2014/main" id="{5619B37B-1FAA-4C7E-AA05-730E0B2679B8}"/>
              </a:ext>
            </a:extLst>
          </p:cNvPr>
          <p:cNvPicPr>
            <a:picLocks xmlns:a="http://schemas.openxmlformats.org/drawingml/2006/main" noChangeAspect="1"/>
          </p:cNvPicPr>
          <p:nvPr/>
        </p:nvPicPr>
        <p:blipFill>
          <a:blip xmlns:r="http://schemas.openxmlformats.org/officeDocument/2006/relationships" xmlns:a="http://schemas.openxmlformats.org/drawingml/2006/main" r:embed="R75eb7e2989674d71"/>
          <a:stretch xmlns:a="http://schemas.openxmlformats.org/drawingml/2006/main"/>
        </p:blipFill>
        <p:spPr>
          <a:xfrm xmlns:a="http://schemas.openxmlformats.org/drawingml/2006/main">
            <a:off x="6455276" y="5029200"/>
            <a:ext cx="2900947" cy="1968500"/>
          </a:xfrm>
          <a:prstGeom xmlns:a="http://schemas.openxmlformats.org/drawingml/2006/main" prst="rect">
            <a:avLst/>
          </a:prstGeom>
        </p:spPr>
      </p:pic>
      <p:sp>
        <p:nvSpPr>
          <p:cNvPr id="43" name="Editable paragraph">
            <a:extLst xmlns:a="http://schemas.openxmlformats.org/drawingml/2006/main">
              <a:ext uri="{FF2B5EF4-FFF2-40B4-BE49-F238E27FC236}">
                <a16:creationId xmlns:a16="http://schemas.microsoft.com/office/drawing/2014/main" id="{799426CE-E477-4A1A-9B3A-4CD2BCC1B780}"/>
              </a:ext>
            </a:extLst>
          </p:cNvPr>
          <p:cNvSpPr>
            <a:spLocks xmlns:a="http://schemas.openxmlformats.org/drawingml/2006/main" noGrp="1"/>
          </p:cNvSpPr>
          <p:nvPr/>
        </p:nvSpPr>
        <p:spPr>
          <a:xfrm xmlns:a="http://schemas.openxmlformats.org/drawingml/2006/main">
            <a:off x="304800" y="7137400"/>
            <a:ext cx="10083800" cy="1394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30" b="0" i="0">
                <a:solidFill>
                  <a:srgbClr val="65736D"/>
                </a:solidFill>
                <a:latin typeface="Arial"/>
                <a:ea typeface="Arial"/>
                <a:cs typeface="Arial"/>
              </a:defRPr>
            </a:defPPr>
          </a:lstStyle>
          <a:p xmlns:a="http://schemas.openxmlformats.org/drawingml/2006/main">
            <a:pPr>
              <a:buNone/>
              <a:defRPr sz="730" b="0" i="0">
                <a:solidFill>
                  <a:srgbClr val="65736D"/>
                </a:solidFill>
                <a:latin typeface="Arial"/>
                <a:ea typeface="Arial"/>
                <a:cs typeface="Arial"/>
              </a:defRPr>
              <a:lnSpc>
                <a:spcPts val="898"/>
              </a:lnSpc>
              <a:spcBef>
                <a:spcPts val="0"/>
              </a:spcBef>
              <a:spcAft>
                <a:spcPts val="0"/>
              </a:spcAft>
            </a:pPr>
            <a:r>
              <a:rPr sz="730" b="0" i="0">
                <a:solidFill>
                  <a:srgbClr val="65736D"/>
                </a:solidFill>
                <a:latin typeface="Arial"/>
                <a:ea typeface="Arial"/>
                <a:cs typeface="Arial"/>
              </a:rPr>
              <a:t>Follow-up observations and conversations with pupils and staff guide adjustments to daily use.</a:t>
            </a:r>
          </a:p>
        </p:txBody>
      </p:sp>
    </p:spTree>
    <p:extLst>
      <p:ext uri="{BB962C8B-B14F-4D97-AF65-F5344CB8AC3E}">
        <p14:creationId xmlns:p14="http://schemas.microsoft.com/office/powerpoint/2010/main" val="5114257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2026-10-12T06:39:43.7360000Z</dcterms:created>
  <dcterms:modified xsi:type="dcterms:W3CDTF">2026-10-12T06:39:43.7360000Z</dcterms:modified>
</coreProperties>
</file>